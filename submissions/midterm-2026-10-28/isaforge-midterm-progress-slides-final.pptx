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2.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c527a1538a04109" /><Relationship Type="http://schemas.openxmlformats.org/officeDocument/2006/relationships/extended-properties" Target="/docProps/app.xml" Id="R3eac6ecab31c455b" /><Relationship Type="http://schemas.openxmlformats.org/officeDocument/2006/relationships/officeDocument" Target="/ppt/presentation.xml" Id="R0e70d6c06083480f" /></Relationships>
</file>

<file path=ppt/presentation.xml><?xml version="1.0" encoding="utf-8"?>
<p:presentation xmlns:p="http://schemas.openxmlformats.org/presentationml/2006/main">
  <p:sldMasterIdLst>
    <p:sldMasterId xmlns:r="http://schemas.openxmlformats.org/officeDocument/2006/relationships" id="2147483648" r:id="R38dd3f5c3ab040d4"/>
  </p:sldMasterIdLst>
  <p:notesMasterIdLst>
    <p:notesMasterId xmlns:r="http://schemas.openxmlformats.org/officeDocument/2006/relationships" r:id="R7555403a672d4f73"/>
  </p:notesMasterIdLst>
  <p:sldIdLst>
    <p:sldId xmlns:r="http://schemas.openxmlformats.org/officeDocument/2006/relationships" id="256" r:id="Rbc0bbdd8f9d946b0"/>
    <p:sldId xmlns:r="http://schemas.openxmlformats.org/officeDocument/2006/relationships" id="257" r:id="R62c1673c12d34c81"/>
    <p:sldId xmlns:r="http://schemas.openxmlformats.org/officeDocument/2006/relationships" id="258" r:id="Raea80d82a69843fd"/>
    <p:sldId xmlns:r="http://schemas.openxmlformats.org/officeDocument/2006/relationships" id="259" r:id="R08657a87ed5e44af"/>
    <p:sldId xmlns:r="http://schemas.openxmlformats.org/officeDocument/2006/relationships" id="260" r:id="Re05a4e59b8244aa6"/>
    <p:sldId xmlns:r="http://schemas.openxmlformats.org/officeDocument/2006/relationships" id="261" r:id="R823efb18b3d84fcf"/>
    <p:sldId xmlns:r="http://schemas.openxmlformats.org/officeDocument/2006/relationships" id="262" r:id="Rca9b40f3d0fc47b7"/>
    <p:sldId xmlns:r="http://schemas.openxmlformats.org/officeDocument/2006/relationships" id="263" r:id="R1147d4ae1c074c5d"/>
    <p:sldId xmlns:r="http://schemas.openxmlformats.org/officeDocument/2006/relationships" id="264" r:id="R7240a0ac195845ad"/>
    <p:sldId xmlns:r="http://schemas.openxmlformats.org/officeDocument/2006/relationships" id="265" r:id="Re5ba94e541ca4ca2"/>
    <p:sldId xmlns:r="http://schemas.openxmlformats.org/officeDocument/2006/relationships" id="266" r:id="R0d05e68c9ac7460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da3254344df4427" /><Relationship Type="http://schemas.openxmlformats.org/officeDocument/2006/relationships/slideMaster" Target="/ppt/slideMasters/slideMaster1.xml" Id="R38dd3f5c3ab040d4" /><Relationship Type="http://schemas.openxmlformats.org/officeDocument/2006/relationships/notesMaster" Target="/ppt/notesMasters/notesMaster1.xml" Id="R7555403a672d4f73" /><Relationship Type="http://schemas.openxmlformats.org/officeDocument/2006/relationships/presProps" Target="/ppt/presProps.xml" Id="R2405eabd842a42e1" /><Relationship Type="http://schemas.openxmlformats.org/officeDocument/2006/relationships/tableStyles" Target="/ppt/tableStyles.xml" Id="R16d46869caf641cc" /><Relationship Type="http://schemas.openxmlformats.org/officeDocument/2006/relationships/slide" Target="/ppt/slides/slide1.xml" Id="Rbc0bbdd8f9d946b0" /><Relationship Type="http://schemas.openxmlformats.org/officeDocument/2006/relationships/slide" Target="/ppt/slides/slide2.xml" Id="R62c1673c12d34c81" /><Relationship Type="http://schemas.openxmlformats.org/officeDocument/2006/relationships/slide" Target="/ppt/slides/slide3.xml" Id="Raea80d82a69843fd" /><Relationship Type="http://schemas.openxmlformats.org/officeDocument/2006/relationships/slide" Target="/ppt/slides/slide4.xml" Id="R08657a87ed5e44af" /><Relationship Type="http://schemas.openxmlformats.org/officeDocument/2006/relationships/slide" Target="/ppt/slides/slide5.xml" Id="Re05a4e59b8244aa6" /><Relationship Type="http://schemas.openxmlformats.org/officeDocument/2006/relationships/slide" Target="/ppt/slides/slide6.xml" Id="R823efb18b3d84fcf" /><Relationship Type="http://schemas.openxmlformats.org/officeDocument/2006/relationships/slide" Target="/ppt/slides/slide7.xml" Id="Rca9b40f3d0fc47b7" /><Relationship Type="http://schemas.openxmlformats.org/officeDocument/2006/relationships/slide" Target="/ppt/slides/slide8.xml" Id="R1147d4ae1c074c5d" /><Relationship Type="http://schemas.openxmlformats.org/officeDocument/2006/relationships/slide" Target="/ppt/slides/slide9.xml" Id="R7240a0ac195845ad" /><Relationship Type="http://schemas.openxmlformats.org/officeDocument/2006/relationships/slide" Target="/ppt/slides/slide10.xml" Id="Re5ba94e541ca4ca2" /><Relationship Type="http://schemas.openxmlformats.org/officeDocument/2006/relationships/slide" Target="/ppt/slides/slide11.xml" Id="R0d05e68c9ac7460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530d693f43a4b2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cf89bb95c9b4899" /><Relationship Type="http://schemas.openxmlformats.org/officeDocument/2006/relationships/notesMaster" Target="/ppt/notesMasters/notesMaster1.xml" Id="R1fb41a6a609c4a50" /></Relationships>
</file>

<file path=ppt/notesSlides/_rels/notesSlide2.xml.rels>&#65279;<?xml version="1.0" encoding="utf-8"?><Relationships xmlns="http://schemas.openxmlformats.org/package/2006/relationships"><Relationship Type="http://schemas.openxmlformats.org/officeDocument/2006/relationships/slide" Target="/ppt/slides/slide2.xml" Id="Ra7b0fa2045c94194" /><Relationship Type="http://schemas.openxmlformats.org/officeDocument/2006/relationships/notesMaster" Target="/ppt/notesMasters/notesMaster1.xml" Id="R395ae2d9eeb64e28" /></Relationships>
</file>

<file path=ppt/notesSlides/_rels/notesSlide3.xml.rels>&#65279;<?xml version="1.0" encoding="utf-8"?><Relationships xmlns="http://schemas.openxmlformats.org/package/2006/relationships"><Relationship Type="http://schemas.openxmlformats.org/officeDocument/2006/relationships/slide" Target="/ppt/slides/slide3.xml" Id="R63e201a822a84c36" /><Relationship Type="http://schemas.openxmlformats.org/officeDocument/2006/relationships/notesMaster" Target="/ppt/notesMasters/notesMaster1.xml" Id="R916c7bca6691449b" /></Relationships>
</file>

<file path=ppt/notesSlides/_rels/notesSlide4.xml.rels>&#65279;<?xml version="1.0" encoding="utf-8"?><Relationships xmlns="http://schemas.openxmlformats.org/package/2006/relationships"><Relationship Type="http://schemas.openxmlformats.org/officeDocument/2006/relationships/slide" Target="/ppt/slides/slide4.xml" Id="Ra13cf15cd8324086" /><Relationship Type="http://schemas.openxmlformats.org/officeDocument/2006/relationships/notesMaster" Target="/ppt/notesMasters/notesMaster1.xml" Id="Rd3cc94140adf4bbb" /></Relationships>
</file>

<file path=ppt/notesSlides/_rels/notesSlide5.xml.rels>&#65279;<?xml version="1.0" encoding="utf-8"?><Relationships xmlns="http://schemas.openxmlformats.org/package/2006/relationships"><Relationship Type="http://schemas.openxmlformats.org/officeDocument/2006/relationships/slide" Target="/ppt/slides/slide5.xml" Id="R2ebfcb65874f41ad" /><Relationship Type="http://schemas.openxmlformats.org/officeDocument/2006/relationships/notesMaster" Target="/ppt/notesMasters/notesMaster1.xml" Id="R0342403a405f4e99" /></Relationships>
</file>

<file path=ppt/notesSlides/_rels/notesSlide6.xml.rels>&#65279;<?xml version="1.0" encoding="utf-8"?><Relationships xmlns="http://schemas.openxmlformats.org/package/2006/relationships"><Relationship Type="http://schemas.openxmlformats.org/officeDocument/2006/relationships/slide" Target="/ppt/slides/slide6.xml" Id="Rca8aef4290734cbe" /><Relationship Type="http://schemas.openxmlformats.org/officeDocument/2006/relationships/notesMaster" Target="/ppt/notesMasters/notesMaster1.xml" Id="R8173b990b4864f9c" /></Relationships>
</file>

<file path=ppt/notesSlides/_rels/notesSlide7.xml.rels>&#65279;<?xml version="1.0" encoding="utf-8"?><Relationships xmlns="http://schemas.openxmlformats.org/package/2006/relationships"><Relationship Type="http://schemas.openxmlformats.org/officeDocument/2006/relationships/slide" Target="/ppt/slides/slide7.xml" Id="R397d569b1e9e413e" /><Relationship Type="http://schemas.openxmlformats.org/officeDocument/2006/relationships/notesMaster" Target="/ppt/notesMasters/notesMaster1.xml" Id="Rf7b559acb8734934" /></Relationships>
</file>

<file path=ppt/notesSlides/_rels/notesSlide8.xml.rels>&#65279;<?xml version="1.0" encoding="utf-8"?><Relationships xmlns="http://schemas.openxmlformats.org/package/2006/relationships"><Relationship Type="http://schemas.openxmlformats.org/officeDocument/2006/relationships/slide" Target="/ppt/slides/slide8.xml" Id="R56d9383ff70c4a2d" /><Relationship Type="http://schemas.openxmlformats.org/officeDocument/2006/relationships/notesMaster" Target="/ppt/notesMasters/notesMaster1.xml" Id="R5f3d4c2097254540" /></Relationships>
</file>

<file path=ppt/notesSlides/_rels/notesSlide9.xml.rels>&#65279;<?xml version="1.0" encoding="utf-8"?><Relationships xmlns="http://schemas.openxmlformats.org/package/2006/relationships"><Relationship Type="http://schemas.openxmlformats.org/officeDocument/2006/relationships/slide" Target="/ppt/slides/slide9.xml" Id="Refad1fc3d1f14f8d" /><Relationship Type="http://schemas.openxmlformats.org/officeDocument/2006/relationships/notesMaster" Target="/ppt/notesMasters/notesMaster1.xml" Id="Rd6745d8909f4416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d486d5d66b74ba8" /><Relationship Type="http://schemas.openxmlformats.org/officeDocument/2006/relationships/notesMaster" Target="/ppt/notesMasters/notesMaster1.xml" Id="R753b24912472455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b707cd63af6406b" /><Relationship Type="http://schemas.openxmlformats.org/officeDocument/2006/relationships/notesMaster" Target="/ppt/notesMasters/notesMaster1.xml" Id="Rd9e3ccf10ce64d1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 25 seconds</a:t>
            </a:r>
          </a:p>
          <a:p xmlns:a="http://schemas.openxmlformats.org/drawingml/2006/main">
            <a:r>
              <a:t/>
            </a:r>
          </a:p>
          <a:p xmlns:a="http://schemas.openxmlformats.org/drawingml/2006/main">
            <a:r>
              <a:t>SPOKEN SCRIPT</a:t>
            </a:r>
          </a:p>
          <a:p xmlns:a="http://schemas.openxmlformats.org/drawingml/2006/main">
            <a:r>
              <a:t>ISAForge asks whether learned predictions and an AI selection agent can find better RISC-V custom instructions with fewer expensive evaluations. We optimize verified whole-program performance under hardware constraints. Our contribution is the connection from real programs to measured labels to budgeted selection. Today we have a working pipeline, measured data, and preliminary comparisons—not yet a consistent machine-learning win.</a:t>
            </a:r>
          </a:p>
          <a:p xmlns:a="http://schemas.openxmlformats.org/drawingml/2006/main">
            <a:r>
              <a:t/>
            </a:r>
          </a:p>
          <a:p xmlns:a="http://schemas.openxmlformats.org/drawingml/2006/main">
            <a:r>
              <a:t>SOURCES / Q&amp;A (not part of timed script)</a:t>
            </a:r>
          </a:p>
          <a:p xmlns:a="http://schemas.openxmlformats.org/drawingml/2006/main">
            <a:r>
              <a:t>Scope: README.md; docs/research-foundation.md. Guarded AI-track results are separate from other hardware contexts in the team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 30 seconds</a:t>
            </a:r>
          </a:p>
          <a:p xmlns:a="http://schemas.openxmlformats.org/drawingml/2006/main">
            <a:r>
              <a:t/>
            </a:r>
          </a:p>
          <a:p xmlns:a="http://schemas.openxmlformats.org/drawingml/2006/main">
            <a:r>
              <a:t>SPOKEN SCRIPT</a:t>
            </a:r>
          </a:p>
          <a:p xmlns:a="http://schemas.openxmlformats.org/drawingml/2006/main">
            <a:r>
              <a:t>We build on established methods rather than inventing another enumerator. Atasu provides the dataflow and architectural constraints for legal instruction candidates. CIDRE emphasizes that benefits depend on the processor and its timing. AutoTVM motivates ranking alternatives using measured performance. Constrained Bayesian optimization motivates measuring promising candidates while accounting for feasibility. ISAForge tests this combination on whole-program PicoRV32 outcomes; we do not claim to reproduce these complete systems.</a:t>
            </a:r>
          </a:p>
          <a:p xmlns:a="http://schemas.openxmlformats.org/drawingml/2006/main">
            <a:r>
              <a:t/>
            </a:r>
          </a:p>
          <a:p xmlns:a="http://schemas.openxmlformats.org/drawingml/2006/main">
            <a:r>
              <a:t>SOURCES / Q&amp;A (not part of timed script)</a:t>
            </a:r>
          </a:p>
          <a:p xmlns:a="http://schemas.openxmlformats.org/drawingml/2006/main">
            <a:r>
              <a:t>Atasu, Pozzi &amp; Ienne. Automatic Application-Specific Instruction-Set Extensions Under Microarchitectural Constraints. DAC 2003, 256–261. DOI 10.1145/775832.775897; methods §§4–7.</a:t>
            </a:r>
          </a:p>
          <a:p xmlns:a="http://schemas.openxmlformats.org/drawingml/2006/main">
            <a:r>
              <a:t>Rezunov et al. Automatic Microarchitecture-Aware Custom Instruction Design for RISC-V Processors. ICCAD 2025. DOI 10.1109/ICCAD66269.2025.11240781; arxiv.org/html/2509.15782v2, §§II–IV.</a:t>
            </a:r>
          </a:p>
          <a:p xmlns:a="http://schemas.openxmlformats.org/drawingml/2006/main">
            <a:r>
              <a:t>Chen et al. Learning to Optimize Tensor Programs. NeurIPS 2018. arxiv.org/pdf/1805.08166v4, §§3–4, Algorithm 1.</a:t>
            </a:r>
          </a:p>
          <a:p xmlns:a="http://schemas.openxmlformats.org/drawingml/2006/main">
            <a:r>
              <a:t>Gardner et al. Bayesian Optimization with Inequality Constraints. ICML 2014, PMLR32(2):937–945. https://proceedings.mlr.press/v32/gardner14.pdf, §§3.1–3.2.</a:t>
            </a:r>
          </a:p>
          <a:p xmlns:a="http://schemas.openxmlformats.org/drawingml/2006/main">
            <a:r>
              <a:t>Repository method reviews: docs/research-foundation.md; docs/selection-methods-review.md.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 20 seconds</a:t>
            </a:r>
          </a:p>
          <a:p xmlns:a="http://schemas.openxmlformats.org/drawingml/2006/main">
            <a:r>
              <a:t/>
            </a:r>
          </a:p>
          <a:p xmlns:a="http://schemas.openxmlformats.org/drawingml/2006/main">
            <a:r>
              <a:t>SPOKEN SCRIPT</a:t>
            </a:r>
          </a:p>
          <a:p xmlns:a="http://schemas.openxmlformats.org/drawingml/2006/main">
            <a:r>
              <a:t>We progressed from CRC32 and aha-mont64 to a multi-workload corpus, followed by budgeted comparisons, explanations, and LLM tools. Codex records approximately thirty hours of turn duration in this chat; that includes tool waits and failures and is not model training time. The team contribution mapping is provisional and needs confirmation.</a:t>
            </a:r>
          </a:p>
          <a:p xmlns:a="http://schemas.openxmlformats.org/drawingml/2006/main">
            <a:r>
              <a:t/>
            </a:r>
          </a:p>
          <a:p xmlns:a="http://schemas.openxmlformats.org/drawingml/2006/main">
            <a:r>
              <a:t>SOURCES / Q&amp;A (not part of timed script)</a:t>
            </a:r>
          </a:p>
          <a:p xmlns:a="http://schemas.openxmlformats.org/drawingml/2006/main">
            <a:r>
              <a:t>Dated results directories October19–27; git history; docs/original-project-proposal.txt; supplied AgenticRiscPredictor.pdf. Codex thread history snapshot through October 27: 90 turns with duration total 29.94 hours, including 84 completed, 4 failed and 2 interrupted; tool waiting is included. 48 directly spawned subagent threads; counts are activity, not research outcomes. See codex-history-and-baseline.md. Team must confirm roles and aliases; Git alone cannot measure contribution shares.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 35 seconds</a:t>
            </a:r>
          </a:p>
          <a:p xmlns:a="http://schemas.openxmlformats.org/drawingml/2006/main">
            <a:r>
              <a:t/>
            </a:r>
          </a:p>
          <a:p xmlns:a="http://schemas.openxmlformats.org/drawingml/2006/main">
            <a:r>
              <a:t>SPOKEN SCRIPT</a:t>
            </a:r>
          </a:p>
          <a:p xmlns:a="http://schemas.openxmlformats.org/drawingml/2006/main">
            <a:r>
              <a:t>First we compile and run the unmodified benchmark on the unmodified PicoRV32 and check its output. In the original CRC32 experiment, that reference took 32.39 million simulated cycles. The best candidate took 30.82 million: a 1.051 times common-clock speedup. We extract legal dataflow, lower the candidate to a custom opcode, and rerun the same benchmark. Integrated synthesis and routing measure area and timing. These are simulation and FPGA tool results, not physical-chip stopwatch measurements.</a:t>
            </a:r>
          </a:p>
          <a:p xmlns:a="http://schemas.openxmlformats.org/drawingml/2006/main">
            <a:r>
              <a:t/>
            </a:r>
          </a:p>
          <a:p xmlns:a="http://schemas.openxmlformats.org/drawingml/2006/main">
            <a:r>
              <a:t>SOURCES / Q&amp;A (not part of timed script)</a:t>
            </a:r>
          </a:p>
          <a:p xmlns:a="http://schemas.openxmlformats.org/drawingml/2006/main">
            <a:r>
              <a:t>docs/codesign-loop.md; results/2026-10-19-codesign/independent-audit.json. Embench CRC32,170 benchmark repetitions; startup, independent checksum, warm-up and serial reporting excluded from counter window. Same RV32I PicoRV32, 8KiB RAM and 12MHz target. Baseline 32,387,382 cycles,1653 LUT4; index_offset 30,820,662 cycles,1684 LUT4 (+31), 1.050833x. Both correctness checked; same-clock speedup, not measured board runtime. Baseline synth/routing Fmax 68.49–77.16 MHz. Distinguish this unmodified reference from heuristic selection baselines.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 40 seconds</a:t>
            </a:r>
          </a:p>
          <a:p xmlns:a="http://schemas.openxmlformats.org/drawingml/2006/main">
            <a:r>
              <a:t/>
            </a:r>
          </a:p>
          <a:p xmlns:a="http://schemas.openxmlformats.org/drawingml/2006/main">
            <a:r>
              <a:t>SPOKEN SCRIPT</a:t>
            </a:r>
          </a:p>
          <a:p xmlns:a="http://schemas.openxmlformats.org/drawingml/2006/main">
            <a:r>
              <a:t>Our frozen corpus contains 122 successful candidate-program measurements from fourteen workload groups, plus four charged failures. These come from three benchmark suites. We tested thirteen selection policies in the final screen: eight learned policies and five heuristics or random controls. Their 2,925 replay results reuse the same hardware measurements; they are not new hardware runs. We evaluate by holding out entire workloads. Three later Ascon measurements remain separate.</a:t>
            </a:r>
          </a:p>
          <a:p xmlns:a="http://schemas.openxmlformats.org/drawingml/2006/main">
            <a:r>
              <a:t/>
            </a:r>
          </a:p>
          <a:p xmlns:a="http://schemas.openxmlformats.org/drawingml/2006/main">
            <a:r>
              <a:t>SOURCES / Q&amp;A (not part of timed script)</a:t>
            </a:r>
          </a:p>
          <a:p xmlns:a="http://schemas.openxmlformats.org/drawingml/2006/main">
            <a:r>
              <a:t>Dataset: submissions/midterm-2026-10-28/dataset/; results/2026-10-27-final-selection-scorecard/scorecard.json. 15 build/input contexts;12 complete measured-pool oracles,2 censored. Embench39 labels/6 groups; BEEBS48/5; TACLeBench35/3. Original teammate hardware-branch data uses a distinct context and is not silently merged.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 40 seconds</a:t>
            </a:r>
          </a:p>
          <a:p xmlns:a="http://schemas.openxmlformats.org/drawingml/2006/main">
            <a:r>
              <a:t/>
            </a:r>
          </a:p>
          <a:p xmlns:a="http://schemas.openxmlformats.org/drawingml/2006/main">
            <a:r>
              <a:t>SPOKEN SCRIPT</a:t>
            </a:r>
          </a:p>
          <a:p xmlns:a="http://schemas.openxmlformats.org/drawingml/2006/main">
            <a:r>
              <a:t>Our main challenger is XGBoost pairwise ranking, not a neural network. Thirty-five premeasurement features describe each candidate. Pairs are ordered using measured speedup within a workload context. Eighty shallow trees produce a relative ranking score, not a predicted speedup or confidence probability. We also tested XGBoost regression and feasibility models, logistic regression, random forests, Extra Trees, and Gaussian-process active learning. We assess them on selection, not just prediction error.</a:t>
            </a:r>
          </a:p>
          <a:p xmlns:a="http://schemas.openxmlformats.org/drawingml/2006/main">
            <a:r>
              <a:t/>
            </a:r>
          </a:p>
          <a:p xmlns:a="http://schemas.openxmlformats.org/drawingml/2006/main">
            <a:r>
              <a:t>SOURCES / Q&amp;A (not part of timed script)</a:t>
            </a:r>
          </a:p>
          <a:p xmlns:a="http://schemas.openxmlformats.org/drawingml/2006/main">
            <a:r>
              <a:t>isaforge/ranking.py: XGBRanker rank:pairwise;80 estimators,max_depth2,learning_rate0.05,min_child_weight1,reg_lambda1,subsample1,colsample_bytree1,hist,n_jobs1. isaforge/features.py:35 features. Relevance preserves ties within context. Measured target outcomes excluded from input features.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 40 seconds</a:t>
            </a:r>
          </a:p>
          <a:p xmlns:a="http://schemas.openxmlformats.org/drawingml/2006/main">
            <a:r>
              <a:t/>
            </a:r>
          </a:p>
          <a:p xmlns:a="http://schemas.openxmlformats.org/drawingml/2006/main">
            <a:r>
              <a:t>SPOKEN SCRIPT</a:t>
            </a:r>
          </a:p>
          <a:p xmlns:a="http://schemas.openxmlformats.org/drawingml/2006/main">
            <a:r>
              <a:t>Tree contributions show what drives the ranking: estimated instruction savings alone accounts for about forty-seven percent of normalized attribution. This describes the model’s behavior; it is not a causal explanation. A useful failure case is bitcount’s top-ranked candidate: it passes correctness and speeds up execution, but adds sixty-five LUT4 cells, exceeding the cap by one. Uncertainty should help us choose what to measure next. Ensemble disagreement and Gaussian-process estimates are available, but they are not yet calibrated confidence, and the ranker itself does not provide a confidence interval.</a:t>
            </a:r>
          </a:p>
          <a:p xmlns:a="http://schemas.openxmlformats.org/drawingml/2006/main">
            <a:r>
              <a:t/>
            </a:r>
          </a:p>
          <a:p xmlns:a="http://schemas.openxmlformats.org/drawingml/2006/main">
            <a:r>
              <a:t>SOURCES / Q&amp;A (not part of timed script)</a:t>
            </a:r>
          </a:p>
          <a:p xmlns:a="http://schemas.openxmlformats.org/drawingml/2006/main">
            <a:r>
              <a:t>results/2026-10-27-ranker-explainability/explanation.json; global_feature_contributions.csv. Normalized absolute additive tree contributions macro-averaged over14 held-out workloads; profile opportunity features account for66.39%. Local add(in0,andi(in1,15)) rank1/12;1.008782x,+65LUT4,61.82MHz. Uncertainty calibration remains unproved.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 45 seconds</a:t>
            </a:r>
          </a:p>
          <a:p xmlns:a="http://schemas.openxmlformats.org/drawingml/2006/main">
            <a:r>
              <a:t/>
            </a:r>
          </a:p>
          <a:p xmlns:a="http://schemas.openxmlformats.org/drawingml/2006/main">
            <a:r>
              <a:t>SPOKEN SCRIPT</a:t>
            </a:r>
          </a:p>
          <a:p xmlns:a="http://schemas.openxmlformats.org/drawingml/2006/main">
            <a:r>
              <a:t>The LLM selector uses controlled tools to inspect candidates, query predictions, request a bounded measurement, and return a validated selection. Paid outcomes feed its next decision, and failed requests consume budget. This is an actual agentic loop, separate from the coding assistants used for implementation, debugging, and analysis. The Ascon pilot measured three correct candidates; the best feasible one achieved about 1.024 times cycle speedup. But nine candidates remain unmeasured and there are no matched controls. A status-handling bug prevented live GP updates; the fix was verified afterward. We also have not implemented dynamic routing between language models.</a:t>
            </a:r>
          </a:p>
          <a:p xmlns:a="http://schemas.openxmlformats.org/drawingml/2006/main">
            <a:r>
              <a:t/>
            </a:r>
          </a:p>
          <a:p xmlns:a="http://schemas.openxmlformats.org/drawingml/2006/main">
            <a:r>
              <a:t>SOURCES / Q&amp;A (not part of timed script)</a:t>
            </a:r>
          </a:p>
          <a:p xmlns:a="http://schemas.openxmlformats.org/drawingml/2006/main">
            <a:r>
              <a:t>Agent protocol and logs: results/2026-10-27-codex-chat-agent-edn-b64-s0/; Ascon results and docs/HANDOFF.md. EDN consumed replay:2 charged attempts including1 invalid ID, matched oracle and ordinary policies. Ascon C01:1.019698x,+73LUT4,62.992MHz; C06:1.017027x,+41LUT4,67.069MHz; C02:1.023731x,+42LUT4,64.620MHz.3/12 measured; correctness passed for all3. No claim of agent superiority or successful live GP refitting.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 35 seconds</a:t>
            </a:r>
          </a:p>
          <a:p xmlns:a="http://schemas.openxmlformats.org/drawingml/2006/main">
            <a:r>
              <a:t/>
            </a:r>
          </a:p>
          <a:p xmlns:a="http://schemas.openxmlformats.org/drawingml/2006/main">
            <a:r>
              <a:t>SPOKEN SCRIPT</a:t>
            </a:r>
          </a:p>
          <a:p xmlns:a="http://schemas.openxmlformats.org/drawingml/2006/main">
            <a:r>
              <a:t>The unmodified program gives the performance reference. A different kind of baseline is a selection policy: frequency counts occurrences, while merit estimates operations eliminated times executions. We compare these with latency-aware heuristics, random search, and learned policies. Every method gets the same pool and one, two, or three charged attempts; unqueried results remain hidden. The measured oracle knows all outcomes and gives a retrospective ceiling, not a deployable policy. Historical training cost is tracked separately.</a:t>
            </a:r>
          </a:p>
          <a:p xmlns:a="http://schemas.openxmlformats.org/drawingml/2006/main">
            <a:r>
              <a:t/>
            </a:r>
          </a:p>
          <a:p xmlns:a="http://schemas.openxmlformats.org/drawingml/2006/main">
            <a:r>
              <a:t>SOURCES / Q&amp;A (not part of timed script)</a:t>
            </a:r>
          </a:p>
          <a:p xmlns:a="http://schemas.openxmlformats.org/drawingml/2006/main">
            <a:r>
              <a:t>Protocol: docs/research-foundation.md; scorecard.json. Simple merit uses projected instruction savings; do not label it a CIDRE reproduction. Primary endpoint best verified feasible cycle reduction; regret only for complete pools. Track target evaluations and elapsed time, historical training cost, fit/inference and agent costs separately. Exact isolated ranker fit/inference timing remains incomplete.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 75 seconds</a:t>
            </a:r>
          </a:p>
          <a:p xmlns:a="http://schemas.openxmlformats.org/drawingml/2006/main">
            <a:r>
              <a:t/>
            </a:r>
          </a:p>
          <a:p xmlns:a="http://schemas.openxmlformats.org/drawingml/2006/main">
            <a:r>
              <a:t>SPOKEN SCRIPT</a:t>
            </a:r>
          </a:p>
          <a:p xmlns:a="http://schemas.openxmlformats.org/drawingml/2006/main">
            <a:r>
              <a:t>Here is the main selection result. The vertical axis is mean cycle-reduction regret relative to the best measured feasible candidate in each complete pool; lower is better. At one attempt, merit has 1.132 percent regret and the ranker has 0.842 percent. At two attempts they are almost tied. At three attempts, merit is better. The paired workload confidence intervals include zero for the early-budget advantages, so we cannot claim consistent superiority. Twelve workload groups have complete pool oracles; two incomplete groups are excluded from this regret calculation. The 2,925 policy-budget replays are dependent analyses of the existing measurements, not new hardware experiments. There is also an important diagnosis: all 122 historical cycle-speedup labels match the independently calibrated processor-latency calculation. This dataset therefore does not demonstrate a residual speedup relationship requiring machine learning. Our remaining challenge is learning which useful designs will be hardware-feasible and worth measuring. The Ascon pilot proves the selection-to-measurement connection, but its incomplete pool and missing controls prevent an agent-performance claim.</a:t>
            </a:r>
          </a:p>
          <a:p xmlns:a="http://schemas.openxmlformats.org/drawingml/2006/main">
            <a:r>
              <a:t/>
            </a:r>
          </a:p>
          <a:p xmlns:a="http://schemas.openxmlformats.org/drawingml/2006/main">
            <a:r>
              <a:t>SOURCES / Q&amp;A (not part of timed script)</a:t>
            </a:r>
          </a:p>
          <a:p xmlns:a="http://schemas.openxmlformats.org/drawingml/2006/main">
            <a:r>
              <a:t>results/2026-10-27-final-selection-scorecard/scorecard.json. Paired difference = merit regret minus ranker regret (percentage points): B1 +0.290 [−0.065,+0.849]; B2 +0.027 [−0.097,+0.177]; B3 −0.056 [−0.167,0.000]. Workload bootstrap;12 complete pools.14-group cycle-reduction means merit1.086/1.657/2.043%;ranker1.334/1.680/1.996%. Timing floor weakly tested:minimum selected feasible Fmax59.13MHz vs12MHz. Target mean eval time merit55.67/114.24/169.76s;ranker56.29/115.69/171.46s. No total-cost advantage established.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 — 35 seconds</a:t>
            </a:r>
          </a:p>
          <a:p xmlns:a="http://schemas.openxmlformats.org/drawingml/2006/main">
            <a:r>
              <a:t/>
            </a:r>
          </a:p>
          <a:p xmlns:a="http://schemas.openxmlformats.org/drawingml/2006/main">
            <a:r>
              <a:t>SPOKEN SCRIPT</a:t>
            </a:r>
          </a:p>
          <a:p xmlns:a="http://schemas.openxmlformats.org/drawingml/2006/main">
            <a:r>
              <a:t>We now have an end-to-end research system: real workloads, executable custom instructions, measured outcomes, learned ranking, and bounded agent tools. The next step is to freeze the policies before observing new workload results, then compare the agent and non-agent methods under identical budgets. We need better workload diversity and validated uncertainty before adding model complexity. Finally, we must implement and measure the selected one-to-three-instruction combination together. Individual speedups cannot be added. A reproducible heuristic win is still a useful scientific result.</a:t>
            </a:r>
          </a:p>
          <a:p xmlns:a="http://schemas.openxmlformats.org/drawingml/2006/main">
            <a:r>
              <a:t/>
            </a:r>
          </a:p>
          <a:p xmlns:a="http://schemas.openxmlformats.org/drawingml/2006/main">
            <a:r>
              <a:t>SOURCES / Q&amp;A (not part of timed script)</a:t>
            </a:r>
          </a:p>
          <a:p xmlns:a="http://schemas.openxmlformats.org/drawingml/2006/main">
            <a:r>
              <a:t>docs/HANDOFF.md; docs/ACTIVE_GOAL.md. Research paused at presentation checkpoint; no new collection implied by this deck. Next experiments require frozen controllers/policies, legal lowering and blind measurement contracts. Keep the original CRC32 and aha-mont64 experiments and all negative outcomes. No RTL-rewriting optimization 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68909176f58460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50b0a1b385a422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ee076fa6995432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e4c9466cacf48d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840b1f2d9f64de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6b5e2d5b86c4f0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65EC7E8-ADAF-4D11-BBDC-8E61876AE5A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93F7796-6D51-43E3-8969-DD650C5CD3F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219E63E-8C45-43FF-9AF0-74B7BB1D89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CE227A1-60E2-46A0-8C03-B73DA4BCD9A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75DDF14-3CB4-4888-89FA-54099A413F4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29EEE72-9434-4C42-8964-B277CA6E8CF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A8E6E2C-8DFC-4CCF-B9DD-8714B880452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278DE56-84E9-4202-B9B2-9D89D2C925B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1F11089-519F-4F8F-B185-67488B72051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163FC55-18EA-413C-A5C1-0F072D323CC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e2d989a704749c5" /><Relationship Type="http://schemas.openxmlformats.org/officeDocument/2006/relationships/slideLayout" Target="/ppt/slideLayouts/slideLayout1.xml" Id="Rd49d7f49a1724110" /><Relationship Type="http://schemas.openxmlformats.org/officeDocument/2006/relationships/slideLayout" Target="/ppt/slideLayouts/slideLayout2.xml" Id="Rcab3d241e4724e97" /><Relationship Type="http://schemas.openxmlformats.org/officeDocument/2006/relationships/slideLayout" Target="/ppt/slideLayouts/slideLayout3.xml" Id="Re74be2f472a443d9" /><Relationship Type="http://schemas.openxmlformats.org/officeDocument/2006/relationships/slideLayout" Target="/ppt/slideLayouts/slideLayout4.xml" Id="Ra3ea5aea37f449a0" /><Relationship Type="http://schemas.openxmlformats.org/officeDocument/2006/relationships/slideLayout" Target="/ppt/slideLayouts/slideLayout5.xml" Id="R3c527b364c8a4864" /><Relationship Type="http://schemas.openxmlformats.org/officeDocument/2006/relationships/slideLayout" Target="/ppt/slideLayouts/slideLayout6.xml" Id="R1ecb9041d932437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49d7f49a1724110"/>
    <p:sldLayoutId xmlns:r="http://schemas.openxmlformats.org/officeDocument/2006/relationships" id="2147483650" r:id="Rcab3d241e4724e97"/>
    <p:sldLayoutId xmlns:r="http://schemas.openxmlformats.org/officeDocument/2006/relationships" id="2147483651" r:id="Re74be2f472a443d9"/>
    <p:sldLayoutId xmlns:r="http://schemas.openxmlformats.org/officeDocument/2006/relationships" id="2147483652" r:id="Ra3ea5aea37f449a0"/>
    <p:sldLayoutId xmlns:r="http://schemas.openxmlformats.org/officeDocument/2006/relationships" id="2147483653" r:id="R3c527b364c8a4864"/>
    <p:sldLayoutId xmlns:r="http://schemas.openxmlformats.org/officeDocument/2006/relationships" id="2147483654" r:id="R1ecb9041d932437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d3f68604e624610" /><Relationship Type="http://schemas.openxmlformats.org/officeDocument/2006/relationships/notesSlide" Target="/ppt/notesSlides/notesSlide1.xml" Id="R6e097e75ff094fc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567810c2e2c4bb1" /><Relationship Type="http://schemas.openxmlformats.org/officeDocument/2006/relationships/notesSlide" Target="/ppt/notesSlides/notesSlide2.xml" Id="R78c50428d3074b5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7e7841db9fd44e2" /><Relationship Type="http://schemas.openxmlformats.org/officeDocument/2006/relationships/notesSlide" Target="/ppt/notesSlides/notesSlide3.xml" Id="Rdf361e7fdd724d9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b268952c56d44c3" /><Relationship Type="http://schemas.openxmlformats.org/officeDocument/2006/relationships/notesSlide" Target="/ppt/notesSlides/notesSlide4.xml" Id="R59aaa99c7b18494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2fc1c30938c44cc" /><Relationship Type="http://schemas.openxmlformats.org/officeDocument/2006/relationships/chart" Target="/ppt/slides/charts/chart1.xml" Id="Rb2dca3f24be5415f" /><Relationship Type="http://schemas.openxmlformats.org/officeDocument/2006/relationships/notesSlide" Target="/ppt/notesSlides/notesSlide5.xml" Id="R74253cb94b2143a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3e384e234be4a34" /><Relationship Type="http://schemas.openxmlformats.org/officeDocument/2006/relationships/notesSlide" Target="/ppt/notesSlides/notesSlide6.xml" Id="R4f9b5667eb7c432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e799b01e3224ab2" /><Relationship Type="http://schemas.openxmlformats.org/officeDocument/2006/relationships/chart" Target="/ppt/slides/charts/chart2.xml" Id="R27c93d529db64f25" /><Relationship Type="http://schemas.openxmlformats.org/officeDocument/2006/relationships/notesSlide" Target="/ppt/notesSlides/notesSlide7.xml" Id="Ra0246671a60b45d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ed9e03ca027446b" /><Relationship Type="http://schemas.openxmlformats.org/officeDocument/2006/relationships/notesSlide" Target="/ppt/notesSlides/notesSlide8.xml" Id="R0227738d23c9461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613d2fe6db74b50" /><Relationship Type="http://schemas.openxmlformats.org/officeDocument/2006/relationships/notesSlide" Target="/ppt/notesSlides/notesSlide9.xml" Id="R64f655a9e40a40c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bbd3bd68d8e4457" /><Relationship Type="http://schemas.openxmlformats.org/officeDocument/2006/relationships/chart" Target="/ppt/slides/charts/chart3.xml" Id="R2ef3791c139d4645" /><Relationship Type="http://schemas.openxmlformats.org/officeDocument/2006/relationships/notesSlide" Target="/ppt/notesSlides/notesSlide10.xml" Id="R3cfce49e03544c5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e0cbb2c0a8043a4" /><Relationship Type="http://schemas.openxmlformats.org/officeDocument/2006/relationships/notesSlide" Target="/ppt/notesSlides/notesSlide11.xml" Id="R5d12ec2301794ee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Successful labels</c:v>
          </c:tx>
          <c:spPr>
            <a:solidFill xmlns:a="http://schemas.openxmlformats.org/drawingml/2006/main">
              <a:srgbClr val="2878A8"/>
            </a:solidFill>
          </c:spPr>
          <c:invertIfNegative val="0"/>
          <c:cat>
            <c:strRef>
              <c:f>'Chart Data'!$A$2:$A$4</c:f>
              <c:strCache>
                <c:ptCount val="3"/>
                <c:pt idx="0">
                  <c:v>Embench</c:v>
                </c:pt>
                <c:pt idx="1">
                  <c:v>BEEBS</c:v>
                </c:pt>
                <c:pt idx="2">
                  <c:v>TACLeBench</c:v>
                </c:pt>
              </c:strCache>
            </c:strRef>
          </c:cat>
          <c:val>
            <c:numRef>
              <c:f>'Chart Data'!$B$2:$B$4</c:f>
              <c:numCache>
                <c:formatCode>General</c:formatCode>
                <c:ptCount val="3"/>
                <c:pt idx="0">
                  <c:v>39</c:v>
                </c:pt>
                <c:pt idx="1">
                  <c:v>48</c:v>
                </c:pt>
                <c:pt idx="2">
                  <c:v>35</c:v>
                </c:pt>
              </c:numCache>
            </c:numRef>
          </c:val>
        </c:ser>
        <c:dLbls>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Measured candidate/program pairs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Attribution share</c:v>
          </c:tx>
          <c:spPr>
            <a:solidFill xmlns:a="http://schemas.openxmlformats.org/drawingml/2006/main">
              <a:srgbClr val="2878A8"/>
            </a:solidFill>
          </c:spPr>
          <c:invertIfNegative val="0"/>
          <c:cat>
            <c:strRef>
              <c:f>'Chart Data'!$A$2:$A$6</c:f>
              <c:strCache>
                <c:ptCount val="5"/>
                <c:pt idx="0">
                  <c:v>Savings %</c:v>
                </c:pt>
                <c:pt idx="1">
                  <c:v>Locations</c:v>
                </c:pt>
                <c:pt idx="2">
                  <c:v>Size</c:v>
                </c:pt>
                <c:pt idx="3">
                  <c:v>Frequency</c:v>
                </c:pt>
                <c:pt idx="4">
                  <c:v>Other</c:v>
                </c:pt>
              </c:strCache>
            </c:strRef>
          </c:cat>
          <c:val>
            <c:numRef>
              <c:f>'Chart Data'!$B$2:$B$6</c:f>
              <c:numCache>
                <c:formatCode>General</c:formatCode>
                <c:ptCount val="5"/>
                <c:pt idx="0">
                  <c:v>47.1035</c:v>
                </c:pt>
                <c:pt idx="1">
                  <c:v>11.1</c:v>
                </c:pt>
                <c:pt idx="2">
                  <c:v>7.2663</c:v>
                </c:pt>
                <c:pt idx="3">
                  <c:v>5.4586</c:v>
                </c:pt>
                <c:pt idx="4">
                  <c:v>29.0716</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Normalized contribution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Merit</c:v>
          </c:tx>
          <c:spPr>
            <a:solidFill xmlns:a="http://schemas.openxmlformats.org/drawingml/2006/main">
              <a:srgbClr val="607286"/>
            </a:solidFill>
          </c:spPr>
          <c:invertIfNegative val="0"/>
          <c:cat>
            <c:strRef>
              <c:f>'Chart Data'!$A$2:$A$4</c:f>
              <c:strCache>
                <c:ptCount val="3"/>
                <c:pt idx="0">
                  <c:v>1 attempt</c:v>
                </c:pt>
                <c:pt idx="1">
                  <c:v>2 attempts</c:v>
                </c:pt>
                <c:pt idx="2">
                  <c:v>3 attempts</c:v>
                </c:pt>
              </c:strCache>
            </c:strRef>
          </c:cat>
          <c:val>
            <c:numRef>
              <c:f>'Chart Data'!$B$2:$B$4</c:f>
              <c:numCache>
                <c:formatCode>0.00</c:formatCode>
                <c:ptCount val="3"/>
                <c:pt idx="0">
                  <c:v>1.132</c:v>
                </c:pt>
                <c:pt idx="1">
                  <c:v>0.465</c:v>
                </c:pt>
                <c:pt idx="2">
                  <c:v>0.015</c:v>
                </c:pt>
              </c:numCache>
            </c:numRef>
          </c:val>
        </c:ser>
        <c:ser>
          <c:idx val="1"/>
          <c:order val="1"/>
          <c:tx>
            <c:v>XGB ranker</c:v>
          </c:tx>
          <c:spPr>
            <a:solidFill xmlns:a="http://schemas.openxmlformats.org/drawingml/2006/main">
              <a:srgbClr val="2878A8"/>
            </a:solidFill>
          </c:spPr>
          <c:invertIfNegative val="0"/>
          <c:cat>
            <c:strRef>
              <c:f>'Chart Data'!$C$2:$C$4</c:f>
              <c:strCache>
                <c:ptCount val="3"/>
                <c:pt idx="0">
                  <c:v>1 attempt</c:v>
                </c:pt>
                <c:pt idx="1">
                  <c:v>2 attempts</c:v>
                </c:pt>
                <c:pt idx="2">
                  <c:v>3 attempts</c:v>
                </c:pt>
              </c:strCache>
            </c:strRef>
          </c:cat>
          <c:val>
            <c:numRef>
              <c:f>'Chart Data'!$D$2:$D$4</c:f>
              <c:numCache>
                <c:formatCode>0.00</c:formatCode>
                <c:ptCount val="3"/>
                <c:pt idx="0">
                  <c:v>0.842</c:v>
                </c:pt>
                <c:pt idx="1">
                  <c:v>0.439</c:v>
                </c:pt>
                <c:pt idx="2">
                  <c:v>0.07</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35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1.4"/>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Mean oracle regret (%)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0.35"/>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31C739-C2B7-49E5-B3CD-899CDA50F3AA}"/>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ISAForge</a:t>
            </a:r>
          </a:p>
        </p:txBody>
      </p:sp>
      <p:sp>
        <p:nvSpPr>
          <p:cNvPr id="2" name="">
            <a:extLst xmlns:a="http://schemas.openxmlformats.org/drawingml/2006/main">
              <a:ext uri="{FF2B5EF4-FFF2-40B4-BE49-F238E27FC236}">
                <a16:creationId xmlns:a16="http://schemas.microsoft.com/office/drawing/2014/main" id="{3221FB87-B28F-4710-9DE5-7553F59775B1}"/>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1FE26197-898D-40E8-9296-7982D0160539}"/>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a:t>
            </a:r>
          </a:p>
        </p:txBody>
      </p:sp>
      <p:sp>
        <p:nvSpPr>
          <p:cNvPr id="4" name="">
            <a:extLst xmlns:a="http://schemas.openxmlformats.org/drawingml/2006/main">
              <a:ext uri="{FF2B5EF4-FFF2-40B4-BE49-F238E27FC236}">
                <a16:creationId xmlns:a16="http://schemas.microsoft.com/office/drawing/2014/main" id="{207F3C4B-84F9-4C4E-9CB6-955249D69589}"/>
              </a:ext>
            </a:extLst>
          </p:cNvPr>
          <p:cNvSpPr>
            <a:spLocks xmlns:a="http://schemas.openxmlformats.org/drawingml/2006/main" noGrp="1"/>
          </p:cNvSpPr>
          <p:nvPr/>
        </p:nvSpPr>
        <p:spPr>
          <a:xfrm xmlns:a="http://schemas.openxmlformats.org/drawingml/2006/main">
            <a:off x="685800" y="156210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300" b="1">
                <a:solidFill>
                  <a:srgbClr val="2878A8"/>
                </a:solidFill>
                <a:latin typeface="Arial"/>
                <a:ea typeface="Arial"/>
                <a:cs typeface="Arial"/>
              </a:defRPr>
            </a:defPPr>
            <a:lvl1pPr>
              <a:defRPr sz="3300" b="1">
                <a:solidFill>
                  <a:srgbClr val="2878A8"/>
                </a:solidFill>
                <a:latin typeface="Arial"/>
                <a:ea typeface="Arial"/>
                <a:cs typeface="Arial"/>
              </a:defRPr>
            </a:lvl1pPr>
            <a:lvl2pPr>
              <a:defRPr sz="3300" b="1">
                <a:solidFill>
                  <a:srgbClr val="2878A8"/>
                </a:solidFill>
                <a:latin typeface="Arial"/>
                <a:ea typeface="Arial"/>
                <a:cs typeface="Arial"/>
              </a:defRPr>
            </a:lvl2pPr>
            <a:lvl3pPr>
              <a:defRPr sz="3300" b="1">
                <a:solidFill>
                  <a:srgbClr val="2878A8"/>
                </a:solidFill>
                <a:latin typeface="Arial"/>
                <a:ea typeface="Arial"/>
                <a:cs typeface="Arial"/>
              </a:defRPr>
            </a:lvl3pPr>
            <a:lvl4pPr>
              <a:defRPr sz="3300" b="1">
                <a:solidFill>
                  <a:srgbClr val="2878A8"/>
                </a:solidFill>
                <a:latin typeface="Arial"/>
                <a:ea typeface="Arial"/>
                <a:cs typeface="Arial"/>
              </a:defRPr>
            </a:lvl4pPr>
            <a:lvl5pPr>
              <a:defRPr sz="3300" b="1">
                <a:solidFill>
                  <a:srgbClr val="2878A8"/>
                </a:solidFill>
                <a:latin typeface="Arial"/>
                <a:ea typeface="Arial"/>
                <a:cs typeface="Arial"/>
              </a:defRPr>
            </a:lvl5pPr>
            <a:lvl6pPr>
              <a:defRPr sz="3300" b="1">
                <a:solidFill>
                  <a:srgbClr val="2878A8"/>
                </a:solidFill>
                <a:latin typeface="Arial"/>
                <a:ea typeface="Arial"/>
                <a:cs typeface="Arial"/>
              </a:defRPr>
            </a:lvl6pPr>
            <a:lvl7pPr>
              <a:defRPr sz="3300" b="1">
                <a:solidFill>
                  <a:srgbClr val="2878A8"/>
                </a:solidFill>
                <a:latin typeface="Arial"/>
                <a:ea typeface="Arial"/>
                <a:cs typeface="Arial"/>
              </a:defRPr>
            </a:lvl7pPr>
            <a:lvl8pPr>
              <a:defRPr sz="3300" b="1">
                <a:solidFill>
                  <a:srgbClr val="2878A8"/>
                </a:solidFill>
                <a:latin typeface="Arial"/>
                <a:ea typeface="Arial"/>
                <a:cs typeface="Arial"/>
              </a:defRPr>
            </a:lvl8pPr>
            <a:lvl9pPr>
              <a:defRPr sz="3300" b="1">
                <a:solidFill>
                  <a:srgbClr val="2878A8"/>
                </a:solidFill>
                <a:latin typeface="Arial"/>
                <a:ea typeface="Arial"/>
                <a:cs typeface="Arial"/>
              </a:defRPr>
            </a:lvl9pPr>
          </a:lstStyle>
          <a:p xmlns:a="http://schemas.openxmlformats.org/drawingml/2006/main">
            <a:pPr>
              <a:defRPr sz="3300" b="1">
                <a:solidFill>
                  <a:srgbClr val="2878A8"/>
                </a:solidFill>
                <a:latin typeface="Arial"/>
                <a:ea typeface="Arial"/>
                <a:cs typeface="Arial"/>
              </a:defRPr>
            </a:pPr>
            <a:r>
              <a:rPr sz="3300" b="1">
                <a:solidFill>
                  <a:srgbClr val="2878A8"/>
                </a:solidFill>
                <a:latin typeface="Arial"/>
                <a:ea typeface="Arial"/>
                <a:cs typeface="Arial"/>
              </a:rPr>
              <a:t>AI-guided RISC-V program optimization</a:t>
            </a:r>
          </a:p>
        </p:txBody>
      </p:sp>
      <p:sp>
        <p:nvSpPr>
          <p:cNvPr id="5" name="">
            <a:extLst xmlns:a="http://schemas.openxmlformats.org/drawingml/2006/main">
              <a:ext uri="{FF2B5EF4-FFF2-40B4-BE49-F238E27FC236}">
                <a16:creationId xmlns:a16="http://schemas.microsoft.com/office/drawing/2014/main" id="{FAF571CA-0CE3-4D98-8139-958A257F3AD8}"/>
              </a:ext>
            </a:extLst>
          </p:cNvPr>
          <p:cNvSpPr>
            <a:spLocks xmlns:a="http://schemas.openxmlformats.org/drawingml/2006/main" noGrp="1"/>
          </p:cNvSpPr>
          <p:nvPr/>
        </p:nvSpPr>
        <p:spPr>
          <a:xfrm xmlns:a="http://schemas.openxmlformats.org/drawingml/2006/main">
            <a:off x="685800" y="2667000"/>
            <a:ext cx="10477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850" b="1">
                <a:solidFill>
                  <a:srgbClr val="17324D"/>
                </a:solidFill>
                <a:latin typeface="Arial"/>
                <a:ea typeface="Arial"/>
                <a:cs typeface="Arial"/>
              </a:defRPr>
            </a:defPPr>
            <a:lvl1pPr>
              <a:defRPr sz="2850" b="1">
                <a:solidFill>
                  <a:srgbClr val="17324D"/>
                </a:solidFill>
                <a:latin typeface="Arial"/>
                <a:ea typeface="Arial"/>
                <a:cs typeface="Arial"/>
              </a:defRPr>
            </a:lvl1pPr>
            <a:lvl2pPr>
              <a:defRPr sz="2850" b="1">
                <a:solidFill>
                  <a:srgbClr val="17324D"/>
                </a:solidFill>
                <a:latin typeface="Arial"/>
                <a:ea typeface="Arial"/>
                <a:cs typeface="Arial"/>
              </a:defRPr>
            </a:lvl2pPr>
            <a:lvl3pPr>
              <a:defRPr sz="2850" b="1">
                <a:solidFill>
                  <a:srgbClr val="17324D"/>
                </a:solidFill>
                <a:latin typeface="Arial"/>
                <a:ea typeface="Arial"/>
                <a:cs typeface="Arial"/>
              </a:defRPr>
            </a:lvl3pPr>
            <a:lvl4pPr>
              <a:defRPr sz="2850" b="1">
                <a:solidFill>
                  <a:srgbClr val="17324D"/>
                </a:solidFill>
                <a:latin typeface="Arial"/>
                <a:ea typeface="Arial"/>
                <a:cs typeface="Arial"/>
              </a:defRPr>
            </a:lvl4pPr>
            <a:lvl5pPr>
              <a:defRPr sz="2850" b="1">
                <a:solidFill>
                  <a:srgbClr val="17324D"/>
                </a:solidFill>
                <a:latin typeface="Arial"/>
                <a:ea typeface="Arial"/>
                <a:cs typeface="Arial"/>
              </a:defRPr>
            </a:lvl5pPr>
            <a:lvl6pPr>
              <a:defRPr sz="2850" b="1">
                <a:solidFill>
                  <a:srgbClr val="17324D"/>
                </a:solidFill>
                <a:latin typeface="Arial"/>
                <a:ea typeface="Arial"/>
                <a:cs typeface="Arial"/>
              </a:defRPr>
            </a:lvl6pPr>
            <a:lvl7pPr>
              <a:defRPr sz="2850" b="1">
                <a:solidFill>
                  <a:srgbClr val="17324D"/>
                </a:solidFill>
                <a:latin typeface="Arial"/>
                <a:ea typeface="Arial"/>
                <a:cs typeface="Arial"/>
              </a:defRPr>
            </a:lvl7pPr>
            <a:lvl8pPr>
              <a:defRPr sz="2850" b="1">
                <a:solidFill>
                  <a:srgbClr val="17324D"/>
                </a:solidFill>
                <a:latin typeface="Arial"/>
                <a:ea typeface="Arial"/>
                <a:cs typeface="Arial"/>
              </a:defRPr>
            </a:lvl8pPr>
            <a:lvl9pPr>
              <a:defRPr sz="2850" b="1">
                <a:solidFill>
                  <a:srgbClr val="17324D"/>
                </a:solidFill>
                <a:latin typeface="Arial"/>
                <a:ea typeface="Arial"/>
                <a:cs typeface="Arial"/>
              </a:defRPr>
            </a:lvl9pPr>
          </a:lstStyle>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Can learned selection find better feasible designs</a:t>
            </a:r>
          </a:p>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with fewer hardware evaluations?</a:t>
            </a:r>
          </a:p>
        </p:txBody>
      </p:sp>
      <p:sp>
        <p:nvSpPr>
          <p:cNvPr id="6" name="">
            <a:extLst xmlns:a="http://schemas.openxmlformats.org/drawingml/2006/main">
              <a:ext uri="{FF2B5EF4-FFF2-40B4-BE49-F238E27FC236}">
                <a16:creationId xmlns:a16="http://schemas.microsoft.com/office/drawing/2014/main" id="{32FD49FE-90AC-45AB-B405-D55ECDE8E289}"/>
              </a:ext>
            </a:extLst>
          </p:cNvPr>
          <p:cNvSpPr>
            <a:spLocks xmlns:a="http://schemas.openxmlformats.org/drawingml/2006/main" noGrp="1"/>
          </p:cNvSpPr>
          <p:nvPr/>
        </p:nvSpPr>
        <p:spPr>
          <a:xfrm xmlns:a="http://schemas.openxmlformats.org/drawingml/2006/main">
            <a:off x="685800" y="4371975"/>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263648"/>
                </a:solidFill>
                <a:latin typeface="Arial"/>
                <a:ea typeface="Arial"/>
                <a:cs typeface="Arial"/>
              </a:defRPr>
            </a:defPPr>
            <a:lvl1pPr>
              <a:defRPr sz="2100" b="0">
                <a:solidFill>
                  <a:srgbClr val="263648"/>
                </a:solidFill>
                <a:latin typeface="Arial"/>
                <a:ea typeface="Arial"/>
                <a:cs typeface="Arial"/>
              </a:defRPr>
            </a:lvl1pPr>
            <a:lvl2pPr>
              <a:defRPr sz="2100" b="0">
                <a:solidFill>
                  <a:srgbClr val="263648"/>
                </a:solidFill>
                <a:latin typeface="Arial"/>
                <a:ea typeface="Arial"/>
                <a:cs typeface="Arial"/>
              </a:defRPr>
            </a:lvl2pPr>
            <a:lvl3pPr>
              <a:defRPr sz="2100" b="0">
                <a:solidFill>
                  <a:srgbClr val="263648"/>
                </a:solidFill>
                <a:latin typeface="Arial"/>
                <a:ea typeface="Arial"/>
                <a:cs typeface="Arial"/>
              </a:defRPr>
            </a:lvl3pPr>
            <a:lvl4pPr>
              <a:defRPr sz="2100" b="0">
                <a:solidFill>
                  <a:srgbClr val="263648"/>
                </a:solidFill>
                <a:latin typeface="Arial"/>
                <a:ea typeface="Arial"/>
                <a:cs typeface="Arial"/>
              </a:defRPr>
            </a:lvl4pPr>
            <a:lvl5pPr>
              <a:defRPr sz="2100" b="0">
                <a:solidFill>
                  <a:srgbClr val="263648"/>
                </a:solidFill>
                <a:latin typeface="Arial"/>
                <a:ea typeface="Arial"/>
                <a:cs typeface="Arial"/>
              </a:defRPr>
            </a:lvl5pPr>
            <a:lvl6pPr>
              <a:defRPr sz="2100" b="0">
                <a:solidFill>
                  <a:srgbClr val="263648"/>
                </a:solidFill>
                <a:latin typeface="Arial"/>
                <a:ea typeface="Arial"/>
                <a:cs typeface="Arial"/>
              </a:defRPr>
            </a:lvl6pPr>
            <a:lvl7pPr>
              <a:defRPr sz="2100" b="0">
                <a:solidFill>
                  <a:srgbClr val="263648"/>
                </a:solidFill>
                <a:latin typeface="Arial"/>
                <a:ea typeface="Arial"/>
                <a:cs typeface="Arial"/>
              </a:defRPr>
            </a:lvl7pPr>
            <a:lvl8pPr>
              <a:defRPr sz="2100" b="0">
                <a:solidFill>
                  <a:srgbClr val="263648"/>
                </a:solidFill>
                <a:latin typeface="Arial"/>
                <a:ea typeface="Arial"/>
                <a:cs typeface="Arial"/>
              </a:defRPr>
            </a:lvl8pPr>
            <a:lvl9pPr>
              <a:defRPr sz="2100" b="0">
                <a:solidFill>
                  <a:srgbClr val="263648"/>
                </a:solidFill>
                <a:latin typeface="Arial"/>
                <a:ea typeface="Arial"/>
                <a:cs typeface="Arial"/>
              </a:defRPr>
            </a:lvl9pPr>
          </a:lstStyle>
          <a:p xmlns:a="http://schemas.openxmlformats.org/drawingml/2006/main">
            <a:pPr>
              <a:defRPr sz="2100" b="0">
                <a:solidFill>
                  <a:srgbClr val="263648"/>
                </a:solidFill>
                <a:latin typeface="Arial"/>
                <a:ea typeface="Arial"/>
                <a:cs typeface="Arial"/>
              </a:defRPr>
            </a:pPr>
            <a:r>
              <a:rPr sz="2100" b="0">
                <a:solidFill>
                  <a:srgbClr val="263648"/>
                </a:solidFill>
                <a:latin typeface="Arial"/>
                <a:ea typeface="Arial"/>
                <a:cs typeface="Arial"/>
              </a:rPr>
              <a:t>Real workloads → measured outcomes → intelligent selection</a:t>
            </a:r>
          </a:p>
        </p:txBody>
      </p:sp>
      <p:sp>
        <p:nvSpPr>
          <p:cNvPr id="7" name="">
            <a:extLst xmlns:a="http://schemas.openxmlformats.org/drawingml/2006/main">
              <a:ext uri="{FF2B5EF4-FFF2-40B4-BE49-F238E27FC236}">
                <a16:creationId xmlns:a16="http://schemas.microsoft.com/office/drawing/2014/main" id="{A551D15F-58CA-49A8-9624-CF8342026496}"/>
              </a:ext>
            </a:extLst>
          </p:cNvPr>
          <p:cNvSpPr>
            <a:spLocks xmlns:a="http://schemas.openxmlformats.org/drawingml/2006/main" noGrp="1"/>
          </p:cNvSpPr>
          <p:nvPr/>
        </p:nvSpPr>
        <p:spPr>
          <a:xfrm xmlns:a="http://schemas.openxmlformats.org/drawingml/2006/main">
            <a:off x="685800" y="5495925"/>
            <a:ext cx="1066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Midterm progress • ECE 4803 • October 28, 2026</a:t>
            </a:r>
          </a:p>
        </p:txBody>
      </p:sp>
    </p:spTree>
    <p:extLst>
      <p:ext uri="{BB962C8B-B14F-4D97-AF65-F5344CB8AC3E}">
        <p14:creationId xmlns:p14="http://schemas.microsoft.com/office/powerpoint/2010/main" val="7645481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F771DE65-3C3D-4D45-8F55-43BFB1811946}"/>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Research foundations</a:t>
            </a:r>
          </a:p>
        </p:txBody>
      </p:sp>
      <p:sp>
        <p:nvSpPr>
          <p:cNvPr id="2" name="">
            <a:extLst xmlns:a="http://schemas.openxmlformats.org/drawingml/2006/main">
              <a:ext uri="{FF2B5EF4-FFF2-40B4-BE49-F238E27FC236}">
                <a16:creationId xmlns:a16="http://schemas.microsoft.com/office/drawing/2014/main" id="{3430B949-20C8-4A49-8CE5-FACF6447B538}"/>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696E88C2-E0E7-490B-B5EC-B29DC39226A1}"/>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2</a:t>
            </a:r>
          </a:p>
        </p:txBody>
      </p:sp>
      <p:sp>
        <p:nvSpPr>
          <p:cNvPr id="4" name="">
            <a:extLst xmlns:a="http://schemas.openxmlformats.org/drawingml/2006/main">
              <a:ext uri="{FF2B5EF4-FFF2-40B4-BE49-F238E27FC236}">
                <a16:creationId xmlns:a16="http://schemas.microsoft.com/office/drawing/2014/main" id="{1010AC2A-E606-4A9C-BBF2-A7073C6F1C6F}"/>
              </a:ext>
            </a:extLst>
          </p:cNvPr>
          <p:cNvSpPr>
            <a:spLocks xmlns:a="http://schemas.openxmlformats.org/drawingml/2006/main" noGrp="1"/>
          </p:cNvSpPr>
          <p:nvPr/>
        </p:nvSpPr>
        <p:spPr>
          <a:xfrm xmlns:a="http://schemas.openxmlformats.org/drawingml/2006/main">
            <a:off x="685800" y="145732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Atasu et al. • DAC 2003</a:t>
            </a:r>
          </a:p>
        </p:txBody>
      </p:sp>
      <p:sp>
        <p:nvSpPr>
          <p:cNvPr id="5" name="">
            <a:extLst xmlns:a="http://schemas.openxmlformats.org/drawingml/2006/main">
              <a:ext uri="{FF2B5EF4-FFF2-40B4-BE49-F238E27FC236}">
                <a16:creationId xmlns:a16="http://schemas.microsoft.com/office/drawing/2014/main" id="{3486F0F7-D043-49F2-9644-030EFE352F82}"/>
              </a:ext>
            </a:extLst>
          </p:cNvPr>
          <p:cNvSpPr>
            <a:spLocks xmlns:a="http://schemas.openxmlformats.org/drawingml/2006/main" noGrp="1"/>
          </p:cNvSpPr>
          <p:nvPr/>
        </p:nvSpPr>
        <p:spPr>
          <a:xfrm xmlns:a="http://schemas.openxmlformats.org/drawingml/2006/main">
            <a:off x="5143500" y="145732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Legal dataflow candidates</a:t>
            </a:r>
          </a:p>
        </p:txBody>
      </p:sp>
      <p:sp>
        <p:nvSpPr>
          <p:cNvPr id="6" name="">
            <a:extLst xmlns:a="http://schemas.openxmlformats.org/drawingml/2006/main">
              <a:ext uri="{FF2B5EF4-FFF2-40B4-BE49-F238E27FC236}">
                <a16:creationId xmlns:a16="http://schemas.microsoft.com/office/drawing/2014/main" id="{C1B4F601-6289-4FF3-9E11-0EBB7EA9E3AE}"/>
              </a:ext>
            </a:extLst>
          </p:cNvPr>
          <p:cNvSpPr>
            <a:spLocks xmlns:a="http://schemas.openxmlformats.org/drawingml/2006/main" noGrp="1"/>
          </p:cNvSpPr>
          <p:nvPr/>
        </p:nvSpPr>
        <p:spPr>
          <a:xfrm xmlns:a="http://schemas.openxmlformats.org/drawingml/2006/main">
            <a:off x="5143500" y="183832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Input/output limits and convexity</a:t>
            </a:r>
          </a:p>
        </p:txBody>
      </p:sp>
      <p:sp>
        <p:nvSpPr>
          <p:cNvPr id="7" name="">
            <a:extLst xmlns:a="http://schemas.openxmlformats.org/drawingml/2006/main">
              <a:ext uri="{FF2B5EF4-FFF2-40B4-BE49-F238E27FC236}">
                <a16:creationId xmlns:a16="http://schemas.microsoft.com/office/drawing/2014/main" id="{55F52CAD-CEE4-4E5E-9E63-CE4B7ACE9587}"/>
              </a:ext>
            </a:extLst>
          </p:cNvPr>
          <p:cNvSpPr>
            <a:spLocks xmlns:a="http://schemas.openxmlformats.org/drawingml/2006/main" noGrp="1"/>
          </p:cNvSpPr>
          <p:nvPr/>
        </p:nvSpPr>
        <p:spPr>
          <a:xfrm xmlns:a="http://schemas.openxmlformats.org/drawingml/2006/main">
            <a:off x="685800" y="227647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8" name="">
            <a:extLst xmlns:a="http://schemas.openxmlformats.org/drawingml/2006/main">
              <a:ext uri="{FF2B5EF4-FFF2-40B4-BE49-F238E27FC236}">
                <a16:creationId xmlns:a16="http://schemas.microsoft.com/office/drawing/2014/main" id="{4C30EA8B-73DD-463B-BC2E-6A3C3072EFA5}"/>
              </a:ext>
            </a:extLst>
          </p:cNvPr>
          <p:cNvSpPr>
            <a:spLocks xmlns:a="http://schemas.openxmlformats.org/drawingml/2006/main" noGrp="1"/>
          </p:cNvSpPr>
          <p:nvPr/>
        </p:nvSpPr>
        <p:spPr>
          <a:xfrm xmlns:a="http://schemas.openxmlformats.org/drawingml/2006/main">
            <a:off x="685800" y="245745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CIDRE • ICCAD 2025</a:t>
            </a:r>
          </a:p>
        </p:txBody>
      </p:sp>
      <p:sp>
        <p:nvSpPr>
          <p:cNvPr id="9" name="">
            <a:extLst xmlns:a="http://schemas.openxmlformats.org/drawingml/2006/main">
              <a:ext uri="{FF2B5EF4-FFF2-40B4-BE49-F238E27FC236}">
                <a16:creationId xmlns:a16="http://schemas.microsoft.com/office/drawing/2014/main" id="{2C787E27-072A-41E3-94DA-1960405A61DE}"/>
              </a:ext>
            </a:extLst>
          </p:cNvPr>
          <p:cNvSpPr>
            <a:spLocks xmlns:a="http://schemas.openxmlformats.org/drawingml/2006/main" noGrp="1"/>
          </p:cNvSpPr>
          <p:nvPr/>
        </p:nvSpPr>
        <p:spPr>
          <a:xfrm xmlns:a="http://schemas.openxmlformats.org/drawingml/2006/main">
            <a:off x="5143500" y="245745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Architecture-aware evaluation</a:t>
            </a:r>
          </a:p>
        </p:txBody>
      </p:sp>
      <p:sp>
        <p:nvSpPr>
          <p:cNvPr id="10" name="">
            <a:extLst xmlns:a="http://schemas.openxmlformats.org/drawingml/2006/main">
              <a:ext uri="{FF2B5EF4-FFF2-40B4-BE49-F238E27FC236}">
                <a16:creationId xmlns:a16="http://schemas.microsoft.com/office/drawing/2014/main" id="{1F14217A-BCE9-46C0-B1AF-5F689652D8FF}"/>
              </a:ext>
            </a:extLst>
          </p:cNvPr>
          <p:cNvSpPr>
            <a:spLocks xmlns:a="http://schemas.openxmlformats.org/drawingml/2006/main" noGrp="1"/>
          </p:cNvSpPr>
          <p:nvPr/>
        </p:nvSpPr>
        <p:spPr>
          <a:xfrm xmlns:a="http://schemas.openxmlformats.org/drawingml/2006/main">
            <a:off x="5143500" y="283845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Account for processor latency and timing</a:t>
            </a:r>
          </a:p>
        </p:txBody>
      </p:sp>
      <p:sp>
        <p:nvSpPr>
          <p:cNvPr id="11" name="">
            <a:extLst xmlns:a="http://schemas.openxmlformats.org/drawingml/2006/main">
              <a:ext uri="{FF2B5EF4-FFF2-40B4-BE49-F238E27FC236}">
                <a16:creationId xmlns:a16="http://schemas.microsoft.com/office/drawing/2014/main" id="{DF83E6DA-205E-4E47-B884-E99530ACCD18}"/>
              </a:ext>
            </a:extLst>
          </p:cNvPr>
          <p:cNvSpPr>
            <a:spLocks xmlns:a="http://schemas.openxmlformats.org/drawingml/2006/main" noGrp="1"/>
          </p:cNvSpPr>
          <p:nvPr/>
        </p:nvSpPr>
        <p:spPr>
          <a:xfrm xmlns:a="http://schemas.openxmlformats.org/drawingml/2006/main">
            <a:off x="685800" y="3276600"/>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2" name="">
            <a:extLst xmlns:a="http://schemas.openxmlformats.org/drawingml/2006/main">
              <a:ext uri="{FF2B5EF4-FFF2-40B4-BE49-F238E27FC236}">
                <a16:creationId xmlns:a16="http://schemas.microsoft.com/office/drawing/2014/main" id="{65A63E89-B5CD-4697-B7FD-459388F5EC6F}"/>
              </a:ext>
            </a:extLst>
          </p:cNvPr>
          <p:cNvSpPr>
            <a:spLocks xmlns:a="http://schemas.openxmlformats.org/drawingml/2006/main" noGrp="1"/>
          </p:cNvSpPr>
          <p:nvPr/>
        </p:nvSpPr>
        <p:spPr>
          <a:xfrm xmlns:a="http://schemas.openxmlformats.org/drawingml/2006/main">
            <a:off x="685800" y="345757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AutoTVM • NeurIPS 2018</a:t>
            </a:r>
          </a:p>
        </p:txBody>
      </p:sp>
      <p:sp>
        <p:nvSpPr>
          <p:cNvPr id="13" name="">
            <a:extLst xmlns:a="http://schemas.openxmlformats.org/drawingml/2006/main">
              <a:ext uri="{FF2B5EF4-FFF2-40B4-BE49-F238E27FC236}">
                <a16:creationId xmlns:a16="http://schemas.microsoft.com/office/drawing/2014/main" id="{955E6554-4D37-4E8D-9EC3-BDD24B4E31C6}"/>
              </a:ext>
            </a:extLst>
          </p:cNvPr>
          <p:cNvSpPr>
            <a:spLocks xmlns:a="http://schemas.openxmlformats.org/drawingml/2006/main" noGrp="1"/>
          </p:cNvSpPr>
          <p:nvPr/>
        </p:nvSpPr>
        <p:spPr>
          <a:xfrm xmlns:a="http://schemas.openxmlformats.org/drawingml/2006/main">
            <a:off x="5143500" y="345757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Learn from measured performance</a:t>
            </a:r>
          </a:p>
        </p:txBody>
      </p:sp>
      <p:sp>
        <p:nvSpPr>
          <p:cNvPr id="14" name="">
            <a:extLst xmlns:a="http://schemas.openxmlformats.org/drawingml/2006/main">
              <a:ext uri="{FF2B5EF4-FFF2-40B4-BE49-F238E27FC236}">
                <a16:creationId xmlns:a16="http://schemas.microsoft.com/office/drawing/2014/main" id="{D45C8726-680D-411F-A759-0972EFAEDFD0}"/>
              </a:ext>
            </a:extLst>
          </p:cNvPr>
          <p:cNvSpPr>
            <a:spLocks xmlns:a="http://schemas.openxmlformats.org/drawingml/2006/main" noGrp="1"/>
          </p:cNvSpPr>
          <p:nvPr/>
        </p:nvSpPr>
        <p:spPr>
          <a:xfrm xmlns:a="http://schemas.openxmlformats.org/drawingml/2006/main">
            <a:off x="5143500" y="383857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Pairwise ranking of alternatives</a:t>
            </a:r>
          </a:p>
        </p:txBody>
      </p:sp>
      <p:sp>
        <p:nvSpPr>
          <p:cNvPr id="15" name="">
            <a:extLst xmlns:a="http://schemas.openxmlformats.org/drawingml/2006/main">
              <a:ext uri="{FF2B5EF4-FFF2-40B4-BE49-F238E27FC236}">
                <a16:creationId xmlns:a16="http://schemas.microsoft.com/office/drawing/2014/main" id="{0E34FAF6-AB18-4B81-A702-4B093207B495}"/>
              </a:ext>
            </a:extLst>
          </p:cNvPr>
          <p:cNvSpPr>
            <a:spLocks xmlns:a="http://schemas.openxmlformats.org/drawingml/2006/main" noGrp="1"/>
          </p:cNvSpPr>
          <p:nvPr/>
        </p:nvSpPr>
        <p:spPr>
          <a:xfrm xmlns:a="http://schemas.openxmlformats.org/drawingml/2006/main">
            <a:off x="685800" y="427672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6" name="">
            <a:extLst xmlns:a="http://schemas.openxmlformats.org/drawingml/2006/main">
              <a:ext uri="{FF2B5EF4-FFF2-40B4-BE49-F238E27FC236}">
                <a16:creationId xmlns:a16="http://schemas.microsoft.com/office/drawing/2014/main" id="{8BE6C259-B9A6-4E77-9B93-1422F870D4E3}"/>
              </a:ext>
            </a:extLst>
          </p:cNvPr>
          <p:cNvSpPr>
            <a:spLocks xmlns:a="http://schemas.openxmlformats.org/drawingml/2006/main" noGrp="1"/>
          </p:cNvSpPr>
          <p:nvPr/>
        </p:nvSpPr>
        <p:spPr>
          <a:xfrm xmlns:a="http://schemas.openxmlformats.org/drawingml/2006/main">
            <a:off x="685800" y="445770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Gardner et al. • ICML 2014</a:t>
            </a:r>
          </a:p>
        </p:txBody>
      </p:sp>
      <p:sp>
        <p:nvSpPr>
          <p:cNvPr id="17" name="">
            <a:extLst xmlns:a="http://schemas.openxmlformats.org/drawingml/2006/main">
              <a:ext uri="{FF2B5EF4-FFF2-40B4-BE49-F238E27FC236}">
                <a16:creationId xmlns:a16="http://schemas.microsoft.com/office/drawing/2014/main" id="{99F49FC5-2BFA-4551-9AB0-308B6AA7E71C}"/>
              </a:ext>
            </a:extLst>
          </p:cNvPr>
          <p:cNvSpPr>
            <a:spLocks xmlns:a="http://schemas.openxmlformats.org/drawingml/2006/main" noGrp="1"/>
          </p:cNvSpPr>
          <p:nvPr/>
        </p:nvSpPr>
        <p:spPr>
          <a:xfrm xmlns:a="http://schemas.openxmlformats.org/drawingml/2006/main">
            <a:off x="5143500" y="445770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Constrained Bayesian optimization</a:t>
            </a:r>
          </a:p>
        </p:txBody>
      </p:sp>
      <p:sp>
        <p:nvSpPr>
          <p:cNvPr id="18" name="">
            <a:extLst xmlns:a="http://schemas.openxmlformats.org/drawingml/2006/main">
              <a:ext uri="{FF2B5EF4-FFF2-40B4-BE49-F238E27FC236}">
                <a16:creationId xmlns:a16="http://schemas.microsoft.com/office/drawing/2014/main" id="{6A84CC69-0CF0-49E4-BA8C-670330DEDAFC}"/>
              </a:ext>
            </a:extLst>
          </p:cNvPr>
          <p:cNvSpPr>
            <a:spLocks xmlns:a="http://schemas.openxmlformats.org/drawingml/2006/main" noGrp="1"/>
          </p:cNvSpPr>
          <p:nvPr/>
        </p:nvSpPr>
        <p:spPr>
          <a:xfrm xmlns:a="http://schemas.openxmlformats.org/drawingml/2006/main">
            <a:off x="5143500" y="483870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Balance benefit, feasibility, and measurement</a:t>
            </a:r>
          </a:p>
        </p:txBody>
      </p:sp>
      <p:sp>
        <p:nvSpPr>
          <p:cNvPr id="19" name="">
            <a:extLst xmlns:a="http://schemas.openxmlformats.org/drawingml/2006/main">
              <a:ext uri="{FF2B5EF4-FFF2-40B4-BE49-F238E27FC236}">
                <a16:creationId xmlns:a16="http://schemas.microsoft.com/office/drawing/2014/main" id="{2CC7DAA2-3819-4DD0-9EC6-C1DE866762F9}"/>
              </a:ext>
            </a:extLst>
          </p:cNvPr>
          <p:cNvSpPr>
            <a:spLocks xmlns:a="http://schemas.openxmlformats.org/drawingml/2006/main" noGrp="1"/>
          </p:cNvSpPr>
          <p:nvPr/>
        </p:nvSpPr>
        <p:spPr>
          <a:xfrm xmlns:a="http://schemas.openxmlformats.org/drawingml/2006/main">
            <a:off x="685800" y="5724525"/>
            <a:ext cx="1081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Our test: measurement-efficient selection, validated on real processor outcomes.</a:t>
            </a:r>
          </a:p>
        </p:txBody>
      </p:sp>
    </p:spTree>
    <p:extLst>
      <p:ext uri="{BB962C8B-B14F-4D97-AF65-F5344CB8AC3E}">
        <p14:creationId xmlns:p14="http://schemas.microsoft.com/office/powerpoint/2010/main" val="136063410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F484A4F-36C6-41C9-AA55-586C2813CE61}"/>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Timeline and team contributions</a:t>
            </a:r>
          </a:p>
        </p:txBody>
      </p:sp>
      <p:sp>
        <p:nvSpPr>
          <p:cNvPr id="2" name="">
            <a:extLst xmlns:a="http://schemas.openxmlformats.org/drawingml/2006/main">
              <a:ext uri="{FF2B5EF4-FFF2-40B4-BE49-F238E27FC236}">
                <a16:creationId xmlns:a16="http://schemas.microsoft.com/office/drawing/2014/main" id="{B7D421F5-6E3E-4DA0-94B2-F24651ED889C}"/>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31AF07CC-8F84-4E2D-93A1-D46D15AB85E3}"/>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3</a:t>
            </a:r>
          </a:p>
        </p:txBody>
      </p:sp>
      <p:sp>
        <p:nvSpPr>
          <p:cNvPr id="4" name="">
            <a:extLst xmlns:a="http://schemas.openxmlformats.org/drawingml/2006/main">
              <a:ext uri="{FF2B5EF4-FFF2-40B4-BE49-F238E27FC236}">
                <a16:creationId xmlns:a16="http://schemas.microsoft.com/office/drawing/2014/main" id="{4F5D05E3-74D2-4972-9E7C-7FE1621BEDFB}"/>
              </a:ext>
            </a:extLst>
          </p:cNvPr>
          <p:cNvSpPr>
            <a:spLocks xmlns:a="http://schemas.openxmlformats.org/drawingml/2006/main" noGrp="1"/>
          </p:cNvSpPr>
          <p:nvPr/>
        </p:nvSpPr>
        <p:spPr>
          <a:xfrm xmlns:a="http://schemas.openxmlformats.org/drawingml/2006/main">
            <a:off x="904875" y="2000250"/>
            <a:ext cx="10239375" cy="0"/>
          </a:xfrm>
          <a:prstGeom xmlns:a="http://schemas.openxmlformats.org/drawingml/2006/main" prst="line">
            <a:avLst/>
          </a:prstGeom>
          <a:noFill xmlns:a="http://schemas.openxmlformats.org/drawingml/2006/main"/>
          <a:ln xmlns:a="http://schemas.openxmlformats.org/drawingml/2006/main" w="38100">
            <a:solidFill>
              <a:srgbClr val="2878A8"/>
            </a:solidFill>
            <a:prstDash val="solid"/>
          </a:ln>
        </p:spPr>
      </p:sp>
      <p:sp>
        <p:nvSpPr>
          <p:cNvPr id="5" name="">
            <a:extLst xmlns:a="http://schemas.openxmlformats.org/drawingml/2006/main">
              <a:ext uri="{FF2B5EF4-FFF2-40B4-BE49-F238E27FC236}">
                <a16:creationId xmlns:a16="http://schemas.microsoft.com/office/drawing/2014/main" id="{C483E6D5-318C-4730-AACF-9E265A16502E}"/>
              </a:ext>
            </a:extLst>
          </p:cNvPr>
          <p:cNvSpPr>
            <a:spLocks xmlns:a="http://schemas.openxmlformats.org/drawingml/2006/main" noGrp="1"/>
          </p:cNvSpPr>
          <p:nvPr/>
        </p:nvSpPr>
        <p:spPr>
          <a:xfrm xmlns:a="http://schemas.openxmlformats.org/drawingml/2006/main">
            <a:off x="68580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19–21</a:t>
            </a:r>
          </a:p>
        </p:txBody>
      </p:sp>
      <p:sp>
        <p:nvSpPr>
          <p:cNvPr id="6" name="">
            <a:extLst xmlns:a="http://schemas.openxmlformats.org/drawingml/2006/main">
              <a:ext uri="{FF2B5EF4-FFF2-40B4-BE49-F238E27FC236}">
                <a16:creationId xmlns:a16="http://schemas.microsoft.com/office/drawing/2014/main" id="{DA427C46-2567-4279-9302-4ECDD2E40ECF}"/>
              </a:ext>
            </a:extLst>
          </p:cNvPr>
          <p:cNvSpPr>
            <a:spLocks xmlns:a="http://schemas.openxmlformats.org/drawingml/2006/main" noGrp="1"/>
          </p:cNvSpPr>
          <p:nvPr/>
        </p:nvSpPr>
        <p:spPr>
          <a:xfrm xmlns:a="http://schemas.openxmlformats.org/drawingml/2006/main">
            <a:off x="80010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0B8158A-AD99-49E1-B358-9E69AF3E76C5}"/>
              </a:ext>
            </a:extLst>
          </p:cNvPr>
          <p:cNvSpPr>
            <a:spLocks xmlns:a="http://schemas.openxmlformats.org/drawingml/2006/main" noGrp="1"/>
          </p:cNvSpPr>
          <p:nvPr/>
        </p:nvSpPr>
        <p:spPr>
          <a:xfrm xmlns:a="http://schemas.openxmlformats.org/drawingml/2006/main">
            <a:off x="68580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CRC32 + aha</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working pipeline</a:t>
            </a:r>
          </a:p>
        </p:txBody>
      </p:sp>
      <p:sp>
        <p:nvSpPr>
          <p:cNvPr id="8" name="">
            <a:extLst xmlns:a="http://schemas.openxmlformats.org/drawingml/2006/main">
              <a:ext uri="{FF2B5EF4-FFF2-40B4-BE49-F238E27FC236}">
                <a16:creationId xmlns:a16="http://schemas.microsoft.com/office/drawing/2014/main" id="{32BC02A1-4054-484E-B265-9F2DDF81C3EF}"/>
              </a:ext>
            </a:extLst>
          </p:cNvPr>
          <p:cNvSpPr>
            <a:spLocks xmlns:a="http://schemas.openxmlformats.org/drawingml/2006/main" noGrp="1"/>
          </p:cNvSpPr>
          <p:nvPr/>
        </p:nvSpPr>
        <p:spPr>
          <a:xfrm xmlns:a="http://schemas.openxmlformats.org/drawingml/2006/main">
            <a:off x="347662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22</a:t>
            </a:r>
          </a:p>
        </p:txBody>
      </p:sp>
      <p:sp>
        <p:nvSpPr>
          <p:cNvPr id="9" name="">
            <a:extLst xmlns:a="http://schemas.openxmlformats.org/drawingml/2006/main">
              <a:ext uri="{FF2B5EF4-FFF2-40B4-BE49-F238E27FC236}">
                <a16:creationId xmlns:a16="http://schemas.microsoft.com/office/drawing/2014/main" id="{4CCDF8CC-58D6-4CF9-AF20-C9D5B8BE8551}"/>
              </a:ext>
            </a:extLst>
          </p:cNvPr>
          <p:cNvSpPr>
            <a:spLocks xmlns:a="http://schemas.openxmlformats.org/drawingml/2006/main" noGrp="1"/>
          </p:cNvSpPr>
          <p:nvPr/>
        </p:nvSpPr>
        <p:spPr>
          <a:xfrm xmlns:a="http://schemas.openxmlformats.org/drawingml/2006/main">
            <a:off x="359092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F3AC0FD-9BD8-4E35-BDF4-8B0F79D34794}"/>
              </a:ext>
            </a:extLst>
          </p:cNvPr>
          <p:cNvSpPr>
            <a:spLocks xmlns:a="http://schemas.openxmlformats.org/drawingml/2006/main" noGrp="1"/>
          </p:cNvSpPr>
          <p:nvPr/>
        </p:nvSpPr>
        <p:spPr>
          <a:xfrm xmlns:a="http://schemas.openxmlformats.org/drawingml/2006/main">
            <a:off x="347662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Cross-workload</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selection tests</a:t>
            </a:r>
          </a:p>
        </p:txBody>
      </p:sp>
      <p:sp>
        <p:nvSpPr>
          <p:cNvPr id="11" name="">
            <a:extLst xmlns:a="http://schemas.openxmlformats.org/drawingml/2006/main">
              <a:ext uri="{FF2B5EF4-FFF2-40B4-BE49-F238E27FC236}">
                <a16:creationId xmlns:a16="http://schemas.microsoft.com/office/drawing/2014/main" id="{619CBE95-99E1-4874-9CDC-59D8E9D29166}"/>
              </a:ext>
            </a:extLst>
          </p:cNvPr>
          <p:cNvSpPr>
            <a:spLocks xmlns:a="http://schemas.openxmlformats.org/drawingml/2006/main" noGrp="1"/>
          </p:cNvSpPr>
          <p:nvPr/>
        </p:nvSpPr>
        <p:spPr>
          <a:xfrm xmlns:a="http://schemas.openxmlformats.org/drawingml/2006/main">
            <a:off x="626745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25–26</a:t>
            </a:r>
          </a:p>
        </p:txBody>
      </p:sp>
      <p:sp>
        <p:nvSpPr>
          <p:cNvPr id="12" name="">
            <a:extLst xmlns:a="http://schemas.openxmlformats.org/drawingml/2006/main">
              <a:ext uri="{FF2B5EF4-FFF2-40B4-BE49-F238E27FC236}">
                <a16:creationId xmlns:a16="http://schemas.microsoft.com/office/drawing/2014/main" id="{AA9AF423-E9DD-4CB2-8762-05793A9475B8}"/>
              </a:ext>
            </a:extLst>
          </p:cNvPr>
          <p:cNvSpPr>
            <a:spLocks xmlns:a="http://schemas.openxmlformats.org/drawingml/2006/main" noGrp="1"/>
          </p:cNvSpPr>
          <p:nvPr/>
        </p:nvSpPr>
        <p:spPr>
          <a:xfrm xmlns:a="http://schemas.openxmlformats.org/drawingml/2006/main">
            <a:off x="638175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D4332C4-ECCE-4FC8-8FA5-9AD2AAE0EB32}"/>
              </a:ext>
            </a:extLst>
          </p:cNvPr>
          <p:cNvSpPr>
            <a:spLocks xmlns:a="http://schemas.openxmlformats.org/drawingml/2006/main" noGrp="1"/>
          </p:cNvSpPr>
          <p:nvPr/>
        </p:nvSpPr>
        <p:spPr>
          <a:xfrm xmlns:a="http://schemas.openxmlformats.org/drawingml/2006/main">
            <a:off x="626745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Broader corpus</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agent tools</a:t>
            </a:r>
          </a:p>
        </p:txBody>
      </p:sp>
      <p:sp>
        <p:nvSpPr>
          <p:cNvPr id="14" name="">
            <a:extLst xmlns:a="http://schemas.openxmlformats.org/drawingml/2006/main">
              <a:ext uri="{FF2B5EF4-FFF2-40B4-BE49-F238E27FC236}">
                <a16:creationId xmlns:a16="http://schemas.microsoft.com/office/drawing/2014/main" id="{4AA6C7CA-15D8-4CE9-A5E9-E7BDE53FAD31}"/>
              </a:ext>
            </a:extLst>
          </p:cNvPr>
          <p:cNvSpPr>
            <a:spLocks xmlns:a="http://schemas.openxmlformats.org/drawingml/2006/main" noGrp="1"/>
          </p:cNvSpPr>
          <p:nvPr/>
        </p:nvSpPr>
        <p:spPr>
          <a:xfrm xmlns:a="http://schemas.openxmlformats.org/drawingml/2006/main">
            <a:off x="905827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27</a:t>
            </a:r>
          </a:p>
        </p:txBody>
      </p:sp>
      <p:sp>
        <p:nvSpPr>
          <p:cNvPr id="15" name="">
            <a:extLst xmlns:a="http://schemas.openxmlformats.org/drawingml/2006/main">
              <a:ext uri="{FF2B5EF4-FFF2-40B4-BE49-F238E27FC236}">
                <a16:creationId xmlns:a16="http://schemas.microsoft.com/office/drawing/2014/main" id="{E542199A-CCEA-44AD-B926-9A64B6E041E0}"/>
              </a:ext>
            </a:extLst>
          </p:cNvPr>
          <p:cNvSpPr>
            <a:spLocks xmlns:a="http://schemas.openxmlformats.org/drawingml/2006/main" noGrp="1"/>
          </p:cNvSpPr>
          <p:nvPr/>
        </p:nvSpPr>
        <p:spPr>
          <a:xfrm xmlns:a="http://schemas.openxmlformats.org/drawingml/2006/main">
            <a:off x="917257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8F35E30-72FE-4610-B672-74C999BA3316}"/>
              </a:ext>
            </a:extLst>
          </p:cNvPr>
          <p:cNvSpPr>
            <a:spLocks xmlns:a="http://schemas.openxmlformats.org/drawingml/2006/main" noGrp="1"/>
          </p:cNvSpPr>
          <p:nvPr/>
        </p:nvSpPr>
        <p:spPr>
          <a:xfrm xmlns:a="http://schemas.openxmlformats.org/drawingml/2006/main">
            <a:off x="905827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122-label scorecard</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Ascon pilot</a:t>
            </a:r>
          </a:p>
        </p:txBody>
      </p:sp>
      <p:graphicFrame>
        <p:nvGraphicFramePr>
          <p:cNvPr id="17" name="">
            <a:extLst xmlns:a="http://schemas.openxmlformats.org/drawingml/2006/main">
              <a:ext uri="{FF2B5EF4-FFF2-40B4-BE49-F238E27FC236}">
                <a16:creationId xmlns:a16="http://schemas.microsoft.com/office/drawing/2014/main" id="{F8C7B588-DE9A-4C0C-866A-04A2700A7689}"/>
              </a:ext>
            </a:extLst>
          </p:cNvPr>
          <p:cNvGraphicFramePr/>
          <p:nvPr/>
        </p:nvGraphicFramePr>
        <p:xfrm>
          <a:off xmlns:a="http://schemas.openxmlformats.org/drawingml/2006/main" x="685800" y="3486150"/>
          <a:ext xmlns:a="http://schemas.openxmlformats.org/drawingml/2006/main" cx="10820400" cy="2171700"/>
        </p:xfrm>
        <a:graphic xmlns:a="http://schemas.openxmlformats.org/drawingml/2006/main">
          <a:graphicData uri="http://schemas.openxmlformats.org/drawingml/2006/table">
            <a:tbl>
              <a:tblPr firstRow="0" bandRow="0"/>
              <a:tblGrid>
                <a:gridCol w="3714750"/>
                <a:gridCol w="7105650"/>
              </a:tblGrid>
              <a:tr h="542925">
                <a:tc>
                  <a:txBody>
                    <a:bodyPr/>
                    <a:lstStyle/>
                    <a:p>
                      <a:r>
                        <a:rPr sz="1800" b="1">
                          <a:solidFill>
                            <a:srgbClr val="FFFFFF"/>
                          </a:solidFill>
                          <a:latin typeface="Arial"/>
                          <a:ea typeface="Arial"/>
                          <a:cs typeface="Arial"/>
                        </a:rPr>
                        <a:t>Contributor / evidence</a:t>
                      </a:r>
                    </a:p>
                  </a:txBody>
                  <a:tcPr marL="91440" marR="91440" marT="45720" marB="45720">
                    <a:lnL w="9525">
                      <a:solidFill>
                        <a:srgbClr val="D9E1E8"/>
                      </a:solidFill>
                      <a:prstDash val="solid"/>
                    </a:lnL>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c>
                  <a:txBody>
                    <a:bodyPr/>
                    <a:lstStyle/>
                    <a:p>
                      <a:r>
                        <a:rPr sz="1800" b="1">
                          <a:solidFill>
                            <a:srgbClr val="FFFFFF"/>
                          </a:solidFill>
                          <a:latin typeface="Arial"/>
                          <a:ea typeface="Arial"/>
                          <a:cs typeface="Arial"/>
                        </a:rPr>
                        <a:t>Primary contribution area</a:t>
                      </a:r>
                    </a:p>
                  </a:txBody>
                  <a:tcPr marL="91440" marR="91440" marT="45720" marB="45720">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r>
              <a:tr h="542925">
                <a:tc>
                  <a:txBody>
                    <a:bodyPr/>
                    <a:lstStyle/>
                    <a:p>
                      <a:r>
                        <a:rPr sz="1725" b="0">
                          <a:solidFill>
                            <a:srgbClr val="263648"/>
                          </a:solidFill>
                          <a:latin typeface="Arial"/>
                          <a:ea typeface="Arial"/>
                          <a:cs typeface="Arial"/>
                        </a:rPr>
                        <a:t>Jason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ML, budgeted selection, agent tools, analysis</a:t>
                      </a:r>
                    </a:p>
                  </a:txBody>
                  <a:tcPr marL="91440" marR="91440" marT="45720" marB="45720">
                    <a:lnR w="9525">
                      <a:solidFill>
                        <a:srgbClr val="D9E1E8"/>
                      </a:solidFill>
                      <a:prstDash val="solid"/>
                    </a:lnR>
                    <a:lnB w="9525">
                      <a:solidFill>
                        <a:srgbClr val="D9E1E8"/>
                      </a:solidFill>
                      <a:prstDash val="solid"/>
                    </a:lnB>
                    <a:solidFill>
                      <a:srgbClr val="FFFFFF"/>
                    </a:solidFill>
                  </a:tcPr>
                </a:tc>
              </a:tr>
              <a:tr h="542925">
                <a:tc>
                  <a:txBody>
                    <a:bodyPr/>
                    <a:lstStyle/>
                    <a:p>
                      <a:r>
                        <a:rPr sz="1725" b="0">
                          <a:solidFill>
                            <a:srgbClr val="263648"/>
                          </a:solidFill>
                          <a:latin typeface="Arial"/>
                          <a:ea typeface="Arial"/>
                          <a:cs typeface="Arial"/>
                        </a:rPr>
                        <a:t>Yuuto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4F7FA"/>
                    </a:solidFill>
                  </a:tcPr>
                </a:tc>
                <a:tc>
                  <a:txBody>
                    <a:bodyPr/>
                    <a:lstStyle/>
                    <a:p>
                      <a:r>
                        <a:rPr sz="1725" b="0">
                          <a:solidFill>
                            <a:srgbClr val="263648"/>
                          </a:solidFill>
                          <a:latin typeface="Arial"/>
                          <a:ea typeface="Arial"/>
                          <a:cs typeface="Arial"/>
                        </a:rPr>
                        <a:t>Hardware, selection engine, measurement tests</a:t>
                      </a:r>
                    </a:p>
                  </a:txBody>
                  <a:tcPr marL="91440" marR="91440" marT="45720" marB="45720">
                    <a:lnR w="9525">
                      <a:solidFill>
                        <a:srgbClr val="D9E1E8"/>
                      </a:solidFill>
                      <a:prstDash val="solid"/>
                    </a:lnR>
                    <a:lnB w="9525">
                      <a:solidFill>
                        <a:srgbClr val="D9E1E8"/>
                      </a:solidFill>
                      <a:prstDash val="solid"/>
                    </a:lnB>
                    <a:solidFill>
                      <a:srgbClr val="F4F7FA"/>
                    </a:solidFill>
                  </a:tcPr>
                </a:tc>
              </a:tr>
              <a:tr h="542925">
                <a:tc>
                  <a:txBody>
                    <a:bodyPr/>
                    <a:lstStyle/>
                    <a:p>
                      <a:r>
                        <a:rPr sz="1725" b="0">
                          <a:solidFill>
                            <a:srgbClr val="263648"/>
                          </a:solidFill>
                          <a:latin typeface="Arial"/>
                          <a:ea typeface="Arial"/>
                          <a:cs typeface="Arial"/>
                        </a:rPr>
                        <a:t>Sooraj • report attribution</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Compiler, tracing, extraction and toolchain</a:t>
                      </a:r>
                    </a:p>
                  </a:txBody>
                  <a:tcPr marL="91440" marR="91440" marT="45720" marB="45720">
                    <a:lnR w="9525">
                      <a:solidFill>
                        <a:srgbClr val="D9E1E8"/>
                      </a:solidFill>
                      <a:prstDash val="solid"/>
                    </a:lnR>
                    <a:lnB w="9525">
                      <a:solidFill>
                        <a:srgbClr val="D9E1E8"/>
                      </a:solidFill>
                      <a:prstDash val="solid"/>
                    </a:lnB>
                    <a:solidFill>
                      <a:srgbClr val="FFFFFF"/>
                    </a:solidFill>
                  </a:tcPr>
                </a:tc>
              </a:tr>
            </a:tbl>
          </a:graphicData>
        </a:graphic>
      </p:graphicFrame>
      <p:sp>
        <p:nvSpPr>
          <p:cNvPr id="18" name="">
            <a:extLst xmlns:a="http://schemas.openxmlformats.org/drawingml/2006/main">
              <a:ext uri="{FF2B5EF4-FFF2-40B4-BE49-F238E27FC236}">
                <a16:creationId xmlns:a16="http://schemas.microsoft.com/office/drawing/2014/main" id="{67E323D1-4426-438E-B0C8-2DE9D9A65E89}"/>
              </a:ext>
            </a:extLst>
          </p:cNvPr>
          <p:cNvSpPr>
            <a:spLocks xmlns:a="http://schemas.openxmlformats.org/drawingml/2006/main" noGrp="1"/>
          </p:cNvSpPr>
          <p:nvPr/>
        </p:nvSpPr>
        <p:spPr>
          <a:xfrm xmlns:a="http://schemas.openxmlformats.org/drawingml/2006/main">
            <a:off x="685800" y="5895975"/>
            <a:ext cx="10820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607286"/>
                </a:solidFill>
                <a:latin typeface="Arial"/>
                <a:ea typeface="Arial"/>
                <a:cs typeface="Arial"/>
              </a:defRPr>
            </a:defPPr>
            <a:lvl1pPr>
              <a:defRPr sz="1500" b="0">
                <a:solidFill>
                  <a:srgbClr val="607286"/>
                </a:solidFill>
                <a:latin typeface="Arial"/>
                <a:ea typeface="Arial"/>
                <a:cs typeface="Arial"/>
              </a:defRPr>
            </a:lvl1pPr>
            <a:lvl2pPr>
              <a:defRPr sz="1500" b="0">
                <a:solidFill>
                  <a:srgbClr val="607286"/>
                </a:solidFill>
                <a:latin typeface="Arial"/>
                <a:ea typeface="Arial"/>
                <a:cs typeface="Arial"/>
              </a:defRPr>
            </a:lvl2pPr>
            <a:lvl3pPr>
              <a:defRPr sz="1500" b="0">
                <a:solidFill>
                  <a:srgbClr val="607286"/>
                </a:solidFill>
                <a:latin typeface="Arial"/>
                <a:ea typeface="Arial"/>
                <a:cs typeface="Arial"/>
              </a:defRPr>
            </a:lvl3pPr>
            <a:lvl4pPr>
              <a:defRPr sz="1500" b="0">
                <a:solidFill>
                  <a:srgbClr val="607286"/>
                </a:solidFill>
                <a:latin typeface="Arial"/>
                <a:ea typeface="Arial"/>
                <a:cs typeface="Arial"/>
              </a:defRPr>
            </a:lvl4pPr>
            <a:lvl5pPr>
              <a:defRPr sz="1500" b="0">
                <a:solidFill>
                  <a:srgbClr val="607286"/>
                </a:solidFill>
                <a:latin typeface="Arial"/>
                <a:ea typeface="Arial"/>
                <a:cs typeface="Arial"/>
              </a:defRPr>
            </a:lvl5pPr>
            <a:lvl6pPr>
              <a:defRPr sz="1500" b="0">
                <a:solidFill>
                  <a:srgbClr val="607286"/>
                </a:solidFill>
                <a:latin typeface="Arial"/>
                <a:ea typeface="Arial"/>
                <a:cs typeface="Arial"/>
              </a:defRPr>
            </a:lvl6pPr>
            <a:lvl7pPr>
              <a:defRPr sz="1500" b="0">
                <a:solidFill>
                  <a:srgbClr val="607286"/>
                </a:solidFill>
                <a:latin typeface="Arial"/>
                <a:ea typeface="Arial"/>
                <a:cs typeface="Arial"/>
              </a:defRPr>
            </a:lvl7pPr>
            <a:lvl8pPr>
              <a:defRPr sz="1500" b="0">
                <a:solidFill>
                  <a:srgbClr val="607286"/>
                </a:solidFill>
                <a:latin typeface="Arial"/>
                <a:ea typeface="Arial"/>
                <a:cs typeface="Arial"/>
              </a:defRPr>
            </a:lvl8pPr>
            <a:lvl9pPr>
              <a:defRPr sz="1500" b="0">
                <a:solidFill>
                  <a:srgbClr val="607286"/>
                </a:solidFill>
                <a:latin typeface="Arial"/>
                <a:ea typeface="Arial"/>
                <a:cs typeface="Arial"/>
              </a:defRPr>
            </a:lvl9pPr>
          </a:lstStyle>
          <a:p xmlns:a="http://schemas.openxmlformats.org/drawingml/2006/main">
            <a:pPr>
              <a:defRPr sz="1500" b="0">
                <a:solidFill>
                  <a:srgbClr val="607286"/>
                </a:solidFill>
                <a:latin typeface="Arial"/>
                <a:ea typeface="Arial"/>
                <a:cs typeface="Arial"/>
              </a:defRPr>
            </a:pPr>
            <a:r>
              <a:rPr sz="1500" b="0">
                <a:solidFill>
                  <a:srgbClr val="607286"/>
                </a:solidFill>
                <a:latin typeface="Arial"/>
                <a:ea typeface="Arial"/>
                <a:cs typeface="Arial"/>
              </a:rPr>
              <a:t>Codex log: ~30 h recorded turn time • team roles require confirmation</a:t>
            </a:r>
          </a:p>
        </p:txBody>
      </p:sp>
    </p:spTree>
    <p:extLst>
      <p:ext uri="{BB962C8B-B14F-4D97-AF65-F5344CB8AC3E}">
        <p14:creationId xmlns:p14="http://schemas.microsoft.com/office/powerpoint/2010/main" val="209298056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A0F4AC98-B181-4644-9985-418FBE25F861}"/>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From workload to verified improvement</a:t>
            </a:r>
          </a:p>
        </p:txBody>
      </p:sp>
      <p:sp>
        <p:nvSpPr>
          <p:cNvPr id="2" name="">
            <a:extLst xmlns:a="http://schemas.openxmlformats.org/drawingml/2006/main">
              <a:ext uri="{FF2B5EF4-FFF2-40B4-BE49-F238E27FC236}">
                <a16:creationId xmlns:a16="http://schemas.microsoft.com/office/drawing/2014/main" id="{BD79EB18-688B-40BD-A45B-5DA07D387555}"/>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A836D5DF-D454-4E29-87AF-3E8912D37AE9}"/>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4</a:t>
            </a:r>
          </a:p>
        </p:txBody>
      </p:sp>
      <p:sp>
        <p:nvSpPr>
          <p:cNvPr id="4" name="">
            <a:extLst xmlns:a="http://schemas.openxmlformats.org/drawingml/2006/main">
              <a:ext uri="{FF2B5EF4-FFF2-40B4-BE49-F238E27FC236}">
                <a16:creationId xmlns:a16="http://schemas.microsoft.com/office/drawing/2014/main" id="{F8766D3D-D1EA-4CE0-8FFC-657C9E3AFFF5}"/>
              </a:ext>
            </a:extLst>
          </p:cNvPr>
          <p:cNvSpPr>
            <a:spLocks xmlns:a="http://schemas.openxmlformats.org/drawingml/2006/main" noGrp="1"/>
          </p:cNvSpPr>
          <p:nvPr/>
        </p:nvSpPr>
        <p:spPr>
          <a:xfrm xmlns:a="http://schemas.openxmlformats.org/drawingml/2006/main">
            <a:off x="68580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FF22F2DC-CE8B-4A71-8488-9BA0C881C9A6}"/>
              </a:ext>
            </a:extLst>
          </p:cNvPr>
          <p:cNvSpPr>
            <a:spLocks xmlns:a="http://schemas.openxmlformats.org/drawingml/2006/main" noGrp="1"/>
          </p:cNvSpPr>
          <p:nvPr/>
        </p:nvSpPr>
        <p:spPr>
          <a:xfrm xmlns:a="http://schemas.openxmlformats.org/drawingml/2006/main">
            <a:off x="81915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1  Discover</a:t>
            </a:r>
          </a:p>
        </p:txBody>
      </p:sp>
      <p:sp>
        <p:nvSpPr>
          <p:cNvPr id="6" name="">
            <a:extLst xmlns:a="http://schemas.openxmlformats.org/drawingml/2006/main">
              <a:ext uri="{FF2B5EF4-FFF2-40B4-BE49-F238E27FC236}">
                <a16:creationId xmlns:a16="http://schemas.microsoft.com/office/drawing/2014/main" id="{60862B03-DF5E-4B88-BD78-072DDA3CB3F7}"/>
              </a:ext>
            </a:extLst>
          </p:cNvPr>
          <p:cNvSpPr>
            <a:spLocks xmlns:a="http://schemas.openxmlformats.org/drawingml/2006/main" noGrp="1"/>
          </p:cNvSpPr>
          <p:nvPr/>
        </p:nvSpPr>
        <p:spPr>
          <a:xfrm xmlns:a="http://schemas.openxmlformats.org/drawingml/2006/main">
            <a:off x="81915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Compile + trace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legal dataflow</a:t>
            </a:r>
          </a:p>
        </p:txBody>
      </p:sp>
      <p:sp>
        <p:nvSpPr>
          <p:cNvPr id="7" name="">
            <a:extLst xmlns:a="http://schemas.openxmlformats.org/drawingml/2006/main">
              <a:ext uri="{FF2B5EF4-FFF2-40B4-BE49-F238E27FC236}">
                <a16:creationId xmlns:a16="http://schemas.microsoft.com/office/drawing/2014/main" id="{7A784247-8B31-4228-AEF2-73994DF6EEC5}"/>
              </a:ext>
            </a:extLst>
          </p:cNvPr>
          <p:cNvSpPr>
            <a:spLocks xmlns:a="http://schemas.openxmlformats.org/drawingml/2006/main" noGrp="1"/>
          </p:cNvSpPr>
          <p:nvPr/>
        </p:nvSpPr>
        <p:spPr>
          <a:xfrm xmlns:a="http://schemas.openxmlformats.org/drawingml/2006/main">
            <a:off x="310515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5D5322A-856B-4819-A6F4-EF33B11E3D4D}"/>
              </a:ext>
            </a:extLst>
          </p:cNvPr>
          <p:cNvSpPr>
            <a:spLocks xmlns:a="http://schemas.openxmlformats.org/drawingml/2006/main" noGrp="1"/>
          </p:cNvSpPr>
          <p:nvPr/>
        </p:nvSpPr>
        <p:spPr>
          <a:xfrm xmlns:a="http://schemas.openxmlformats.org/drawingml/2006/main">
            <a:off x="347662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41184450-331D-4EBB-B00E-48F30F4E19BF}"/>
              </a:ext>
            </a:extLst>
          </p:cNvPr>
          <p:cNvSpPr>
            <a:spLocks xmlns:a="http://schemas.openxmlformats.org/drawingml/2006/main" noGrp="1"/>
          </p:cNvSpPr>
          <p:nvPr/>
        </p:nvSpPr>
        <p:spPr>
          <a:xfrm xmlns:a="http://schemas.openxmlformats.org/drawingml/2006/main">
            <a:off x="360997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2  Implement</a:t>
            </a:r>
          </a:p>
        </p:txBody>
      </p:sp>
      <p:sp>
        <p:nvSpPr>
          <p:cNvPr id="10" name="">
            <a:extLst xmlns:a="http://schemas.openxmlformats.org/drawingml/2006/main">
              <a:ext uri="{FF2B5EF4-FFF2-40B4-BE49-F238E27FC236}">
                <a16:creationId xmlns:a16="http://schemas.microsoft.com/office/drawing/2014/main" id="{4240EF93-D41E-4217-B010-39B15BD871F9}"/>
              </a:ext>
            </a:extLst>
          </p:cNvPr>
          <p:cNvSpPr>
            <a:spLocks xmlns:a="http://schemas.openxmlformats.org/drawingml/2006/main" noGrp="1"/>
          </p:cNvSpPr>
          <p:nvPr/>
        </p:nvSpPr>
        <p:spPr>
          <a:xfrm xmlns:a="http://schemas.openxmlformats.org/drawingml/2006/main">
            <a:off x="360997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Lower custom opcode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PicoRV32 PCPI</a:t>
            </a:r>
          </a:p>
        </p:txBody>
      </p:sp>
      <p:sp>
        <p:nvSpPr>
          <p:cNvPr id="11" name="">
            <a:extLst xmlns:a="http://schemas.openxmlformats.org/drawingml/2006/main">
              <a:ext uri="{FF2B5EF4-FFF2-40B4-BE49-F238E27FC236}">
                <a16:creationId xmlns:a16="http://schemas.microsoft.com/office/drawing/2014/main" id="{4A1EDC14-D4FA-4F23-8D20-DD1A38005D94}"/>
              </a:ext>
            </a:extLst>
          </p:cNvPr>
          <p:cNvSpPr>
            <a:spLocks xmlns:a="http://schemas.openxmlformats.org/drawingml/2006/main" noGrp="1"/>
          </p:cNvSpPr>
          <p:nvPr/>
        </p:nvSpPr>
        <p:spPr>
          <a:xfrm xmlns:a="http://schemas.openxmlformats.org/drawingml/2006/main">
            <a:off x="5895975"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1A96238-9C62-498A-BDB1-E7F4D9793806}"/>
              </a:ext>
            </a:extLst>
          </p:cNvPr>
          <p:cNvSpPr>
            <a:spLocks xmlns:a="http://schemas.openxmlformats.org/drawingml/2006/main" noGrp="1"/>
          </p:cNvSpPr>
          <p:nvPr/>
        </p:nvSpPr>
        <p:spPr>
          <a:xfrm xmlns:a="http://schemas.openxmlformats.org/drawingml/2006/main">
            <a:off x="626745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A69D478A-1DD9-4F3F-AD16-F13E35FDA344}"/>
              </a:ext>
            </a:extLst>
          </p:cNvPr>
          <p:cNvSpPr>
            <a:spLocks xmlns:a="http://schemas.openxmlformats.org/drawingml/2006/main" noGrp="1"/>
          </p:cNvSpPr>
          <p:nvPr/>
        </p:nvSpPr>
        <p:spPr>
          <a:xfrm xmlns:a="http://schemas.openxmlformats.org/drawingml/2006/main">
            <a:off x="640080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3  Verify</a:t>
            </a:r>
          </a:p>
        </p:txBody>
      </p:sp>
      <p:sp>
        <p:nvSpPr>
          <p:cNvPr id="14" name="">
            <a:extLst xmlns:a="http://schemas.openxmlformats.org/drawingml/2006/main">
              <a:ext uri="{FF2B5EF4-FFF2-40B4-BE49-F238E27FC236}">
                <a16:creationId xmlns:a16="http://schemas.microsoft.com/office/drawing/2014/main" id="{5A7C852C-F5C1-40E6-B199-F13945DE264A}"/>
              </a:ext>
            </a:extLst>
          </p:cNvPr>
          <p:cNvSpPr>
            <a:spLocks xmlns:a="http://schemas.openxmlformats.org/drawingml/2006/main" noGrp="1"/>
          </p:cNvSpPr>
          <p:nvPr/>
        </p:nvSpPr>
        <p:spPr>
          <a:xfrm xmlns:a="http://schemas.openxmlformats.org/drawingml/2006/main">
            <a:off x="640080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Program output</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cycle count</a:t>
            </a:r>
          </a:p>
        </p:txBody>
      </p:sp>
      <p:sp>
        <p:nvSpPr>
          <p:cNvPr id="15" name="">
            <a:extLst xmlns:a="http://schemas.openxmlformats.org/drawingml/2006/main">
              <a:ext uri="{FF2B5EF4-FFF2-40B4-BE49-F238E27FC236}">
                <a16:creationId xmlns:a16="http://schemas.microsoft.com/office/drawing/2014/main" id="{C8B6CBCB-3E84-4192-B500-989F9008ECB5}"/>
              </a:ext>
            </a:extLst>
          </p:cNvPr>
          <p:cNvSpPr>
            <a:spLocks xmlns:a="http://schemas.openxmlformats.org/drawingml/2006/main" noGrp="1"/>
          </p:cNvSpPr>
          <p:nvPr/>
        </p:nvSpPr>
        <p:spPr>
          <a:xfrm xmlns:a="http://schemas.openxmlformats.org/drawingml/2006/main">
            <a:off x="868680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7146C53-ADE4-48F5-82E7-090F75DDC51C}"/>
              </a:ext>
            </a:extLst>
          </p:cNvPr>
          <p:cNvSpPr>
            <a:spLocks xmlns:a="http://schemas.openxmlformats.org/drawingml/2006/main" noGrp="1"/>
          </p:cNvSpPr>
          <p:nvPr/>
        </p:nvSpPr>
        <p:spPr>
          <a:xfrm xmlns:a="http://schemas.openxmlformats.org/drawingml/2006/main">
            <a:off x="905827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F5B4E776-E533-430C-A8AA-F7A650DCD209}"/>
              </a:ext>
            </a:extLst>
          </p:cNvPr>
          <p:cNvSpPr>
            <a:spLocks xmlns:a="http://schemas.openxmlformats.org/drawingml/2006/main" noGrp="1"/>
          </p:cNvSpPr>
          <p:nvPr/>
        </p:nvSpPr>
        <p:spPr>
          <a:xfrm xmlns:a="http://schemas.openxmlformats.org/drawingml/2006/main">
            <a:off x="919162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4  Measure</a:t>
            </a:r>
          </a:p>
        </p:txBody>
      </p:sp>
      <p:sp>
        <p:nvSpPr>
          <p:cNvPr id="18" name="">
            <a:extLst xmlns:a="http://schemas.openxmlformats.org/drawingml/2006/main">
              <a:ext uri="{FF2B5EF4-FFF2-40B4-BE49-F238E27FC236}">
                <a16:creationId xmlns:a16="http://schemas.microsoft.com/office/drawing/2014/main" id="{929476D8-8B68-4585-B5F5-00CEA26FD167}"/>
              </a:ext>
            </a:extLst>
          </p:cNvPr>
          <p:cNvSpPr>
            <a:spLocks xmlns:a="http://schemas.openxmlformats.org/drawingml/2006/main" noGrp="1"/>
          </p:cNvSpPr>
          <p:nvPr/>
        </p:nvSpPr>
        <p:spPr>
          <a:xfrm xmlns:a="http://schemas.openxmlformats.org/drawingml/2006/main">
            <a:off x="919162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Integrated LUT4</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routed Fmax</a:t>
            </a:r>
          </a:p>
        </p:txBody>
      </p:sp>
      <p:sp>
        <p:nvSpPr>
          <p:cNvPr id="19" name="">
            <a:extLst xmlns:a="http://schemas.openxmlformats.org/drawingml/2006/main">
              <a:ext uri="{FF2B5EF4-FFF2-40B4-BE49-F238E27FC236}">
                <a16:creationId xmlns:a16="http://schemas.microsoft.com/office/drawing/2014/main" id="{EB4DFEA1-C5B7-429E-BAD2-50194A41B4F1}"/>
              </a:ext>
            </a:extLst>
          </p:cNvPr>
          <p:cNvSpPr>
            <a:spLocks xmlns:a="http://schemas.openxmlformats.org/drawingml/2006/main" noGrp="1"/>
          </p:cNvSpPr>
          <p:nvPr/>
        </p:nvSpPr>
        <p:spPr>
          <a:xfrm xmlns:a="http://schemas.openxmlformats.org/drawingml/2006/main">
            <a:off x="685800" y="3819525"/>
            <a:ext cx="10820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CRC32 reference: 32.39M cycles → 30.82M cycles = 1.051×</a:t>
            </a:r>
          </a:p>
        </p:txBody>
      </p:sp>
      <p:sp>
        <p:nvSpPr>
          <p:cNvPr id="20" name="">
            <a:extLst xmlns:a="http://schemas.openxmlformats.org/drawingml/2006/main">
              <a:ext uri="{FF2B5EF4-FFF2-40B4-BE49-F238E27FC236}">
                <a16:creationId xmlns:a16="http://schemas.microsoft.com/office/drawing/2014/main" id="{662E959C-8B70-4B23-81DB-0B1F5AD1DEC8}"/>
              </a:ext>
            </a:extLst>
          </p:cNvPr>
          <p:cNvSpPr>
            <a:spLocks xmlns:a="http://schemas.openxmlformats.org/drawingml/2006/main" noGrp="1"/>
          </p:cNvSpPr>
          <p:nvPr/>
        </p:nvSpPr>
        <p:spPr>
          <a:xfrm xmlns:a="http://schemas.openxmlformats.org/drawingml/2006/main">
            <a:off x="685800" y="4762500"/>
            <a:ext cx="108204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8856B"/>
                </a:solidFill>
                <a:latin typeface="Arial"/>
                <a:ea typeface="Arial"/>
                <a:cs typeface="Arial"/>
              </a:defRPr>
            </a:defPPr>
            <a:lvl1pPr>
              <a:defRPr sz="2175" b="1">
                <a:solidFill>
                  <a:srgbClr val="18856B"/>
                </a:solidFill>
                <a:latin typeface="Arial"/>
                <a:ea typeface="Arial"/>
                <a:cs typeface="Arial"/>
              </a:defRPr>
            </a:lvl1pPr>
            <a:lvl2pPr>
              <a:defRPr sz="2175" b="1">
                <a:solidFill>
                  <a:srgbClr val="18856B"/>
                </a:solidFill>
                <a:latin typeface="Arial"/>
                <a:ea typeface="Arial"/>
                <a:cs typeface="Arial"/>
              </a:defRPr>
            </a:lvl2pPr>
            <a:lvl3pPr>
              <a:defRPr sz="2175" b="1">
                <a:solidFill>
                  <a:srgbClr val="18856B"/>
                </a:solidFill>
                <a:latin typeface="Arial"/>
                <a:ea typeface="Arial"/>
                <a:cs typeface="Arial"/>
              </a:defRPr>
            </a:lvl3pPr>
            <a:lvl4pPr>
              <a:defRPr sz="2175" b="1">
                <a:solidFill>
                  <a:srgbClr val="18856B"/>
                </a:solidFill>
                <a:latin typeface="Arial"/>
                <a:ea typeface="Arial"/>
                <a:cs typeface="Arial"/>
              </a:defRPr>
            </a:lvl4pPr>
            <a:lvl5pPr>
              <a:defRPr sz="2175" b="1">
                <a:solidFill>
                  <a:srgbClr val="18856B"/>
                </a:solidFill>
                <a:latin typeface="Arial"/>
                <a:ea typeface="Arial"/>
                <a:cs typeface="Arial"/>
              </a:defRPr>
            </a:lvl5pPr>
            <a:lvl6pPr>
              <a:defRPr sz="2175" b="1">
                <a:solidFill>
                  <a:srgbClr val="18856B"/>
                </a:solidFill>
                <a:latin typeface="Arial"/>
                <a:ea typeface="Arial"/>
                <a:cs typeface="Arial"/>
              </a:defRPr>
            </a:lvl6pPr>
            <a:lvl7pPr>
              <a:defRPr sz="2175" b="1">
                <a:solidFill>
                  <a:srgbClr val="18856B"/>
                </a:solidFill>
                <a:latin typeface="Arial"/>
                <a:ea typeface="Arial"/>
                <a:cs typeface="Arial"/>
              </a:defRPr>
            </a:lvl7pPr>
            <a:lvl8pPr>
              <a:defRPr sz="2175" b="1">
                <a:solidFill>
                  <a:srgbClr val="18856B"/>
                </a:solidFill>
                <a:latin typeface="Arial"/>
                <a:ea typeface="Arial"/>
                <a:cs typeface="Arial"/>
              </a:defRPr>
            </a:lvl8pPr>
            <a:lvl9pPr>
              <a:defRPr sz="2175" b="1">
                <a:solidFill>
                  <a:srgbClr val="18856B"/>
                </a:solidFill>
                <a:latin typeface="Arial"/>
                <a:ea typeface="Arial"/>
                <a:cs typeface="Arial"/>
              </a:defRPr>
            </a:lvl9pPr>
          </a:lstStyle>
          <a:p xmlns:a="http://schemas.openxmlformats.org/drawingml/2006/main">
            <a:pPr>
              <a:defRPr sz="2175" b="1">
                <a:solidFill>
                  <a:srgbClr val="18856B"/>
                </a:solidFill>
                <a:latin typeface="Arial"/>
                <a:ea typeface="Arial"/>
                <a:cs typeface="Arial"/>
              </a:defRPr>
            </a:pPr>
            <a:r>
              <a:rPr sz="2175" b="1">
                <a:solidFill>
                  <a:srgbClr val="18856B"/>
                </a:solidFill>
                <a:latin typeface="Arial"/>
                <a:ea typeface="Arial"/>
                <a:cs typeface="Arial"/>
              </a:rPr>
              <a:t>Unmodified program/core → compare cycles → verify area and timing</a:t>
            </a:r>
          </a:p>
        </p:txBody>
      </p:sp>
      <p:sp>
        <p:nvSpPr>
          <p:cNvPr id="21" name="">
            <a:extLst xmlns:a="http://schemas.openxmlformats.org/drawingml/2006/main">
              <a:ext uri="{FF2B5EF4-FFF2-40B4-BE49-F238E27FC236}">
                <a16:creationId xmlns:a16="http://schemas.microsoft.com/office/drawing/2014/main" id="{11763B63-889F-4075-81EE-D698589D1475}"/>
              </a:ext>
            </a:extLst>
          </p:cNvPr>
          <p:cNvSpPr>
            <a:spLocks xmlns:a="http://schemas.openxmlformats.org/drawingml/2006/main" noGrp="1"/>
          </p:cNvSpPr>
          <p:nvPr/>
        </p:nvSpPr>
        <p:spPr>
          <a:xfrm xmlns:a="http://schemas.openxmlformats.org/drawingml/2006/main">
            <a:off x="685800" y="5553075"/>
            <a:ext cx="108204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Restricted RV32 integer support • RTL simulation + FPGA synthesis/routing</a:t>
            </a:r>
          </a:p>
        </p:txBody>
      </p:sp>
    </p:spTree>
    <p:extLst>
      <p:ext uri="{BB962C8B-B14F-4D97-AF65-F5344CB8AC3E}">
        <p14:creationId xmlns:p14="http://schemas.microsoft.com/office/powerpoint/2010/main" val="132464787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12D0CE9-2F77-4A63-BBF2-FB4E983DC6D7}"/>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Dataset: measured programs, not synthetic labels</a:t>
            </a:r>
          </a:p>
        </p:txBody>
      </p:sp>
      <p:sp>
        <p:nvSpPr>
          <p:cNvPr id="2" name="">
            <a:extLst xmlns:a="http://schemas.openxmlformats.org/drawingml/2006/main">
              <a:ext uri="{FF2B5EF4-FFF2-40B4-BE49-F238E27FC236}">
                <a16:creationId xmlns:a16="http://schemas.microsoft.com/office/drawing/2014/main" id="{FB597A00-3AEF-4E91-967D-A448489D5A40}"/>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60E8029B-F82C-4F79-B772-9BFF718E06E7}"/>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5</a:t>
            </a:r>
          </a:p>
        </p:txBody>
      </p:sp>
      <p:graphicFrame>
        <p:nvGraphicFramePr>
          <p:cNvPr id="4" name="Chart">
            <a:extLst xmlns:a="http://schemas.openxmlformats.org/drawingml/2006/main">
              <a:ext uri="{FF2B5EF4-FFF2-40B4-BE49-F238E27FC236}">
                <a16:creationId xmlns:a16="http://schemas.microsoft.com/office/drawing/2014/main" id="{17AE3EC1-4761-4D3C-AD6F-CE9522F1E067}"/>
              </a:ext>
            </a:extLst>
          </p:cNvPr>
          <p:cNvGraphicFramePr/>
          <p:nvPr/>
        </p:nvGraphicFramePr>
        <p:xfrm>
          <a:off xmlns:a="http://schemas.openxmlformats.org/drawingml/2006/main" x="523875" y="1647825"/>
          <a:ext xmlns:a="http://schemas.openxmlformats.org/drawingml/2006/main" cx="6477000" cy="3714750"/>
        </p:xfrm>
        <a:graphic xmlns:a="http://schemas.openxmlformats.org/drawingml/2006/main">
          <a:graphicData uri="http://schemas.openxmlformats.org/drawingml/2006/chart">
            <c:chart xmlns:r="http://schemas.openxmlformats.org/officeDocument/2006/relationships" xmlns:c="http://schemas.openxmlformats.org/drawingml/2006/chart" r:id="Rb2dca3f24be5415f"/>
          </a:graphicData>
        </a:graphic>
      </p:graphicFrame>
      <p:sp>
        <p:nvSpPr>
          <p:cNvPr id="5" name="">
            <a:extLst xmlns:a="http://schemas.openxmlformats.org/drawingml/2006/main">
              <a:ext uri="{FF2B5EF4-FFF2-40B4-BE49-F238E27FC236}">
                <a16:creationId xmlns:a16="http://schemas.microsoft.com/office/drawing/2014/main" id="{B3129264-B0CE-4AB3-9323-4B1BC13112A3}"/>
              </a:ext>
            </a:extLst>
          </p:cNvPr>
          <p:cNvSpPr>
            <a:spLocks xmlns:a="http://schemas.openxmlformats.org/drawingml/2006/main" noGrp="1"/>
          </p:cNvSpPr>
          <p:nvPr/>
        </p:nvSpPr>
        <p:spPr>
          <a:xfrm xmlns:a="http://schemas.openxmlformats.org/drawingml/2006/main">
            <a:off x="7524750" y="1695450"/>
            <a:ext cx="4000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17324D"/>
                </a:solidFill>
                <a:latin typeface="Arial"/>
                <a:ea typeface="Arial"/>
                <a:cs typeface="Arial"/>
              </a:defRPr>
            </a:defPPr>
            <a:lvl1pPr>
              <a:defRPr sz="2550" b="1">
                <a:solidFill>
                  <a:srgbClr val="17324D"/>
                </a:solidFill>
                <a:latin typeface="Arial"/>
                <a:ea typeface="Arial"/>
                <a:cs typeface="Arial"/>
              </a:defRPr>
            </a:lvl1pPr>
            <a:lvl2pPr>
              <a:defRPr sz="2550" b="1">
                <a:solidFill>
                  <a:srgbClr val="17324D"/>
                </a:solidFill>
                <a:latin typeface="Arial"/>
                <a:ea typeface="Arial"/>
                <a:cs typeface="Arial"/>
              </a:defRPr>
            </a:lvl2pPr>
            <a:lvl3pPr>
              <a:defRPr sz="2550" b="1">
                <a:solidFill>
                  <a:srgbClr val="17324D"/>
                </a:solidFill>
                <a:latin typeface="Arial"/>
                <a:ea typeface="Arial"/>
                <a:cs typeface="Arial"/>
              </a:defRPr>
            </a:lvl3pPr>
            <a:lvl4pPr>
              <a:defRPr sz="2550" b="1">
                <a:solidFill>
                  <a:srgbClr val="17324D"/>
                </a:solidFill>
                <a:latin typeface="Arial"/>
                <a:ea typeface="Arial"/>
                <a:cs typeface="Arial"/>
              </a:defRPr>
            </a:lvl4pPr>
            <a:lvl5pPr>
              <a:defRPr sz="2550" b="1">
                <a:solidFill>
                  <a:srgbClr val="17324D"/>
                </a:solidFill>
                <a:latin typeface="Arial"/>
                <a:ea typeface="Arial"/>
                <a:cs typeface="Arial"/>
              </a:defRPr>
            </a:lvl5pPr>
            <a:lvl6pPr>
              <a:defRPr sz="2550" b="1">
                <a:solidFill>
                  <a:srgbClr val="17324D"/>
                </a:solidFill>
                <a:latin typeface="Arial"/>
                <a:ea typeface="Arial"/>
                <a:cs typeface="Arial"/>
              </a:defRPr>
            </a:lvl6pPr>
            <a:lvl7pPr>
              <a:defRPr sz="2550" b="1">
                <a:solidFill>
                  <a:srgbClr val="17324D"/>
                </a:solidFill>
                <a:latin typeface="Arial"/>
                <a:ea typeface="Arial"/>
                <a:cs typeface="Arial"/>
              </a:defRPr>
            </a:lvl7pPr>
            <a:lvl8pPr>
              <a:defRPr sz="2550" b="1">
                <a:solidFill>
                  <a:srgbClr val="17324D"/>
                </a:solidFill>
                <a:latin typeface="Arial"/>
                <a:ea typeface="Arial"/>
                <a:cs typeface="Arial"/>
              </a:defRPr>
            </a:lvl8pPr>
            <a:lvl9pPr>
              <a:defRPr sz="2550" b="1">
                <a:solidFill>
                  <a:srgbClr val="17324D"/>
                </a:solidFill>
                <a:latin typeface="Arial"/>
                <a:ea typeface="Arial"/>
                <a:cs typeface="Arial"/>
              </a:defRPr>
            </a:lvl9pPr>
          </a:lstStyle>
          <a:p xmlns:a="http://schemas.openxmlformats.org/drawingml/2006/main">
            <a:pPr>
              <a:defRPr sz="2550" b="1">
                <a:solidFill>
                  <a:srgbClr val="17324D"/>
                </a:solidFill>
                <a:latin typeface="Arial"/>
                <a:ea typeface="Arial"/>
                <a:cs typeface="Arial"/>
              </a:defRPr>
            </a:pPr>
            <a:r>
              <a:rPr sz="2550" b="1">
                <a:solidFill>
                  <a:srgbClr val="17324D"/>
                </a:solidFill>
                <a:latin typeface="Arial"/>
                <a:ea typeface="Arial"/>
                <a:cs typeface="Arial"/>
              </a:rPr>
              <a:t>122 successful labels</a:t>
            </a:r>
          </a:p>
        </p:txBody>
      </p:sp>
      <p:sp>
        <p:nvSpPr>
          <p:cNvPr id="6" name="">
            <a:extLst xmlns:a="http://schemas.openxmlformats.org/drawingml/2006/main">
              <a:ext uri="{FF2B5EF4-FFF2-40B4-BE49-F238E27FC236}">
                <a16:creationId xmlns:a16="http://schemas.microsoft.com/office/drawing/2014/main" id="{BF2C48E2-C19B-483E-B1D7-BB9E1883E4FC}"/>
              </a:ext>
            </a:extLst>
          </p:cNvPr>
          <p:cNvSpPr>
            <a:spLocks xmlns:a="http://schemas.openxmlformats.org/drawingml/2006/main" noGrp="1"/>
          </p:cNvSpPr>
          <p:nvPr/>
        </p:nvSpPr>
        <p:spPr>
          <a:xfrm xmlns:a="http://schemas.openxmlformats.org/drawingml/2006/main">
            <a:off x="7524750" y="236220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14 workload groups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15 build/input contexts</a:t>
            </a:r>
          </a:p>
        </p:txBody>
      </p:sp>
      <p:sp>
        <p:nvSpPr>
          <p:cNvPr id="7" name="">
            <a:extLst xmlns:a="http://schemas.openxmlformats.org/drawingml/2006/main">
              <a:ext uri="{FF2B5EF4-FFF2-40B4-BE49-F238E27FC236}">
                <a16:creationId xmlns:a16="http://schemas.microsoft.com/office/drawing/2014/main" id="{33B5E46F-8EE6-489B-857A-397FF71E54DE}"/>
              </a:ext>
            </a:extLst>
          </p:cNvPr>
          <p:cNvSpPr>
            <a:spLocks xmlns:a="http://schemas.openxmlformats.org/drawingml/2006/main" noGrp="1"/>
          </p:cNvSpPr>
          <p:nvPr/>
        </p:nvSpPr>
        <p:spPr>
          <a:xfrm xmlns:a="http://schemas.openxmlformats.org/drawingml/2006/main">
            <a:off x="7524750" y="3476625"/>
            <a:ext cx="4000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7324D"/>
                </a:solidFill>
                <a:latin typeface="Arial"/>
                <a:ea typeface="Arial"/>
                <a:cs typeface="Arial"/>
              </a:defRPr>
            </a:defPPr>
            <a:lvl1pPr>
              <a:defRPr sz="2175" b="1">
                <a:solidFill>
                  <a:srgbClr val="17324D"/>
                </a:solidFill>
                <a:latin typeface="Arial"/>
                <a:ea typeface="Arial"/>
                <a:cs typeface="Arial"/>
              </a:defRPr>
            </a:lvl1pPr>
            <a:lvl2pPr>
              <a:defRPr sz="2175" b="1">
                <a:solidFill>
                  <a:srgbClr val="17324D"/>
                </a:solidFill>
                <a:latin typeface="Arial"/>
                <a:ea typeface="Arial"/>
                <a:cs typeface="Arial"/>
              </a:defRPr>
            </a:lvl2pPr>
            <a:lvl3pPr>
              <a:defRPr sz="2175" b="1">
                <a:solidFill>
                  <a:srgbClr val="17324D"/>
                </a:solidFill>
                <a:latin typeface="Arial"/>
                <a:ea typeface="Arial"/>
                <a:cs typeface="Arial"/>
              </a:defRPr>
            </a:lvl3pPr>
            <a:lvl4pPr>
              <a:defRPr sz="2175" b="1">
                <a:solidFill>
                  <a:srgbClr val="17324D"/>
                </a:solidFill>
                <a:latin typeface="Arial"/>
                <a:ea typeface="Arial"/>
                <a:cs typeface="Arial"/>
              </a:defRPr>
            </a:lvl4pPr>
            <a:lvl5pPr>
              <a:defRPr sz="2175" b="1">
                <a:solidFill>
                  <a:srgbClr val="17324D"/>
                </a:solidFill>
                <a:latin typeface="Arial"/>
                <a:ea typeface="Arial"/>
                <a:cs typeface="Arial"/>
              </a:defRPr>
            </a:lvl5pPr>
            <a:lvl6pPr>
              <a:defRPr sz="2175" b="1">
                <a:solidFill>
                  <a:srgbClr val="17324D"/>
                </a:solidFill>
                <a:latin typeface="Arial"/>
                <a:ea typeface="Arial"/>
                <a:cs typeface="Arial"/>
              </a:defRPr>
            </a:lvl6pPr>
            <a:lvl7pPr>
              <a:defRPr sz="2175" b="1">
                <a:solidFill>
                  <a:srgbClr val="17324D"/>
                </a:solidFill>
                <a:latin typeface="Arial"/>
                <a:ea typeface="Arial"/>
                <a:cs typeface="Arial"/>
              </a:defRPr>
            </a:lvl7pPr>
            <a:lvl8pPr>
              <a:defRPr sz="2175" b="1">
                <a:solidFill>
                  <a:srgbClr val="17324D"/>
                </a:solidFill>
                <a:latin typeface="Arial"/>
                <a:ea typeface="Arial"/>
                <a:cs typeface="Arial"/>
              </a:defRPr>
            </a:lvl8pPr>
            <a:lvl9pPr>
              <a:defRPr sz="2175" b="1">
                <a:solidFill>
                  <a:srgbClr val="17324D"/>
                </a:solidFill>
                <a:latin typeface="Arial"/>
                <a:ea typeface="Arial"/>
                <a:cs typeface="Arial"/>
              </a:defRPr>
            </a:lvl9pPr>
          </a:lstStyle>
          <a:p xmlns:a="http://schemas.openxmlformats.org/drawingml/2006/main">
            <a:pPr>
              <a:defRPr sz="2175" b="1">
                <a:solidFill>
                  <a:srgbClr val="17324D"/>
                </a:solidFill>
                <a:latin typeface="Arial"/>
                <a:ea typeface="Arial"/>
                <a:cs typeface="Arial"/>
              </a:defRPr>
            </a:pPr>
            <a:r>
              <a:rPr sz="2175" b="1">
                <a:solidFill>
                  <a:srgbClr val="17324D"/>
                </a:solidFill>
                <a:latin typeface="Arial"/>
                <a:ea typeface="Arial"/>
                <a:cs typeface="Arial"/>
              </a:rPr>
              <a:t>4 failures retained</a:t>
            </a:r>
          </a:p>
        </p:txBody>
      </p:sp>
      <p:sp>
        <p:nvSpPr>
          <p:cNvPr id="8" name="">
            <a:extLst xmlns:a="http://schemas.openxmlformats.org/drawingml/2006/main">
              <a:ext uri="{FF2B5EF4-FFF2-40B4-BE49-F238E27FC236}">
                <a16:creationId xmlns:a16="http://schemas.microsoft.com/office/drawing/2014/main" id="{8DF6D36F-95BF-4954-9531-1F5C26ED34CA}"/>
              </a:ext>
            </a:extLst>
          </p:cNvPr>
          <p:cNvSpPr>
            <a:spLocks xmlns:a="http://schemas.openxmlformats.org/drawingml/2006/main" noGrp="1"/>
          </p:cNvSpPr>
          <p:nvPr/>
        </p:nvSpPr>
        <p:spPr>
          <a:xfrm xmlns:a="http://schemas.openxmlformats.org/drawingml/2006/main">
            <a:off x="7524750" y="409575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0">
                <a:solidFill>
                  <a:srgbClr val="263648"/>
                </a:solidFill>
                <a:latin typeface="Arial"/>
                <a:ea typeface="Arial"/>
                <a:cs typeface="Arial"/>
              </a:defRPr>
            </a:defPPr>
            <a:lvl1pPr>
              <a:defRPr sz="1950" b="0">
                <a:solidFill>
                  <a:srgbClr val="263648"/>
                </a:solidFill>
                <a:latin typeface="Arial"/>
                <a:ea typeface="Arial"/>
                <a:cs typeface="Arial"/>
              </a:defRPr>
            </a:lvl1pPr>
            <a:lvl2pPr>
              <a:defRPr sz="1950" b="0">
                <a:solidFill>
                  <a:srgbClr val="263648"/>
                </a:solidFill>
                <a:latin typeface="Arial"/>
                <a:ea typeface="Arial"/>
                <a:cs typeface="Arial"/>
              </a:defRPr>
            </a:lvl2pPr>
            <a:lvl3pPr>
              <a:defRPr sz="1950" b="0">
                <a:solidFill>
                  <a:srgbClr val="263648"/>
                </a:solidFill>
                <a:latin typeface="Arial"/>
                <a:ea typeface="Arial"/>
                <a:cs typeface="Arial"/>
              </a:defRPr>
            </a:lvl3pPr>
            <a:lvl4pPr>
              <a:defRPr sz="1950" b="0">
                <a:solidFill>
                  <a:srgbClr val="263648"/>
                </a:solidFill>
                <a:latin typeface="Arial"/>
                <a:ea typeface="Arial"/>
                <a:cs typeface="Arial"/>
              </a:defRPr>
            </a:lvl4pPr>
            <a:lvl5pPr>
              <a:defRPr sz="1950" b="0">
                <a:solidFill>
                  <a:srgbClr val="263648"/>
                </a:solidFill>
                <a:latin typeface="Arial"/>
                <a:ea typeface="Arial"/>
                <a:cs typeface="Arial"/>
              </a:defRPr>
            </a:lvl5pPr>
            <a:lvl6pPr>
              <a:defRPr sz="1950" b="0">
                <a:solidFill>
                  <a:srgbClr val="263648"/>
                </a:solidFill>
                <a:latin typeface="Arial"/>
                <a:ea typeface="Arial"/>
                <a:cs typeface="Arial"/>
              </a:defRPr>
            </a:lvl6pPr>
            <a:lvl7pPr>
              <a:defRPr sz="1950" b="0">
                <a:solidFill>
                  <a:srgbClr val="263648"/>
                </a:solidFill>
                <a:latin typeface="Arial"/>
                <a:ea typeface="Arial"/>
                <a:cs typeface="Arial"/>
              </a:defRPr>
            </a:lvl7pPr>
            <a:lvl8pPr>
              <a:defRPr sz="1950" b="0">
                <a:solidFill>
                  <a:srgbClr val="263648"/>
                </a:solidFill>
                <a:latin typeface="Arial"/>
                <a:ea typeface="Arial"/>
                <a:cs typeface="Arial"/>
              </a:defRPr>
            </a:lvl8pPr>
            <a:lvl9pPr>
              <a:defRPr sz="1950" b="0">
                <a:solidFill>
                  <a:srgbClr val="263648"/>
                </a:solidFill>
                <a:latin typeface="Arial"/>
                <a:ea typeface="Arial"/>
                <a:cs typeface="Arial"/>
              </a:defRPr>
            </a:lvl9pPr>
          </a:lstStyle>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13 policies tested: 8 learned</a:t>
            </a:r>
          </a:p>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2,925 replays reuse labels</a:t>
            </a:r>
          </a:p>
        </p:txBody>
      </p:sp>
      <p:sp>
        <p:nvSpPr>
          <p:cNvPr id="9" name="">
            <a:extLst xmlns:a="http://schemas.openxmlformats.org/drawingml/2006/main">
              <a:ext uri="{FF2B5EF4-FFF2-40B4-BE49-F238E27FC236}">
                <a16:creationId xmlns:a16="http://schemas.microsoft.com/office/drawing/2014/main" id="{1D30E425-C167-4029-AD3A-56ADA1DF2D11}"/>
              </a:ext>
            </a:extLst>
          </p:cNvPr>
          <p:cNvSpPr>
            <a:spLocks xmlns:a="http://schemas.openxmlformats.org/drawingml/2006/main" noGrp="1"/>
          </p:cNvSpPr>
          <p:nvPr/>
        </p:nvSpPr>
        <p:spPr>
          <a:xfrm xmlns:a="http://schemas.openxmlformats.org/drawingml/2006/main">
            <a:off x="685800" y="5657850"/>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2878A8"/>
                </a:solidFill>
                <a:latin typeface="Arial"/>
                <a:ea typeface="Arial"/>
                <a:cs typeface="Arial"/>
              </a:defRPr>
            </a:defPPr>
            <a:lvl1pPr>
              <a:defRPr sz="2100" b="1">
                <a:solidFill>
                  <a:srgbClr val="2878A8"/>
                </a:solidFill>
                <a:latin typeface="Arial"/>
                <a:ea typeface="Arial"/>
                <a:cs typeface="Arial"/>
              </a:defRPr>
            </a:lvl1pPr>
            <a:lvl2pPr>
              <a:defRPr sz="2100" b="1">
                <a:solidFill>
                  <a:srgbClr val="2878A8"/>
                </a:solidFill>
                <a:latin typeface="Arial"/>
                <a:ea typeface="Arial"/>
                <a:cs typeface="Arial"/>
              </a:defRPr>
            </a:lvl2pPr>
            <a:lvl3pPr>
              <a:defRPr sz="2100" b="1">
                <a:solidFill>
                  <a:srgbClr val="2878A8"/>
                </a:solidFill>
                <a:latin typeface="Arial"/>
                <a:ea typeface="Arial"/>
                <a:cs typeface="Arial"/>
              </a:defRPr>
            </a:lvl3pPr>
            <a:lvl4pPr>
              <a:defRPr sz="2100" b="1">
                <a:solidFill>
                  <a:srgbClr val="2878A8"/>
                </a:solidFill>
                <a:latin typeface="Arial"/>
                <a:ea typeface="Arial"/>
                <a:cs typeface="Arial"/>
              </a:defRPr>
            </a:lvl4pPr>
            <a:lvl5pPr>
              <a:defRPr sz="2100" b="1">
                <a:solidFill>
                  <a:srgbClr val="2878A8"/>
                </a:solidFill>
                <a:latin typeface="Arial"/>
                <a:ea typeface="Arial"/>
                <a:cs typeface="Arial"/>
              </a:defRPr>
            </a:lvl5pPr>
            <a:lvl6pPr>
              <a:defRPr sz="2100" b="1">
                <a:solidFill>
                  <a:srgbClr val="2878A8"/>
                </a:solidFill>
                <a:latin typeface="Arial"/>
                <a:ea typeface="Arial"/>
                <a:cs typeface="Arial"/>
              </a:defRPr>
            </a:lvl6pPr>
            <a:lvl7pPr>
              <a:defRPr sz="2100" b="1">
                <a:solidFill>
                  <a:srgbClr val="2878A8"/>
                </a:solidFill>
                <a:latin typeface="Arial"/>
                <a:ea typeface="Arial"/>
                <a:cs typeface="Arial"/>
              </a:defRPr>
            </a:lvl7pPr>
            <a:lvl8pPr>
              <a:defRPr sz="2100" b="1">
                <a:solidFill>
                  <a:srgbClr val="2878A8"/>
                </a:solidFill>
                <a:latin typeface="Arial"/>
                <a:ea typeface="Arial"/>
                <a:cs typeface="Arial"/>
              </a:defRPr>
            </a:lvl8pPr>
            <a:lvl9pPr>
              <a:defRPr sz="2100" b="1">
                <a:solidFill>
                  <a:srgbClr val="2878A8"/>
                </a:solidFill>
                <a:latin typeface="Arial"/>
                <a:ea typeface="Arial"/>
                <a:cs typeface="Arial"/>
              </a:defRPr>
            </a:lvl9pPr>
          </a:lstStyle>
          <a:p xmlns:a="http://schemas.openxmlformats.org/drawingml/2006/main">
            <a:pPr>
              <a:defRPr sz="2100" b="1">
                <a:solidFill>
                  <a:srgbClr val="2878A8"/>
                </a:solidFill>
                <a:latin typeface="Arial"/>
                <a:ea typeface="Arial"/>
                <a:cs typeface="Arial"/>
              </a:defRPr>
            </a:pPr>
            <a:r>
              <a:rPr sz="2100" b="1">
                <a:solidFill>
                  <a:srgbClr val="2878A8"/>
                </a:solidFill>
                <a:latin typeface="Arial"/>
                <a:ea typeface="Arial"/>
                <a:cs typeface="Arial"/>
              </a:rPr>
              <a:t>Train on other workloads; test on the entire held-out workload.</a:t>
            </a:r>
          </a:p>
        </p:txBody>
      </p:sp>
    </p:spTree>
    <p:extLst>
      <p:ext uri="{BB962C8B-B14F-4D97-AF65-F5344CB8AC3E}">
        <p14:creationId xmlns:p14="http://schemas.microsoft.com/office/powerpoint/2010/main" val="105510914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736AE88-45D9-4980-9DCC-49B2C06AA606}"/>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The ML model: shallow boosted-tree ranking</a:t>
            </a:r>
          </a:p>
        </p:txBody>
      </p:sp>
      <p:sp>
        <p:nvSpPr>
          <p:cNvPr id="2" name="">
            <a:extLst xmlns:a="http://schemas.openxmlformats.org/drawingml/2006/main">
              <a:ext uri="{FF2B5EF4-FFF2-40B4-BE49-F238E27FC236}">
                <a16:creationId xmlns:a16="http://schemas.microsoft.com/office/drawing/2014/main" id="{5190EAEB-D83E-467A-8DF1-712DF83FA5E2}"/>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DDFC7417-4DC4-4318-9212-57F4CD28EA37}"/>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6</a:t>
            </a:r>
          </a:p>
        </p:txBody>
      </p:sp>
      <p:sp>
        <p:nvSpPr>
          <p:cNvPr id="4" name="">
            <a:extLst xmlns:a="http://schemas.openxmlformats.org/drawingml/2006/main">
              <a:ext uri="{FF2B5EF4-FFF2-40B4-BE49-F238E27FC236}">
                <a16:creationId xmlns:a16="http://schemas.microsoft.com/office/drawing/2014/main" id="{9E56627B-9409-4117-A352-DE8BB95C32B3}"/>
              </a:ext>
            </a:extLst>
          </p:cNvPr>
          <p:cNvSpPr>
            <a:spLocks xmlns:a="http://schemas.openxmlformats.org/drawingml/2006/main" noGrp="1"/>
          </p:cNvSpPr>
          <p:nvPr/>
        </p:nvSpPr>
        <p:spPr>
          <a:xfrm xmlns:a="http://schemas.openxmlformats.org/drawingml/2006/main">
            <a:off x="68580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78BDD98A-1067-4817-996E-57CBFB345539}"/>
              </a:ext>
            </a:extLst>
          </p:cNvPr>
          <p:cNvSpPr>
            <a:spLocks xmlns:a="http://schemas.openxmlformats.org/drawingml/2006/main" noGrp="1"/>
          </p:cNvSpPr>
          <p:nvPr/>
        </p:nvSpPr>
        <p:spPr>
          <a:xfrm xmlns:a="http://schemas.openxmlformats.org/drawingml/2006/main">
            <a:off x="81915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35 input features</a:t>
            </a:r>
          </a:p>
        </p:txBody>
      </p:sp>
      <p:sp>
        <p:nvSpPr>
          <p:cNvPr id="6" name="">
            <a:extLst xmlns:a="http://schemas.openxmlformats.org/drawingml/2006/main">
              <a:ext uri="{FF2B5EF4-FFF2-40B4-BE49-F238E27FC236}">
                <a16:creationId xmlns:a16="http://schemas.microsoft.com/office/drawing/2014/main" id="{4D0D6C7E-C166-4A1D-9FED-778140134E79}"/>
              </a:ext>
            </a:extLst>
          </p:cNvPr>
          <p:cNvSpPr>
            <a:spLocks xmlns:a="http://schemas.openxmlformats.org/drawingml/2006/main" noGrp="1"/>
          </p:cNvSpPr>
          <p:nvPr/>
        </p:nvSpPr>
        <p:spPr>
          <a:xfrm xmlns:a="http://schemas.openxmlformats.org/drawingml/2006/main">
            <a:off x="81915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Profile opportunity</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Structure + operations</a:t>
            </a:r>
          </a:p>
        </p:txBody>
      </p:sp>
      <p:sp>
        <p:nvSpPr>
          <p:cNvPr id="7" name="">
            <a:extLst xmlns:a="http://schemas.openxmlformats.org/drawingml/2006/main">
              <a:ext uri="{FF2B5EF4-FFF2-40B4-BE49-F238E27FC236}">
                <a16:creationId xmlns:a16="http://schemas.microsoft.com/office/drawing/2014/main" id="{0C744642-C05C-4C9F-9D70-25BC0526E026}"/>
              </a:ext>
            </a:extLst>
          </p:cNvPr>
          <p:cNvSpPr>
            <a:spLocks xmlns:a="http://schemas.openxmlformats.org/drawingml/2006/main" noGrp="1"/>
          </p:cNvSpPr>
          <p:nvPr/>
        </p:nvSpPr>
        <p:spPr>
          <a:xfrm xmlns:a="http://schemas.openxmlformats.org/drawingml/2006/main">
            <a:off x="310515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FA992FA-7AF5-46B4-AFD5-7C293E0E70F8}"/>
              </a:ext>
            </a:extLst>
          </p:cNvPr>
          <p:cNvSpPr>
            <a:spLocks xmlns:a="http://schemas.openxmlformats.org/drawingml/2006/main" noGrp="1"/>
          </p:cNvSpPr>
          <p:nvPr/>
        </p:nvSpPr>
        <p:spPr>
          <a:xfrm xmlns:a="http://schemas.openxmlformats.org/drawingml/2006/main">
            <a:off x="347662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DFA7F33F-2E66-48F1-81F0-1EE9BF01F50C}"/>
              </a:ext>
            </a:extLst>
          </p:cNvPr>
          <p:cNvSpPr>
            <a:spLocks xmlns:a="http://schemas.openxmlformats.org/drawingml/2006/main" noGrp="1"/>
          </p:cNvSpPr>
          <p:nvPr/>
        </p:nvSpPr>
        <p:spPr>
          <a:xfrm xmlns:a="http://schemas.openxmlformats.org/drawingml/2006/main">
            <a:off x="360997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80 shallow trees</a:t>
            </a:r>
          </a:p>
        </p:txBody>
      </p:sp>
      <p:sp>
        <p:nvSpPr>
          <p:cNvPr id="10" name="">
            <a:extLst xmlns:a="http://schemas.openxmlformats.org/drawingml/2006/main">
              <a:ext uri="{FF2B5EF4-FFF2-40B4-BE49-F238E27FC236}">
                <a16:creationId xmlns:a16="http://schemas.microsoft.com/office/drawing/2014/main" id="{FDC2B308-059E-4ECB-A8D7-057194A968EF}"/>
              </a:ext>
            </a:extLst>
          </p:cNvPr>
          <p:cNvSpPr>
            <a:spLocks xmlns:a="http://schemas.openxmlformats.org/drawingml/2006/main" noGrp="1"/>
          </p:cNvSpPr>
          <p:nvPr/>
        </p:nvSpPr>
        <p:spPr>
          <a:xfrm xmlns:a="http://schemas.openxmlformats.org/drawingml/2006/main">
            <a:off x="360997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Depth 2</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Learning rate 0.05</a:t>
            </a:r>
          </a:p>
        </p:txBody>
      </p:sp>
      <p:sp>
        <p:nvSpPr>
          <p:cNvPr id="11" name="">
            <a:extLst xmlns:a="http://schemas.openxmlformats.org/drawingml/2006/main">
              <a:ext uri="{FF2B5EF4-FFF2-40B4-BE49-F238E27FC236}">
                <a16:creationId xmlns:a16="http://schemas.microsoft.com/office/drawing/2014/main" id="{9978F779-A425-4060-93E8-E9027F619FCE}"/>
              </a:ext>
            </a:extLst>
          </p:cNvPr>
          <p:cNvSpPr>
            <a:spLocks xmlns:a="http://schemas.openxmlformats.org/drawingml/2006/main" noGrp="1"/>
          </p:cNvSpPr>
          <p:nvPr/>
        </p:nvSpPr>
        <p:spPr>
          <a:xfrm xmlns:a="http://schemas.openxmlformats.org/drawingml/2006/main">
            <a:off x="5895975"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5651402-66B4-435E-9E99-435C5FFA36FE}"/>
              </a:ext>
            </a:extLst>
          </p:cNvPr>
          <p:cNvSpPr>
            <a:spLocks xmlns:a="http://schemas.openxmlformats.org/drawingml/2006/main" noGrp="1"/>
          </p:cNvSpPr>
          <p:nvPr/>
        </p:nvSpPr>
        <p:spPr>
          <a:xfrm xmlns:a="http://schemas.openxmlformats.org/drawingml/2006/main">
            <a:off x="626745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9E83A5B3-A7BE-4ABF-A423-E6927701D035}"/>
              </a:ext>
            </a:extLst>
          </p:cNvPr>
          <p:cNvSpPr>
            <a:spLocks xmlns:a="http://schemas.openxmlformats.org/drawingml/2006/main" noGrp="1"/>
          </p:cNvSpPr>
          <p:nvPr/>
        </p:nvSpPr>
        <p:spPr>
          <a:xfrm xmlns:a="http://schemas.openxmlformats.org/drawingml/2006/main">
            <a:off x="640080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Ranking score</a:t>
            </a:r>
          </a:p>
        </p:txBody>
      </p:sp>
      <p:sp>
        <p:nvSpPr>
          <p:cNvPr id="14" name="">
            <a:extLst xmlns:a="http://schemas.openxmlformats.org/drawingml/2006/main">
              <a:ext uri="{FF2B5EF4-FFF2-40B4-BE49-F238E27FC236}">
                <a16:creationId xmlns:a16="http://schemas.microsoft.com/office/drawing/2014/main" id="{4415A495-5A8C-4083-8C23-8F3E06BA8279}"/>
              </a:ext>
            </a:extLst>
          </p:cNvPr>
          <p:cNvSpPr>
            <a:spLocks xmlns:a="http://schemas.openxmlformats.org/drawingml/2006/main" noGrp="1"/>
          </p:cNvSpPr>
          <p:nvPr/>
        </p:nvSpPr>
        <p:spPr>
          <a:xfrm xmlns:a="http://schemas.openxmlformats.org/drawingml/2006/main">
            <a:off x="640080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Relative ordering</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Not a probability</a:t>
            </a:r>
          </a:p>
        </p:txBody>
      </p:sp>
      <p:sp>
        <p:nvSpPr>
          <p:cNvPr id="15" name="">
            <a:extLst xmlns:a="http://schemas.openxmlformats.org/drawingml/2006/main">
              <a:ext uri="{FF2B5EF4-FFF2-40B4-BE49-F238E27FC236}">
                <a16:creationId xmlns:a16="http://schemas.microsoft.com/office/drawing/2014/main" id="{AAB609EB-112B-47A3-ADE0-F038F9B62301}"/>
              </a:ext>
            </a:extLst>
          </p:cNvPr>
          <p:cNvSpPr>
            <a:spLocks xmlns:a="http://schemas.openxmlformats.org/drawingml/2006/main" noGrp="1"/>
          </p:cNvSpPr>
          <p:nvPr/>
        </p:nvSpPr>
        <p:spPr>
          <a:xfrm xmlns:a="http://schemas.openxmlformats.org/drawingml/2006/main">
            <a:off x="868680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73C45C3C-B3F9-4F89-957F-D3C83B1AEA1F}"/>
              </a:ext>
            </a:extLst>
          </p:cNvPr>
          <p:cNvSpPr>
            <a:spLocks xmlns:a="http://schemas.openxmlformats.org/drawingml/2006/main" noGrp="1"/>
          </p:cNvSpPr>
          <p:nvPr/>
        </p:nvSpPr>
        <p:spPr>
          <a:xfrm xmlns:a="http://schemas.openxmlformats.org/drawingml/2006/main">
            <a:off x="905827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81E0C2F6-729C-445D-B20D-D457A60AC515}"/>
              </a:ext>
            </a:extLst>
          </p:cNvPr>
          <p:cNvSpPr>
            <a:spLocks xmlns:a="http://schemas.openxmlformats.org/drawingml/2006/main" noGrp="1"/>
          </p:cNvSpPr>
          <p:nvPr/>
        </p:nvSpPr>
        <p:spPr>
          <a:xfrm xmlns:a="http://schemas.openxmlformats.org/drawingml/2006/main">
            <a:off x="919162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Choose queries</a:t>
            </a:r>
          </a:p>
        </p:txBody>
      </p:sp>
      <p:sp>
        <p:nvSpPr>
          <p:cNvPr id="18" name="">
            <a:extLst xmlns:a="http://schemas.openxmlformats.org/drawingml/2006/main">
              <a:ext uri="{FF2B5EF4-FFF2-40B4-BE49-F238E27FC236}">
                <a16:creationId xmlns:a16="http://schemas.microsoft.com/office/drawing/2014/main" id="{98AD64AC-6E5F-4CA1-8C42-AB4D7D635C90}"/>
              </a:ext>
            </a:extLst>
          </p:cNvPr>
          <p:cNvSpPr>
            <a:spLocks xmlns:a="http://schemas.openxmlformats.org/drawingml/2006/main" noGrp="1"/>
          </p:cNvSpPr>
          <p:nvPr/>
        </p:nvSpPr>
        <p:spPr>
          <a:xfrm xmlns:a="http://schemas.openxmlformats.org/drawingml/2006/main">
            <a:off x="919162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Measure promising</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candidates first</a:t>
            </a:r>
          </a:p>
        </p:txBody>
      </p:sp>
      <p:sp>
        <p:nvSpPr>
          <p:cNvPr id="19" name="">
            <a:extLst xmlns:a="http://schemas.openxmlformats.org/drawingml/2006/main">
              <a:ext uri="{FF2B5EF4-FFF2-40B4-BE49-F238E27FC236}">
                <a16:creationId xmlns:a16="http://schemas.microsoft.com/office/drawing/2014/main" id="{23086F94-4D51-479D-8AAC-E631BBE72305}"/>
              </a:ext>
            </a:extLst>
          </p:cNvPr>
          <p:cNvSpPr>
            <a:spLocks xmlns:a="http://schemas.openxmlformats.org/drawingml/2006/main" noGrp="1"/>
          </p:cNvSpPr>
          <p:nvPr/>
        </p:nvSpPr>
        <p:spPr>
          <a:xfrm xmlns:a="http://schemas.openxmlformats.org/drawingml/2006/main">
            <a:off x="685800" y="3848100"/>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Training signal: measured speedup(A) &gt; measured speedup(B)</a:t>
            </a:r>
          </a:p>
        </p:txBody>
      </p:sp>
      <p:sp>
        <p:nvSpPr>
          <p:cNvPr id="20" name="">
            <a:extLst xmlns:a="http://schemas.openxmlformats.org/drawingml/2006/main">
              <a:ext uri="{FF2B5EF4-FFF2-40B4-BE49-F238E27FC236}">
                <a16:creationId xmlns:a16="http://schemas.microsoft.com/office/drawing/2014/main" id="{2FFB0B97-7A02-45DE-BC1C-1FEED96D51B3}"/>
              </a:ext>
            </a:extLst>
          </p:cNvPr>
          <p:cNvSpPr>
            <a:spLocks xmlns:a="http://schemas.openxmlformats.org/drawingml/2006/main" noGrp="1"/>
          </p:cNvSpPr>
          <p:nvPr/>
        </p:nvSpPr>
        <p:spPr>
          <a:xfrm xmlns:a="http://schemas.openxmlformats.org/drawingml/2006/main">
            <a:off x="685800" y="4448175"/>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2878A8"/>
                </a:solidFill>
                <a:latin typeface="Arial"/>
                <a:ea typeface="Arial"/>
                <a:cs typeface="Arial"/>
              </a:defRPr>
            </a:defPPr>
            <a:lvl1pPr>
              <a:defRPr sz="2175" b="1">
                <a:solidFill>
                  <a:srgbClr val="2878A8"/>
                </a:solidFill>
                <a:latin typeface="Arial"/>
                <a:ea typeface="Arial"/>
                <a:cs typeface="Arial"/>
              </a:defRPr>
            </a:lvl1pPr>
            <a:lvl2pPr>
              <a:defRPr sz="2175" b="1">
                <a:solidFill>
                  <a:srgbClr val="2878A8"/>
                </a:solidFill>
                <a:latin typeface="Arial"/>
                <a:ea typeface="Arial"/>
                <a:cs typeface="Arial"/>
              </a:defRPr>
            </a:lvl2pPr>
            <a:lvl3pPr>
              <a:defRPr sz="2175" b="1">
                <a:solidFill>
                  <a:srgbClr val="2878A8"/>
                </a:solidFill>
                <a:latin typeface="Arial"/>
                <a:ea typeface="Arial"/>
                <a:cs typeface="Arial"/>
              </a:defRPr>
            </a:lvl3pPr>
            <a:lvl4pPr>
              <a:defRPr sz="2175" b="1">
                <a:solidFill>
                  <a:srgbClr val="2878A8"/>
                </a:solidFill>
                <a:latin typeface="Arial"/>
                <a:ea typeface="Arial"/>
                <a:cs typeface="Arial"/>
              </a:defRPr>
            </a:lvl4pPr>
            <a:lvl5pPr>
              <a:defRPr sz="2175" b="1">
                <a:solidFill>
                  <a:srgbClr val="2878A8"/>
                </a:solidFill>
                <a:latin typeface="Arial"/>
                <a:ea typeface="Arial"/>
                <a:cs typeface="Arial"/>
              </a:defRPr>
            </a:lvl5pPr>
            <a:lvl6pPr>
              <a:defRPr sz="2175" b="1">
                <a:solidFill>
                  <a:srgbClr val="2878A8"/>
                </a:solidFill>
                <a:latin typeface="Arial"/>
                <a:ea typeface="Arial"/>
                <a:cs typeface="Arial"/>
              </a:defRPr>
            </a:lvl6pPr>
            <a:lvl7pPr>
              <a:defRPr sz="2175" b="1">
                <a:solidFill>
                  <a:srgbClr val="2878A8"/>
                </a:solidFill>
                <a:latin typeface="Arial"/>
                <a:ea typeface="Arial"/>
                <a:cs typeface="Arial"/>
              </a:defRPr>
            </a:lvl7pPr>
            <a:lvl8pPr>
              <a:defRPr sz="2175" b="1">
                <a:solidFill>
                  <a:srgbClr val="2878A8"/>
                </a:solidFill>
                <a:latin typeface="Arial"/>
                <a:ea typeface="Arial"/>
                <a:cs typeface="Arial"/>
              </a:defRPr>
            </a:lvl8pPr>
            <a:lvl9pPr>
              <a:defRPr sz="2175" b="1">
                <a:solidFill>
                  <a:srgbClr val="2878A8"/>
                </a:solidFill>
                <a:latin typeface="Arial"/>
                <a:ea typeface="Arial"/>
                <a:cs typeface="Arial"/>
              </a:defRPr>
            </a:lvl9pPr>
          </a:lstStyle>
          <a:p xmlns:a="http://schemas.openxmlformats.org/drawingml/2006/main">
            <a:pPr>
              <a:defRPr sz="2175" b="1">
                <a:solidFill>
                  <a:srgbClr val="2878A8"/>
                </a:solidFill>
                <a:latin typeface="Arial"/>
                <a:ea typeface="Arial"/>
                <a:cs typeface="Arial"/>
              </a:defRPr>
            </a:pPr>
            <a:r>
              <a:rPr sz="2175" b="1">
                <a:solidFill>
                  <a:srgbClr val="2878A8"/>
                </a:solidFill>
                <a:latin typeface="Arial"/>
                <a:ea typeface="Arial"/>
                <a:cs typeface="Arial"/>
              </a:rPr>
              <a:t>Pairwise objective → encourage score(A) &gt; score(B)</a:t>
            </a:r>
          </a:p>
        </p:txBody>
      </p:sp>
      <p:sp>
        <p:nvSpPr>
          <p:cNvPr id="21" name="">
            <a:extLst xmlns:a="http://schemas.openxmlformats.org/drawingml/2006/main">
              <a:ext uri="{FF2B5EF4-FFF2-40B4-BE49-F238E27FC236}">
                <a16:creationId xmlns:a16="http://schemas.microsoft.com/office/drawing/2014/main" id="{DB4B32D3-6155-4018-9286-C3765ED92A3A}"/>
              </a:ext>
            </a:extLst>
          </p:cNvPr>
          <p:cNvSpPr>
            <a:spLocks xmlns:a="http://schemas.openxmlformats.org/drawingml/2006/main" noGrp="1"/>
          </p:cNvSpPr>
          <p:nvPr/>
        </p:nvSpPr>
        <p:spPr>
          <a:xfrm xmlns:a="http://schemas.openxmlformats.org/drawingml/2006/main">
            <a:off x="685800" y="5438775"/>
            <a:ext cx="10820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Also tested: regression, feasibility models and GP active learning.</a:t>
            </a:r>
          </a:p>
        </p:txBody>
      </p:sp>
    </p:spTree>
    <p:extLst>
      <p:ext uri="{BB962C8B-B14F-4D97-AF65-F5344CB8AC3E}">
        <p14:creationId xmlns:p14="http://schemas.microsoft.com/office/powerpoint/2010/main" val="185397714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FC2B5A2-B08E-48CC-A739-834649B02FC2}"/>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Explainability and uncertainty</a:t>
            </a:r>
          </a:p>
        </p:txBody>
      </p:sp>
      <p:sp>
        <p:nvSpPr>
          <p:cNvPr id="2" name="">
            <a:extLst xmlns:a="http://schemas.openxmlformats.org/drawingml/2006/main">
              <a:ext uri="{FF2B5EF4-FFF2-40B4-BE49-F238E27FC236}">
                <a16:creationId xmlns:a16="http://schemas.microsoft.com/office/drawing/2014/main" id="{4655A17B-05DE-40B1-B17E-8A5C0BE5D963}"/>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1AFD1C93-69F2-4C00-B779-D4FA80DF3FD3}"/>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7</a:t>
            </a:r>
          </a:p>
        </p:txBody>
      </p:sp>
      <p:graphicFrame>
        <p:nvGraphicFramePr>
          <p:cNvPr id="4" name="Chart">
            <a:extLst xmlns:a="http://schemas.openxmlformats.org/drawingml/2006/main">
              <a:ext uri="{FF2B5EF4-FFF2-40B4-BE49-F238E27FC236}">
                <a16:creationId xmlns:a16="http://schemas.microsoft.com/office/drawing/2014/main" id="{0F0C5177-3F04-4B09-BFAD-016B70528890}"/>
              </a:ext>
            </a:extLst>
          </p:cNvPr>
          <p:cNvGraphicFramePr/>
          <p:nvPr/>
        </p:nvGraphicFramePr>
        <p:xfrm>
          <a:off xmlns:a="http://schemas.openxmlformats.org/drawingml/2006/main" x="476250" y="1571625"/>
          <a:ext xmlns:a="http://schemas.openxmlformats.org/drawingml/2006/main" cx="6667500" cy="3619500"/>
        </p:xfrm>
        <a:graphic xmlns:a="http://schemas.openxmlformats.org/drawingml/2006/main">
          <a:graphicData uri="http://schemas.openxmlformats.org/drawingml/2006/chart">
            <c:chart xmlns:r="http://schemas.openxmlformats.org/officeDocument/2006/relationships" xmlns:c="http://schemas.openxmlformats.org/drawingml/2006/chart" r:id="R27c93d529db64f25"/>
          </a:graphicData>
        </a:graphic>
      </p:graphicFrame>
      <p:sp>
        <p:nvSpPr>
          <p:cNvPr id="5" name="">
            <a:extLst xmlns:a="http://schemas.openxmlformats.org/drawingml/2006/main">
              <a:ext uri="{FF2B5EF4-FFF2-40B4-BE49-F238E27FC236}">
                <a16:creationId xmlns:a16="http://schemas.microsoft.com/office/drawing/2014/main" id="{D683152C-92FD-47E9-8BC2-30DA37836FA6}"/>
              </a:ext>
            </a:extLst>
          </p:cNvPr>
          <p:cNvSpPr>
            <a:spLocks xmlns:a="http://schemas.openxmlformats.org/drawingml/2006/main" noGrp="1"/>
          </p:cNvSpPr>
          <p:nvPr/>
        </p:nvSpPr>
        <p:spPr>
          <a:xfrm xmlns:a="http://schemas.openxmlformats.org/drawingml/2006/main">
            <a:off x="7524750" y="1676400"/>
            <a:ext cx="3905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A high rank can still fail</a:t>
            </a:r>
          </a:p>
        </p:txBody>
      </p:sp>
      <p:sp>
        <p:nvSpPr>
          <p:cNvPr id="6" name="">
            <a:extLst xmlns:a="http://schemas.openxmlformats.org/drawingml/2006/main">
              <a:ext uri="{FF2B5EF4-FFF2-40B4-BE49-F238E27FC236}">
                <a16:creationId xmlns:a16="http://schemas.microsoft.com/office/drawing/2014/main" id="{80EFC796-CAE2-4B62-9297-04C25818532C}"/>
              </a:ext>
            </a:extLst>
          </p:cNvPr>
          <p:cNvSpPr>
            <a:spLocks xmlns:a="http://schemas.openxmlformats.org/drawingml/2006/main" noGrp="1"/>
          </p:cNvSpPr>
          <p:nvPr/>
        </p:nvSpPr>
        <p:spPr>
          <a:xfrm xmlns:a="http://schemas.openxmlformats.org/drawingml/2006/main">
            <a:off x="7524750" y="2543175"/>
            <a:ext cx="39052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Bitcount: top-ranked</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1.0088× cycle speedup</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+65 LUT4 &gt; +64 cap</a:t>
            </a:r>
          </a:p>
        </p:txBody>
      </p:sp>
      <p:sp>
        <p:nvSpPr>
          <p:cNvPr id="7" name="">
            <a:extLst xmlns:a="http://schemas.openxmlformats.org/drawingml/2006/main">
              <a:ext uri="{FF2B5EF4-FFF2-40B4-BE49-F238E27FC236}">
                <a16:creationId xmlns:a16="http://schemas.microsoft.com/office/drawing/2014/main" id="{4E26D031-AEA6-4A91-8302-0B6E9257012E}"/>
              </a:ext>
            </a:extLst>
          </p:cNvPr>
          <p:cNvSpPr>
            <a:spLocks xmlns:a="http://schemas.openxmlformats.org/drawingml/2006/main" noGrp="1"/>
          </p:cNvSpPr>
          <p:nvPr/>
        </p:nvSpPr>
        <p:spPr>
          <a:xfrm xmlns:a="http://schemas.openxmlformats.org/drawingml/2006/main">
            <a:off x="7524750" y="4076700"/>
            <a:ext cx="39052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Correctness passed;</a:t>
            </a:r>
          </a:p>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area made it infeasible.</a:t>
            </a:r>
          </a:p>
        </p:txBody>
      </p:sp>
      <p:sp>
        <p:nvSpPr>
          <p:cNvPr id="8" name="">
            <a:extLst xmlns:a="http://schemas.openxmlformats.org/drawingml/2006/main">
              <a:ext uri="{FF2B5EF4-FFF2-40B4-BE49-F238E27FC236}">
                <a16:creationId xmlns:a16="http://schemas.microsoft.com/office/drawing/2014/main" id="{3998BAF6-92AF-4705-ABC3-B800B68D55FF}"/>
              </a:ext>
            </a:extLst>
          </p:cNvPr>
          <p:cNvSpPr>
            <a:spLocks xmlns:a="http://schemas.openxmlformats.org/drawingml/2006/main" noGrp="1"/>
          </p:cNvSpPr>
          <p:nvPr/>
        </p:nvSpPr>
        <p:spPr>
          <a:xfrm xmlns:a="http://schemas.openxmlformats.org/drawingml/2006/main">
            <a:off x="685800" y="560070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Uncertainty guides questions; measured correctness and feasibility decide.</a:t>
            </a:r>
          </a:p>
        </p:txBody>
      </p:sp>
    </p:spTree>
    <p:extLst>
      <p:ext uri="{BB962C8B-B14F-4D97-AF65-F5344CB8AC3E}">
        <p14:creationId xmlns:p14="http://schemas.microsoft.com/office/powerpoint/2010/main" val="25609363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7882E58C-95EE-438D-85E7-BDD4CA7EFD3B}"/>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The LLM agent: choose, measure, respond</a:t>
            </a:r>
          </a:p>
        </p:txBody>
      </p:sp>
      <p:sp>
        <p:nvSpPr>
          <p:cNvPr id="2" name="">
            <a:extLst xmlns:a="http://schemas.openxmlformats.org/drawingml/2006/main">
              <a:ext uri="{FF2B5EF4-FFF2-40B4-BE49-F238E27FC236}">
                <a16:creationId xmlns:a16="http://schemas.microsoft.com/office/drawing/2014/main" id="{F08B8EFC-3443-4E97-B1B5-9608ED39DF8C}"/>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6BB140D1-9BB7-4868-9CF9-DAC7D94E9546}"/>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8</a:t>
            </a:r>
          </a:p>
        </p:txBody>
      </p:sp>
      <p:sp>
        <p:nvSpPr>
          <p:cNvPr id="4" name="">
            <a:extLst xmlns:a="http://schemas.openxmlformats.org/drawingml/2006/main">
              <a:ext uri="{FF2B5EF4-FFF2-40B4-BE49-F238E27FC236}">
                <a16:creationId xmlns:a16="http://schemas.microsoft.com/office/drawing/2014/main" id="{B26DEBC3-025F-4235-95A6-F99382386B56}"/>
              </a:ext>
            </a:extLst>
          </p:cNvPr>
          <p:cNvSpPr>
            <a:spLocks xmlns:a="http://schemas.openxmlformats.org/drawingml/2006/main" noGrp="1"/>
          </p:cNvSpPr>
          <p:nvPr/>
        </p:nvSpPr>
        <p:spPr>
          <a:xfrm xmlns:a="http://schemas.openxmlformats.org/drawingml/2006/main">
            <a:off x="685800" y="1771650"/>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F248D006-76F1-41FE-9924-6D65469EAFAD}"/>
              </a:ext>
            </a:extLst>
          </p:cNvPr>
          <p:cNvSpPr>
            <a:spLocks xmlns:a="http://schemas.openxmlformats.org/drawingml/2006/main" noGrp="1"/>
          </p:cNvSpPr>
          <p:nvPr/>
        </p:nvSpPr>
        <p:spPr>
          <a:xfrm xmlns:a="http://schemas.openxmlformats.org/drawingml/2006/main">
            <a:off x="819150" y="1905000"/>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Inspect</a:t>
            </a:r>
          </a:p>
        </p:txBody>
      </p:sp>
      <p:sp>
        <p:nvSpPr>
          <p:cNvPr id="6" name="">
            <a:extLst xmlns:a="http://schemas.openxmlformats.org/drawingml/2006/main">
              <a:ext uri="{FF2B5EF4-FFF2-40B4-BE49-F238E27FC236}">
                <a16:creationId xmlns:a16="http://schemas.microsoft.com/office/drawing/2014/main" id="{2E8AD829-E499-4B39-AB40-24A0219FBB41}"/>
              </a:ext>
            </a:extLst>
          </p:cNvPr>
          <p:cNvSpPr>
            <a:spLocks xmlns:a="http://schemas.openxmlformats.org/drawingml/2006/main" noGrp="1"/>
          </p:cNvSpPr>
          <p:nvPr/>
        </p:nvSpPr>
        <p:spPr>
          <a:xfrm xmlns:a="http://schemas.openxmlformats.org/drawingml/2006/main">
            <a:off x="819150" y="2314575"/>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Legal candidates</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constraints</a:t>
            </a:r>
          </a:p>
        </p:txBody>
      </p:sp>
      <p:sp>
        <p:nvSpPr>
          <p:cNvPr id="7" name="">
            <a:extLst xmlns:a="http://schemas.openxmlformats.org/drawingml/2006/main">
              <a:ext uri="{FF2B5EF4-FFF2-40B4-BE49-F238E27FC236}">
                <a16:creationId xmlns:a16="http://schemas.microsoft.com/office/drawing/2014/main" id="{4CFF477D-4756-4108-B925-305E8628473B}"/>
              </a:ext>
            </a:extLst>
          </p:cNvPr>
          <p:cNvSpPr>
            <a:spLocks xmlns:a="http://schemas.openxmlformats.org/drawingml/2006/main" noGrp="1"/>
          </p:cNvSpPr>
          <p:nvPr/>
        </p:nvSpPr>
        <p:spPr>
          <a:xfrm xmlns:a="http://schemas.openxmlformats.org/drawingml/2006/main">
            <a:off x="3105150" y="2276475"/>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C196762-B94C-4376-ABA1-0200A94A6EA7}"/>
              </a:ext>
            </a:extLst>
          </p:cNvPr>
          <p:cNvSpPr>
            <a:spLocks xmlns:a="http://schemas.openxmlformats.org/drawingml/2006/main" noGrp="1"/>
          </p:cNvSpPr>
          <p:nvPr/>
        </p:nvSpPr>
        <p:spPr>
          <a:xfrm xmlns:a="http://schemas.openxmlformats.org/drawingml/2006/main">
            <a:off x="3476625" y="1771650"/>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7351CCD3-D789-4247-8812-7DBEBB0862BE}"/>
              </a:ext>
            </a:extLst>
          </p:cNvPr>
          <p:cNvSpPr>
            <a:spLocks xmlns:a="http://schemas.openxmlformats.org/drawingml/2006/main" noGrp="1"/>
          </p:cNvSpPr>
          <p:nvPr/>
        </p:nvSpPr>
        <p:spPr>
          <a:xfrm xmlns:a="http://schemas.openxmlformats.org/drawingml/2006/main">
            <a:off x="3609975" y="1905000"/>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Predict</a:t>
            </a:r>
          </a:p>
        </p:txBody>
      </p:sp>
      <p:sp>
        <p:nvSpPr>
          <p:cNvPr id="10" name="">
            <a:extLst xmlns:a="http://schemas.openxmlformats.org/drawingml/2006/main">
              <a:ext uri="{FF2B5EF4-FFF2-40B4-BE49-F238E27FC236}">
                <a16:creationId xmlns:a16="http://schemas.microsoft.com/office/drawing/2014/main" id="{66142669-FC3F-4E65-8DB1-270C95DDCC6F}"/>
              </a:ext>
            </a:extLst>
          </p:cNvPr>
          <p:cNvSpPr>
            <a:spLocks xmlns:a="http://schemas.openxmlformats.org/drawingml/2006/main" noGrp="1"/>
          </p:cNvSpPr>
          <p:nvPr/>
        </p:nvSpPr>
        <p:spPr>
          <a:xfrm xmlns:a="http://schemas.openxmlformats.org/drawingml/2006/main">
            <a:off x="3609975" y="2314575"/>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ML scores</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model diagnostics</a:t>
            </a:r>
          </a:p>
        </p:txBody>
      </p:sp>
      <p:sp>
        <p:nvSpPr>
          <p:cNvPr id="11" name="">
            <a:extLst xmlns:a="http://schemas.openxmlformats.org/drawingml/2006/main">
              <a:ext uri="{FF2B5EF4-FFF2-40B4-BE49-F238E27FC236}">
                <a16:creationId xmlns:a16="http://schemas.microsoft.com/office/drawing/2014/main" id="{1D725198-BC13-4D94-8DC3-46E8718572F2}"/>
              </a:ext>
            </a:extLst>
          </p:cNvPr>
          <p:cNvSpPr>
            <a:spLocks xmlns:a="http://schemas.openxmlformats.org/drawingml/2006/main" noGrp="1"/>
          </p:cNvSpPr>
          <p:nvPr/>
        </p:nvSpPr>
        <p:spPr>
          <a:xfrm xmlns:a="http://schemas.openxmlformats.org/drawingml/2006/main">
            <a:off x="5895975" y="2276475"/>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548B3B1-EF45-4E33-8ABE-BCE311EFBC82}"/>
              </a:ext>
            </a:extLst>
          </p:cNvPr>
          <p:cNvSpPr>
            <a:spLocks xmlns:a="http://schemas.openxmlformats.org/drawingml/2006/main" noGrp="1"/>
          </p:cNvSpPr>
          <p:nvPr/>
        </p:nvSpPr>
        <p:spPr>
          <a:xfrm xmlns:a="http://schemas.openxmlformats.org/drawingml/2006/main">
            <a:off x="6267450" y="1771650"/>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BD9FFE70-9F3D-4E57-8FF1-88FFDD5AE163}"/>
              </a:ext>
            </a:extLst>
          </p:cNvPr>
          <p:cNvSpPr>
            <a:spLocks xmlns:a="http://schemas.openxmlformats.org/drawingml/2006/main" noGrp="1"/>
          </p:cNvSpPr>
          <p:nvPr/>
        </p:nvSpPr>
        <p:spPr>
          <a:xfrm xmlns:a="http://schemas.openxmlformats.org/drawingml/2006/main">
            <a:off x="6400800" y="1905000"/>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Measure</a:t>
            </a:r>
          </a:p>
        </p:txBody>
      </p:sp>
      <p:sp>
        <p:nvSpPr>
          <p:cNvPr id="14" name="">
            <a:extLst xmlns:a="http://schemas.openxmlformats.org/drawingml/2006/main">
              <a:ext uri="{FF2B5EF4-FFF2-40B4-BE49-F238E27FC236}">
                <a16:creationId xmlns:a16="http://schemas.microsoft.com/office/drawing/2014/main" id="{D9B4D3CE-1200-4E8B-9D03-1CDD9DAAD4FA}"/>
              </a:ext>
            </a:extLst>
          </p:cNvPr>
          <p:cNvSpPr>
            <a:spLocks xmlns:a="http://schemas.openxmlformats.org/drawingml/2006/main" noGrp="1"/>
          </p:cNvSpPr>
          <p:nvPr/>
        </p:nvSpPr>
        <p:spPr>
          <a:xfrm xmlns:a="http://schemas.openxmlformats.org/drawingml/2006/main">
            <a:off x="6400800" y="2314575"/>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One charged attempt</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Reveal real outcome</a:t>
            </a:r>
          </a:p>
        </p:txBody>
      </p:sp>
      <p:sp>
        <p:nvSpPr>
          <p:cNvPr id="15" name="">
            <a:extLst xmlns:a="http://schemas.openxmlformats.org/drawingml/2006/main">
              <a:ext uri="{FF2B5EF4-FFF2-40B4-BE49-F238E27FC236}">
                <a16:creationId xmlns:a16="http://schemas.microsoft.com/office/drawing/2014/main" id="{E944CB38-6D08-4772-B629-F32A9C6964A6}"/>
              </a:ext>
            </a:extLst>
          </p:cNvPr>
          <p:cNvSpPr>
            <a:spLocks xmlns:a="http://schemas.openxmlformats.org/drawingml/2006/main" noGrp="1"/>
          </p:cNvSpPr>
          <p:nvPr/>
        </p:nvSpPr>
        <p:spPr>
          <a:xfrm xmlns:a="http://schemas.openxmlformats.org/drawingml/2006/main">
            <a:off x="8686800" y="2276475"/>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12F222C-C641-489A-97B0-D8BDD9C55232}"/>
              </a:ext>
            </a:extLst>
          </p:cNvPr>
          <p:cNvSpPr>
            <a:spLocks xmlns:a="http://schemas.openxmlformats.org/drawingml/2006/main" noGrp="1"/>
          </p:cNvSpPr>
          <p:nvPr/>
        </p:nvSpPr>
        <p:spPr>
          <a:xfrm xmlns:a="http://schemas.openxmlformats.org/drawingml/2006/main">
            <a:off x="9058275" y="1771650"/>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2520519D-FF69-427B-8205-FE65C448A6DC}"/>
              </a:ext>
            </a:extLst>
          </p:cNvPr>
          <p:cNvSpPr>
            <a:spLocks xmlns:a="http://schemas.openxmlformats.org/drawingml/2006/main" noGrp="1"/>
          </p:cNvSpPr>
          <p:nvPr/>
        </p:nvSpPr>
        <p:spPr>
          <a:xfrm xmlns:a="http://schemas.openxmlformats.org/drawingml/2006/main">
            <a:off x="9191625" y="1905000"/>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Select</a:t>
            </a:r>
          </a:p>
        </p:txBody>
      </p:sp>
      <p:sp>
        <p:nvSpPr>
          <p:cNvPr id="18" name="">
            <a:extLst xmlns:a="http://schemas.openxmlformats.org/drawingml/2006/main">
              <a:ext uri="{FF2B5EF4-FFF2-40B4-BE49-F238E27FC236}">
                <a16:creationId xmlns:a16="http://schemas.microsoft.com/office/drawing/2014/main" id="{73B8E21B-13E1-4E8D-BF60-973A09F1FA1F}"/>
              </a:ext>
            </a:extLst>
          </p:cNvPr>
          <p:cNvSpPr>
            <a:spLocks xmlns:a="http://schemas.openxmlformats.org/drawingml/2006/main" noGrp="1"/>
          </p:cNvSpPr>
          <p:nvPr/>
        </p:nvSpPr>
        <p:spPr>
          <a:xfrm xmlns:a="http://schemas.openxmlformats.org/drawingml/2006/main">
            <a:off x="9191625" y="2314575"/>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Best verified feasible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result within budget</a:t>
            </a:r>
          </a:p>
        </p:txBody>
      </p:sp>
      <p:sp>
        <p:nvSpPr>
          <p:cNvPr id="19" name="">
            <a:extLst xmlns:a="http://schemas.openxmlformats.org/drawingml/2006/main">
              <a:ext uri="{FF2B5EF4-FFF2-40B4-BE49-F238E27FC236}">
                <a16:creationId xmlns:a16="http://schemas.microsoft.com/office/drawing/2014/main" id="{5621466C-5382-4DF2-8ECC-7FADEA57FA30}"/>
              </a:ext>
            </a:extLst>
          </p:cNvPr>
          <p:cNvSpPr>
            <a:spLocks xmlns:a="http://schemas.openxmlformats.org/drawingml/2006/main" noGrp="1"/>
          </p:cNvSpPr>
          <p:nvPr/>
        </p:nvSpPr>
        <p:spPr>
          <a:xfrm xmlns:a="http://schemas.openxmlformats.org/drawingml/2006/main">
            <a:off x="10477500" y="3286125"/>
            <a:ext cx="0" cy="333375"/>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20" name="">
            <a:extLst xmlns:a="http://schemas.openxmlformats.org/drawingml/2006/main">
              <a:ext uri="{FF2B5EF4-FFF2-40B4-BE49-F238E27FC236}">
                <a16:creationId xmlns:a16="http://schemas.microsoft.com/office/drawing/2014/main" id="{66BBABBD-3836-470D-A155-11FEEC931560}"/>
              </a:ext>
            </a:extLst>
          </p:cNvPr>
          <p:cNvSpPr>
            <a:spLocks xmlns:a="http://schemas.openxmlformats.org/drawingml/2006/main" noGrp="1"/>
          </p:cNvSpPr>
          <p:nvPr/>
        </p:nvSpPr>
        <p:spPr>
          <a:xfrm xmlns:a="http://schemas.openxmlformats.org/drawingml/2006/main">
            <a:off x="4000500" y="3619500"/>
            <a:ext cx="6477000" cy="0"/>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21" name="">
            <a:extLst xmlns:a="http://schemas.openxmlformats.org/drawingml/2006/main">
              <a:ext uri="{FF2B5EF4-FFF2-40B4-BE49-F238E27FC236}">
                <a16:creationId xmlns:a16="http://schemas.microsoft.com/office/drawing/2014/main" id="{76F45BAE-47FE-42C4-B8E0-31535610DD7D}"/>
              </a:ext>
            </a:extLst>
          </p:cNvPr>
          <p:cNvSpPr>
            <a:spLocks xmlns:a="http://schemas.openxmlformats.org/drawingml/2006/main" noGrp="1"/>
          </p:cNvSpPr>
          <p:nvPr/>
        </p:nvSpPr>
        <p:spPr>
          <a:xfrm xmlns:a="http://schemas.openxmlformats.org/drawingml/2006/main">
            <a:off x="4095750" y="3743325"/>
            <a:ext cx="628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Paid outcomes inform the next query</a:t>
            </a:r>
          </a:p>
        </p:txBody>
      </p:sp>
      <p:sp>
        <p:nvSpPr>
          <p:cNvPr id="22" name="">
            <a:extLst xmlns:a="http://schemas.openxmlformats.org/drawingml/2006/main">
              <a:ext uri="{FF2B5EF4-FFF2-40B4-BE49-F238E27FC236}">
                <a16:creationId xmlns:a16="http://schemas.microsoft.com/office/drawing/2014/main" id="{6D494EC1-1158-4E78-8E1A-B63ADE21A5B5}"/>
              </a:ext>
            </a:extLst>
          </p:cNvPr>
          <p:cNvSpPr>
            <a:spLocks xmlns:a="http://schemas.openxmlformats.org/drawingml/2006/main" noGrp="1"/>
          </p:cNvSpPr>
          <p:nvPr/>
        </p:nvSpPr>
        <p:spPr>
          <a:xfrm xmlns:a="http://schemas.openxmlformats.org/drawingml/2006/main">
            <a:off x="685800" y="4410075"/>
            <a:ext cx="4667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Selector AI</a:t>
            </a:r>
          </a:p>
        </p:txBody>
      </p:sp>
      <p:sp>
        <p:nvSpPr>
          <p:cNvPr id="23" name="">
            <a:extLst xmlns:a="http://schemas.openxmlformats.org/drawingml/2006/main">
              <a:ext uri="{FF2B5EF4-FFF2-40B4-BE49-F238E27FC236}">
                <a16:creationId xmlns:a16="http://schemas.microsoft.com/office/drawing/2014/main" id="{AB8DF49E-2D8A-4015-B2B0-E2D19F14E010}"/>
              </a:ext>
            </a:extLst>
          </p:cNvPr>
          <p:cNvSpPr>
            <a:spLocks xmlns:a="http://schemas.openxmlformats.org/drawingml/2006/main" noGrp="1"/>
          </p:cNvSpPr>
          <p:nvPr/>
        </p:nvSpPr>
        <p:spPr>
          <a:xfrm xmlns:a="http://schemas.openxmlformats.org/drawingml/2006/main">
            <a:off x="685800" y="4886325"/>
            <a:ext cx="5143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Ascon pilot: 3 measured candidates</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Best feasible: 1.0237×, +42 LUT4</a:t>
            </a:r>
          </a:p>
        </p:txBody>
      </p:sp>
      <p:sp>
        <p:nvSpPr>
          <p:cNvPr id="24" name="">
            <a:extLst xmlns:a="http://schemas.openxmlformats.org/drawingml/2006/main">
              <a:ext uri="{FF2B5EF4-FFF2-40B4-BE49-F238E27FC236}">
                <a16:creationId xmlns:a16="http://schemas.microsoft.com/office/drawing/2014/main" id="{74C782B0-4978-41D2-8F64-155AAD200CAD}"/>
              </a:ext>
            </a:extLst>
          </p:cNvPr>
          <p:cNvSpPr>
            <a:spLocks xmlns:a="http://schemas.openxmlformats.org/drawingml/2006/main" noGrp="1"/>
          </p:cNvSpPr>
          <p:nvPr/>
        </p:nvSpPr>
        <p:spPr>
          <a:xfrm xmlns:a="http://schemas.openxmlformats.org/drawingml/2006/main">
            <a:off x="6572250" y="4410075"/>
            <a:ext cx="485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Development AI</a:t>
            </a:r>
          </a:p>
        </p:txBody>
      </p:sp>
      <p:sp>
        <p:nvSpPr>
          <p:cNvPr id="25" name="">
            <a:extLst xmlns:a="http://schemas.openxmlformats.org/drawingml/2006/main">
              <a:ext uri="{FF2B5EF4-FFF2-40B4-BE49-F238E27FC236}">
                <a16:creationId xmlns:a16="http://schemas.microsoft.com/office/drawing/2014/main" id="{94070491-F65B-4519-9E30-46EF6BE0D0A2}"/>
              </a:ext>
            </a:extLst>
          </p:cNvPr>
          <p:cNvSpPr>
            <a:spLocks xmlns:a="http://schemas.openxmlformats.org/drawingml/2006/main" noGrp="1"/>
          </p:cNvSpPr>
          <p:nvPr/>
        </p:nvSpPr>
        <p:spPr>
          <a:xfrm xmlns:a="http://schemas.openxmlformats.org/drawingml/2006/main">
            <a:off x="6572250" y="4886325"/>
            <a:ext cx="48577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263648"/>
                </a:solidFill>
                <a:latin typeface="Arial"/>
                <a:ea typeface="Arial"/>
                <a:cs typeface="Arial"/>
              </a:defRPr>
            </a:defPPr>
            <a:lvl1pPr>
              <a:defRPr sz="1800" b="0">
                <a:solidFill>
                  <a:srgbClr val="263648"/>
                </a:solidFill>
                <a:latin typeface="Arial"/>
                <a:ea typeface="Arial"/>
                <a:cs typeface="Arial"/>
              </a:defRPr>
            </a:lvl1pPr>
            <a:lvl2pPr>
              <a:defRPr sz="1800" b="0">
                <a:solidFill>
                  <a:srgbClr val="263648"/>
                </a:solidFill>
                <a:latin typeface="Arial"/>
                <a:ea typeface="Arial"/>
                <a:cs typeface="Arial"/>
              </a:defRPr>
            </a:lvl2pPr>
            <a:lvl3pPr>
              <a:defRPr sz="1800" b="0">
                <a:solidFill>
                  <a:srgbClr val="263648"/>
                </a:solidFill>
                <a:latin typeface="Arial"/>
                <a:ea typeface="Arial"/>
                <a:cs typeface="Arial"/>
              </a:defRPr>
            </a:lvl3pPr>
            <a:lvl4pPr>
              <a:defRPr sz="1800" b="0">
                <a:solidFill>
                  <a:srgbClr val="263648"/>
                </a:solidFill>
                <a:latin typeface="Arial"/>
                <a:ea typeface="Arial"/>
                <a:cs typeface="Arial"/>
              </a:defRPr>
            </a:lvl4pPr>
            <a:lvl5pPr>
              <a:defRPr sz="1800" b="0">
                <a:solidFill>
                  <a:srgbClr val="263648"/>
                </a:solidFill>
                <a:latin typeface="Arial"/>
                <a:ea typeface="Arial"/>
                <a:cs typeface="Arial"/>
              </a:defRPr>
            </a:lvl5pPr>
            <a:lvl6pPr>
              <a:defRPr sz="1800" b="0">
                <a:solidFill>
                  <a:srgbClr val="263648"/>
                </a:solidFill>
                <a:latin typeface="Arial"/>
                <a:ea typeface="Arial"/>
                <a:cs typeface="Arial"/>
              </a:defRPr>
            </a:lvl6pPr>
            <a:lvl7pPr>
              <a:defRPr sz="1800" b="0">
                <a:solidFill>
                  <a:srgbClr val="263648"/>
                </a:solidFill>
                <a:latin typeface="Arial"/>
                <a:ea typeface="Arial"/>
                <a:cs typeface="Arial"/>
              </a:defRPr>
            </a:lvl7pPr>
            <a:lvl8pPr>
              <a:defRPr sz="1800" b="0">
                <a:solidFill>
                  <a:srgbClr val="263648"/>
                </a:solidFill>
                <a:latin typeface="Arial"/>
                <a:ea typeface="Arial"/>
                <a:cs typeface="Arial"/>
              </a:defRPr>
            </a:lvl8pPr>
            <a:lvl9pPr>
              <a:defRPr sz="1800" b="0">
                <a:solidFill>
                  <a:srgbClr val="263648"/>
                </a:solidFill>
                <a:latin typeface="Arial"/>
                <a:ea typeface="Arial"/>
                <a:cs typeface="Arial"/>
              </a:defRPr>
            </a:lvl9pPr>
          </a:lstStyle>
          <a:p xmlns:a="http://schemas.openxmlformats.org/drawingml/2006/main">
            <a:pPr>
              <a:defRPr sz="1800" b="0">
                <a:solidFill>
                  <a:srgbClr val="263648"/>
                </a:solidFill>
                <a:latin typeface="Arial"/>
                <a:ea typeface="Arial"/>
                <a:cs typeface="Arial"/>
              </a:defRPr>
            </a:pPr>
            <a:r>
              <a:rPr sz="1800" b="0">
                <a:solidFill>
                  <a:srgbClr val="263648"/>
                </a:solidFill>
                <a:latin typeface="Arial"/>
                <a:ea typeface="Arial"/>
                <a:cs typeface="Arial"/>
              </a:rPr>
              <a:t>Coding, debugging, literature and analysis</a:t>
            </a:r>
          </a:p>
          <a:p xmlns:a="http://schemas.openxmlformats.org/drawingml/2006/main">
            <a:pPr>
              <a:defRPr sz="1800" b="0">
                <a:solidFill>
                  <a:srgbClr val="263648"/>
                </a:solidFill>
                <a:latin typeface="Arial"/>
                <a:ea typeface="Arial"/>
                <a:cs typeface="Arial"/>
              </a:defRPr>
            </a:pPr>
            <a:r>
              <a:rPr sz="1800" b="0">
                <a:solidFill>
                  <a:srgbClr val="263648"/>
                </a:solidFill>
                <a:latin typeface="Arial"/>
                <a:ea typeface="Arial"/>
                <a:cs typeface="Arial"/>
              </a:rPr>
              <a:t>Human review owns claims and scope</a:t>
            </a:r>
          </a:p>
        </p:txBody>
      </p:sp>
      <p:sp>
        <p:nvSpPr>
          <p:cNvPr id="26" name="">
            <a:extLst xmlns:a="http://schemas.openxmlformats.org/drawingml/2006/main">
              <a:ext uri="{FF2B5EF4-FFF2-40B4-BE49-F238E27FC236}">
                <a16:creationId xmlns:a16="http://schemas.microsoft.com/office/drawing/2014/main" id="{B5F5F227-0E96-4770-B438-9CD21BCCC3D2}"/>
              </a:ext>
            </a:extLst>
          </p:cNvPr>
          <p:cNvSpPr>
            <a:spLocks xmlns:a="http://schemas.openxmlformats.org/drawingml/2006/main" noGrp="1"/>
          </p:cNvSpPr>
          <p:nvPr/>
        </p:nvSpPr>
        <p:spPr>
          <a:xfrm xmlns:a="http://schemas.openxmlformats.org/drawingml/2006/main">
            <a:off x="685800" y="5953125"/>
            <a:ext cx="10820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1">
                <a:solidFill>
                  <a:srgbClr val="A65A00"/>
                </a:solidFill>
                <a:latin typeface="Arial"/>
                <a:ea typeface="Arial"/>
                <a:cs typeface="Arial"/>
              </a:defRPr>
            </a:defPPr>
            <a:lvl1pPr>
              <a:defRPr sz="1425" b="1">
                <a:solidFill>
                  <a:srgbClr val="A65A00"/>
                </a:solidFill>
                <a:latin typeface="Arial"/>
                <a:ea typeface="Arial"/>
                <a:cs typeface="Arial"/>
              </a:defRPr>
            </a:lvl1pPr>
            <a:lvl2pPr>
              <a:defRPr sz="1425" b="1">
                <a:solidFill>
                  <a:srgbClr val="A65A00"/>
                </a:solidFill>
                <a:latin typeface="Arial"/>
                <a:ea typeface="Arial"/>
                <a:cs typeface="Arial"/>
              </a:defRPr>
            </a:lvl2pPr>
            <a:lvl3pPr>
              <a:defRPr sz="1425" b="1">
                <a:solidFill>
                  <a:srgbClr val="A65A00"/>
                </a:solidFill>
                <a:latin typeface="Arial"/>
                <a:ea typeface="Arial"/>
                <a:cs typeface="Arial"/>
              </a:defRPr>
            </a:lvl3pPr>
            <a:lvl4pPr>
              <a:defRPr sz="1425" b="1">
                <a:solidFill>
                  <a:srgbClr val="A65A00"/>
                </a:solidFill>
                <a:latin typeface="Arial"/>
                <a:ea typeface="Arial"/>
                <a:cs typeface="Arial"/>
              </a:defRPr>
            </a:lvl4pPr>
            <a:lvl5pPr>
              <a:defRPr sz="1425" b="1">
                <a:solidFill>
                  <a:srgbClr val="A65A00"/>
                </a:solidFill>
                <a:latin typeface="Arial"/>
                <a:ea typeface="Arial"/>
                <a:cs typeface="Arial"/>
              </a:defRPr>
            </a:lvl5pPr>
            <a:lvl6pPr>
              <a:defRPr sz="1425" b="1">
                <a:solidFill>
                  <a:srgbClr val="A65A00"/>
                </a:solidFill>
                <a:latin typeface="Arial"/>
                <a:ea typeface="Arial"/>
                <a:cs typeface="Arial"/>
              </a:defRPr>
            </a:lvl6pPr>
            <a:lvl7pPr>
              <a:defRPr sz="1425" b="1">
                <a:solidFill>
                  <a:srgbClr val="A65A00"/>
                </a:solidFill>
                <a:latin typeface="Arial"/>
                <a:ea typeface="Arial"/>
                <a:cs typeface="Arial"/>
              </a:defRPr>
            </a:lvl7pPr>
            <a:lvl8pPr>
              <a:defRPr sz="1425" b="1">
                <a:solidFill>
                  <a:srgbClr val="A65A00"/>
                </a:solidFill>
                <a:latin typeface="Arial"/>
                <a:ea typeface="Arial"/>
                <a:cs typeface="Arial"/>
              </a:defRPr>
            </a:lvl8pPr>
            <a:lvl9pPr>
              <a:defRPr sz="1425" b="1">
                <a:solidFill>
                  <a:srgbClr val="A65A00"/>
                </a:solidFill>
                <a:latin typeface="Arial"/>
                <a:ea typeface="Arial"/>
                <a:cs typeface="Arial"/>
              </a:defRPr>
            </a:lvl9pPr>
          </a:lstStyle>
          <a:p xmlns:a="http://schemas.openxmlformats.org/drawingml/2006/main">
            <a:pPr>
              <a:defRPr sz="1425" b="1">
                <a:solidFill>
                  <a:srgbClr val="A65A00"/>
                </a:solidFill>
                <a:latin typeface="Arial"/>
                <a:ea typeface="Arial"/>
                <a:cs typeface="Arial"/>
              </a:defRPr>
            </a:pPr>
            <a:r>
              <a:rPr sz="1425" b="1">
                <a:solidFill>
                  <a:srgbClr val="A65A00"/>
                </a:solidFill>
                <a:latin typeface="Arial"/>
                <a:ea typeface="Arial"/>
                <a:cs typeface="Arial"/>
              </a:rPr>
              <a:t>No matched agent win yet • live GP update defect disclosed • no dynamic LLM routing</a:t>
            </a:r>
          </a:p>
        </p:txBody>
      </p:sp>
    </p:spTree>
    <p:extLst>
      <p:ext uri="{BB962C8B-B14F-4D97-AF65-F5344CB8AC3E}">
        <p14:creationId xmlns:p14="http://schemas.microsoft.com/office/powerpoint/2010/main" val="41305573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5DB6AC2-DCC3-4973-BB66-E7A273CECB39}"/>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Baselines and a fair measurement budget</a:t>
            </a:r>
          </a:p>
        </p:txBody>
      </p:sp>
      <p:sp>
        <p:nvSpPr>
          <p:cNvPr id="2" name="">
            <a:extLst xmlns:a="http://schemas.openxmlformats.org/drawingml/2006/main">
              <a:ext uri="{FF2B5EF4-FFF2-40B4-BE49-F238E27FC236}">
                <a16:creationId xmlns:a16="http://schemas.microsoft.com/office/drawing/2014/main" id="{81CB349F-3430-4CA5-A6DB-6E3257E4F3EC}"/>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8AFDF8D2-29CF-46AA-A2A1-C36E0F685E87}"/>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9</a:t>
            </a:r>
          </a:p>
        </p:txBody>
      </p:sp>
      <p:sp>
        <p:nvSpPr>
          <p:cNvPr id="4" name="">
            <a:extLst xmlns:a="http://schemas.openxmlformats.org/drawingml/2006/main">
              <a:ext uri="{FF2B5EF4-FFF2-40B4-BE49-F238E27FC236}">
                <a16:creationId xmlns:a16="http://schemas.microsoft.com/office/drawing/2014/main" id="{21A86B7F-5A7D-4B55-BDF5-46DFDB0B0B5A}"/>
              </a:ext>
            </a:extLst>
          </p:cNvPr>
          <p:cNvSpPr>
            <a:spLocks xmlns:a="http://schemas.openxmlformats.org/drawingml/2006/main" noGrp="1"/>
          </p:cNvSpPr>
          <p:nvPr/>
        </p:nvSpPr>
        <p:spPr>
          <a:xfrm xmlns:a="http://schemas.openxmlformats.org/drawingml/2006/main">
            <a:off x="685800" y="1485900"/>
            <a:ext cx="5048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Required comparisons</a:t>
            </a:r>
          </a:p>
        </p:txBody>
      </p:sp>
      <p:sp>
        <p:nvSpPr>
          <p:cNvPr id="5" name="">
            <a:extLst xmlns:a="http://schemas.openxmlformats.org/drawingml/2006/main">
              <a:ext uri="{FF2B5EF4-FFF2-40B4-BE49-F238E27FC236}">
                <a16:creationId xmlns:a16="http://schemas.microsoft.com/office/drawing/2014/main" id="{58540B2A-0056-4485-AE76-AE50BF1C8FA6}"/>
              </a:ext>
            </a:extLst>
          </p:cNvPr>
          <p:cNvSpPr>
            <a:spLocks xmlns:a="http://schemas.openxmlformats.org/drawingml/2006/main" noGrp="1"/>
          </p:cNvSpPr>
          <p:nvPr/>
        </p:nvSpPr>
        <p:spPr>
          <a:xfrm xmlns:a="http://schemas.openxmlformats.org/drawingml/2006/main">
            <a:off x="685800" y="2114550"/>
            <a:ext cx="53340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Frequency</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Merit: operations saved × executions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Latency / cost-aware heuristics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Random + non-agent active learning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XGBoost + bounded LLM agent</a:t>
            </a:r>
          </a:p>
        </p:txBody>
      </p:sp>
      <p:sp>
        <p:nvSpPr>
          <p:cNvPr id="6" name="">
            <a:extLst xmlns:a="http://schemas.openxmlformats.org/drawingml/2006/main">
              <a:ext uri="{FF2B5EF4-FFF2-40B4-BE49-F238E27FC236}">
                <a16:creationId xmlns:a16="http://schemas.microsoft.com/office/drawing/2014/main" id="{DF20E616-CB49-4CE6-83B4-E747D946EFE7}"/>
              </a:ext>
            </a:extLst>
          </p:cNvPr>
          <p:cNvSpPr>
            <a:spLocks xmlns:a="http://schemas.openxmlformats.org/drawingml/2006/main" noGrp="1"/>
          </p:cNvSpPr>
          <p:nvPr/>
        </p:nvSpPr>
        <p:spPr>
          <a:xfrm xmlns:a="http://schemas.openxmlformats.org/drawingml/2006/main">
            <a:off x="6667500" y="1485900"/>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Same rules for every policy</a:t>
            </a:r>
          </a:p>
        </p:txBody>
      </p:sp>
      <p:sp>
        <p:nvSpPr>
          <p:cNvPr id="7" name="">
            <a:extLst xmlns:a="http://schemas.openxmlformats.org/drawingml/2006/main">
              <a:ext uri="{FF2B5EF4-FFF2-40B4-BE49-F238E27FC236}">
                <a16:creationId xmlns:a16="http://schemas.microsoft.com/office/drawing/2014/main" id="{7468DB1D-C912-4AD0-BD97-EEE5E5543078}"/>
              </a:ext>
            </a:extLst>
          </p:cNvPr>
          <p:cNvSpPr>
            <a:spLocks xmlns:a="http://schemas.openxmlformats.org/drawingml/2006/main" noGrp="1"/>
          </p:cNvSpPr>
          <p:nvPr/>
        </p:nvSpPr>
        <p:spPr>
          <a:xfrm xmlns:a="http://schemas.openxmlformats.org/drawingml/2006/main">
            <a:off x="6667500" y="2114550"/>
            <a:ext cx="47625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 / 2 / 3 charged attempts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Added area ≤ 64 LUT4</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Routed timing ≥ 12 MHz</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Correctness must pass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Unqueried outcomes remain hidden</a:t>
            </a:r>
          </a:p>
        </p:txBody>
      </p:sp>
      <p:sp>
        <p:nvSpPr>
          <p:cNvPr id="8" name="">
            <a:extLst xmlns:a="http://schemas.openxmlformats.org/drawingml/2006/main">
              <a:ext uri="{FF2B5EF4-FFF2-40B4-BE49-F238E27FC236}">
                <a16:creationId xmlns:a16="http://schemas.microsoft.com/office/drawing/2014/main" id="{4BA7B392-7FEB-4DF6-953B-03E7CFA9736B}"/>
              </a:ext>
            </a:extLst>
          </p:cNvPr>
          <p:cNvSpPr>
            <a:spLocks xmlns:a="http://schemas.openxmlformats.org/drawingml/2006/main" noGrp="1"/>
          </p:cNvSpPr>
          <p:nvPr/>
        </p:nvSpPr>
        <p:spPr>
          <a:xfrm xmlns:a="http://schemas.openxmlformats.org/drawingml/2006/main">
            <a:off x="685800" y="5314950"/>
            <a:ext cx="108204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2878A8"/>
                </a:solidFill>
                <a:latin typeface="Arial"/>
                <a:ea typeface="Arial"/>
                <a:cs typeface="Arial"/>
              </a:defRPr>
            </a:defPPr>
            <a:lvl1pPr>
              <a:defRPr sz="2175" b="1">
                <a:solidFill>
                  <a:srgbClr val="2878A8"/>
                </a:solidFill>
                <a:latin typeface="Arial"/>
                <a:ea typeface="Arial"/>
                <a:cs typeface="Arial"/>
              </a:defRPr>
            </a:lvl1pPr>
            <a:lvl2pPr>
              <a:defRPr sz="2175" b="1">
                <a:solidFill>
                  <a:srgbClr val="2878A8"/>
                </a:solidFill>
                <a:latin typeface="Arial"/>
                <a:ea typeface="Arial"/>
                <a:cs typeface="Arial"/>
              </a:defRPr>
            </a:lvl2pPr>
            <a:lvl3pPr>
              <a:defRPr sz="2175" b="1">
                <a:solidFill>
                  <a:srgbClr val="2878A8"/>
                </a:solidFill>
                <a:latin typeface="Arial"/>
                <a:ea typeface="Arial"/>
                <a:cs typeface="Arial"/>
              </a:defRPr>
            </a:lvl3pPr>
            <a:lvl4pPr>
              <a:defRPr sz="2175" b="1">
                <a:solidFill>
                  <a:srgbClr val="2878A8"/>
                </a:solidFill>
                <a:latin typeface="Arial"/>
                <a:ea typeface="Arial"/>
                <a:cs typeface="Arial"/>
              </a:defRPr>
            </a:lvl4pPr>
            <a:lvl5pPr>
              <a:defRPr sz="2175" b="1">
                <a:solidFill>
                  <a:srgbClr val="2878A8"/>
                </a:solidFill>
                <a:latin typeface="Arial"/>
                <a:ea typeface="Arial"/>
                <a:cs typeface="Arial"/>
              </a:defRPr>
            </a:lvl5pPr>
            <a:lvl6pPr>
              <a:defRPr sz="2175" b="1">
                <a:solidFill>
                  <a:srgbClr val="2878A8"/>
                </a:solidFill>
                <a:latin typeface="Arial"/>
                <a:ea typeface="Arial"/>
                <a:cs typeface="Arial"/>
              </a:defRPr>
            </a:lvl6pPr>
            <a:lvl7pPr>
              <a:defRPr sz="2175" b="1">
                <a:solidFill>
                  <a:srgbClr val="2878A8"/>
                </a:solidFill>
                <a:latin typeface="Arial"/>
                <a:ea typeface="Arial"/>
                <a:cs typeface="Arial"/>
              </a:defRPr>
            </a:lvl7pPr>
            <a:lvl8pPr>
              <a:defRPr sz="2175" b="1">
                <a:solidFill>
                  <a:srgbClr val="2878A8"/>
                </a:solidFill>
                <a:latin typeface="Arial"/>
                <a:ea typeface="Arial"/>
                <a:cs typeface="Arial"/>
              </a:defRPr>
            </a:lvl8pPr>
            <a:lvl9pPr>
              <a:defRPr sz="2175" b="1">
                <a:solidFill>
                  <a:srgbClr val="2878A8"/>
                </a:solidFill>
                <a:latin typeface="Arial"/>
                <a:ea typeface="Arial"/>
                <a:cs typeface="Arial"/>
              </a:defRPr>
            </a:lvl9pPr>
          </a:lstStyle>
          <a:p xmlns:a="http://schemas.openxmlformats.org/drawingml/2006/main">
            <a:pPr>
              <a:defRPr sz="2175" b="1">
                <a:solidFill>
                  <a:srgbClr val="2878A8"/>
                </a:solidFill>
                <a:latin typeface="Arial"/>
                <a:ea typeface="Arial"/>
                <a:cs typeface="Arial"/>
              </a:defRPr>
            </a:pPr>
            <a:r>
              <a:rPr sz="2175" b="1">
                <a:solidFill>
                  <a:srgbClr val="2878A8"/>
                </a:solidFill>
                <a:latin typeface="Arial"/>
                <a:ea typeface="Arial"/>
                <a:cs typeface="Arial"/>
              </a:rPr>
              <a:t>Endpoint: best VERIFIED, FEASIBLE performance found per evaluation budget.</a:t>
            </a:r>
          </a:p>
        </p:txBody>
      </p:sp>
    </p:spTree>
    <p:extLst>
      <p:ext uri="{BB962C8B-B14F-4D97-AF65-F5344CB8AC3E}">
        <p14:creationId xmlns:p14="http://schemas.microsoft.com/office/powerpoint/2010/main" val="189728788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65F2614-3411-4836-9D5F-01720F1AAFD6}"/>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Results: early gains, no consistent ML win</a:t>
            </a:r>
          </a:p>
        </p:txBody>
      </p:sp>
      <p:sp>
        <p:nvSpPr>
          <p:cNvPr id="2" name="">
            <a:extLst xmlns:a="http://schemas.openxmlformats.org/drawingml/2006/main">
              <a:ext uri="{FF2B5EF4-FFF2-40B4-BE49-F238E27FC236}">
                <a16:creationId xmlns:a16="http://schemas.microsoft.com/office/drawing/2014/main" id="{82C598B6-3E05-4218-ACF4-00BBE5F7CBB8}"/>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3C3ECF62-E3D2-42A0-98BB-8FEBED43909F}"/>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10</a:t>
            </a:r>
          </a:p>
        </p:txBody>
      </p:sp>
      <p:graphicFrame>
        <p:nvGraphicFramePr>
          <p:cNvPr id="4" name="Chart">
            <a:extLst xmlns:a="http://schemas.openxmlformats.org/drawingml/2006/main">
              <a:ext uri="{FF2B5EF4-FFF2-40B4-BE49-F238E27FC236}">
                <a16:creationId xmlns:a16="http://schemas.microsoft.com/office/drawing/2014/main" id="{97E87B18-1996-407D-83EE-D67A6CE25578}"/>
              </a:ext>
            </a:extLst>
          </p:cNvPr>
          <p:cNvGraphicFramePr/>
          <p:nvPr/>
        </p:nvGraphicFramePr>
        <p:xfrm>
          <a:off xmlns:a="http://schemas.openxmlformats.org/drawingml/2006/main" x="428625" y="1533525"/>
          <a:ext xmlns:a="http://schemas.openxmlformats.org/drawingml/2006/main" cx="7239000" cy="4000500"/>
        </p:xfrm>
        <a:graphic xmlns:a="http://schemas.openxmlformats.org/drawingml/2006/main">
          <a:graphicData uri="http://schemas.openxmlformats.org/drawingml/2006/chart">
            <c:chart xmlns:r="http://schemas.openxmlformats.org/officeDocument/2006/relationships" xmlns:c="http://schemas.openxmlformats.org/drawingml/2006/chart" r:id="R2ef3791c139d4645"/>
          </a:graphicData>
        </a:graphic>
      </p:graphicFrame>
      <p:sp>
        <p:nvSpPr>
          <p:cNvPr id="5" name="">
            <a:extLst xmlns:a="http://schemas.openxmlformats.org/drawingml/2006/main">
              <a:ext uri="{FF2B5EF4-FFF2-40B4-BE49-F238E27FC236}">
                <a16:creationId xmlns:a16="http://schemas.microsoft.com/office/drawing/2014/main" id="{8EE470E3-3192-4A9C-966C-893F3F75A701}"/>
              </a:ext>
            </a:extLst>
          </p:cNvPr>
          <p:cNvSpPr>
            <a:spLocks xmlns:a="http://schemas.openxmlformats.org/drawingml/2006/main" noGrp="1"/>
          </p:cNvSpPr>
          <p:nvPr/>
        </p:nvSpPr>
        <p:spPr>
          <a:xfrm xmlns:a="http://schemas.openxmlformats.org/drawingml/2006/main">
            <a:off x="8001000" y="1590675"/>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Paired advantage of XGB</a:t>
            </a:r>
          </a:p>
        </p:txBody>
      </p:sp>
      <p:sp>
        <p:nvSpPr>
          <p:cNvPr id="6" name="">
            <a:extLst xmlns:a="http://schemas.openxmlformats.org/drawingml/2006/main">
              <a:ext uri="{FF2B5EF4-FFF2-40B4-BE49-F238E27FC236}">
                <a16:creationId xmlns:a16="http://schemas.microsoft.com/office/drawing/2014/main" id="{8B8C4C42-4C19-4E5C-8874-6AB1908B12E7}"/>
              </a:ext>
            </a:extLst>
          </p:cNvPr>
          <p:cNvSpPr>
            <a:spLocks xmlns:a="http://schemas.openxmlformats.org/drawingml/2006/main" noGrp="1"/>
          </p:cNvSpPr>
          <p:nvPr/>
        </p:nvSpPr>
        <p:spPr>
          <a:xfrm xmlns:a="http://schemas.openxmlformats.org/drawingml/2006/main">
            <a:off x="8001000" y="2457450"/>
            <a:ext cx="3429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1 attempt: +0.290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[−0.065, +0.849]</a:t>
            </a:r>
          </a:p>
          <a:p xmlns:a="http://schemas.openxmlformats.org/drawingml/2006/main">
            <a:r>
              <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2 attempts: +0.027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[−0.097, +0.177]</a:t>
            </a:r>
          </a:p>
        </p:txBody>
      </p:sp>
      <p:sp>
        <p:nvSpPr>
          <p:cNvPr id="7" name="">
            <a:extLst xmlns:a="http://schemas.openxmlformats.org/drawingml/2006/main">
              <a:ext uri="{FF2B5EF4-FFF2-40B4-BE49-F238E27FC236}">
                <a16:creationId xmlns:a16="http://schemas.microsoft.com/office/drawing/2014/main" id="{E9993840-146A-4C43-94E9-E25BD05A5E4F}"/>
              </a:ext>
            </a:extLst>
          </p:cNvPr>
          <p:cNvSpPr>
            <a:spLocks xmlns:a="http://schemas.openxmlformats.org/drawingml/2006/main" noGrp="1"/>
          </p:cNvSpPr>
          <p:nvPr/>
        </p:nvSpPr>
        <p:spPr>
          <a:xfrm xmlns:a="http://schemas.openxmlformats.org/drawingml/2006/main">
            <a:off x="8001000" y="4743450"/>
            <a:ext cx="342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Merit is better at 3.</a:t>
            </a:r>
          </a:p>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Early intervals include zero.</a:t>
            </a:r>
          </a:p>
        </p:txBody>
      </p:sp>
      <p:sp>
        <p:nvSpPr>
          <p:cNvPr id="8" name="">
            <a:extLst xmlns:a="http://schemas.openxmlformats.org/drawingml/2006/main">
              <a:ext uri="{FF2B5EF4-FFF2-40B4-BE49-F238E27FC236}">
                <a16:creationId xmlns:a16="http://schemas.microsoft.com/office/drawing/2014/main" id="{EB9B561B-2A06-44B6-8B82-171386CDDBBB}"/>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17324D"/>
                </a:solidFill>
                <a:latin typeface="Arial"/>
                <a:ea typeface="Arial"/>
                <a:cs typeface="Arial"/>
              </a:defRPr>
            </a:defPPr>
            <a:lvl1pPr>
              <a:defRPr sz="1800" b="1">
                <a:solidFill>
                  <a:srgbClr val="17324D"/>
                </a:solidFill>
                <a:latin typeface="Arial"/>
                <a:ea typeface="Arial"/>
                <a:cs typeface="Arial"/>
              </a:defRPr>
            </a:lvl1pPr>
            <a:lvl2pPr>
              <a:defRPr sz="1800" b="1">
                <a:solidFill>
                  <a:srgbClr val="17324D"/>
                </a:solidFill>
                <a:latin typeface="Arial"/>
                <a:ea typeface="Arial"/>
                <a:cs typeface="Arial"/>
              </a:defRPr>
            </a:lvl2pPr>
            <a:lvl3pPr>
              <a:defRPr sz="1800" b="1">
                <a:solidFill>
                  <a:srgbClr val="17324D"/>
                </a:solidFill>
                <a:latin typeface="Arial"/>
                <a:ea typeface="Arial"/>
                <a:cs typeface="Arial"/>
              </a:defRPr>
            </a:lvl3pPr>
            <a:lvl4pPr>
              <a:defRPr sz="1800" b="1">
                <a:solidFill>
                  <a:srgbClr val="17324D"/>
                </a:solidFill>
                <a:latin typeface="Arial"/>
                <a:ea typeface="Arial"/>
                <a:cs typeface="Arial"/>
              </a:defRPr>
            </a:lvl4pPr>
            <a:lvl5pPr>
              <a:defRPr sz="1800" b="1">
                <a:solidFill>
                  <a:srgbClr val="17324D"/>
                </a:solidFill>
                <a:latin typeface="Arial"/>
                <a:ea typeface="Arial"/>
                <a:cs typeface="Arial"/>
              </a:defRPr>
            </a:lvl5pPr>
            <a:lvl6pPr>
              <a:defRPr sz="1800" b="1">
                <a:solidFill>
                  <a:srgbClr val="17324D"/>
                </a:solidFill>
                <a:latin typeface="Arial"/>
                <a:ea typeface="Arial"/>
                <a:cs typeface="Arial"/>
              </a:defRPr>
            </a:lvl6pPr>
            <a:lvl7pPr>
              <a:defRPr sz="1800" b="1">
                <a:solidFill>
                  <a:srgbClr val="17324D"/>
                </a:solidFill>
                <a:latin typeface="Arial"/>
                <a:ea typeface="Arial"/>
                <a:cs typeface="Arial"/>
              </a:defRPr>
            </a:lvl7pPr>
            <a:lvl8pPr>
              <a:defRPr sz="1800" b="1">
                <a:solidFill>
                  <a:srgbClr val="17324D"/>
                </a:solidFill>
                <a:latin typeface="Arial"/>
                <a:ea typeface="Arial"/>
                <a:cs typeface="Arial"/>
              </a:defRPr>
            </a:lvl8pPr>
            <a:lvl9pPr>
              <a:defRPr sz="1800" b="1">
                <a:solidFill>
                  <a:srgbClr val="17324D"/>
                </a:solidFill>
                <a:latin typeface="Arial"/>
                <a:ea typeface="Arial"/>
                <a:cs typeface="Arial"/>
              </a:defRPr>
            </a:lvl9pPr>
          </a:lstStyle>
          <a:p xmlns:a="http://schemas.openxmlformats.org/drawingml/2006/main">
            <a:pPr>
              <a:defRPr sz="1800" b="1">
                <a:solidFill>
                  <a:srgbClr val="17324D"/>
                </a:solidFill>
                <a:latin typeface="Arial"/>
                <a:ea typeface="Arial"/>
                <a:cs typeface="Arial"/>
              </a:defRPr>
            </a:pPr>
            <a:r>
              <a:rPr sz="1800" b="1">
                <a:solidFill>
                  <a:srgbClr val="17324D"/>
                </a:solidFill>
                <a:latin typeface="Arial"/>
                <a:ea typeface="Arial"/>
                <a:cs typeface="Arial"/>
              </a:rPr>
              <a:t>12 complete workload pools • retrospective comparison • merit remains fallback</a:t>
            </a:r>
          </a:p>
        </p:txBody>
      </p:sp>
    </p:spTree>
    <p:extLst>
      <p:ext uri="{BB962C8B-B14F-4D97-AF65-F5344CB8AC3E}">
        <p14:creationId xmlns:p14="http://schemas.microsoft.com/office/powerpoint/2010/main" val="18580806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3F067F-6045-4DFA-B723-D133CC9D6369}"/>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Next milestone: an independent selection test</a:t>
            </a:r>
          </a:p>
        </p:txBody>
      </p:sp>
      <p:sp>
        <p:nvSpPr>
          <p:cNvPr id="2" name="">
            <a:extLst xmlns:a="http://schemas.openxmlformats.org/drawingml/2006/main">
              <a:ext uri="{FF2B5EF4-FFF2-40B4-BE49-F238E27FC236}">
                <a16:creationId xmlns:a16="http://schemas.microsoft.com/office/drawing/2014/main" id="{F7049228-3306-439B-BFD1-E1CDF6B722FE}"/>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7B0F8D21-8F36-44CC-935B-B33937FBA78C}"/>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11</a:t>
            </a:r>
          </a:p>
        </p:txBody>
      </p:sp>
      <p:sp>
        <p:nvSpPr>
          <p:cNvPr id="4" name="">
            <a:extLst xmlns:a="http://schemas.openxmlformats.org/drawingml/2006/main">
              <a:ext uri="{FF2B5EF4-FFF2-40B4-BE49-F238E27FC236}">
                <a16:creationId xmlns:a16="http://schemas.microsoft.com/office/drawing/2014/main" id="{7F1874AC-F606-4A9C-81E5-0AE60D783C44}"/>
              </a:ext>
            </a:extLst>
          </p:cNvPr>
          <p:cNvSpPr>
            <a:spLocks xmlns:a="http://schemas.openxmlformats.org/drawingml/2006/main" noGrp="1"/>
          </p:cNvSpPr>
          <p:nvPr/>
        </p:nvSpPr>
        <p:spPr>
          <a:xfrm xmlns:a="http://schemas.openxmlformats.org/drawingml/2006/main">
            <a:off x="6858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Working now</a:t>
            </a:r>
          </a:p>
        </p:txBody>
      </p:sp>
      <p:sp>
        <p:nvSpPr>
          <p:cNvPr id="5" name="">
            <a:extLst xmlns:a="http://schemas.openxmlformats.org/drawingml/2006/main">
              <a:ext uri="{FF2B5EF4-FFF2-40B4-BE49-F238E27FC236}">
                <a16:creationId xmlns:a16="http://schemas.microsoft.com/office/drawing/2014/main" id="{C0A4A5C3-1B36-48C4-89D2-59953917B14F}"/>
              </a:ext>
            </a:extLst>
          </p:cNvPr>
          <p:cNvSpPr>
            <a:spLocks xmlns:a="http://schemas.openxmlformats.org/drawingml/2006/main" noGrp="1"/>
          </p:cNvSpPr>
          <p:nvPr/>
        </p:nvSpPr>
        <p:spPr>
          <a:xfrm xmlns:a="http://schemas.openxmlformats.org/drawingml/2006/main">
            <a:off x="685800" y="2133600"/>
            <a:ext cx="5238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Real workload → executable candidate</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Measured cycles, area and timing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Whole-workload ML evaluation</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Explainability + bounded agent tools</a:t>
            </a:r>
          </a:p>
        </p:txBody>
      </p:sp>
      <p:sp>
        <p:nvSpPr>
          <p:cNvPr id="6" name="">
            <a:extLst xmlns:a="http://schemas.openxmlformats.org/drawingml/2006/main">
              <a:ext uri="{FF2B5EF4-FFF2-40B4-BE49-F238E27FC236}">
                <a16:creationId xmlns:a16="http://schemas.microsoft.com/office/drawing/2014/main" id="{C94233A3-8AD3-4A90-B505-CC313360159F}"/>
              </a:ext>
            </a:extLst>
          </p:cNvPr>
          <p:cNvSpPr>
            <a:spLocks xmlns:a="http://schemas.openxmlformats.org/drawingml/2006/main" noGrp="1"/>
          </p:cNvSpPr>
          <p:nvPr/>
        </p:nvSpPr>
        <p:spPr>
          <a:xfrm xmlns:a="http://schemas.openxmlformats.org/drawingml/2006/main">
            <a:off x="66675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Next, in order</a:t>
            </a:r>
          </a:p>
        </p:txBody>
      </p:sp>
      <p:sp>
        <p:nvSpPr>
          <p:cNvPr id="7" name="">
            <a:extLst xmlns:a="http://schemas.openxmlformats.org/drawingml/2006/main">
              <a:ext uri="{FF2B5EF4-FFF2-40B4-BE49-F238E27FC236}">
                <a16:creationId xmlns:a16="http://schemas.microsoft.com/office/drawing/2014/main" id="{3F440BE6-EE5C-4DED-9F73-65A9980572D7}"/>
              </a:ext>
            </a:extLst>
          </p:cNvPr>
          <p:cNvSpPr>
            <a:spLocks xmlns:a="http://schemas.openxmlformats.org/drawingml/2006/main" noGrp="1"/>
          </p:cNvSpPr>
          <p:nvPr/>
        </p:nvSpPr>
        <p:spPr>
          <a:xfrm xmlns:a="http://schemas.openxmlformats.org/drawingml/2006/main">
            <a:off x="6667500" y="21336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1  Freeze policies; test untouched workloads</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2  Compare agent vs non-agent fairly</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3  Validate uncertainty and total cost</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4  Measure 1–3 instructions jointly</a:t>
            </a:r>
          </a:p>
        </p:txBody>
      </p:sp>
      <p:sp>
        <p:nvSpPr>
          <p:cNvPr id="8" name="">
            <a:extLst xmlns:a="http://schemas.openxmlformats.org/drawingml/2006/main">
              <a:ext uri="{FF2B5EF4-FFF2-40B4-BE49-F238E27FC236}">
                <a16:creationId xmlns:a16="http://schemas.microsoft.com/office/drawing/2014/main" id="{F39B4CF7-2700-469B-836A-11DB528A71DF}"/>
              </a:ext>
            </a:extLst>
          </p:cNvPr>
          <p:cNvSpPr>
            <a:spLocks xmlns:a="http://schemas.openxmlformats.org/drawingml/2006/main" noGrp="1"/>
          </p:cNvSpPr>
          <p:nvPr/>
        </p:nvSpPr>
        <p:spPr>
          <a:xfrm xmlns:a="http://schemas.openxmlformats.org/drawingml/2006/main">
            <a:off x="685800" y="5381625"/>
            <a:ext cx="108204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2878A8"/>
                </a:solidFill>
                <a:latin typeface="Arial"/>
                <a:ea typeface="Arial"/>
                <a:cs typeface="Arial"/>
              </a:defRPr>
            </a:defPPr>
            <a:lvl1pPr>
              <a:defRPr sz="2325" b="1">
                <a:solidFill>
                  <a:srgbClr val="2878A8"/>
                </a:solidFill>
                <a:latin typeface="Arial"/>
                <a:ea typeface="Arial"/>
                <a:cs typeface="Arial"/>
              </a:defRPr>
            </a:lvl1pPr>
            <a:lvl2pPr>
              <a:defRPr sz="2325" b="1">
                <a:solidFill>
                  <a:srgbClr val="2878A8"/>
                </a:solidFill>
                <a:latin typeface="Arial"/>
                <a:ea typeface="Arial"/>
                <a:cs typeface="Arial"/>
              </a:defRPr>
            </a:lvl2pPr>
            <a:lvl3pPr>
              <a:defRPr sz="2325" b="1">
                <a:solidFill>
                  <a:srgbClr val="2878A8"/>
                </a:solidFill>
                <a:latin typeface="Arial"/>
                <a:ea typeface="Arial"/>
                <a:cs typeface="Arial"/>
              </a:defRPr>
            </a:lvl3pPr>
            <a:lvl4pPr>
              <a:defRPr sz="2325" b="1">
                <a:solidFill>
                  <a:srgbClr val="2878A8"/>
                </a:solidFill>
                <a:latin typeface="Arial"/>
                <a:ea typeface="Arial"/>
                <a:cs typeface="Arial"/>
              </a:defRPr>
            </a:lvl4pPr>
            <a:lvl5pPr>
              <a:defRPr sz="2325" b="1">
                <a:solidFill>
                  <a:srgbClr val="2878A8"/>
                </a:solidFill>
                <a:latin typeface="Arial"/>
                <a:ea typeface="Arial"/>
                <a:cs typeface="Arial"/>
              </a:defRPr>
            </a:lvl5pPr>
            <a:lvl6pPr>
              <a:defRPr sz="2325" b="1">
                <a:solidFill>
                  <a:srgbClr val="2878A8"/>
                </a:solidFill>
                <a:latin typeface="Arial"/>
                <a:ea typeface="Arial"/>
                <a:cs typeface="Arial"/>
              </a:defRPr>
            </a:lvl6pPr>
            <a:lvl7pPr>
              <a:defRPr sz="2325" b="1">
                <a:solidFill>
                  <a:srgbClr val="2878A8"/>
                </a:solidFill>
                <a:latin typeface="Arial"/>
                <a:ea typeface="Arial"/>
                <a:cs typeface="Arial"/>
              </a:defRPr>
            </a:lvl7pPr>
            <a:lvl8pPr>
              <a:defRPr sz="2325" b="1">
                <a:solidFill>
                  <a:srgbClr val="2878A8"/>
                </a:solidFill>
                <a:latin typeface="Arial"/>
                <a:ea typeface="Arial"/>
                <a:cs typeface="Arial"/>
              </a:defRPr>
            </a:lvl8pPr>
            <a:lvl9pPr>
              <a:defRPr sz="2325" b="1">
                <a:solidFill>
                  <a:srgbClr val="2878A8"/>
                </a:solidFill>
                <a:latin typeface="Arial"/>
                <a:ea typeface="Arial"/>
                <a:cs typeface="Arial"/>
              </a:defRPr>
            </a:lvl9pPr>
          </a:lstStyle>
          <a:p xmlns:a="http://schemas.openxmlformats.org/drawingml/2006/main">
            <a:pPr>
              <a:defRPr sz="2325" b="1">
                <a:solidFill>
                  <a:srgbClr val="2878A8"/>
                </a:solidFill>
                <a:latin typeface="Arial"/>
                <a:ea typeface="Arial"/>
                <a:cs typeface="Arial"/>
              </a:defRPr>
            </a:pPr>
            <a:r>
              <a:rPr sz="2325" b="1">
                <a:solidFill>
                  <a:srgbClr val="2878A8"/>
                </a:solidFill>
                <a:latin typeface="Arial"/>
                <a:ea typeface="Arial"/>
                <a:cs typeface="Arial"/>
              </a:rPr>
              <a:t>Success = better verified feasible performance per evaluation—not more models.</a:t>
            </a:r>
          </a:p>
        </p:txBody>
      </p:sp>
    </p:spTree>
    <p:extLst>
      <p:ext uri="{BB962C8B-B14F-4D97-AF65-F5344CB8AC3E}">
        <p14:creationId xmlns:p14="http://schemas.microsoft.com/office/powerpoint/2010/main" val="2501662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2026-10-28T03:06:38.0320000Z</dcterms:created>
  <dcterms:modified xsi:type="dcterms:W3CDTF">2026-10-28T03:06:38.0320000Z</dcterms:modified>
</coreProperties>
</file>