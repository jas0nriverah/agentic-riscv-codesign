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8c4ee6d478e4867" /><Relationship Type="http://schemas.openxmlformats.org/officeDocument/2006/relationships/extended-properties" Target="/docProps/app.xml" Id="R985012448e7a48d9" /><Relationship Type="http://schemas.openxmlformats.org/officeDocument/2006/relationships/officeDocument" Target="/ppt/presentation.xml" Id="R1675ae905bb44cd0" /></Relationships>
</file>

<file path=ppt/presentation.xml><?xml version="1.0" encoding="utf-8"?>
<p:presentation xmlns:p="http://schemas.openxmlformats.org/presentationml/2006/main">
  <p:sldMasterIdLst>
    <p:sldMasterId xmlns:r="http://schemas.openxmlformats.org/officeDocument/2006/relationships" id="2147483648" r:id="R3a91e13b51344367"/>
  </p:sldMasterIdLst>
  <p:notesMasterIdLst>
    <p:notesMasterId xmlns:r="http://schemas.openxmlformats.org/officeDocument/2006/relationships" r:id="Rd808ddaa58374a7c"/>
  </p:notesMasterIdLst>
  <p:sldIdLst>
    <p:sldId xmlns:r="http://schemas.openxmlformats.org/officeDocument/2006/relationships" id="256" r:id="R50fc319032354b5e"/>
    <p:sldId xmlns:r="http://schemas.openxmlformats.org/officeDocument/2006/relationships" id="257" r:id="Rb2c187d66e034025"/>
    <p:sldId xmlns:r="http://schemas.openxmlformats.org/officeDocument/2006/relationships" id="258" r:id="Rfa6254baf7154760"/>
    <p:sldId xmlns:r="http://schemas.openxmlformats.org/officeDocument/2006/relationships" id="259" r:id="R2f29c408948144a3"/>
    <p:sldId xmlns:r="http://schemas.openxmlformats.org/officeDocument/2006/relationships" id="260" r:id="Rfb4cfc0f649e4aaa"/>
    <p:sldId xmlns:r="http://schemas.openxmlformats.org/officeDocument/2006/relationships" id="261" r:id="Ra2034ae45f4e44c6"/>
    <p:sldId xmlns:r="http://schemas.openxmlformats.org/officeDocument/2006/relationships" id="262" r:id="R3aec17febdf347f8"/>
    <p:sldId xmlns:r="http://schemas.openxmlformats.org/officeDocument/2006/relationships" id="263" r:id="Rc0b2c01eecc441bf"/>
    <p:sldId xmlns:r="http://schemas.openxmlformats.org/officeDocument/2006/relationships" id="264" r:id="R938fb8e31f65401d"/>
    <p:sldId xmlns:r="http://schemas.openxmlformats.org/officeDocument/2006/relationships" id="265" r:id="Rb16de08247824a9d"/>
    <p:sldId xmlns:r="http://schemas.openxmlformats.org/officeDocument/2006/relationships" id="266" r:id="R4f02117d33c146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c9b9eeecde7414b" /><Relationship Type="http://schemas.openxmlformats.org/officeDocument/2006/relationships/slideMaster" Target="/ppt/slideMasters/slideMaster1.xml" Id="R3a91e13b51344367" /><Relationship Type="http://schemas.openxmlformats.org/officeDocument/2006/relationships/notesMaster" Target="/ppt/notesMasters/notesMaster1.xml" Id="Rd808ddaa58374a7c" /><Relationship Type="http://schemas.openxmlformats.org/officeDocument/2006/relationships/presProps" Target="/ppt/presProps.xml" Id="Rac609f363a5a4deb" /><Relationship Type="http://schemas.openxmlformats.org/officeDocument/2006/relationships/tableStyles" Target="/ppt/tableStyles.xml" Id="R882e65ddb3ed4107" /><Relationship Type="http://schemas.openxmlformats.org/officeDocument/2006/relationships/slide" Target="/ppt/slides/slide1.xml" Id="R50fc319032354b5e" /><Relationship Type="http://schemas.openxmlformats.org/officeDocument/2006/relationships/slide" Target="/ppt/slides/slide2.xml" Id="Rb2c187d66e034025" /><Relationship Type="http://schemas.openxmlformats.org/officeDocument/2006/relationships/slide" Target="/ppt/slides/slide3.xml" Id="Rfa6254baf7154760" /><Relationship Type="http://schemas.openxmlformats.org/officeDocument/2006/relationships/slide" Target="/ppt/slides/slide4.xml" Id="R2f29c408948144a3" /><Relationship Type="http://schemas.openxmlformats.org/officeDocument/2006/relationships/slide" Target="/ppt/slides/slide5.xml" Id="Rfb4cfc0f649e4aaa" /><Relationship Type="http://schemas.openxmlformats.org/officeDocument/2006/relationships/slide" Target="/ppt/slides/slide6.xml" Id="Ra2034ae45f4e44c6" /><Relationship Type="http://schemas.openxmlformats.org/officeDocument/2006/relationships/slide" Target="/ppt/slides/slide7.xml" Id="R3aec17febdf347f8" /><Relationship Type="http://schemas.openxmlformats.org/officeDocument/2006/relationships/slide" Target="/ppt/slides/slide8.xml" Id="Rc0b2c01eecc441bf" /><Relationship Type="http://schemas.openxmlformats.org/officeDocument/2006/relationships/slide" Target="/ppt/slides/slide9.xml" Id="R938fb8e31f65401d" /><Relationship Type="http://schemas.openxmlformats.org/officeDocument/2006/relationships/slide" Target="/ppt/slides/slide10.xml" Id="Rb16de08247824a9d" /><Relationship Type="http://schemas.openxmlformats.org/officeDocument/2006/relationships/slide" Target="/ppt/slides/slide11.xml" Id="R4f02117d33c146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96c7c7026b4b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c446bb4e564847" /><Relationship Type="http://schemas.openxmlformats.org/officeDocument/2006/relationships/notesMaster" Target="/ppt/notesMasters/notesMaster1.xml" Id="Rcc511350358b403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54e8d35f3b4d48" /><Relationship Type="http://schemas.openxmlformats.org/officeDocument/2006/relationships/notesMaster" Target="/ppt/notesMasters/notesMaster1.xml" Id="Rd88879d06e6e42a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38ad4d5ec52487f" /><Relationship Type="http://schemas.openxmlformats.org/officeDocument/2006/relationships/notesMaster" Target="/ppt/notesMasters/notesMaster1.xml" Id="R45f6e2335a8646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9252670a754055" /><Relationship Type="http://schemas.openxmlformats.org/officeDocument/2006/relationships/notesMaster" Target="/ppt/notesMasters/notesMaster1.xml" Id="Rf518373e85bf44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8b11c73a584d36" /><Relationship Type="http://schemas.openxmlformats.org/officeDocument/2006/relationships/notesMaster" Target="/ppt/notesMasters/notesMaster1.xml" Id="Rb632a1389ce0462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2ab5b2cb1746e8" /><Relationship Type="http://schemas.openxmlformats.org/officeDocument/2006/relationships/notesMaster" Target="/ppt/notesMasters/notesMaster1.xml" Id="Re6a9171024ba49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702da1983f433c" /><Relationship Type="http://schemas.openxmlformats.org/officeDocument/2006/relationships/notesMaster" Target="/ppt/notesMasters/notesMaster1.xml" Id="R01ac46a3b2d44a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17a29cfd874003" /><Relationship Type="http://schemas.openxmlformats.org/officeDocument/2006/relationships/notesMaster" Target="/ppt/notesMasters/notesMaster1.xml" Id="R57be8ef939024096" /></Relationships>
</file>

<file path=ppt/notesSlides/_rels/notesSlide9.xml.rels>&#65279;<?xml version="1.0" encoding="utf-8"?><Relationships xmlns="http://schemas.openxmlformats.org/package/2006/relationships"><Relationship Type="http://schemas.openxmlformats.org/officeDocument/2006/relationships/slide" Target="/ppt/slides/slide9.xml" Id="Rd6613b8a512a44e3" /><Relationship Type="http://schemas.openxmlformats.org/officeDocument/2006/relationships/notesMaster" Target="/ppt/notesMasters/notesMaster1.xml" Id="R33646ab0eb3d43e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810180db8ac4295" /><Relationship Type="http://schemas.openxmlformats.org/officeDocument/2006/relationships/notesMaster" Target="/ppt/notesMasters/notesMaster1.xml" Id="R051e7907c2e34ae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15434f736624a0d" /><Relationship Type="http://schemas.openxmlformats.org/officeDocument/2006/relationships/notesMaster" Target="/ppt/notesMasters/notesMaster1.xml" Id="R8d4d1b3039d54cc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principal ranking model is XGBoost. Thirty-five features describe candidate structure, operations and execution opportunity. Measured speedup orders candidate pairs within each workload. Eighty depth-two trees learn a ranking score. We test on entire held-out workloads and exclude related formula families. The score is neither predicted speedup nor confidence. The contribution plot shows that estimated instruction savings strongly influences ranking, but attribution is not causal. Other predictor tools expose hardware estimates and uncertainty. Feasibility still requires measurement: one bitcount candidate passed correctness but exceeded its area cap by one LUT.</a:t>
            </a:r>
          </a:p>
          <a:p xmlns:a="http://schemas.openxmlformats.org/drawingml/2006/main">
            <a:r>
              <a:t/>
            </a:r>
          </a:p>
          <a:p xmlns:a="http://schemas.openxmlformats.org/drawingml/2006/main">
            <a:r>
              <a:t>SOURCES / Q&amp;A (not part of timed script)</a:t>
            </a:r>
          </a:p>
          <a:p xmlns:a="http://schemas.openxmlformats.org/drawingml/2006/main">
            <a:r>
              <a:t>XGBRanker: rank:pairwise,80 estimators,max_depth2,learning_rate0.05; isaforge/ranking.py and features.py.35 premeasurement features. Pair relevance derived from measured within-context speedup order with ties. Workload/family holdouts prevent using target labels. The ranker is frozen during selection; no LLM fine-tuning. Other selectable predictors include regression and hardware GP; GP uncertainty is not calibrated confidence. Explanations: results/2026-10-27-ranker-explainability/explanation.json and global_feature_contributions.csv. Chart normalized absolute additive tree contributions macro-averaged over14 held-out workloads: savings47.1035%, locations11.1%, size7.2663%, frequency5.4586%, other29.0716%. Bitcount top rank add(in0,andi(in1,15)),1.008782x,+65LUT4 versus+64 cap. Current successful cycle labels match calibrated processor latency; ranking is not established superior to the heuristic.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The language model is a decision-maker, not the numeric predictor. It sees legal candidates, constraints, predictions it requests, and paid observations. Hybrid retrieval adds relevant approved history. The agent chooses one structured action at a time; the host executes it and returns evidence. The language model itself is not retrained. In our live Luna pilot, hybrid memory reached the same feasible design in two queries and four turns, versus three queries and nine turns without retrieval. Three invalid finalizations were rejected. This is one archived-data trial per arm, and the strongest heuristic needed only one query.</a:t>
            </a:r>
          </a:p>
          <a:p xmlns:a="http://schemas.openxmlformats.org/drawingml/2006/main">
            <a:r>
              <a:t/>
            </a:r>
          </a:p>
          <a:p xmlns:a="http://schemas.openxmlformats.org/drawingml/2006/main">
            <a:r>
              <a:t>SOURCES / Q&amp;A (not part of timed script)</a:t>
            </a:r>
          </a:p>
          <a:p xmlns:a="http://schemas.openxmlformats.org/drawingml/2006/main">
            <a:r>
              <a:t>isaforge/agent_memory.py: fixed query from unattempted formulas; TF-IDF cosine + SVD cosine, RRF k60, top3 source-linked approved historical records. Semantic search is local latent-semantic analysis, not pretrained embeddings. Full historical information is available in both arms; retrieval changes ordering/emphasis. The agent does not issue arbitrary searches. isaforge/bounded_selector.py owns budget and final acceptance. Four structured actions. Episode memory includes attempts, paid outcomes, incumbent and remaining budget. Frozen ranker not retrained; configured hardware GP can update on paid successes. No LLM fine-tuning. Schema-recovery primary/secondary routing is implemented and offline-tested, not used in this live same-model pilot. results/2026-10-28-live-luna-memory/README.md: configured gpt-6-luna medium, fresh contexts, cooperative file restrictions. Hybrid predict→measure→measure→finalize, no retrieval9 turns with3 rejected finalizations. Both1.0213847x,+50LUT4,65.99353MHz. Historical hardware outcomes, no new synthesis or causal retrieval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Our four tools separate language-model proposals from trusted execution. List exposes legal candidates; predict returns model estimates; measure charges an attempt before evaluation; finalize accepts only a paid, verified feasible improvement or baseline. Invalid and repeated measurement attempts still cost budget. Observability connects each decision to its tool call, retrieved record and outcome. We version the protocol and source hashes, preserve failed actions, and export verified traces to SQLite. These are working local LLMOps components. The live pilot has thirteen recorded model turns, but token usage and model-only latency are unavailable. Production deployment and automated restart remain future work.</a:t>
            </a:r>
          </a:p>
          <a:p xmlns:a="http://schemas.openxmlformats.org/drawingml/2006/main">
            <a:r>
              <a:t/>
            </a:r>
          </a:p>
          <a:p xmlns:a="http://schemas.openxmlformats.org/drawingml/2006/main">
            <a:r>
              <a:t>SOURCES / Q&amp;A (not part of timed script)</a:t>
            </a:r>
          </a:p>
          <a:p xmlns:a="http://schemas.openxmlformats.org/drawingml/2006/main">
            <a:r>
              <a:t>Tools: isaforge/selection_provider.py strict remote function schemas; isaforge/codex_chat_selector.py interactive JSON bridge. Host: bounded_selector.py. Measure reserves charge before lookup while budget remains. Invalid/repeated attempts count; repeats do not redispatch evaluator. Finalize checks paid observation, correctness, device fit, area cap, clock floor and speedup&gt;1 or null baseline. Finite model/tool calls, incumbent fallback, fresh output paths; no restart/resume guarantee. Observability: export_agent_observability.py verifies manifest/protocol/ledger hashes and creates releases, episodes, decisions, model_calls, retrievals and tools tables. Raw ledgers authoritative. Live13 turns,4 retrievals; 3 rejected finalizations. Interactive elapsed time includes orchestration; tokens SQLNULL. Remote provider records tokens only if returned. LLMOps here is local versioning, reproducible evaluation and inspection, not production cloud operations. 84 focused tests at release500dd989. Retrieval fits are not new speedup model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Research paused at presentation checkpoint; no new collection implied by this deck.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89948e6346499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ba0d7158e4d4e2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b57981dd67644b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74e65402e146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9d459b27e94a5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4397b24ee9045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EA2856-5293-4D12-B51B-3D6577893CE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AC924C-9A4D-4C38-8472-C31CB683F8C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08B0EA0-B28F-4FD6-90BA-25DA4F511CE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075825-6FF7-4F0D-AF31-53E5157602C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BE48CAF-AFD8-4BEB-AC5E-E1BF033127C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AA7CCB3-11FE-49A5-A5EA-26313F09F3B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EA4B7B-C522-48D7-8684-97BAD8ED58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5B18395-7B3E-47A8-8D1C-CDE560E9EB0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DB72ABF-0817-42D2-AA5E-ECA0F212854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037BD4C-9B79-482F-AD77-2BF0C6D98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82f56a5bf541b8" /><Relationship Type="http://schemas.openxmlformats.org/officeDocument/2006/relationships/slideLayout" Target="/ppt/slideLayouts/slideLayout1.xml" Id="R00e76b2d281d4322" /><Relationship Type="http://schemas.openxmlformats.org/officeDocument/2006/relationships/slideLayout" Target="/ppt/slideLayouts/slideLayout2.xml" Id="R2a35689e21444f57" /><Relationship Type="http://schemas.openxmlformats.org/officeDocument/2006/relationships/slideLayout" Target="/ppt/slideLayouts/slideLayout3.xml" Id="R483da67a99d4404b" /><Relationship Type="http://schemas.openxmlformats.org/officeDocument/2006/relationships/slideLayout" Target="/ppt/slideLayouts/slideLayout4.xml" Id="R80e02efdaf61427b" /><Relationship Type="http://schemas.openxmlformats.org/officeDocument/2006/relationships/slideLayout" Target="/ppt/slideLayouts/slideLayout5.xml" Id="R5e14b1566e0d490c" /><Relationship Type="http://schemas.openxmlformats.org/officeDocument/2006/relationships/slideLayout" Target="/ppt/slideLayouts/slideLayout6.xml" Id="R08d040b791554e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0e76b2d281d4322"/>
    <p:sldLayoutId xmlns:r="http://schemas.openxmlformats.org/officeDocument/2006/relationships" id="2147483650" r:id="R2a35689e21444f57"/>
    <p:sldLayoutId xmlns:r="http://schemas.openxmlformats.org/officeDocument/2006/relationships" id="2147483651" r:id="R483da67a99d4404b"/>
    <p:sldLayoutId xmlns:r="http://schemas.openxmlformats.org/officeDocument/2006/relationships" id="2147483652" r:id="R80e02efdaf61427b"/>
    <p:sldLayoutId xmlns:r="http://schemas.openxmlformats.org/officeDocument/2006/relationships" id="2147483653" r:id="R5e14b1566e0d490c"/>
    <p:sldLayoutId xmlns:r="http://schemas.openxmlformats.org/officeDocument/2006/relationships" id="2147483654" r:id="R08d040b791554e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d3802c785d243ca" /><Relationship Type="http://schemas.openxmlformats.org/officeDocument/2006/relationships/notesSlide" Target="/ppt/notesSlides/notesSlide1.xml" Id="R5231cdc9b3c74e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3b080d2ca34565" /><Relationship Type="http://schemas.openxmlformats.org/officeDocument/2006/relationships/notesSlide" Target="/ppt/notesSlides/notesSlide2.xml" Id="Ref7587c66716445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6356f8482f46d1" /><Relationship Type="http://schemas.openxmlformats.org/officeDocument/2006/relationships/notesSlide" Target="/ppt/notesSlides/notesSlide3.xml" Id="R347d0e8c58db44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f1b4fc6c387449b" /><Relationship Type="http://schemas.openxmlformats.org/officeDocument/2006/relationships/notesSlide" Target="/ppt/notesSlides/notesSlide4.xml" Id="Rfd18ed2fa4594d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97fd4231efd4e99" /><Relationship Type="http://schemas.openxmlformats.org/officeDocument/2006/relationships/chart" Target="/ppt/slides/charts/chart1.xml" Id="Rcbf9b3322f6e4227" /><Relationship Type="http://schemas.openxmlformats.org/officeDocument/2006/relationships/notesSlide" Target="/ppt/notesSlides/notesSlide5.xml" Id="R56400b4b277f435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8716a20db1042ad" /><Relationship Type="http://schemas.openxmlformats.org/officeDocument/2006/relationships/chart" Target="/ppt/slides/charts/chart2.xml" Id="Rb1874ec1c4fa4d02" /><Relationship Type="http://schemas.openxmlformats.org/officeDocument/2006/relationships/notesSlide" Target="/ppt/notesSlides/notesSlide6.xml" Id="R50f2d359b27842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1ab42d5986746af" /><Relationship Type="http://schemas.openxmlformats.org/officeDocument/2006/relationships/notesSlide" Target="/ppt/notesSlides/notesSlide7.xml" Id="R77a82de8321b40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a1ed4f6d4b74196" /><Relationship Type="http://schemas.openxmlformats.org/officeDocument/2006/relationships/notesSlide" Target="/ppt/notesSlides/notesSlide8.xml" Id="R3efcdf5cd4a646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6ed12142fdc490a" /><Relationship Type="http://schemas.openxmlformats.org/officeDocument/2006/relationships/notesSlide" Target="/ppt/notesSlides/notesSlide9.xml" Id="R2826bbcddea245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650087ec22b4d58" /><Relationship Type="http://schemas.openxmlformats.org/officeDocument/2006/relationships/chart" Target="/ppt/slides/charts/chart3.xml" Id="R640d5e6e7a964667" /><Relationship Type="http://schemas.openxmlformats.org/officeDocument/2006/relationships/notesSlide" Target="/ppt/notesSlides/notesSlide10.xml" Id="R234af4c6848544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0319e94426640ca" /><Relationship Type="http://schemas.openxmlformats.org/officeDocument/2006/relationships/notesSlide" Target="/ppt/notesSlides/notesSlide11.xml" Id="R97bc3f3e69564a0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B8DC94-7ABC-4647-885C-1AC3EB441B2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5077E63B-EA7F-45DA-8840-8638860541C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BCC178EC-7E8C-4DF9-877B-54A9AC75854C}"/>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C4EE8DDC-398E-4BF8-A62D-2A8643372D1E}"/>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6DB8CFFF-ED16-4C4F-A4BD-1C2A37FA7A34}"/>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205E33DB-A294-46F6-A122-839B621FC548}"/>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112B12D8-EE3A-4BA2-B800-24E119D33426}"/>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147630352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6E970FE-859D-4BCC-BF23-9BA7696EC38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504AB056-9AF4-430F-879B-80E81E2324F4}"/>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D3135653-F2A5-4E5E-8F4A-8AC2F0E5C57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D15BA93B-C452-4706-B4DF-8BA420DA4726}"/>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3FF48749-94C2-43D0-844A-8861D0814C4B}"/>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EA28BF4F-CB6D-4FAD-B9FC-18CA66FFEDC9}"/>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09C608E9-FE9E-47C6-8233-107A5187152E}"/>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6B0B631E-7A70-4119-ABFC-589DC8F716F6}"/>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9D979B49-7ADA-4967-A298-98C3061DA4AF}"/>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45D9BD32-85FB-4804-A097-B458916D3709}"/>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D24913EB-3795-4BDD-BC3E-E48EEA3993A8}"/>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19044E4D-AE7E-433B-9113-01C772B509F1}"/>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9362040C-9A96-4620-B2FC-4C3DFEA4065A}"/>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F24773C7-C99A-4684-98B4-D435AC94CEFC}"/>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4B5857AF-9393-4020-8AD1-F7BDDC12AC6D}"/>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40C28FA3-2269-48CB-A9FB-A71A307A2E5F}"/>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C7760C35-403A-4470-B9A8-4D130F4C1C84}"/>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7C7E163D-7FB7-49C7-A7D5-814595ED2A54}"/>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ACEB729A-5FFC-416B-96BC-BDBEE5D46368}"/>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52490085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C8E233F-74DC-4B27-ADAB-582151591C8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927D7FE9-D7F2-4823-82B6-B00774B9CA31}"/>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4C38157-1636-4D36-8A7B-EDF519E5189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BE8F91AF-448A-4A5E-99E3-893C6D03BD3E}"/>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459CC09A-11CD-4200-AED1-96661F3A961B}"/>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63B6E72A-C442-4FF8-BC59-9270901DB90E}"/>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275DCEF-F30B-4210-B88F-5F68F462CB51}"/>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0FED7EDD-3078-4BDE-B42C-242307CDA88B}"/>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D706A85C-AC5B-4888-BF93-964BE343A151}"/>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85C4DAC-6734-40A6-8C0C-0B2F34C82D94}"/>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41B5E8A9-4105-4AAD-947E-99785840055F}"/>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EB77B75B-8394-4545-809D-C1ED79F28D35}"/>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C2EF0CB-ABB2-4D2D-AF36-6D6A6EC7751D}"/>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816AD093-03BB-4849-9D3E-960423C75C26}"/>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97A43541-25DE-4A67-B587-47E7678ACA25}"/>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4F6862A-1D3A-4CF7-A15E-2A72084F4ECE}"/>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7D7AE747-0F1D-4B8B-9B63-3008D5209091}"/>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521FFA89-C9A6-4A79-9E95-D442DCBA6A39}"/>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21038941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CC93A78-5B15-4AE3-82D3-82F5054C16A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B5535EA9-F0AE-4F01-A832-F1CF257B8DAE}"/>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DC6CC02-2DA8-49EE-AFD3-19816C7EAF2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96974B0D-DC7E-4EEC-B16E-627A7745ECB3}"/>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2542C57D-BACC-4D39-9C5F-F9C252E6B578}"/>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5DCDE05C-FFD0-4E39-8137-99FCDFCBB8CB}"/>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5C34FF7D-6D2B-4284-83AD-09E00720F541}"/>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A2C2AFD-EA0F-4536-8E84-58FA450D9607}"/>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4C16EEFB-38A4-41AE-A890-AB1DB1B31229}"/>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336116DB-A297-4925-B10F-46E19820B74E}"/>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89490618-50DD-436A-8B8C-4AD152099264}"/>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099B58-0405-49E5-8C2D-A4599695FC73}"/>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197442F6-C780-46DA-AA9C-4FEB22B10A2C}"/>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14FC7D54-6837-4820-83AA-77005CB17911}"/>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73973FAE-1A28-4226-A7A4-484629FB78D8}"/>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88596DD-94D7-44D5-9484-AFC398CE3005}"/>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CB2CE307-345A-4A1B-91E6-1BCC59CF3A38}"/>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D75B6433-7589-46F1-827D-65509A9BF300}"/>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FA0E586B-873D-416F-9A56-C88667836B52}"/>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CBBE86E9-2518-4A7B-9360-88B556081912}"/>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A3D7B54D-8A13-467C-86BE-B4025B444E05}"/>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2C2F010E-3FF7-4899-98C3-4AC23CC2E07E}"/>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334417A1-8324-4CFB-B3A9-75DEFE8104D9}"/>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9D1BA594-3B02-42D0-A249-6B229B8BF02F}"/>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ACB1C106-3736-4C60-BE99-8E38124F51F1}"/>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17152537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1D67D2-F8E0-44A7-9362-B7197179BF77}"/>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75E811E1-1049-464E-BF7F-F16101D9BC6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666DE94-6A8D-4492-A5A4-FC9A68B9F8E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6286154C-EB5A-4072-86DC-4B922E84C25E}"/>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cbf9b3322f6e4227"/>
          </a:graphicData>
        </a:graphic>
      </p:graphicFrame>
      <p:sp>
        <p:nvSpPr>
          <p:cNvPr id="5" name="">
            <a:extLst xmlns:a="http://schemas.openxmlformats.org/drawingml/2006/main">
              <a:ext uri="{FF2B5EF4-FFF2-40B4-BE49-F238E27FC236}">
                <a16:creationId xmlns:a16="http://schemas.microsoft.com/office/drawing/2014/main" id="{E4E7ED0B-B1C2-4ED0-93E7-734EFDB0AB3C}"/>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4929E1B0-4003-44F2-ADAA-4E75E2E4720F}"/>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31EB1656-0901-430E-8C01-F269A824B1F6}"/>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1F0FFB9B-F95A-42EB-86F0-7371AB7CFE8A}"/>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D91FE581-6E9E-4B76-BB32-4C5D6F9D304E}"/>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12354195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1F627D7-F0C6-4847-8758-EDE6F60000B8}"/>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model: training, predictions and explanation</a:t>
            </a:r>
          </a:p>
        </p:txBody>
      </p:sp>
      <p:sp>
        <p:nvSpPr>
          <p:cNvPr id="2" name="">
            <a:extLst xmlns:a="http://schemas.openxmlformats.org/drawingml/2006/main">
              <a:ext uri="{FF2B5EF4-FFF2-40B4-BE49-F238E27FC236}">
                <a16:creationId xmlns:a16="http://schemas.microsoft.com/office/drawing/2014/main" id="{7249A483-264B-4527-89C8-334AA8BA0170}"/>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19EFA43-C43B-4877-ACBF-84E89902769E}"/>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C91095DC-BF2E-417A-94BC-AB3DB0A237E1}"/>
              </a:ext>
            </a:extLst>
          </p:cNvPr>
          <p:cNvSpPr>
            <a:spLocks xmlns:a="http://schemas.openxmlformats.org/drawingml/2006/main" noGrp="1"/>
          </p:cNvSpPr>
          <p:nvPr/>
        </p:nvSpPr>
        <p:spPr>
          <a:xfrm xmlns:a="http://schemas.openxmlformats.org/drawingml/2006/main">
            <a:off x="685800" y="140017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INPUTS</a:t>
            </a:r>
          </a:p>
        </p:txBody>
      </p:sp>
      <p:sp>
        <p:nvSpPr>
          <p:cNvPr id="5" name="">
            <a:extLst xmlns:a="http://schemas.openxmlformats.org/drawingml/2006/main">
              <a:ext uri="{FF2B5EF4-FFF2-40B4-BE49-F238E27FC236}">
                <a16:creationId xmlns:a16="http://schemas.microsoft.com/office/drawing/2014/main" id="{A2224143-EB14-48CA-BD0A-34FB4899D839}"/>
              </a:ext>
            </a:extLst>
          </p:cNvPr>
          <p:cNvSpPr>
            <a:spLocks xmlns:a="http://schemas.openxmlformats.org/drawingml/2006/main" noGrp="1"/>
          </p:cNvSpPr>
          <p:nvPr/>
        </p:nvSpPr>
        <p:spPr>
          <a:xfrm xmlns:a="http://schemas.openxmlformats.org/drawingml/2006/main">
            <a:off x="685800" y="179070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35 features available before evaluation</a:t>
            </a:r>
          </a:p>
        </p:txBody>
      </p:sp>
      <p:sp>
        <p:nvSpPr>
          <p:cNvPr id="6" name="">
            <a:extLst xmlns:a="http://schemas.openxmlformats.org/drawingml/2006/main">
              <a:ext uri="{FF2B5EF4-FFF2-40B4-BE49-F238E27FC236}">
                <a16:creationId xmlns:a16="http://schemas.microsoft.com/office/drawing/2014/main" id="{9DBF0729-6101-46F8-9549-F687CF831794}"/>
              </a:ext>
            </a:extLst>
          </p:cNvPr>
          <p:cNvSpPr>
            <a:spLocks xmlns:a="http://schemas.openxmlformats.org/drawingml/2006/main" noGrp="1"/>
          </p:cNvSpPr>
          <p:nvPr/>
        </p:nvSpPr>
        <p:spPr>
          <a:xfrm xmlns:a="http://schemas.openxmlformats.org/drawingml/2006/main">
            <a:off x="685800" y="2266950"/>
            <a:ext cx="523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Operation mix and expression structure</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Execution frequency and estimated savings</a:t>
            </a:r>
          </a:p>
        </p:txBody>
      </p:sp>
      <p:sp>
        <p:nvSpPr>
          <p:cNvPr id="7" name="">
            <a:extLst xmlns:a="http://schemas.openxmlformats.org/drawingml/2006/main">
              <a:ext uri="{FF2B5EF4-FFF2-40B4-BE49-F238E27FC236}">
                <a16:creationId xmlns:a16="http://schemas.microsoft.com/office/drawing/2014/main" id="{34F7D009-E827-4D92-9084-37F09CC64D97}"/>
              </a:ext>
            </a:extLst>
          </p:cNvPr>
          <p:cNvSpPr>
            <a:spLocks xmlns:a="http://schemas.openxmlformats.org/drawingml/2006/main" noGrp="1"/>
          </p:cNvSpPr>
          <p:nvPr/>
        </p:nvSpPr>
        <p:spPr>
          <a:xfrm xmlns:a="http://schemas.openxmlformats.org/drawingml/2006/main">
            <a:off x="685800" y="317182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TRAINING</a:t>
            </a:r>
          </a:p>
        </p:txBody>
      </p:sp>
      <p:sp>
        <p:nvSpPr>
          <p:cNvPr id="8" name="">
            <a:extLst xmlns:a="http://schemas.openxmlformats.org/drawingml/2006/main">
              <a:ext uri="{FF2B5EF4-FFF2-40B4-BE49-F238E27FC236}">
                <a16:creationId xmlns:a16="http://schemas.microsoft.com/office/drawing/2014/main" id="{B1F082C5-6A4C-46D4-AB7A-5788DB339E98}"/>
              </a:ext>
            </a:extLst>
          </p:cNvPr>
          <p:cNvSpPr>
            <a:spLocks xmlns:a="http://schemas.openxmlformats.org/drawingml/2006/main" noGrp="1"/>
          </p:cNvSpPr>
          <p:nvPr/>
        </p:nvSpPr>
        <p:spPr>
          <a:xfrm xmlns:a="http://schemas.openxmlformats.org/drawingml/2006/main">
            <a:off x="685800" y="3590925"/>
            <a:ext cx="5238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Measured speedup(A) &gt; speedup(B)</a:t>
            </a:r>
          </a:p>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Learn score(A) &gt; score(B)</a:t>
            </a:r>
          </a:p>
        </p:txBody>
      </p:sp>
      <p:sp>
        <p:nvSpPr>
          <p:cNvPr id="9" name="">
            <a:extLst xmlns:a="http://schemas.openxmlformats.org/drawingml/2006/main">
              <a:ext uri="{FF2B5EF4-FFF2-40B4-BE49-F238E27FC236}">
                <a16:creationId xmlns:a16="http://schemas.microsoft.com/office/drawing/2014/main" id="{2F6FA530-2D49-4426-AF6B-A26B74219543}"/>
              </a:ext>
            </a:extLst>
          </p:cNvPr>
          <p:cNvSpPr>
            <a:spLocks xmlns:a="http://schemas.openxmlformats.org/drawingml/2006/main" noGrp="1"/>
          </p:cNvSpPr>
          <p:nvPr/>
        </p:nvSpPr>
        <p:spPr>
          <a:xfrm xmlns:a="http://schemas.openxmlformats.org/drawingml/2006/main">
            <a:off x="685800" y="45529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80 boosted trees   /   depth 2   /   rate 0.05</a:t>
            </a:r>
          </a:p>
        </p:txBody>
      </p:sp>
      <p:sp>
        <p:nvSpPr>
          <p:cNvPr id="10" name="">
            <a:extLst xmlns:a="http://schemas.openxmlformats.org/drawingml/2006/main">
              <a:ext uri="{FF2B5EF4-FFF2-40B4-BE49-F238E27FC236}">
                <a16:creationId xmlns:a16="http://schemas.microsoft.com/office/drawing/2014/main" id="{789E302D-089C-4BC0-8684-22F1ECC04C27}"/>
              </a:ext>
            </a:extLst>
          </p:cNvPr>
          <p:cNvSpPr>
            <a:spLocks xmlns:a="http://schemas.openxmlformats.org/drawingml/2006/main" noGrp="1"/>
          </p:cNvSpPr>
          <p:nvPr/>
        </p:nvSpPr>
        <p:spPr>
          <a:xfrm xmlns:a="http://schemas.openxmlformats.org/drawingml/2006/main">
            <a:off x="685800" y="5095875"/>
            <a:ext cx="523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Entire workload + related families held out</a:t>
            </a:r>
          </a:p>
        </p:txBody>
      </p:sp>
      <p:sp>
        <p:nvSpPr>
          <p:cNvPr id="11" name="">
            <a:extLst xmlns:a="http://schemas.openxmlformats.org/drawingml/2006/main">
              <a:ext uri="{FF2B5EF4-FFF2-40B4-BE49-F238E27FC236}">
                <a16:creationId xmlns:a16="http://schemas.microsoft.com/office/drawing/2014/main" id="{50F065E9-CF46-46AE-8519-F20F1253559B}"/>
              </a:ext>
            </a:extLst>
          </p:cNvPr>
          <p:cNvSpPr>
            <a:spLocks xmlns:a="http://schemas.openxmlformats.org/drawingml/2006/main" noGrp="1"/>
          </p:cNvSpPr>
          <p:nvPr/>
        </p:nvSpPr>
        <p:spPr>
          <a:xfrm xmlns:a="http://schemas.openxmlformats.org/drawingml/2006/main">
            <a:off x="6334125" y="140017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WHAT DRIVES THE RANKING?</a:t>
            </a:r>
          </a:p>
        </p:txBody>
      </p:sp>
      <p:graphicFrame>
        <p:nvGraphicFramePr>
          <p:cNvPr id="12" name="Chart">
            <a:extLst xmlns:a="http://schemas.openxmlformats.org/drawingml/2006/main">
              <a:ext uri="{FF2B5EF4-FFF2-40B4-BE49-F238E27FC236}">
                <a16:creationId xmlns:a16="http://schemas.microsoft.com/office/drawing/2014/main" id="{6C94B470-2395-480E-86CD-68E18C1FF478}"/>
              </a:ext>
            </a:extLst>
          </p:cNvPr>
          <p:cNvGraphicFramePr/>
          <p:nvPr/>
        </p:nvGraphicFramePr>
        <p:xfrm>
          <a:off xmlns:a="http://schemas.openxmlformats.org/drawingml/2006/main" x="6096000" y="1857375"/>
          <a:ext xmlns:a="http://schemas.openxmlformats.org/drawingml/2006/main" cx="5524500" cy="3095625"/>
        </p:xfrm>
        <a:graphic xmlns:a="http://schemas.openxmlformats.org/drawingml/2006/main">
          <a:graphicData uri="http://schemas.openxmlformats.org/drawingml/2006/chart">
            <c:chart xmlns:r="http://schemas.openxmlformats.org/officeDocument/2006/relationships" xmlns:c="http://schemas.openxmlformats.org/drawingml/2006/chart" r:id="Rb1874ec1c4fa4d02"/>
          </a:graphicData>
        </a:graphic>
      </p:graphicFrame>
      <p:sp>
        <p:nvSpPr>
          <p:cNvPr id="13" name="">
            <a:extLst xmlns:a="http://schemas.openxmlformats.org/drawingml/2006/main">
              <a:ext uri="{FF2B5EF4-FFF2-40B4-BE49-F238E27FC236}">
                <a16:creationId xmlns:a16="http://schemas.microsoft.com/office/drawing/2014/main" id="{AAFA2717-28F7-4B37-A1AB-83A8120D701C}"/>
              </a:ext>
            </a:extLst>
          </p:cNvPr>
          <p:cNvSpPr>
            <a:spLocks xmlns:a="http://schemas.openxmlformats.org/drawingml/2006/main" noGrp="1"/>
          </p:cNvSpPr>
          <p:nvPr/>
        </p:nvSpPr>
        <p:spPr>
          <a:xfrm xmlns:a="http://schemas.openxmlformats.org/drawingml/2006/main">
            <a:off x="6334125" y="517207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Rank score ≠ speedup ≠ confidence</a:t>
            </a:r>
          </a:p>
        </p:txBody>
      </p:sp>
      <p:sp>
        <p:nvSpPr>
          <p:cNvPr id="14" name="">
            <a:extLst xmlns:a="http://schemas.openxmlformats.org/drawingml/2006/main">
              <a:ext uri="{FF2B5EF4-FFF2-40B4-BE49-F238E27FC236}">
                <a16:creationId xmlns:a16="http://schemas.microsoft.com/office/drawing/2014/main" id="{14A91C8B-6903-4D79-802F-BCD047C1165D}"/>
              </a:ext>
            </a:extLst>
          </p:cNvPr>
          <p:cNvSpPr>
            <a:spLocks xmlns:a="http://schemas.openxmlformats.org/drawingml/2006/main" noGrp="1"/>
          </p:cNvSpPr>
          <p:nvPr/>
        </p:nvSpPr>
        <p:spPr>
          <a:xfrm xmlns:a="http://schemas.openxmlformats.org/drawingml/2006/main">
            <a:off x="6334125" y="5657850"/>
            <a:ext cx="514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A high rank can still violate the area budget.</a:t>
            </a:r>
          </a:p>
        </p:txBody>
      </p:sp>
    </p:spTree>
    <p:extLst>
      <p:ext uri="{BB962C8B-B14F-4D97-AF65-F5344CB8AC3E}">
        <p14:creationId xmlns:p14="http://schemas.microsoft.com/office/powerpoint/2010/main" val="2009562287"/>
      </p:ext>
    </p:extLst>
  </p:cSld>
</p:sld>
</file>

<file path=ppt/slides/slide7.xml><?xml version="1.0" encoding="utf-8"?>
<p:sld xmlns:p="http://schemas.openxmlformats.org/presentationml/2006/main">
  <p:cSld>
    <p:bg>
      <p:bgPr>
        <a:solidFill xmlns:a="http://schemas.openxmlformats.org/drawingml/2006/main">
          <a:srgbClr val="0B1426"/>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BD4D102D-2486-4D51-AB8D-6FC728C75ED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agent: decisions, memory and feedback</a:t>
            </a:r>
          </a:p>
        </p:txBody>
      </p:sp>
      <p:sp>
        <p:nvSpPr>
          <p:cNvPr id="2" name="">
            <a:extLst xmlns:a="http://schemas.openxmlformats.org/drawingml/2006/main">
              <a:ext uri="{FF2B5EF4-FFF2-40B4-BE49-F238E27FC236}">
                <a16:creationId xmlns:a16="http://schemas.microsoft.com/office/drawing/2014/main" id="{05BC4881-2173-4078-9BB8-4ACE7D24364B}"/>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1DD0AB2-5948-40D6-8D45-5E6D294F356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sp>
        <p:nvSpPr>
          <p:cNvPr id="4" name="">
            <a:extLst xmlns:a="http://schemas.openxmlformats.org/drawingml/2006/main">
              <a:ext uri="{FF2B5EF4-FFF2-40B4-BE49-F238E27FC236}">
                <a16:creationId xmlns:a16="http://schemas.microsoft.com/office/drawing/2014/main" id="{9FEA2FE8-8C9B-4339-B7C1-E1BE03396B61}"/>
              </a:ext>
            </a:extLst>
          </p:cNvPr>
          <p:cNvSpPr>
            <a:spLocks xmlns:a="http://schemas.openxmlformats.org/drawingml/2006/main" noGrp="1"/>
          </p:cNvSpPr>
          <p:nvPr/>
        </p:nvSpPr>
        <p:spPr>
          <a:xfrm xmlns:a="http://schemas.openxmlformats.org/drawingml/2006/main">
            <a:off x="523875" y="285750"/>
            <a:ext cx="11144250" cy="828675"/>
          </a:xfrm>
          <a:prstGeom xmlns:a="http://schemas.openxmlformats.org/drawingml/2006/main" prst="rect">
            <a:avLst/>
          </a:prstGeom>
          <a:solidFill xmlns:a="http://schemas.openxmlformats.org/drawingml/2006/main">
            <a:srgbClr val="0B142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7C3562B-614D-45A7-9DCB-D7B444FA742A}"/>
              </a:ext>
            </a:extLst>
          </p:cNvPr>
          <p:cNvSpPr>
            <a:spLocks xmlns:a="http://schemas.openxmlformats.org/drawingml/2006/main" noGrp="1"/>
          </p:cNvSpPr>
          <p:nvPr/>
        </p:nvSpPr>
        <p:spPr>
          <a:xfrm xmlns:a="http://schemas.openxmlformats.org/drawingml/2006/main">
            <a:off x="647700" y="409575"/>
            <a:ext cx="108966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EAF1FC"/>
                </a:solidFill>
                <a:latin typeface="Arial"/>
                <a:ea typeface="Arial"/>
                <a:cs typeface="Arial"/>
              </a:defRPr>
            </a:defPPr>
            <a:lvl1pPr>
              <a:defRPr sz="3000" b="1">
                <a:solidFill>
                  <a:srgbClr val="EAF1FC"/>
                </a:solidFill>
                <a:latin typeface="Arial"/>
                <a:ea typeface="Arial"/>
                <a:cs typeface="Arial"/>
              </a:defRPr>
            </a:lvl1pPr>
            <a:lvl2pPr>
              <a:defRPr sz="3000" b="1">
                <a:solidFill>
                  <a:srgbClr val="EAF1FC"/>
                </a:solidFill>
                <a:latin typeface="Arial"/>
                <a:ea typeface="Arial"/>
                <a:cs typeface="Arial"/>
              </a:defRPr>
            </a:lvl2pPr>
            <a:lvl3pPr>
              <a:defRPr sz="3000" b="1">
                <a:solidFill>
                  <a:srgbClr val="EAF1FC"/>
                </a:solidFill>
                <a:latin typeface="Arial"/>
                <a:ea typeface="Arial"/>
                <a:cs typeface="Arial"/>
              </a:defRPr>
            </a:lvl3pPr>
            <a:lvl4pPr>
              <a:defRPr sz="3000" b="1">
                <a:solidFill>
                  <a:srgbClr val="EAF1FC"/>
                </a:solidFill>
                <a:latin typeface="Arial"/>
                <a:ea typeface="Arial"/>
                <a:cs typeface="Arial"/>
              </a:defRPr>
            </a:lvl4pPr>
            <a:lvl5pPr>
              <a:defRPr sz="3000" b="1">
                <a:solidFill>
                  <a:srgbClr val="EAF1FC"/>
                </a:solidFill>
                <a:latin typeface="Arial"/>
                <a:ea typeface="Arial"/>
                <a:cs typeface="Arial"/>
              </a:defRPr>
            </a:lvl5pPr>
            <a:lvl6pPr>
              <a:defRPr sz="3000" b="1">
                <a:solidFill>
                  <a:srgbClr val="EAF1FC"/>
                </a:solidFill>
                <a:latin typeface="Arial"/>
                <a:ea typeface="Arial"/>
                <a:cs typeface="Arial"/>
              </a:defRPr>
            </a:lvl6pPr>
            <a:lvl7pPr>
              <a:defRPr sz="3000" b="1">
                <a:solidFill>
                  <a:srgbClr val="EAF1FC"/>
                </a:solidFill>
                <a:latin typeface="Arial"/>
                <a:ea typeface="Arial"/>
                <a:cs typeface="Arial"/>
              </a:defRPr>
            </a:lvl7pPr>
            <a:lvl8pPr>
              <a:defRPr sz="3000" b="1">
                <a:solidFill>
                  <a:srgbClr val="EAF1FC"/>
                </a:solidFill>
                <a:latin typeface="Arial"/>
                <a:ea typeface="Arial"/>
                <a:cs typeface="Arial"/>
              </a:defRPr>
            </a:lvl8pPr>
            <a:lvl9pPr>
              <a:defRPr sz="3000" b="1">
                <a:solidFill>
                  <a:srgbClr val="EAF1FC"/>
                </a:solidFill>
                <a:latin typeface="Arial"/>
                <a:ea typeface="Arial"/>
                <a:cs typeface="Arial"/>
              </a:defRPr>
            </a:lvl9pPr>
          </a:lstStyle>
          <a:p xmlns:a="http://schemas.openxmlformats.org/drawingml/2006/main">
            <a:pPr>
              <a:defRPr sz="3000" b="1">
                <a:solidFill>
                  <a:srgbClr val="EAF1FC"/>
                </a:solidFill>
                <a:latin typeface="Arial"/>
                <a:ea typeface="Arial"/>
                <a:cs typeface="Arial"/>
              </a:defRPr>
            </a:pPr>
            <a:r>
              <a:rPr sz="3000" b="1">
                <a:solidFill>
                  <a:srgbClr val="EAF1FC"/>
                </a:solidFill>
                <a:latin typeface="Arial"/>
                <a:ea typeface="Arial"/>
                <a:cs typeface="Arial"/>
              </a:rPr>
              <a:t>The agent: decisions, memory and feedback</a:t>
            </a:r>
          </a:p>
        </p:txBody>
      </p:sp>
      <p:sp>
        <p:nvSpPr>
          <p:cNvPr id="6" name="">
            <a:extLst xmlns:a="http://schemas.openxmlformats.org/drawingml/2006/main">
              <a:ext uri="{FF2B5EF4-FFF2-40B4-BE49-F238E27FC236}">
                <a16:creationId xmlns:a16="http://schemas.microsoft.com/office/drawing/2014/main" id="{E7D81877-B7A3-435E-847C-2E4C4E028C14}"/>
              </a:ext>
            </a:extLst>
          </p:cNvPr>
          <p:cNvSpPr>
            <a:spLocks xmlns:a="http://schemas.openxmlformats.org/drawingml/2006/main" noGrp="1"/>
          </p:cNvSpPr>
          <p:nvPr/>
        </p:nvSpPr>
        <p:spPr>
          <a:xfrm xmlns:a="http://schemas.openxmlformats.org/drawingml/2006/main">
            <a:off x="6477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7" name="">
            <a:extLst xmlns:a="http://schemas.openxmlformats.org/drawingml/2006/main">
              <a:ext uri="{FF2B5EF4-FFF2-40B4-BE49-F238E27FC236}">
                <a16:creationId xmlns:a16="http://schemas.microsoft.com/office/drawing/2014/main" id="{6BF6C389-8C8C-4540-809D-5E01EF63F9B3}"/>
              </a:ext>
            </a:extLst>
          </p:cNvPr>
          <p:cNvSpPr>
            <a:spLocks xmlns:a="http://schemas.openxmlformats.org/drawingml/2006/main" noGrp="1"/>
          </p:cNvSpPr>
          <p:nvPr/>
        </p:nvSpPr>
        <p:spPr>
          <a:xfrm xmlns:a="http://schemas.openxmlformats.org/drawingml/2006/main">
            <a:off x="7810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OBSERVE</a:t>
            </a:r>
          </a:p>
        </p:txBody>
      </p:sp>
      <p:sp>
        <p:nvSpPr>
          <p:cNvPr id="8" name="">
            <a:extLst xmlns:a="http://schemas.openxmlformats.org/drawingml/2006/main">
              <a:ext uri="{FF2B5EF4-FFF2-40B4-BE49-F238E27FC236}">
                <a16:creationId xmlns:a16="http://schemas.microsoft.com/office/drawing/2014/main" id="{5DFABB23-8901-4B02-AEC9-EB22CAA42BDD}"/>
              </a:ext>
            </a:extLst>
          </p:cNvPr>
          <p:cNvSpPr>
            <a:spLocks xmlns:a="http://schemas.openxmlformats.org/drawingml/2006/main" noGrp="1"/>
          </p:cNvSpPr>
          <p:nvPr/>
        </p:nvSpPr>
        <p:spPr>
          <a:xfrm xmlns:a="http://schemas.openxmlformats.org/drawingml/2006/main">
            <a:off x="7810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Candidates + budget</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Paid observations</a:t>
            </a:r>
          </a:p>
        </p:txBody>
      </p:sp>
      <p:sp>
        <p:nvSpPr>
          <p:cNvPr id="9" name="">
            <a:extLst xmlns:a="http://schemas.openxmlformats.org/drawingml/2006/main">
              <a:ext uri="{FF2B5EF4-FFF2-40B4-BE49-F238E27FC236}">
                <a16:creationId xmlns:a16="http://schemas.microsoft.com/office/drawing/2014/main" id="{C9C1120D-7748-4F32-9CAF-7DB32781B3DA}"/>
              </a:ext>
            </a:extLst>
          </p:cNvPr>
          <p:cNvSpPr>
            <a:spLocks xmlns:a="http://schemas.openxmlformats.org/drawingml/2006/main" noGrp="1"/>
          </p:cNvSpPr>
          <p:nvPr/>
        </p:nvSpPr>
        <p:spPr>
          <a:xfrm xmlns:a="http://schemas.openxmlformats.org/drawingml/2006/main">
            <a:off x="31718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AED1810-5F7C-497F-8654-A383EE890731}"/>
              </a:ext>
            </a:extLst>
          </p:cNvPr>
          <p:cNvSpPr>
            <a:spLocks xmlns:a="http://schemas.openxmlformats.org/drawingml/2006/main" noGrp="1"/>
          </p:cNvSpPr>
          <p:nvPr/>
        </p:nvSpPr>
        <p:spPr>
          <a:xfrm xmlns:a="http://schemas.openxmlformats.org/drawingml/2006/main">
            <a:off x="34480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1" name="">
            <a:extLst xmlns:a="http://schemas.openxmlformats.org/drawingml/2006/main">
              <a:ext uri="{FF2B5EF4-FFF2-40B4-BE49-F238E27FC236}">
                <a16:creationId xmlns:a16="http://schemas.microsoft.com/office/drawing/2014/main" id="{74FAB0BD-004D-4CEB-BD70-33B12E21E895}"/>
              </a:ext>
            </a:extLst>
          </p:cNvPr>
          <p:cNvSpPr>
            <a:spLocks xmlns:a="http://schemas.openxmlformats.org/drawingml/2006/main" noGrp="1"/>
          </p:cNvSpPr>
          <p:nvPr/>
        </p:nvSpPr>
        <p:spPr>
          <a:xfrm xmlns:a="http://schemas.openxmlformats.org/drawingml/2006/main">
            <a:off x="35814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CONSULT</a:t>
            </a:r>
          </a:p>
        </p:txBody>
      </p:sp>
      <p:sp>
        <p:nvSpPr>
          <p:cNvPr id="12" name="">
            <a:extLst xmlns:a="http://schemas.openxmlformats.org/drawingml/2006/main">
              <a:ext uri="{FF2B5EF4-FFF2-40B4-BE49-F238E27FC236}">
                <a16:creationId xmlns:a16="http://schemas.microsoft.com/office/drawing/2014/main" id="{C794D869-D824-41DC-8B99-7BDAB1201816}"/>
              </a:ext>
            </a:extLst>
          </p:cNvPr>
          <p:cNvSpPr>
            <a:spLocks xmlns:a="http://schemas.openxmlformats.org/drawingml/2006/main" noGrp="1"/>
          </p:cNvSpPr>
          <p:nvPr/>
        </p:nvSpPr>
        <p:spPr>
          <a:xfrm xmlns:a="http://schemas.openxmlformats.org/drawingml/2006/main">
            <a:off x="35814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Query predictors</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Retrieve history</a:t>
            </a:r>
          </a:p>
        </p:txBody>
      </p:sp>
      <p:sp>
        <p:nvSpPr>
          <p:cNvPr id="13" name="">
            <a:extLst xmlns:a="http://schemas.openxmlformats.org/drawingml/2006/main">
              <a:ext uri="{FF2B5EF4-FFF2-40B4-BE49-F238E27FC236}">
                <a16:creationId xmlns:a16="http://schemas.microsoft.com/office/drawing/2014/main" id="{2C6F67F8-272E-44EE-8843-FA0F11F0952D}"/>
              </a:ext>
            </a:extLst>
          </p:cNvPr>
          <p:cNvSpPr>
            <a:spLocks xmlns:a="http://schemas.openxmlformats.org/drawingml/2006/main" noGrp="1"/>
          </p:cNvSpPr>
          <p:nvPr/>
        </p:nvSpPr>
        <p:spPr>
          <a:xfrm xmlns:a="http://schemas.openxmlformats.org/drawingml/2006/main">
            <a:off x="597217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17E472-E686-493C-B746-0BED55842D63}"/>
              </a:ext>
            </a:extLst>
          </p:cNvPr>
          <p:cNvSpPr>
            <a:spLocks xmlns:a="http://schemas.openxmlformats.org/drawingml/2006/main" noGrp="1"/>
          </p:cNvSpPr>
          <p:nvPr/>
        </p:nvSpPr>
        <p:spPr>
          <a:xfrm xmlns:a="http://schemas.openxmlformats.org/drawingml/2006/main">
            <a:off x="62484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5" name="">
            <a:extLst xmlns:a="http://schemas.openxmlformats.org/drawingml/2006/main">
              <a:ext uri="{FF2B5EF4-FFF2-40B4-BE49-F238E27FC236}">
                <a16:creationId xmlns:a16="http://schemas.microsoft.com/office/drawing/2014/main" id="{747E1FEB-0648-4102-88B4-B2B9EA7F2E3E}"/>
              </a:ext>
            </a:extLst>
          </p:cNvPr>
          <p:cNvSpPr>
            <a:spLocks xmlns:a="http://schemas.openxmlformats.org/drawingml/2006/main" noGrp="1"/>
          </p:cNvSpPr>
          <p:nvPr/>
        </p:nvSpPr>
        <p:spPr>
          <a:xfrm xmlns:a="http://schemas.openxmlformats.org/drawingml/2006/main">
            <a:off x="63817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DECIDE</a:t>
            </a:r>
          </a:p>
        </p:txBody>
      </p:sp>
      <p:sp>
        <p:nvSpPr>
          <p:cNvPr id="16" name="">
            <a:extLst xmlns:a="http://schemas.openxmlformats.org/drawingml/2006/main">
              <a:ext uri="{FF2B5EF4-FFF2-40B4-BE49-F238E27FC236}">
                <a16:creationId xmlns:a16="http://schemas.microsoft.com/office/drawing/2014/main" id="{486E6EBA-EF5E-48BE-A2A9-627F1001EF13}"/>
              </a:ext>
            </a:extLst>
          </p:cNvPr>
          <p:cNvSpPr>
            <a:spLocks xmlns:a="http://schemas.openxmlformats.org/drawingml/2006/main" noGrp="1"/>
          </p:cNvSpPr>
          <p:nvPr/>
        </p:nvSpPr>
        <p:spPr>
          <a:xfrm xmlns:a="http://schemas.openxmlformats.org/drawingml/2006/main">
            <a:off x="63817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Choose one action</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Use fixed LLM</a:t>
            </a:r>
          </a:p>
        </p:txBody>
      </p:sp>
      <p:sp>
        <p:nvSpPr>
          <p:cNvPr id="17" name="">
            <a:extLst xmlns:a="http://schemas.openxmlformats.org/drawingml/2006/main">
              <a:ext uri="{FF2B5EF4-FFF2-40B4-BE49-F238E27FC236}">
                <a16:creationId xmlns:a16="http://schemas.microsoft.com/office/drawing/2014/main" id="{0435FBE9-DDB1-4C99-8E16-5F5F3F2BA245}"/>
              </a:ext>
            </a:extLst>
          </p:cNvPr>
          <p:cNvSpPr>
            <a:spLocks xmlns:a="http://schemas.openxmlformats.org/drawingml/2006/main" noGrp="1"/>
          </p:cNvSpPr>
          <p:nvPr/>
        </p:nvSpPr>
        <p:spPr>
          <a:xfrm xmlns:a="http://schemas.openxmlformats.org/drawingml/2006/main">
            <a:off x="87725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1A1F845-64AC-47EA-97CC-EA1CC281231C}"/>
              </a:ext>
            </a:extLst>
          </p:cNvPr>
          <p:cNvSpPr>
            <a:spLocks xmlns:a="http://schemas.openxmlformats.org/drawingml/2006/main" noGrp="1"/>
          </p:cNvSpPr>
          <p:nvPr/>
        </p:nvSpPr>
        <p:spPr>
          <a:xfrm xmlns:a="http://schemas.openxmlformats.org/drawingml/2006/main">
            <a:off x="90487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9" name="">
            <a:extLst xmlns:a="http://schemas.openxmlformats.org/drawingml/2006/main">
              <a:ext uri="{FF2B5EF4-FFF2-40B4-BE49-F238E27FC236}">
                <a16:creationId xmlns:a16="http://schemas.microsoft.com/office/drawing/2014/main" id="{557AEF38-C733-4F7D-BB1D-D18EA1A3FDE5}"/>
              </a:ext>
            </a:extLst>
          </p:cNvPr>
          <p:cNvSpPr>
            <a:spLocks xmlns:a="http://schemas.openxmlformats.org/drawingml/2006/main" noGrp="1"/>
          </p:cNvSpPr>
          <p:nvPr/>
        </p:nvSpPr>
        <p:spPr>
          <a:xfrm xmlns:a="http://schemas.openxmlformats.org/drawingml/2006/main">
            <a:off x="91821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ACT + VERIFY</a:t>
            </a:r>
          </a:p>
        </p:txBody>
      </p:sp>
      <p:sp>
        <p:nvSpPr>
          <p:cNvPr id="20" name="">
            <a:extLst xmlns:a="http://schemas.openxmlformats.org/drawingml/2006/main">
              <a:ext uri="{FF2B5EF4-FFF2-40B4-BE49-F238E27FC236}">
                <a16:creationId xmlns:a16="http://schemas.microsoft.com/office/drawing/2014/main" id="{879A7B1C-1734-41F2-94B4-3FF053549F20}"/>
              </a:ext>
            </a:extLst>
          </p:cNvPr>
          <p:cNvSpPr>
            <a:spLocks xmlns:a="http://schemas.openxmlformats.org/drawingml/2006/main" noGrp="1"/>
          </p:cNvSpPr>
          <p:nvPr/>
        </p:nvSpPr>
        <p:spPr>
          <a:xfrm xmlns:a="http://schemas.openxmlformats.org/drawingml/2006/main">
            <a:off x="91821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Host checks action</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Record outcome</a:t>
            </a:r>
          </a:p>
        </p:txBody>
      </p:sp>
      <p:sp>
        <p:nvSpPr>
          <p:cNvPr id="21" name="">
            <a:extLst xmlns:a="http://schemas.openxmlformats.org/drawingml/2006/main">
              <a:ext uri="{FF2B5EF4-FFF2-40B4-BE49-F238E27FC236}">
                <a16:creationId xmlns:a16="http://schemas.microsoft.com/office/drawing/2014/main" id="{E72FBF11-B859-48DA-8045-2F97285AD32C}"/>
              </a:ext>
            </a:extLst>
          </p:cNvPr>
          <p:cNvSpPr>
            <a:spLocks xmlns:a="http://schemas.openxmlformats.org/drawingml/2006/main" noGrp="1"/>
          </p:cNvSpPr>
          <p:nvPr/>
        </p:nvSpPr>
        <p:spPr>
          <a:xfrm xmlns:a="http://schemas.openxmlformats.org/drawingml/2006/main">
            <a:off x="10382250" y="2933700"/>
            <a:ext cx="0" cy="28575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2" name="">
            <a:extLst xmlns:a="http://schemas.openxmlformats.org/drawingml/2006/main">
              <a:ext uri="{FF2B5EF4-FFF2-40B4-BE49-F238E27FC236}">
                <a16:creationId xmlns:a16="http://schemas.microsoft.com/office/drawing/2014/main" id="{E0415458-2B93-4C02-8D02-5C012E16738B}"/>
              </a:ext>
            </a:extLst>
          </p:cNvPr>
          <p:cNvSpPr>
            <a:spLocks xmlns:a="http://schemas.openxmlformats.org/drawingml/2006/main" noGrp="1"/>
          </p:cNvSpPr>
          <p:nvPr/>
        </p:nvSpPr>
        <p:spPr>
          <a:xfrm xmlns:a="http://schemas.openxmlformats.org/drawingml/2006/main">
            <a:off x="1714500" y="3219450"/>
            <a:ext cx="8667750" cy="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3" name="">
            <a:extLst xmlns:a="http://schemas.openxmlformats.org/drawingml/2006/main">
              <a:ext uri="{FF2B5EF4-FFF2-40B4-BE49-F238E27FC236}">
                <a16:creationId xmlns:a16="http://schemas.microsoft.com/office/drawing/2014/main" id="{BDD2C684-B78B-4EAE-A7AC-279ADCDF940A}"/>
              </a:ext>
            </a:extLst>
          </p:cNvPr>
          <p:cNvSpPr>
            <a:spLocks xmlns:a="http://schemas.openxmlformats.org/drawingml/2006/main" noGrp="1"/>
          </p:cNvSpPr>
          <p:nvPr/>
        </p:nvSpPr>
        <p:spPr>
          <a:xfrm xmlns:a="http://schemas.openxmlformats.org/drawingml/2006/main">
            <a:off x="1638300" y="2943225"/>
            <a:ext cx="152400" cy="276225"/>
          </a:xfrm>
          <a:prstGeom xmlns:a="http://schemas.openxmlformats.org/drawingml/2006/main" prst="upArrow">
            <a:avLst/>
          </a:prstGeom>
          <a:solidFill xmlns:a="http://schemas.openxmlformats.org/drawingml/2006/main">
            <a:srgbClr val="66D9A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42A61D5-6684-4632-B093-25CE3DE4271E}"/>
              </a:ext>
            </a:extLst>
          </p:cNvPr>
          <p:cNvSpPr>
            <a:spLocks xmlns:a="http://schemas.openxmlformats.org/drawingml/2006/main" noGrp="1"/>
          </p:cNvSpPr>
          <p:nvPr/>
        </p:nvSpPr>
        <p:spPr>
          <a:xfrm xmlns:a="http://schemas.openxmlformats.org/drawingml/2006/main">
            <a:off x="1143000" y="3362325"/>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66D9AB"/>
                </a:solidFill>
                <a:latin typeface="Arial"/>
                <a:ea typeface="Arial"/>
                <a:cs typeface="Arial"/>
              </a:defRPr>
            </a:defPPr>
            <a:lvl1pPr>
              <a:defRPr sz="1875" b="1">
                <a:solidFill>
                  <a:srgbClr val="66D9AB"/>
                </a:solidFill>
                <a:latin typeface="Arial"/>
                <a:ea typeface="Arial"/>
                <a:cs typeface="Arial"/>
              </a:defRPr>
            </a:lvl1pPr>
            <a:lvl2pPr>
              <a:defRPr sz="1875" b="1">
                <a:solidFill>
                  <a:srgbClr val="66D9AB"/>
                </a:solidFill>
                <a:latin typeface="Arial"/>
                <a:ea typeface="Arial"/>
                <a:cs typeface="Arial"/>
              </a:defRPr>
            </a:lvl2pPr>
            <a:lvl3pPr>
              <a:defRPr sz="1875" b="1">
                <a:solidFill>
                  <a:srgbClr val="66D9AB"/>
                </a:solidFill>
                <a:latin typeface="Arial"/>
                <a:ea typeface="Arial"/>
                <a:cs typeface="Arial"/>
              </a:defRPr>
            </a:lvl3pPr>
            <a:lvl4pPr>
              <a:defRPr sz="1875" b="1">
                <a:solidFill>
                  <a:srgbClr val="66D9AB"/>
                </a:solidFill>
                <a:latin typeface="Arial"/>
                <a:ea typeface="Arial"/>
                <a:cs typeface="Arial"/>
              </a:defRPr>
            </a:lvl4pPr>
            <a:lvl5pPr>
              <a:defRPr sz="1875" b="1">
                <a:solidFill>
                  <a:srgbClr val="66D9AB"/>
                </a:solidFill>
                <a:latin typeface="Arial"/>
                <a:ea typeface="Arial"/>
                <a:cs typeface="Arial"/>
              </a:defRPr>
            </a:lvl5pPr>
            <a:lvl6pPr>
              <a:defRPr sz="1875" b="1">
                <a:solidFill>
                  <a:srgbClr val="66D9AB"/>
                </a:solidFill>
                <a:latin typeface="Arial"/>
                <a:ea typeface="Arial"/>
                <a:cs typeface="Arial"/>
              </a:defRPr>
            </a:lvl6pPr>
            <a:lvl7pPr>
              <a:defRPr sz="1875" b="1">
                <a:solidFill>
                  <a:srgbClr val="66D9AB"/>
                </a:solidFill>
                <a:latin typeface="Arial"/>
                <a:ea typeface="Arial"/>
                <a:cs typeface="Arial"/>
              </a:defRPr>
            </a:lvl7pPr>
            <a:lvl8pPr>
              <a:defRPr sz="1875" b="1">
                <a:solidFill>
                  <a:srgbClr val="66D9AB"/>
                </a:solidFill>
                <a:latin typeface="Arial"/>
                <a:ea typeface="Arial"/>
                <a:cs typeface="Arial"/>
              </a:defRPr>
            </a:lvl8pPr>
            <a:lvl9pPr>
              <a:defRPr sz="1875" b="1">
                <a:solidFill>
                  <a:srgbClr val="66D9AB"/>
                </a:solidFill>
                <a:latin typeface="Arial"/>
                <a:ea typeface="Arial"/>
                <a:cs typeface="Arial"/>
              </a:defRPr>
            </a:lvl9pPr>
          </a:lstStyle>
          <a:p xmlns:a="http://schemas.openxmlformats.org/drawingml/2006/main">
            <a:pPr>
              <a:defRPr sz="1875" b="1">
                <a:solidFill>
                  <a:srgbClr val="66D9AB"/>
                </a:solidFill>
                <a:latin typeface="Arial"/>
                <a:ea typeface="Arial"/>
                <a:cs typeface="Arial"/>
              </a:defRPr>
            </a:pPr>
            <a:r>
              <a:rPr sz="1875" b="1">
                <a:solidFill>
                  <a:srgbClr val="66D9AB"/>
                </a:solidFill>
                <a:latin typeface="Arial"/>
                <a:ea typeface="Arial"/>
                <a:cs typeface="Arial"/>
              </a:rPr>
              <a:t>Repeat only while budget remains. Stop with a verified feasible result.</a:t>
            </a:r>
          </a:p>
        </p:txBody>
      </p:sp>
      <p:sp>
        <p:nvSpPr>
          <p:cNvPr id="25" name="">
            <a:extLst xmlns:a="http://schemas.openxmlformats.org/drawingml/2006/main">
              <a:ext uri="{FF2B5EF4-FFF2-40B4-BE49-F238E27FC236}">
                <a16:creationId xmlns:a16="http://schemas.microsoft.com/office/drawing/2014/main" id="{33DA9845-4F89-44A6-8963-57DDB14DA4E2}"/>
              </a:ext>
            </a:extLst>
          </p:cNvPr>
          <p:cNvSpPr>
            <a:spLocks xmlns:a="http://schemas.openxmlformats.org/drawingml/2006/main" noGrp="1"/>
          </p:cNvSpPr>
          <p:nvPr/>
        </p:nvSpPr>
        <p:spPr>
          <a:xfrm xmlns:a="http://schemas.openxmlformats.org/drawingml/2006/main">
            <a:off x="685800" y="4010025"/>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LIVE GPT-6 LUNA PILOT</a:t>
            </a:r>
          </a:p>
        </p:txBody>
      </p:sp>
      <p:sp>
        <p:nvSpPr>
          <p:cNvPr id="26" name="">
            <a:extLst xmlns:a="http://schemas.openxmlformats.org/drawingml/2006/main">
              <a:ext uri="{FF2B5EF4-FFF2-40B4-BE49-F238E27FC236}">
                <a16:creationId xmlns:a16="http://schemas.microsoft.com/office/drawing/2014/main" id="{36314A21-D732-42F5-B7A6-B4BF3C7B7639}"/>
              </a:ext>
            </a:extLst>
          </p:cNvPr>
          <p:cNvSpPr>
            <a:spLocks xmlns:a="http://schemas.openxmlformats.org/drawingml/2006/main" noGrp="1"/>
          </p:cNvSpPr>
          <p:nvPr/>
        </p:nvSpPr>
        <p:spPr>
          <a:xfrm xmlns:a="http://schemas.openxmlformats.org/drawingml/2006/main">
            <a:off x="685800"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Without retrieval</a:t>
            </a:r>
          </a:p>
        </p:txBody>
      </p:sp>
      <p:sp>
        <p:nvSpPr>
          <p:cNvPr id="27" name="">
            <a:extLst xmlns:a="http://schemas.openxmlformats.org/drawingml/2006/main">
              <a:ext uri="{FF2B5EF4-FFF2-40B4-BE49-F238E27FC236}">
                <a16:creationId xmlns:a16="http://schemas.microsoft.com/office/drawing/2014/main" id="{D39F5486-5AA2-4219-AF6B-F570CF24D126}"/>
              </a:ext>
            </a:extLst>
          </p:cNvPr>
          <p:cNvSpPr>
            <a:spLocks xmlns:a="http://schemas.openxmlformats.org/drawingml/2006/main" noGrp="1"/>
          </p:cNvSpPr>
          <p:nvPr/>
        </p:nvSpPr>
        <p:spPr>
          <a:xfrm xmlns:a="http://schemas.openxmlformats.org/drawingml/2006/main">
            <a:off x="685800"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queries   /   9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rejected finalizations</a:t>
            </a:r>
          </a:p>
        </p:txBody>
      </p:sp>
      <p:sp>
        <p:nvSpPr>
          <p:cNvPr id="28" name="">
            <a:extLst xmlns:a="http://schemas.openxmlformats.org/drawingml/2006/main">
              <a:ext uri="{FF2B5EF4-FFF2-40B4-BE49-F238E27FC236}">
                <a16:creationId xmlns:a16="http://schemas.microsoft.com/office/drawing/2014/main" id="{9F596885-E039-46C8-824D-B866443D9171}"/>
              </a:ext>
            </a:extLst>
          </p:cNvPr>
          <p:cNvSpPr>
            <a:spLocks xmlns:a="http://schemas.openxmlformats.org/drawingml/2006/main" noGrp="1"/>
          </p:cNvSpPr>
          <p:nvPr/>
        </p:nvSpPr>
        <p:spPr>
          <a:xfrm xmlns:a="http://schemas.openxmlformats.org/drawingml/2006/main">
            <a:off x="4410075" y="4524375"/>
            <a:ext cx="3381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 hybrid memory</a:t>
            </a:r>
          </a:p>
        </p:txBody>
      </p:sp>
      <p:sp>
        <p:nvSpPr>
          <p:cNvPr id="29" name="">
            <a:extLst xmlns:a="http://schemas.openxmlformats.org/drawingml/2006/main">
              <a:ext uri="{FF2B5EF4-FFF2-40B4-BE49-F238E27FC236}">
                <a16:creationId xmlns:a16="http://schemas.microsoft.com/office/drawing/2014/main" id="{52A88253-769B-4CAB-A43E-056181DD40C2}"/>
              </a:ext>
            </a:extLst>
          </p:cNvPr>
          <p:cNvSpPr>
            <a:spLocks xmlns:a="http://schemas.openxmlformats.org/drawingml/2006/main" noGrp="1"/>
          </p:cNvSpPr>
          <p:nvPr/>
        </p:nvSpPr>
        <p:spPr>
          <a:xfrm xmlns:a="http://schemas.openxmlformats.org/drawingml/2006/main">
            <a:off x="4410075"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2 queries   /   4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0 rejected finalizations</a:t>
            </a:r>
          </a:p>
        </p:txBody>
      </p:sp>
      <p:sp>
        <p:nvSpPr>
          <p:cNvPr id="30" name="">
            <a:extLst xmlns:a="http://schemas.openxmlformats.org/drawingml/2006/main">
              <a:ext uri="{FF2B5EF4-FFF2-40B4-BE49-F238E27FC236}">
                <a16:creationId xmlns:a16="http://schemas.microsoft.com/office/drawing/2014/main" id="{65A32B05-3146-406A-885D-E69CF9B48D26}"/>
              </a:ext>
            </a:extLst>
          </p:cNvPr>
          <p:cNvSpPr>
            <a:spLocks xmlns:a="http://schemas.openxmlformats.org/drawingml/2006/main" noGrp="1"/>
          </p:cNvSpPr>
          <p:nvPr/>
        </p:nvSpPr>
        <p:spPr>
          <a:xfrm xmlns:a="http://schemas.openxmlformats.org/drawingml/2006/main">
            <a:off x="8334375"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Same verified result</a:t>
            </a:r>
          </a:p>
        </p:txBody>
      </p:sp>
      <p:sp>
        <p:nvSpPr>
          <p:cNvPr id="31" name="">
            <a:extLst xmlns:a="http://schemas.openxmlformats.org/drawingml/2006/main">
              <a:ext uri="{FF2B5EF4-FFF2-40B4-BE49-F238E27FC236}">
                <a16:creationId xmlns:a16="http://schemas.microsoft.com/office/drawing/2014/main" id="{CC7583A0-B830-4102-B2CF-8BDFE7BCB9B8}"/>
              </a:ext>
            </a:extLst>
          </p:cNvPr>
          <p:cNvSpPr>
            <a:spLocks xmlns:a="http://schemas.openxmlformats.org/drawingml/2006/main" noGrp="1"/>
          </p:cNvSpPr>
          <p:nvPr/>
        </p:nvSpPr>
        <p:spPr>
          <a:xfrm xmlns:a="http://schemas.openxmlformats.org/drawingml/2006/main">
            <a:off x="8334375" y="4962525"/>
            <a:ext cx="3238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1.0214× speedup</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+50 LUT4, 65.99 MHz</a:t>
            </a:r>
          </a:p>
        </p:txBody>
      </p:sp>
      <p:sp>
        <p:nvSpPr>
          <p:cNvPr id="32" name="">
            <a:extLst xmlns:a="http://schemas.openxmlformats.org/drawingml/2006/main">
              <a:ext uri="{FF2B5EF4-FFF2-40B4-BE49-F238E27FC236}">
                <a16:creationId xmlns:a16="http://schemas.microsoft.com/office/drawing/2014/main" id="{524CB2FF-B642-405D-9A01-C881718009F7}"/>
              </a:ext>
            </a:extLst>
          </p:cNvPr>
          <p:cNvSpPr>
            <a:spLocks xmlns:a="http://schemas.openxmlformats.org/drawingml/2006/main" noGrp="1"/>
          </p:cNvSpPr>
          <p:nvPr/>
        </p:nvSpPr>
        <p:spPr>
          <a:xfrm xmlns:a="http://schemas.openxmlformats.org/drawingml/2006/main">
            <a:off x="685800" y="60198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FC978"/>
                </a:solidFill>
                <a:latin typeface="Arial"/>
                <a:ea typeface="Arial"/>
                <a:cs typeface="Arial"/>
              </a:defRPr>
            </a:defPPr>
            <a:lvl1pPr>
              <a:defRPr sz="1650" b="1">
                <a:solidFill>
                  <a:srgbClr val="FFC978"/>
                </a:solidFill>
                <a:latin typeface="Arial"/>
                <a:ea typeface="Arial"/>
                <a:cs typeface="Arial"/>
              </a:defRPr>
            </a:lvl1pPr>
            <a:lvl2pPr>
              <a:defRPr sz="1650" b="1">
                <a:solidFill>
                  <a:srgbClr val="FFC978"/>
                </a:solidFill>
                <a:latin typeface="Arial"/>
                <a:ea typeface="Arial"/>
                <a:cs typeface="Arial"/>
              </a:defRPr>
            </a:lvl2pPr>
            <a:lvl3pPr>
              <a:defRPr sz="1650" b="1">
                <a:solidFill>
                  <a:srgbClr val="FFC978"/>
                </a:solidFill>
                <a:latin typeface="Arial"/>
                <a:ea typeface="Arial"/>
                <a:cs typeface="Arial"/>
              </a:defRPr>
            </a:lvl3pPr>
            <a:lvl4pPr>
              <a:defRPr sz="1650" b="1">
                <a:solidFill>
                  <a:srgbClr val="FFC978"/>
                </a:solidFill>
                <a:latin typeface="Arial"/>
                <a:ea typeface="Arial"/>
                <a:cs typeface="Arial"/>
              </a:defRPr>
            </a:lvl4pPr>
            <a:lvl5pPr>
              <a:defRPr sz="1650" b="1">
                <a:solidFill>
                  <a:srgbClr val="FFC978"/>
                </a:solidFill>
                <a:latin typeface="Arial"/>
                <a:ea typeface="Arial"/>
                <a:cs typeface="Arial"/>
              </a:defRPr>
            </a:lvl5pPr>
            <a:lvl6pPr>
              <a:defRPr sz="1650" b="1">
                <a:solidFill>
                  <a:srgbClr val="FFC978"/>
                </a:solidFill>
                <a:latin typeface="Arial"/>
                <a:ea typeface="Arial"/>
                <a:cs typeface="Arial"/>
              </a:defRPr>
            </a:lvl6pPr>
            <a:lvl7pPr>
              <a:defRPr sz="1650" b="1">
                <a:solidFill>
                  <a:srgbClr val="FFC978"/>
                </a:solidFill>
                <a:latin typeface="Arial"/>
                <a:ea typeface="Arial"/>
                <a:cs typeface="Arial"/>
              </a:defRPr>
            </a:lvl7pPr>
            <a:lvl8pPr>
              <a:defRPr sz="1650" b="1">
                <a:solidFill>
                  <a:srgbClr val="FFC978"/>
                </a:solidFill>
                <a:latin typeface="Arial"/>
                <a:ea typeface="Arial"/>
                <a:cs typeface="Arial"/>
              </a:defRPr>
            </a:lvl8pPr>
            <a:lvl9pPr>
              <a:defRPr sz="1650" b="1">
                <a:solidFill>
                  <a:srgbClr val="FFC978"/>
                </a:solidFill>
                <a:latin typeface="Arial"/>
                <a:ea typeface="Arial"/>
                <a:cs typeface="Arial"/>
              </a:defRPr>
            </a:lvl9pPr>
          </a:lstStyle>
          <a:p xmlns:a="http://schemas.openxmlformats.org/drawingml/2006/main">
            <a:pPr>
              <a:defRPr sz="1650" b="1">
                <a:solidFill>
                  <a:srgbClr val="FFC978"/>
                </a:solidFill>
                <a:latin typeface="Arial"/>
                <a:ea typeface="Arial"/>
                <a:cs typeface="Arial"/>
              </a:defRPr>
            </a:pPr>
            <a:r>
              <a:rPr sz="1650" b="1">
                <a:solidFill>
                  <a:srgbClr val="FFC978"/>
                </a:solidFill>
                <a:latin typeface="Arial"/>
                <a:ea typeface="Arial"/>
                <a:cs typeface="Arial"/>
              </a:rPr>
              <a:t>One trial per arm on archived SHA256. Strong cost heuristic: 1 query.</a:t>
            </a:r>
          </a:p>
        </p:txBody>
      </p:sp>
    </p:spTree>
    <p:extLst>
      <p:ext uri="{BB962C8B-B14F-4D97-AF65-F5344CB8AC3E}">
        <p14:creationId xmlns:p14="http://schemas.microsoft.com/office/powerpoint/2010/main" val="163287186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A108D60-8DF9-4661-BC87-E3D0A94246D6}"/>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Tools and observability: execution we can audit</a:t>
            </a:r>
          </a:p>
        </p:txBody>
      </p:sp>
      <p:sp>
        <p:nvSpPr>
          <p:cNvPr id="2" name="">
            <a:extLst xmlns:a="http://schemas.openxmlformats.org/drawingml/2006/main">
              <a:ext uri="{FF2B5EF4-FFF2-40B4-BE49-F238E27FC236}">
                <a16:creationId xmlns:a16="http://schemas.microsoft.com/office/drawing/2014/main" id="{083AB77F-26BF-477B-A307-A574D80E7F17}"/>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5C1256E-7F15-445E-BD6A-C5529BE77E90}"/>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5EA66D21-7B68-48BD-8C3D-E0546240D01D}"/>
              </a:ext>
            </a:extLst>
          </p:cNvPr>
          <p:cNvSpPr>
            <a:spLocks xmlns:a="http://schemas.openxmlformats.org/drawingml/2006/main" noGrp="1"/>
          </p:cNvSpPr>
          <p:nvPr/>
        </p:nvSpPr>
        <p:spPr>
          <a:xfrm xmlns:a="http://schemas.openxmlformats.org/drawingml/2006/main">
            <a:off x="685800" y="138112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FUNCTION CALLING</a:t>
            </a:r>
          </a:p>
        </p:txBody>
      </p:sp>
      <p:sp>
        <p:nvSpPr>
          <p:cNvPr id="5" name="">
            <a:extLst xmlns:a="http://schemas.openxmlformats.org/drawingml/2006/main">
              <a:ext uri="{FF2B5EF4-FFF2-40B4-BE49-F238E27FC236}">
                <a16:creationId xmlns:a16="http://schemas.microsoft.com/office/drawing/2014/main" id="{328E6A60-7C63-4202-A8D1-854BC3F4DB49}"/>
              </a:ext>
            </a:extLst>
          </p:cNvPr>
          <p:cNvSpPr>
            <a:spLocks xmlns:a="http://schemas.openxmlformats.org/drawingml/2006/main" noGrp="1"/>
          </p:cNvSpPr>
          <p:nvPr/>
        </p:nvSpPr>
        <p:spPr>
          <a:xfrm xmlns:a="http://schemas.openxmlformats.org/drawingml/2006/main">
            <a:off x="685800" y="191452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list_candidates</a:t>
            </a:r>
          </a:p>
        </p:txBody>
      </p:sp>
      <p:sp>
        <p:nvSpPr>
          <p:cNvPr id="6" name="">
            <a:extLst xmlns:a="http://schemas.openxmlformats.org/drawingml/2006/main">
              <a:ext uri="{FF2B5EF4-FFF2-40B4-BE49-F238E27FC236}">
                <a16:creationId xmlns:a16="http://schemas.microsoft.com/office/drawing/2014/main" id="{B854EF13-ED12-4E0F-A198-67DFBA386D55}"/>
              </a:ext>
            </a:extLst>
          </p:cNvPr>
          <p:cNvSpPr>
            <a:spLocks xmlns:a="http://schemas.openxmlformats.org/drawingml/2006/main" noGrp="1"/>
          </p:cNvSpPr>
          <p:nvPr/>
        </p:nvSpPr>
        <p:spPr>
          <a:xfrm xmlns:a="http://schemas.openxmlformats.org/drawingml/2006/main">
            <a:off x="685800" y="227647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Legal patterns and public constraints</a:t>
            </a:r>
          </a:p>
        </p:txBody>
      </p:sp>
      <p:sp>
        <p:nvSpPr>
          <p:cNvPr id="7" name="">
            <a:extLst xmlns:a="http://schemas.openxmlformats.org/drawingml/2006/main">
              <a:ext uri="{FF2B5EF4-FFF2-40B4-BE49-F238E27FC236}">
                <a16:creationId xmlns:a16="http://schemas.microsoft.com/office/drawing/2014/main" id="{83DA896E-1640-4A6B-8E32-E430384EB24F}"/>
              </a:ext>
            </a:extLst>
          </p:cNvPr>
          <p:cNvSpPr>
            <a:spLocks xmlns:a="http://schemas.openxmlformats.org/drawingml/2006/main" noGrp="1"/>
          </p:cNvSpPr>
          <p:nvPr/>
        </p:nvSpPr>
        <p:spPr>
          <a:xfrm xmlns:a="http://schemas.openxmlformats.org/drawingml/2006/main">
            <a:off x="685800" y="266700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3606BAD4-D911-4290-A4BD-2EA052776B8D}"/>
              </a:ext>
            </a:extLst>
          </p:cNvPr>
          <p:cNvSpPr>
            <a:spLocks xmlns:a="http://schemas.openxmlformats.org/drawingml/2006/main" noGrp="1"/>
          </p:cNvSpPr>
          <p:nvPr/>
        </p:nvSpPr>
        <p:spPr>
          <a:xfrm xmlns:a="http://schemas.openxmlformats.org/drawingml/2006/main">
            <a:off x="685800" y="276225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predict</a:t>
            </a:r>
          </a:p>
        </p:txBody>
      </p:sp>
      <p:sp>
        <p:nvSpPr>
          <p:cNvPr id="9" name="">
            <a:extLst xmlns:a="http://schemas.openxmlformats.org/drawingml/2006/main">
              <a:ext uri="{FF2B5EF4-FFF2-40B4-BE49-F238E27FC236}">
                <a16:creationId xmlns:a16="http://schemas.microsoft.com/office/drawing/2014/main" id="{2231E649-6D70-4980-9F68-BCD8F764AE4A}"/>
              </a:ext>
            </a:extLst>
          </p:cNvPr>
          <p:cNvSpPr>
            <a:spLocks xmlns:a="http://schemas.openxmlformats.org/drawingml/2006/main" noGrp="1"/>
          </p:cNvSpPr>
          <p:nvPr/>
        </p:nvSpPr>
        <p:spPr>
          <a:xfrm xmlns:a="http://schemas.openxmlformats.org/drawingml/2006/main">
            <a:off x="685800" y="312420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Rankings and hardware estimates</a:t>
            </a:r>
          </a:p>
        </p:txBody>
      </p:sp>
      <p:sp>
        <p:nvSpPr>
          <p:cNvPr id="10" name="">
            <a:extLst xmlns:a="http://schemas.openxmlformats.org/drawingml/2006/main">
              <a:ext uri="{FF2B5EF4-FFF2-40B4-BE49-F238E27FC236}">
                <a16:creationId xmlns:a16="http://schemas.microsoft.com/office/drawing/2014/main" id="{70C40F92-6581-4354-9E40-03D18638C8B9}"/>
              </a:ext>
            </a:extLst>
          </p:cNvPr>
          <p:cNvSpPr>
            <a:spLocks xmlns:a="http://schemas.openxmlformats.org/drawingml/2006/main" noGrp="1"/>
          </p:cNvSpPr>
          <p:nvPr/>
        </p:nvSpPr>
        <p:spPr>
          <a:xfrm xmlns:a="http://schemas.openxmlformats.org/drawingml/2006/main">
            <a:off x="685800" y="3514725"/>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1" name="">
            <a:extLst xmlns:a="http://schemas.openxmlformats.org/drawingml/2006/main">
              <a:ext uri="{FF2B5EF4-FFF2-40B4-BE49-F238E27FC236}">
                <a16:creationId xmlns:a16="http://schemas.microsoft.com/office/drawing/2014/main" id="{288937EF-94C8-4CAB-87CB-6F397547249F}"/>
              </a:ext>
            </a:extLst>
          </p:cNvPr>
          <p:cNvSpPr>
            <a:spLocks xmlns:a="http://schemas.openxmlformats.org/drawingml/2006/main" noGrp="1"/>
          </p:cNvSpPr>
          <p:nvPr/>
        </p:nvSpPr>
        <p:spPr>
          <a:xfrm xmlns:a="http://schemas.openxmlformats.org/drawingml/2006/main">
            <a:off x="685800" y="360997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measure</a:t>
            </a:r>
          </a:p>
        </p:txBody>
      </p:sp>
      <p:sp>
        <p:nvSpPr>
          <p:cNvPr id="12" name="">
            <a:extLst xmlns:a="http://schemas.openxmlformats.org/drawingml/2006/main">
              <a:ext uri="{FF2B5EF4-FFF2-40B4-BE49-F238E27FC236}">
                <a16:creationId xmlns:a16="http://schemas.microsoft.com/office/drawing/2014/main" id="{5A816A2D-4820-45CF-A762-28C053198B73}"/>
              </a:ext>
            </a:extLst>
          </p:cNvPr>
          <p:cNvSpPr>
            <a:spLocks xmlns:a="http://schemas.openxmlformats.org/drawingml/2006/main" noGrp="1"/>
          </p:cNvSpPr>
          <p:nvPr/>
        </p:nvSpPr>
        <p:spPr>
          <a:xfrm xmlns:a="http://schemas.openxmlformats.org/drawingml/2006/main">
            <a:off x="685800" y="397192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Charge attempt, return measured result</a:t>
            </a:r>
          </a:p>
        </p:txBody>
      </p:sp>
      <p:sp>
        <p:nvSpPr>
          <p:cNvPr id="13" name="">
            <a:extLst xmlns:a="http://schemas.openxmlformats.org/drawingml/2006/main">
              <a:ext uri="{FF2B5EF4-FFF2-40B4-BE49-F238E27FC236}">
                <a16:creationId xmlns:a16="http://schemas.microsoft.com/office/drawing/2014/main" id="{7E43CEAA-002F-4697-8837-25ACA70675FF}"/>
              </a:ext>
            </a:extLst>
          </p:cNvPr>
          <p:cNvSpPr>
            <a:spLocks xmlns:a="http://schemas.openxmlformats.org/drawingml/2006/main" noGrp="1"/>
          </p:cNvSpPr>
          <p:nvPr/>
        </p:nvSpPr>
        <p:spPr>
          <a:xfrm xmlns:a="http://schemas.openxmlformats.org/drawingml/2006/main">
            <a:off x="685800" y="436245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C45A521A-63AE-43D1-B893-38F1B461C50B}"/>
              </a:ext>
            </a:extLst>
          </p:cNvPr>
          <p:cNvSpPr>
            <a:spLocks xmlns:a="http://schemas.openxmlformats.org/drawingml/2006/main" noGrp="1"/>
          </p:cNvSpPr>
          <p:nvPr/>
        </p:nvSpPr>
        <p:spPr>
          <a:xfrm xmlns:a="http://schemas.openxmlformats.org/drawingml/2006/main">
            <a:off x="685800" y="445770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finalize</a:t>
            </a:r>
          </a:p>
        </p:txBody>
      </p:sp>
      <p:sp>
        <p:nvSpPr>
          <p:cNvPr id="15" name="">
            <a:extLst xmlns:a="http://schemas.openxmlformats.org/drawingml/2006/main">
              <a:ext uri="{FF2B5EF4-FFF2-40B4-BE49-F238E27FC236}">
                <a16:creationId xmlns:a16="http://schemas.microsoft.com/office/drawing/2014/main" id="{86D79242-AC0B-43E2-9799-AF7940442A44}"/>
              </a:ext>
            </a:extLst>
          </p:cNvPr>
          <p:cNvSpPr>
            <a:spLocks xmlns:a="http://schemas.openxmlformats.org/drawingml/2006/main" noGrp="1"/>
          </p:cNvSpPr>
          <p:nvPr/>
        </p:nvSpPr>
        <p:spPr>
          <a:xfrm xmlns:a="http://schemas.openxmlformats.org/drawingml/2006/main">
            <a:off x="685800" y="481965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Accept verified design or baseline</a:t>
            </a:r>
          </a:p>
        </p:txBody>
      </p:sp>
      <p:sp>
        <p:nvSpPr>
          <p:cNvPr id="16" name="">
            <a:extLst xmlns:a="http://schemas.openxmlformats.org/drawingml/2006/main">
              <a:ext uri="{FF2B5EF4-FFF2-40B4-BE49-F238E27FC236}">
                <a16:creationId xmlns:a16="http://schemas.microsoft.com/office/drawing/2014/main" id="{9D703F09-0176-4927-8820-04A558EDF281}"/>
              </a:ext>
            </a:extLst>
          </p:cNvPr>
          <p:cNvSpPr>
            <a:spLocks xmlns:a="http://schemas.openxmlformats.org/drawingml/2006/main" noGrp="1"/>
          </p:cNvSpPr>
          <p:nvPr/>
        </p:nvSpPr>
        <p:spPr>
          <a:xfrm xmlns:a="http://schemas.openxmlformats.org/drawingml/2006/main">
            <a:off x="6115050" y="1438275"/>
            <a:ext cx="0" cy="3971925"/>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D96089D0-C46B-48DB-BEEF-E78252DA03E0}"/>
              </a:ext>
            </a:extLst>
          </p:cNvPr>
          <p:cNvSpPr>
            <a:spLocks xmlns:a="http://schemas.openxmlformats.org/drawingml/2006/main" noGrp="1"/>
          </p:cNvSpPr>
          <p:nvPr/>
        </p:nvSpPr>
        <p:spPr>
          <a:xfrm xmlns:a="http://schemas.openxmlformats.org/drawingml/2006/main">
            <a:off x="6477000" y="138112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OBSERVABILITY + LLMOPS</a:t>
            </a:r>
          </a:p>
        </p:txBody>
      </p:sp>
      <p:sp>
        <p:nvSpPr>
          <p:cNvPr id="18" name="">
            <a:extLst xmlns:a="http://schemas.openxmlformats.org/drawingml/2006/main">
              <a:ext uri="{FF2B5EF4-FFF2-40B4-BE49-F238E27FC236}">
                <a16:creationId xmlns:a16="http://schemas.microsoft.com/office/drawing/2014/main" id="{59565326-3B28-4F75-B7FF-18B71B07EC40}"/>
              </a:ext>
            </a:extLst>
          </p:cNvPr>
          <p:cNvSpPr>
            <a:spLocks xmlns:a="http://schemas.openxmlformats.org/drawingml/2006/main" noGrp="1"/>
          </p:cNvSpPr>
          <p:nvPr/>
        </p:nvSpPr>
        <p:spPr>
          <a:xfrm xmlns:a="http://schemas.openxmlformats.org/drawingml/2006/main">
            <a:off x="6477000" y="1914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Versioned experiment identity</a:t>
            </a:r>
          </a:p>
        </p:txBody>
      </p:sp>
      <p:sp>
        <p:nvSpPr>
          <p:cNvPr id="19" name="">
            <a:extLst xmlns:a="http://schemas.openxmlformats.org/drawingml/2006/main">
              <a:ext uri="{FF2B5EF4-FFF2-40B4-BE49-F238E27FC236}">
                <a16:creationId xmlns:a16="http://schemas.microsoft.com/office/drawing/2014/main" id="{BB24FAAA-2EED-41DD-9C59-71F6B9EF05B0}"/>
              </a:ext>
            </a:extLst>
          </p:cNvPr>
          <p:cNvSpPr>
            <a:spLocks xmlns:a="http://schemas.openxmlformats.org/drawingml/2006/main" noGrp="1"/>
          </p:cNvSpPr>
          <p:nvPr/>
        </p:nvSpPr>
        <p:spPr>
          <a:xfrm xmlns:a="http://schemas.openxmlformats.org/drawingml/2006/main">
            <a:off x="6477000" y="2324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Model / prompt / code / data hashes</a:t>
            </a:r>
          </a:p>
        </p:txBody>
      </p:sp>
      <p:sp>
        <p:nvSpPr>
          <p:cNvPr id="20" name="">
            <a:extLst xmlns:a="http://schemas.openxmlformats.org/drawingml/2006/main">
              <a:ext uri="{FF2B5EF4-FFF2-40B4-BE49-F238E27FC236}">
                <a16:creationId xmlns:a16="http://schemas.microsoft.com/office/drawing/2014/main" id="{3E0BA9E5-898F-4FE5-A92B-8230048FB737}"/>
              </a:ext>
            </a:extLst>
          </p:cNvPr>
          <p:cNvSpPr>
            <a:spLocks xmlns:a="http://schemas.openxmlformats.org/drawingml/2006/main" noGrp="1"/>
          </p:cNvSpPr>
          <p:nvPr/>
        </p:nvSpPr>
        <p:spPr>
          <a:xfrm xmlns:a="http://schemas.openxmlformats.org/drawingml/2006/main">
            <a:off x="6477000" y="28670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Linked decision traces</a:t>
            </a:r>
          </a:p>
        </p:txBody>
      </p:sp>
      <p:sp>
        <p:nvSpPr>
          <p:cNvPr id="21" name="">
            <a:extLst xmlns:a="http://schemas.openxmlformats.org/drawingml/2006/main">
              <a:ext uri="{FF2B5EF4-FFF2-40B4-BE49-F238E27FC236}">
                <a16:creationId xmlns:a16="http://schemas.microsoft.com/office/drawing/2014/main" id="{487A3695-D4A2-417F-8FF0-3AA61A4ADC1B}"/>
              </a:ext>
            </a:extLst>
          </p:cNvPr>
          <p:cNvSpPr>
            <a:spLocks xmlns:a="http://schemas.openxmlformats.org/drawingml/2006/main" noGrp="1"/>
          </p:cNvSpPr>
          <p:nvPr/>
        </p:nvSpPr>
        <p:spPr>
          <a:xfrm xmlns:a="http://schemas.openxmlformats.org/drawingml/2006/main">
            <a:off x="6477000" y="32861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Episode → decision → tool → outcome</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Retrieved IDs, errors and charged attempts</a:t>
            </a:r>
          </a:p>
        </p:txBody>
      </p:sp>
      <p:sp>
        <p:nvSpPr>
          <p:cNvPr id="22" name="">
            <a:extLst xmlns:a="http://schemas.openxmlformats.org/drawingml/2006/main">
              <a:ext uri="{FF2B5EF4-FFF2-40B4-BE49-F238E27FC236}">
                <a16:creationId xmlns:a16="http://schemas.microsoft.com/office/drawing/2014/main" id="{2674A91A-0EA8-471A-ABD4-466B6C0CE69A}"/>
              </a:ext>
            </a:extLst>
          </p:cNvPr>
          <p:cNvSpPr>
            <a:spLocks xmlns:a="http://schemas.openxmlformats.org/drawingml/2006/main" noGrp="1"/>
          </p:cNvSpPr>
          <p:nvPr/>
        </p:nvSpPr>
        <p:spPr>
          <a:xfrm xmlns:a="http://schemas.openxmlformats.org/drawingml/2006/main">
            <a:off x="6477000" y="4200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Verified SQLite export</a:t>
            </a:r>
          </a:p>
        </p:txBody>
      </p:sp>
      <p:sp>
        <p:nvSpPr>
          <p:cNvPr id="23" name="">
            <a:extLst xmlns:a="http://schemas.openxmlformats.org/drawingml/2006/main">
              <a:ext uri="{FF2B5EF4-FFF2-40B4-BE49-F238E27FC236}">
                <a16:creationId xmlns:a16="http://schemas.microsoft.com/office/drawing/2014/main" id="{9879477D-1048-45CB-B27D-282C00D43F99}"/>
              </a:ext>
            </a:extLst>
          </p:cNvPr>
          <p:cNvSpPr>
            <a:spLocks xmlns:a="http://schemas.openxmlformats.org/drawingml/2006/main" noGrp="1"/>
          </p:cNvSpPr>
          <p:nvPr/>
        </p:nvSpPr>
        <p:spPr>
          <a:xfrm xmlns:a="http://schemas.openxmlformats.org/drawingml/2006/main">
            <a:off x="6477000" y="46196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Inspect all 13 live agent decisions</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Preserve failures and missing metadata</a:t>
            </a:r>
          </a:p>
        </p:txBody>
      </p:sp>
      <p:sp>
        <p:nvSpPr>
          <p:cNvPr id="24" name="">
            <a:extLst xmlns:a="http://schemas.openxmlformats.org/drawingml/2006/main">
              <a:ext uri="{FF2B5EF4-FFF2-40B4-BE49-F238E27FC236}">
                <a16:creationId xmlns:a16="http://schemas.microsoft.com/office/drawing/2014/main" id="{16E47FF3-5978-4C0D-BB63-591A4DF2D9B6}"/>
              </a:ext>
            </a:extLst>
          </p:cNvPr>
          <p:cNvSpPr>
            <a:spLocks xmlns:a="http://schemas.openxmlformats.org/drawingml/2006/main" noGrp="1"/>
          </p:cNvSpPr>
          <p:nvPr/>
        </p:nvSpPr>
        <p:spPr>
          <a:xfrm xmlns:a="http://schemas.openxmlformats.org/drawingml/2006/main">
            <a:off x="685800" y="561975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8856B"/>
                </a:solidFill>
                <a:latin typeface="Arial"/>
                <a:ea typeface="Arial"/>
                <a:cs typeface="Arial"/>
              </a:defRPr>
            </a:defPPr>
            <a:lvl1pPr>
              <a:defRPr sz="2025" b="1">
                <a:solidFill>
                  <a:srgbClr val="18856B"/>
                </a:solidFill>
                <a:latin typeface="Arial"/>
                <a:ea typeface="Arial"/>
                <a:cs typeface="Arial"/>
              </a:defRPr>
            </a:lvl1pPr>
            <a:lvl2pPr>
              <a:defRPr sz="2025" b="1">
                <a:solidFill>
                  <a:srgbClr val="18856B"/>
                </a:solidFill>
                <a:latin typeface="Arial"/>
                <a:ea typeface="Arial"/>
                <a:cs typeface="Arial"/>
              </a:defRPr>
            </a:lvl2pPr>
            <a:lvl3pPr>
              <a:defRPr sz="2025" b="1">
                <a:solidFill>
                  <a:srgbClr val="18856B"/>
                </a:solidFill>
                <a:latin typeface="Arial"/>
                <a:ea typeface="Arial"/>
                <a:cs typeface="Arial"/>
              </a:defRPr>
            </a:lvl3pPr>
            <a:lvl4pPr>
              <a:defRPr sz="2025" b="1">
                <a:solidFill>
                  <a:srgbClr val="18856B"/>
                </a:solidFill>
                <a:latin typeface="Arial"/>
                <a:ea typeface="Arial"/>
                <a:cs typeface="Arial"/>
              </a:defRPr>
            </a:lvl4pPr>
            <a:lvl5pPr>
              <a:defRPr sz="2025" b="1">
                <a:solidFill>
                  <a:srgbClr val="18856B"/>
                </a:solidFill>
                <a:latin typeface="Arial"/>
                <a:ea typeface="Arial"/>
                <a:cs typeface="Arial"/>
              </a:defRPr>
            </a:lvl5pPr>
            <a:lvl6pPr>
              <a:defRPr sz="2025" b="1">
                <a:solidFill>
                  <a:srgbClr val="18856B"/>
                </a:solidFill>
                <a:latin typeface="Arial"/>
                <a:ea typeface="Arial"/>
                <a:cs typeface="Arial"/>
              </a:defRPr>
            </a:lvl6pPr>
            <a:lvl7pPr>
              <a:defRPr sz="2025" b="1">
                <a:solidFill>
                  <a:srgbClr val="18856B"/>
                </a:solidFill>
                <a:latin typeface="Arial"/>
                <a:ea typeface="Arial"/>
                <a:cs typeface="Arial"/>
              </a:defRPr>
            </a:lvl7pPr>
            <a:lvl8pPr>
              <a:defRPr sz="2025" b="1">
                <a:solidFill>
                  <a:srgbClr val="18856B"/>
                </a:solidFill>
                <a:latin typeface="Arial"/>
                <a:ea typeface="Arial"/>
                <a:cs typeface="Arial"/>
              </a:defRPr>
            </a:lvl8pPr>
            <a:lvl9pPr>
              <a:defRPr sz="2025" b="1">
                <a:solidFill>
                  <a:srgbClr val="18856B"/>
                </a:solidFill>
                <a:latin typeface="Arial"/>
                <a:ea typeface="Arial"/>
                <a:cs typeface="Arial"/>
              </a:defRPr>
            </a:lvl9pPr>
          </a:lstStyle>
          <a:p xmlns:a="http://schemas.openxmlformats.org/drawingml/2006/main">
            <a:pPr>
              <a:defRPr sz="2025" b="1">
                <a:solidFill>
                  <a:srgbClr val="18856B"/>
                </a:solidFill>
                <a:latin typeface="Arial"/>
                <a:ea typeface="Arial"/>
                <a:cs typeface="Arial"/>
              </a:defRPr>
            </a:pPr>
            <a:r>
              <a:rPr sz="2025" b="1">
                <a:solidFill>
                  <a:srgbClr val="18856B"/>
                </a:solidFill>
                <a:latin typeface="Arial"/>
                <a:ea typeface="Arial"/>
                <a:cs typeface="Arial"/>
              </a:rPr>
              <a:t>Host guardrails: correctness + area + timing + finite budgets</a:t>
            </a:r>
          </a:p>
        </p:txBody>
      </p:sp>
      <p:sp>
        <p:nvSpPr>
          <p:cNvPr id="25" name="">
            <a:extLst xmlns:a="http://schemas.openxmlformats.org/drawingml/2006/main">
              <a:ext uri="{FF2B5EF4-FFF2-40B4-BE49-F238E27FC236}">
                <a16:creationId xmlns:a16="http://schemas.microsoft.com/office/drawing/2014/main" id="{ED716829-42FF-46EE-A97B-E555D9AD694D}"/>
              </a:ext>
            </a:extLst>
          </p:cNvPr>
          <p:cNvSpPr>
            <a:spLocks xmlns:a="http://schemas.openxmlformats.org/drawingml/2006/main" noGrp="1"/>
          </p:cNvSpPr>
          <p:nvPr/>
        </p:nvSpPr>
        <p:spPr>
          <a:xfrm xmlns:a="http://schemas.openxmlformats.org/drawingml/2006/main">
            <a:off x="685800" y="6105525"/>
            <a:ext cx="10820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Live tokens / inference latency unavailable. Deployment and restart remain planned.</a:t>
            </a:r>
          </a:p>
        </p:txBody>
      </p:sp>
    </p:spTree>
    <p:extLst>
      <p:ext uri="{BB962C8B-B14F-4D97-AF65-F5344CB8AC3E}">
        <p14:creationId xmlns:p14="http://schemas.microsoft.com/office/powerpoint/2010/main" val="15669039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A5ED67-8548-4D31-BDB9-3AAD802AC7A9}"/>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0C42CAA3-67AF-40E1-84CB-45D802D9F60A}"/>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D73903E-4418-4421-BA6F-1D14A21F9DAA}"/>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3852873B-A433-4724-B46F-9905BE8A1EF1}"/>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4F73E411-5D11-4487-BD68-6EE0DA736E1B}"/>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31B37541-1A61-4F24-8B20-090AEA7B4444}"/>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0AFACA5F-2503-4389-80FB-12C40058A770}"/>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43C4D61D-36CE-4D16-BCBD-69A8BE8E8910}"/>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3677053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A3A332-318B-4436-897D-450BA26A49F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E5EAE3CA-5DBF-401B-B5C8-37117A12736D}"/>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7DA998D2-2D59-4BFC-9D33-78D1FC6AA188}"/>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BE8B66A2-6C7B-421C-A683-A44F88B3CBE7}"/>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640d5e6e7a964667"/>
          </a:graphicData>
        </a:graphic>
      </p:graphicFrame>
      <p:sp>
        <p:nvSpPr>
          <p:cNvPr id="5" name="">
            <a:extLst xmlns:a="http://schemas.openxmlformats.org/drawingml/2006/main">
              <a:ext uri="{FF2B5EF4-FFF2-40B4-BE49-F238E27FC236}">
                <a16:creationId xmlns:a16="http://schemas.microsoft.com/office/drawing/2014/main" id="{95444458-2D30-4F9D-B32C-CED0EAA82240}"/>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C658DA1A-9CBF-4775-A772-11C645A7D905}"/>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365048EE-F96F-434E-A21A-AAFCF0F9E454}"/>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4ECB7BDB-F711-41E9-B291-B14AE9EB6986}"/>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20724275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70242D-1009-48E2-BC5B-1D90A3D318FC}"/>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DB4AF498-D1F0-40E6-A724-320F45B43BA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5DACED78-2D22-493E-A1FE-D1D161852E9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21CDE240-E164-40E7-BC1F-9AA59981799D}"/>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08790689-205B-469B-A7E0-DEFF2876548F}"/>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DDEBEF48-A6A5-41B3-A4D5-96AE7E5671A8}"/>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AF90BCAC-3CF8-41F6-8ED1-6A1F33AEC290}"/>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7E8E17BC-57B9-4937-9F59-A2607B37755C}"/>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1779409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2026-10-28T05:49:11.8230000Z</dcterms:created>
  <dcterms:modified xsi:type="dcterms:W3CDTF">2026-10-28T05:49:11.8230000Z</dcterms:modified>
</coreProperties>
</file>