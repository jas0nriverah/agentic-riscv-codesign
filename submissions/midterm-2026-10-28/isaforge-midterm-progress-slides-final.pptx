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4bc67341eb244dd" Type="http://schemas.openxmlformats.org/package/2006/relationships/metadata/core-properties" Target="docProps/core.xml"/><Relationship Id="R17b91b59711d4368" Type="http://schemas.openxmlformats.org/officeDocument/2006/relationships/extended-properties" Target="docProps/app.xml"/><Relationship Id="Re8532c74a4e64239"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95bdc2181a54f43"/>
  </p:sldMasterIdLst>
  <p:notesMasterIdLst>
    <p:notesMasterId xmlns:r="http://schemas.openxmlformats.org/officeDocument/2006/relationships" r:id="R2a928f1e3d304a36"/>
  </p:notesMasterIdLst>
  <p:sldIdLst>
    <p:sldId xmlns:r="http://schemas.openxmlformats.org/officeDocument/2006/relationships" id="256" r:id="R637ce073915d4f43"/>
    <p:sldId xmlns:r="http://schemas.openxmlformats.org/officeDocument/2006/relationships" id="257" r:id="R6a74fcdabe054a45"/>
    <p:sldId xmlns:r="http://schemas.openxmlformats.org/officeDocument/2006/relationships" id="258" r:id="R7e5036db63094781"/>
    <p:sldId xmlns:ns0="http://schemas.openxmlformats.org/officeDocument/2006/relationships" id="266" ns0:id="rId16"/>
    <p:sldId xmlns:r="http://schemas.openxmlformats.org/officeDocument/2006/relationships" id="259" r:id="Rfb46f69a2fa84dc5"/>
    <p:sldId xmlns:r="http://schemas.openxmlformats.org/officeDocument/2006/relationships" id="260" r:id="Rad70e67b4a984ea7"/>
    <p:sldId xmlns:r="http://schemas.openxmlformats.org/officeDocument/2006/relationships" id="261" r:id="R4553aada9c854ca7"/>
    <p:sldId xmlns:r="http://schemas.openxmlformats.org/officeDocument/2006/relationships" id="262" r:id="R420e56cb35ca43df"/>
    <p:sldId xmlns:r="http://schemas.openxmlformats.org/officeDocument/2006/relationships" id="263" r:id="Rd99587154a524f21"/>
    <p:sldId xmlns:r="http://schemas.openxmlformats.org/officeDocument/2006/relationships" id="264" r:id="R18d16245d4a14bbd"/>
    <p:sldId xmlns:r="http://schemas.openxmlformats.org/officeDocument/2006/relationships" id="265" r:id="R7f8809ec9c074d0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8d16245d4a14bbd" Type="http://schemas.openxmlformats.org/officeDocument/2006/relationships/slide" Target="slides/slide10.xml"/><Relationship Id="R2096df2c246f4285" Type="http://schemas.openxmlformats.org/officeDocument/2006/relationships/tableStyles" Target="tableStyles.xml"/><Relationship Id="R2a928f1e3d304a36" Type="http://schemas.openxmlformats.org/officeDocument/2006/relationships/notesMaster" Target="notesMasters/notesMaster1.xml"/><Relationship Id="R3c3cca174c914b15" Type="http://schemas.openxmlformats.org/officeDocument/2006/relationships/presProps" Target="presProps.xml"/><Relationship Id="R420e56cb35ca43df" Type="http://schemas.openxmlformats.org/officeDocument/2006/relationships/slide" Target="slides/slide8.xml"/><Relationship Id="R4553aada9c854ca7" Type="http://schemas.openxmlformats.org/officeDocument/2006/relationships/slide" Target="slides/slide7.xml"/><Relationship Id="R495bdc2181a54f43" Type="http://schemas.openxmlformats.org/officeDocument/2006/relationships/slideMaster" Target="slideMasters/slideMaster1.xml"/><Relationship Id="R5582d70588994b53" Type="http://schemas.openxmlformats.org/officeDocument/2006/relationships/theme" Target="theme/theme1.xml"/><Relationship Id="R637ce073915d4f43" Type="http://schemas.openxmlformats.org/officeDocument/2006/relationships/slide" Target="slides/slide1.xml"/><Relationship Id="R6a74fcdabe054a45" Type="http://schemas.openxmlformats.org/officeDocument/2006/relationships/slide" Target="slides/slide2.xml"/><Relationship Id="R7e5036db63094781" Type="http://schemas.openxmlformats.org/officeDocument/2006/relationships/slide" Target="slides/slide3.xml"/><Relationship Id="R7f8809ec9c074d09" Type="http://schemas.openxmlformats.org/officeDocument/2006/relationships/slide" Target="slides/slide11.xml"/><Relationship Id="Rad70e67b4a984ea7" Type="http://schemas.openxmlformats.org/officeDocument/2006/relationships/slide" Target="slides/slide6.xml"/><Relationship Id="Rd99587154a524f21" Type="http://schemas.openxmlformats.org/officeDocument/2006/relationships/slide" Target="slides/slide9.xml"/><Relationship Id="Rfb46f69a2fa84dc5" Type="http://schemas.openxmlformats.org/officeDocument/2006/relationships/slide" Target="slides/slide5.xml"/><Relationship Id="rId1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9811b92cd16b497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7905d87fa7f44180" Type="http://schemas.openxmlformats.org/officeDocument/2006/relationships/notesMaster" Target="../notesMasters/notesMaster1.xml"/><Relationship Id="R95dcca7d5b95431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a4de5ab52f0473a" Type="http://schemas.openxmlformats.org/officeDocument/2006/relationships/notesMaster" Target="../notesMasters/notesMaster1.xml"/><Relationship Id="Rf332de1d9265409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e309a7da01f42ec" Type="http://schemas.openxmlformats.org/officeDocument/2006/relationships/notesMaster" Target="../notesMasters/notesMaster1.xml"/><Relationship Id="R77c95e57e0194c64"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3af998b69fdc4cbd" Type="http://schemas.openxmlformats.org/officeDocument/2006/relationships/slide" Target="../slides/slide5.xml"/><Relationship Id="R9e441d7cb6ac4dad"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90808be8481e40b4" Type="http://schemas.openxmlformats.org/officeDocument/2006/relationships/slide" Target="../slides/slide6.xml"/><Relationship Id="Rd39a79b7de854ad6"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192f912edbc64f30" Type="http://schemas.openxmlformats.org/officeDocument/2006/relationships/notesMaster" Target="../notesMasters/notesMaster1.xml"/><Relationship Id="Rffbd9167e0294e05"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773564eac1e643e2" Type="http://schemas.openxmlformats.org/officeDocument/2006/relationships/slide" Target="../slides/slide8.xml"/><Relationship Id="Rb67ba76b59364a7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44c3b68d7a2144ac" Type="http://schemas.openxmlformats.org/officeDocument/2006/relationships/notesMaster" Target="../notesMasters/notesMaster1.xml"/><Relationship Id="Rfe4d99932e5e4ac7"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07b1d1e4db064521" Type="http://schemas.openxmlformats.org/officeDocument/2006/relationships/notesMaster" Target="../notesMasters/notesMaster1.xml"/><Relationship Id="Ra9217ea2e17041f9"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0bb0fcfba51c435b" Type="http://schemas.openxmlformats.org/officeDocument/2006/relationships/notesMaster" Target="../notesMasters/notesMaster1.xml"/><Relationship Id="Rc329124fc4a447cb" Type="http://schemas.openxmlformats.org/officeDocument/2006/relationships/slide" Target="../slides/slide1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15 seconds.</a:t>
            </a:r>
          </a:p>
          <a:p xmlns:a="http://schemas.openxmlformats.org/drawingml/2006/main">
            <a:r>
              <a:t/>
            </a:r>
          </a:p>
          <a:p xmlns:a="http://schemas.openxmlformats.org/drawingml/2006/main">
            <a:r>
              <a:t>Open by defining ISAForge as a research project that uses measured RISC-V workload evidence to choose custom instructions under hardware and evaluation constraints. State the important current result up front: the learned ranker is promising enough to continue testing, but current consumed-data evidence does not show a consistent win over merit.</a:t>
            </a:r>
          </a:p>
          <a:p xmlns:a="http://schemas.openxmlformats.org/drawingml/2006/main">
            <a:r>
              <a:t/>
            </a:r>
          </a:p>
          <a:p xmlns:a="http://schemas.openxmlformats.org/drawingml/2006/main">
            <a:r>
              <a:t>Source: project scope and current scorecard, README.md and results/2026-10-27-final-selection-scorecard/README.md.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40 seconds.</a:t>
            </a:r>
          </a:p>
          <a:p xmlns:a="http://schemas.openxmlformats.org/drawingml/2006/main">
            <a:r>
              <a:t/>
            </a:r>
          </a:p>
          <a:p xmlns:a="http://schemas.openxmlformats.org/drawingml/2006/main">
            <a:r>
              <a:t>Walk from a real benchmark through trace-based candidate extraction, custom instruction lowering, correctness checks, and integrated PicoRV32 measurement. The final measurement records whole-program cycles and synthesized area and timing. Our question is whether learned selection can find a better verified feasible result than frequency, merit, random, and active-learning controls at the same number and cost of evaluations. The exhaustive measured pool is a reference, not a policy.</a:t>
            </a:r>
          </a:p>
          <a:p xmlns:a="http://schemas.openxmlformats.org/drawingml/2006/main">
            <a:r>
              <a:t/>
            </a:r>
          </a:p>
          <a:p xmlns:a="http://schemas.openxmlformats.org/drawingml/2006/main">
            <a:r>
              <a:t>Method context: Atasu et al., DAC 2003, DOI 10.1145/775832.775897; Rezunov et al., ICCAD 2025, DOI 10.1109/ICCAD66269.2025.11240781. ISAForge reuses established constrained candidate extraction and does not claim a new enumeration algorithm. See docs/research-foundation.md and docs/original-project-proposal.txt.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40 seconds.</a:t>
            </a:r>
          </a:p>
          <a:p xmlns:a="http://schemas.openxmlformats.org/drawingml/2006/main">
            <a:r>
              <a:t/>
            </a:r>
          </a:p>
          <a:p xmlns:a="http://schemas.openxmlformats.org/drawingml/2006/main">
            <a:r>
              <a:t>The current hash-bound dataset contains 122 successful measured candidates and four charged failures, spanning Embench, BEEBS, and TACLe workloads. Candidate features include trace-derived savings opportunity, expression-tree shape, constants, and opcode mix. The target is measured whole-program speedup, with actual area, timing, and correctness attached to the same row. Twelve workload pools have a complete oracle. UD and G.723 contain infrastructure-censored candidates, so their regret results are excluded from oracle comparisons.</a:t>
            </a:r>
          </a:p>
          <a:p xmlns:a="http://schemas.openxmlformats.org/drawingml/2006/main">
            <a:r>
              <a:t/>
            </a:r>
          </a:p>
          <a:p xmlns:a="http://schemas.openxmlformats.org/drawingml/2006/main">
            <a:r>
              <a:t>The CSV files verified-labels.csv and failed-attempts.csv live in results/2026-10-26-lift-selection-corpus/. Aggregate counts and evaluation definition: results/2026-10-27-final-selection-scorecard/README.md.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45 seconds.</a:t>
            </a:r>
          </a:p>
          <a:p xmlns:a="http://schemas.openxmlformats.org/drawingml/2006/main">
            <a:r>
              <a:t/>
            </a:r>
          </a:p>
          <a:p xmlns:a="http://schemas.openxmlformats.org/drawingml/2006/main">
            <a:r>
              <a:t>Explain this as model transparency, not proof of causality. For each workload, the model is trained without that workload and without related operation-tree families. Native XGBoost additive contribution values show which inputs move its raw ordering score. We normalize within candidate, average within workload, then give each workload equal weight. Profile-derived opportunity features contribute about 66 percent, and saved_percent alone about 47 percent. That means the model's ranking is heavily tied to trace-based savings features. It has not demonstrated independent speedup signal beyond those proxies. The SVG result includes descriptive workload-bootstrap intervals.</a:t>
            </a:r>
          </a:p>
          <a:p xmlns:a="http://schemas.openxmlformats.org/drawingml/2006/main">
            <a:r>
              <a:t/>
            </a:r>
          </a:p>
          <a:p xmlns:a="http://schemas.openxmlformats.org/drawingml/2006/main">
            <a:r>
              <a:t>Source: results/2026-10-27-ranker-explainability/explanation.json and global_feature_contributions.csv; fixed model definition in isaforge/ranking.py. Rank-score attributions are descriptive and non-causal.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35 seconds.</a:t>
            </a:r>
          </a:p>
          <a:p xmlns:a="http://schemas.openxmlformats.org/drawingml/2006/main">
            <a:r>
              <a:t/>
            </a:r>
          </a:p>
          <a:p xmlns:a="http://schemas.openxmlformats.org/drawingml/2006/main">
            <a:r>
              <a:t>This is one held-out example. The model ranked add(in0, andi(in1, 15)) first among twelve candidates. The green bars raise its rank score, mainly saved_percent and the number of candidate places in the trace. The red bars lower the score. Their sum with the base equals the raw ranking score. The model does not predict area. After measurement, this candidate is correct and faster, but its 65 additional LUT4 exceed the 64-LUT4 cap by one. This gives a concrete explanation of a selection limitation.</a:t>
            </a:r>
          </a:p>
          <a:p xmlns:a="http://schemas.openxmlformats.org/drawingml/2006/main">
            <a:r>
              <a:t/>
            </a:r>
          </a:p>
          <a:p xmlns:a="http://schemas.openxmlformats.org/drawingml/2006/main">
            <a:r>
              <a:t>The rank score is only an ordering value, not speedup, probability, or calibrated confidence. The target measurement is held out from the model input. Source: results/2026-10-27-ranker-explainability/local_candidate_explanation.svg and explanation.json.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60 seconds.</a:t>
            </a:r>
          </a:p>
          <a:p xmlns:a="http://schemas.openxmlformats.org/drawingml/2006/main">
            <a:r>
              <a:t/>
            </a:r>
          </a:p>
          <a:p xmlns:a="http://schemas.openxmlformats.org/drawingml/2006/main">
            <a:r>
              <a:t>Show the measured selection endpoint rather than prediction MAE. Every method received the same budget of one, two, or three candidate attempts. Regret is the gap to the complete measured feasible-pool oracle and is lower when better. The pairwise ranker has lower mean regret than merit at one and two attempts by 0.290 and 0.027 percentage points. The paired workload intervals cross zero. At three attempts, merit is better by 0.056 points, with its interval reaching zero at the boundary. This does not show consistent ML superiority; the operational fallback remains merit.</a:t>
            </a:r>
          </a:p>
          <a:p xmlns:a="http://schemas.openxmlformats.org/drawingml/2006/main">
            <a:r>
              <a:t/>
            </a:r>
          </a:p>
          <a:p xmlns:a="http://schemas.openxmlformats.org/drawingml/2006/main">
            <a:r>
              <a:t>These comparisons replay already measured outcomes. There are 12 complete oracle pools; two censored pools are excluded from regret. Workloads, not seeds, form the bootstrap units. Source: results/2026-10-27-final-selection-scorecard/README.md and scorecard.json.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55 seconds.</a:t>
            </a:r>
          </a:p>
          <a:p xmlns:a="http://schemas.openxmlformats.org/drawingml/2006/main">
            <a:r>
              <a:t/>
            </a:r>
          </a:p>
          <a:p xmlns:a="http://schemas.openxmlformats.org/drawingml/2006/main">
            <a:r>
              <a:t>We have used a sequential selection loop: predict, choose, measure, update, and finalize. The October 27 chat-model pilot used the current Codex conversation through the four-tool host. It measured one archived EDN outcome and selected the verified feasible pool optimum: 386,561,849 to 386,394,809 cycles, 1.000432 times speedup, plus 32 LUT4, minimum routed Fmax 71.119 MHz. A shortened candidate ID caused one additional charged invalid attempt. At the same two-attempt endpoint, frequency, merit, raw regression, ranking, and the Gaussian-process control also reach this candidate. This pilot therefore does not demonstrate an LLM advantage. It was a consumed-data replay, not an API call or new hardware job. The chat model ID and token usage are unavailable; dynamic routing is future work.</a:t>
            </a:r>
          </a:p>
          <a:p xmlns:a="http://schemas.openxmlformats.org/drawingml/2006/main">
            <a:r>
              <a:t/>
            </a:r>
          </a:p>
          <a:p xmlns:a="http://schemas.openxmlformats.org/drawingml/2006/main">
            <a:r>
              <a:t>The 450 matched trajectories and 1,350 endpoints are deterministic control replays, not LLM trials. Optimization methods include frequency, merit, timing-aware merit, random, XGBoost regression and ranking, feasibility models, and Gaussian-process acquisition. Sources: docs/bounded-selection.md, docs/codex-chat-selector-pilot.md and results/2026-10-21-bounded-selector-controls/.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35 seconds.</a:t>
            </a:r>
          </a:p>
          <a:p xmlns:a="http://schemas.openxmlformats.org/drawingml/2006/main">
            <a:r>
              <a:t/>
            </a:r>
          </a:p>
          <a:p xmlns:a="http://schemas.openxmlformats.org/drawingml/2006/main">
            <a:r>
              <a:t>This timeline summarizes dated experiment records. We began with end-to-end PicoRV32 CRC32 and aha-mont64 measurements and expanded the measured corpus. The October 22 bitcount transfer is a useful negative result because a strong cost heuristic reached the feasible pool optimum while the live GP returned baseline. On October 25 we finished the bounded four-tool LLM interface. October 26 added twelve Lift measurements and policy replays. The October 27 scorecard joins 122 labels across fourteen workload groups and adds explanation plots. On October 27, the current chat model also completed a single consumed-data EDN selector pilot; it matched the pool oracle, but frequency, merit and several ML controls did too at the same charged budget. This is not evidence of agent superiority.</a:t>
            </a:r>
          </a:p>
          <a:p xmlns:a="http://schemas.openxmlformats.org/drawingml/2006/main">
            <a:r>
              <a:t/>
            </a:r>
          </a:p>
          <a:p xmlns:a="http://schemas.openxmlformats.org/drawingml/2006/main">
            <a:r>
              <a:t>Source dates: result directories under results/2026-10-21-*, results/2026-10-22-bitcount-report/, results/2026-10-21-bounded-selector-controls/, results/2026-10-26-lift-selection-report/, results/2026-10-27-final-selection-scorecard/, and results/2026-10-27-codex-chat-agent-edn-b64-s0/.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40 seconds.</a:t>
            </a:r>
          </a:p>
          <a:p xmlns:a="http://schemas.openxmlformats.org/drawingml/2006/main">
            <a:r>
              <a:t/>
            </a:r>
          </a:p>
          <a:p xmlns:a="http://schemas.openxmlformats.org/drawingml/2006/main">
            <a:r>
              <a:t>Be explicit about limitations. These labels are consumed development evidence. Since the independent calibrated latency estimate exactly matches all 122 measured speedup labels, this cohort does not prove that XGBoost learned residual application behavior. Two workload oracles are censored. The current ranking test selects single instructions, not combinations. The immediate experiment is to freeze current policies before a new workload and compare them with the same measurement and timing budget. After that, evaluate uncertainty-guided measurement and joint instruction sets, and run a live LLM policy with the same information and budget as non-agent methods. A heuristic win remains a valid research result.</a:t>
            </a:r>
          </a:p>
          <a:p xmlns:a="http://schemas.openxmlformats.org/drawingml/2006/main">
            <a:r>
              <a:t/>
            </a:r>
          </a:p>
          <a:p xmlns:a="http://schemas.openxmlformats.org/drawingml/2006/main">
            <a:r>
              <a:t>Source: results/2026-10-27-final-selection-scorecard/README.md, docs/ACTIVE_GOAL.md, docs/HANDOFF.md, docs/research-foundation.md.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15 seconds.</a:t>
            </a:r>
          </a:p>
          <a:p xmlns:a="http://schemas.openxmlformats.org/drawingml/2006/main">
            <a:r>
              <a:t/>
            </a:r>
          </a:p>
          <a:p xmlns:a="http://schemas.openxmlformats.org/drawingml/2006/main">
            <a:r>
              <a:t>This matrix distinguishes visible Git evidence from the original proposal's planned responsibilities. Recent log author strings show jason rivera and Matsuki, Yuuto Tyler / YM5563. Git evidence does not capture meetings, experiments outside this repository, or uncommitted contributions. The proposal assigns toolchain and tracing to Sooraj, prediction and the agent to Jason, and synthesis and hardware to Yuuto. I left names and exact shares for the team to confirm before submission.</a:t>
            </a:r>
          </a:p>
          <a:p xmlns:a="http://schemas.openxmlformats.org/drawingml/2006/main">
            <a:r>
              <a:t/>
            </a:r>
          </a:p>
          <a:p xmlns:a="http://schemas.openxmlformats.org/drawingml/2006/main">
            <a:r>
              <a:t>Sources: docs/original-project-proposal.txt; git log --since 2026-10-13 --all.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9588b6e6c3f4cd6"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24f0af2223aa4b5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26d9f5c3b6f4f9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3b4b815697d42e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d9863b5cdfe94a4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2b76ef165c94a2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607075-4913-40C6-A050-8BC9CC0067E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387A08E-6E00-4863-807A-AE50D2C94A7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F9ED303-8561-4368-9AF7-5DECBD37073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CF256E-E6BF-493D-8228-9855EA78AB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22DBD0B-9434-4751-99A5-902E147041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4F4E5C2-88FB-49CD-92CF-F59C734474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9BF2A27-47C6-4FC7-971D-271FEEEDF55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D6EB793-06E6-4562-85EB-1E39CC8522A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B8259E3-EEFE-407A-9322-B8E91043B93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54CB8F-5BCC-4693-8A23-96AB66D10DE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01d105483de424f" Type="http://schemas.openxmlformats.org/officeDocument/2006/relationships/slideLayout" Target="../slideLayouts/slideLayout6.xml"/><Relationship Id="R3de1e87d0c78479d" Type="http://schemas.openxmlformats.org/officeDocument/2006/relationships/slideLayout" Target="../slideLayouts/slideLayout1.xml"/><Relationship Id="R43479325be9a4d9c" Type="http://schemas.openxmlformats.org/officeDocument/2006/relationships/theme" Target="theme/theme2.xml"/><Relationship Id="R7c42dc1d69504021" Type="http://schemas.openxmlformats.org/officeDocument/2006/relationships/slideLayout" Target="../slideLayouts/slideLayout5.xml"/><Relationship Id="R93f9054533834810" Type="http://schemas.openxmlformats.org/officeDocument/2006/relationships/slideLayout" Target="../slideLayouts/slideLayout2.xml"/><Relationship Id="Rdb90ffe761414322" Type="http://schemas.openxmlformats.org/officeDocument/2006/relationships/slideLayout" Target="../slideLayouts/slideLayout3.xml"/><Relationship Id="Rfc65b3ee0dd34eb1"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de1e87d0c78479d"/>
    <p:sldLayoutId xmlns:r="http://schemas.openxmlformats.org/officeDocument/2006/relationships" id="2147483650" r:id="R93f9054533834810"/>
    <p:sldLayoutId xmlns:r="http://schemas.openxmlformats.org/officeDocument/2006/relationships" id="2147483651" r:id="Rdb90ffe761414322"/>
    <p:sldLayoutId xmlns:r="http://schemas.openxmlformats.org/officeDocument/2006/relationships" id="2147483652" r:id="Rfc65b3ee0dd34eb1"/>
    <p:sldLayoutId xmlns:r="http://schemas.openxmlformats.org/officeDocument/2006/relationships" id="2147483653" r:id="R7c42dc1d69504021"/>
    <p:sldLayoutId xmlns:r="http://schemas.openxmlformats.org/officeDocument/2006/relationships" id="2147483654" r:id="R301d105483de424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69b38e0cc69d497e" Type="http://schemas.openxmlformats.org/officeDocument/2006/relationships/slideLayout" Target="../slideLayouts/slideLayout6.xml"/><Relationship Id="R7f6220e88eff48f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83e8a93723243f6" Type="http://schemas.openxmlformats.org/officeDocument/2006/relationships/notesSlide" Target="../notesSlides/notesSlide2.xml"/><Relationship Id="R506e2dde54ae41f6"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bd973576d7984973" Type="http://schemas.openxmlformats.org/officeDocument/2006/relationships/chart" Target="charts/chart1.xml"/><Relationship Id="Rc0682b1903c5438c" Type="http://schemas.openxmlformats.org/officeDocument/2006/relationships/notesSlide" Target="../notesSlides/notesSlide3.xml"/><Relationship Id="Rf10debd27b254e4e"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e58688e250d46c6" Type="http://schemas.openxmlformats.org/officeDocument/2006/relationships/slideLayout" Target="../slideLayouts/slideLayout6.xml"/><Relationship Id="Rcdcae0c359ee465b" Type="http://schemas.openxmlformats.org/officeDocument/2006/relationships/chart" Target="charts/chart2.xml"/><Relationship Id="Rfa66290def3a460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005894e8af914a89" Type="http://schemas.openxmlformats.org/officeDocument/2006/relationships/slideLayout" Target="../slideLayouts/slideLayout6.xml"/><Relationship Id="R7481e0b848a64db9"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57740622725c47ea" Type="http://schemas.openxmlformats.org/officeDocument/2006/relationships/notesSlide" Target="../notesSlides/notesSlide6.xml"/><Relationship Id="Rb1b3f194c5dc47d9" Type="http://schemas.openxmlformats.org/officeDocument/2006/relationships/slideLayout" Target="../slideLayouts/slideLayout6.xml"/><Relationship Id="Rb31b6256aca545da" Type="http://schemas.openxmlformats.org/officeDocument/2006/relationships/chart" Target="charts/chart3.xml"/></Relationships>
</file>

<file path=ppt/slides/_rels/slide8.xml.rels><?xml version='1.0' encoding='UTF-8' standalone='yes'?>
<Relationships xmlns="http://schemas.openxmlformats.org/package/2006/relationships"><Relationship Id="R3ee2786dfb6f463b" Type="http://schemas.openxmlformats.org/officeDocument/2006/relationships/notesSlide" Target="../notesSlides/notesSlide7.xml"/><Relationship Id="R774d145aba8e4652"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0adf98dde59a40e0" Type="http://schemas.openxmlformats.org/officeDocument/2006/relationships/slideLayout" Target="../slideLayouts/slideLayout6.xml"/><Relationship Id="Rfc3758121c274e6d"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6a3e3909f77c40bb" Type="http://schemas.openxmlformats.org/officeDocument/2006/relationships/notesSlide" Target="../notesSlides/notesSlide9.xml"/><Relationship Id="R6f41a26c7e8c4696"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2781f4bdbcf245c1" Type="http://schemas.openxmlformats.org/officeDocument/2006/relationships/notesSlide" Target="../notesSlides/notesSlide10.xml"/><Relationship Id="R73c34960b88f4d8e"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Verified labels</c:v>
          </c:tx>
          <c:spPr>
            <a:solidFill xmlns:a="http://schemas.openxmlformats.org/drawingml/2006/main">
              <a:srgbClr val="2878A8"/>
            </a:solidFill>
          </c:spPr>
          <c:invertIfNegative val="0"/>
          <c:cat>
            <c:strRef>
              <c:f>'Chart Data'!$A$2:$A$4</c:f>
              <c:strCache>
                <c:ptCount val="3"/>
                <c:pt idx="0">
                  <c:v>BEEBS (5 workloads)</c:v>
                </c:pt>
                <c:pt idx="1">
                  <c:v>Embench (6 workloads)</c:v>
                </c:pt>
                <c:pt idx="2">
                  <c:v>TACLe (3 workloads)</c:v>
                </c:pt>
              </c:strCache>
            </c:strRef>
          </c:cat>
          <c:val>
            <c:numRef>
              <c:f>'Chart Data'!$B$2:$B$4</c:f>
              <c:numCache>
                <c:formatCode>General</c:formatCode>
                <c:ptCount val="3"/>
                <c:pt idx="0">
                  <c:v>48</c:v>
                </c:pt>
                <c:pt idx="1">
                  <c:v>39</c:v>
                </c:pt>
                <c:pt idx="2">
                  <c:v>35</c:v>
                </c:pt>
              </c:numCache>
            </c:numRef>
          </c:val>
        </c:ser>
        <c:dLbls>
          <c:txPr>
            <a:bodyPr xmlns:a="http://schemas.openxmlformats.org/drawingml/2006/main" anchorCtr="1"/>
            <a:lstStyle xmlns:a="http://schemas.openxmlformats.org/drawingml/2006/main"/>
            <a:p xmlns:a="http://schemas.openxmlformats.org/drawingml/2006/main">
              <a:pPr>
                <a:defRPr sz="1125" b="1">
                  <a:solidFill>
                    <a:srgbClr val="17324D"/>
                  </a:solidFill>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Successful measured candidates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050">
                <a:solidFill>
                  <a:srgbClr val="60728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125">
                <a:solidFill>
                  <a:srgbClr val="263648"/>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Share of normalized absolute contribution</c:v>
          </c:tx>
          <c:spPr>
            <a:solidFill xmlns:a="http://schemas.openxmlformats.org/drawingml/2006/main">
              <a:srgbClr val="2878A8"/>
            </a:solidFill>
          </c:spPr>
          <c:invertIfNegative val="0"/>
          <c:cat>
            <c:strRef>
              <c:f>'Chart Data'!$A$2:$A$10</c:f>
              <c:strCache>
                <c:ptCount val="9"/>
                <c:pt idx="0">
                  <c:v>saved percent</c:v>
                </c:pt>
                <c:pt idx="1">
                  <c:v>places</c:v>
                </c:pt>
                <c:pt idx="2">
                  <c:v>size</c:v>
                </c:pt>
                <c:pt idx="3">
                  <c:v>runs</c:v>
                </c:pt>
                <c:pt idx="4">
                  <c:v>op add</c:v>
                </c:pt>
                <c:pt idx="5">
                  <c:v>max abs constant</c:v>
                </c:pt>
                <c:pt idx="6">
                  <c:v>depth</c:v>
                </c:pt>
                <c:pt idx="7">
                  <c:v>saved</c:v>
                </c:pt>
                <c:pt idx="8">
                  <c:v>Other 27 features</c:v>
                </c:pt>
              </c:strCache>
            </c:strRef>
          </c:cat>
          <c:val>
            <c:numRef>
              <c:f>'Chart Data'!$B$2:$B$10</c:f>
              <c:numCache>
                <c:formatCode>General</c:formatCode>
                <c:ptCount val="9"/>
                <c:pt idx="0">
                  <c:v>0.47103485</c:v>
                </c:pt>
                <c:pt idx="1">
                  <c:v>0.11099996</c:v>
                </c:pt>
                <c:pt idx="2">
                  <c:v>0.07266291</c:v>
                </c:pt>
                <c:pt idx="3">
                  <c:v>0.05458565</c:v>
                </c:pt>
                <c:pt idx="4">
                  <c:v>0.04705666</c:v>
                </c:pt>
                <c:pt idx="5">
                  <c:v>0.04499761</c:v>
                </c:pt>
                <c:pt idx="6">
                  <c:v>0.04109521</c:v>
                </c:pt>
                <c:pt idx="7">
                  <c:v>0.02726189</c:v>
                </c:pt>
                <c:pt idx="8">
                  <c:v>0.13030526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975" b="1">
                  <a:solidFill>
                    <a:srgbClr val="17324D"/>
                  </a:solidFill>
                  <a:latin typeface="Arial"/>
                  <a:ea typeface="Arial"/>
                  <a:cs typeface="Arial"/>
                </a:defRPr>
              </a:pPr>
            </a:p>
          </c:txPr>
          <c:dLblPos val="outEnd"/>
          <c:showLegendKey val="0"/>
          <c:showVal val="1"/>
          <c:showCatName val="0"/>
          <c:showSerName val="0"/>
          <c:showPercent val="0"/>
          <c:showBubbleSize val="0"/>
          <c:showLeaderLines val="0"/>
        </c:dLbls>
        <c:gapWidth val="50"/>
        <c:axId val="48650112"/>
        <c:axId val="48672768"/>
      </c:barChart>
      <c:catAx>
        <c:axId val="48650112"/>
        <c:scaling>
          <c:orientation val="minMax"/>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Average contribution share (fraction scale; bar labels show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975">
                <a:solidFill>
                  <a:srgbClr val="60728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975">
                <a:solidFill>
                  <a:srgbClr val="263648"/>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 heuristic</c:v>
          </c:tx>
          <c:spPr>
            <a:solidFill xmlns:a="http://schemas.openxmlformats.org/drawingml/2006/main">
              <a:srgbClr val="4D5966"/>
            </a:solidFill>
          </c:spPr>
          <c:invertIfNegative val="0"/>
          <c:cat>
            <c:strRef>
              <c:f>'Chart Data'!$A$2:$A$4</c:f>
              <c:strCache>
                <c:ptCount val="3"/>
                <c:pt idx="0">
                  <c:v>1 evaluation</c:v>
                </c:pt>
                <c:pt idx="1">
                  <c:v>2 evaluations</c:v>
                </c:pt>
                <c:pt idx="2">
                  <c:v>3 evaluations</c:v>
                </c:pt>
              </c:strCache>
            </c:strRef>
          </c:cat>
          <c:val>
            <c:numRef>
              <c:f>'Chart Data'!$B$2:$B$4</c:f>
              <c:numCache>
                <c:formatCode>0.0%</c:formatCode>
                <c:ptCount val="3"/>
                <c:pt idx="0">
                  <c:v>0.01131702</c:v>
                </c:pt>
                <c:pt idx="1">
                  <c:v>0.00465368</c:v>
                </c:pt>
                <c:pt idx="2">
                  <c:v>0.0001451</c:v>
                </c:pt>
              </c:numCache>
            </c:numRef>
          </c:val>
        </c:ser>
        <c:ser>
          <c:idx val="1"/>
          <c:order val="1"/>
          <c:tx>
            <c:v>XGBoost pairwise ranker</c:v>
          </c:tx>
          <c:spPr>
            <a:solidFill xmlns:a="http://schemas.openxmlformats.org/drawingml/2006/main">
              <a:srgbClr val="2878A8"/>
            </a:solidFill>
          </c:spPr>
          <c:invertIfNegative val="0"/>
          <c:cat>
            <c:strRef>
              <c:f>'Chart Data'!$C$2:$C$4</c:f>
              <c:strCache>
                <c:ptCount val="3"/>
                <c:pt idx="0">
                  <c:v>1 evaluation</c:v>
                </c:pt>
                <c:pt idx="1">
                  <c:v>2 evaluations</c:v>
                </c:pt>
                <c:pt idx="2">
                  <c:v>3 evaluations</c:v>
                </c:pt>
              </c:strCache>
            </c:strRef>
          </c:cat>
          <c:val>
            <c:numRef>
              <c:f>'Chart Data'!$D$2:$D$4</c:f>
              <c:numCache>
                <c:formatCode>0.0%</c:formatCode>
                <c:ptCount val="3"/>
                <c:pt idx="0">
                  <c:v>0.0084166</c:v>
                </c:pt>
                <c:pt idx="1">
                  <c:v>0.0043854</c:v>
                </c:pt>
                <c:pt idx="2">
                  <c:v>0.00070245</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8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050">
                <a:solidFill>
                  <a:srgbClr val="263648"/>
                </a:solidFill>
                <a:latin typeface="Arial"/>
                <a:ea typeface="Arial"/>
                <a:cs typeface="Arial"/>
              </a:defRPr>
            </a:pPr>
          </a:p>
        </c:txPr>
        <c:crossAx val="48672768"/>
      </c:catAx>
      <c:valAx>
        <c:axId val="48672768"/>
        <c:scaling>
          <c:orientation val="minMax"/>
          <c:max val="0.0125"/>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regret versus feasible oracle</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975">
                <a:solidFill>
                  <a:srgbClr val="607286"/>
                </a:solidFill>
                <a:latin typeface="Arial"/>
                <a:ea typeface="Arial"/>
                <a:cs typeface="Arial"/>
              </a:defRPr>
            </a:pPr>
          </a:p>
        </c:txPr>
        <c:crossAx val="48650112"/>
        <c:crossBetween val="between"/>
        <c:majorUnit val="0.002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3D29981-7DCD-42E4-AC32-79507A2D061E}"/>
              </a:ext>
            </a:extLst>
          </p:cNvPr>
          <p:cNvSpPr>
            <a:spLocks xmlns:a="http://schemas.openxmlformats.org/drawingml/2006/main" noGrp="1"/>
          </p:cNvSpPr>
          <p:nvPr/>
        </p:nvSpPr>
        <p:spPr>
          <a:xfrm xmlns:a="http://schemas.openxmlformats.org/drawingml/2006/main">
            <a:off x="685800" y="1638300"/>
            <a:ext cx="6667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800" b="1">
                <a:solidFill>
                  <a:srgbClr val="17324D"/>
                </a:solidFill>
                <a:latin typeface="Arial"/>
                <a:ea typeface="Arial"/>
                <a:cs typeface="Arial"/>
              </a:defRPr>
            </a:defPPr>
            <a:lvl1pPr>
              <a:defRPr sz="4800" b="1">
                <a:solidFill>
                  <a:srgbClr val="17324D"/>
                </a:solidFill>
                <a:latin typeface="Arial"/>
                <a:ea typeface="Arial"/>
                <a:cs typeface="Arial"/>
              </a:defRPr>
            </a:lvl1pPr>
            <a:lvl2pPr>
              <a:defRPr sz="4800" b="1">
                <a:solidFill>
                  <a:srgbClr val="17324D"/>
                </a:solidFill>
                <a:latin typeface="Arial"/>
                <a:ea typeface="Arial"/>
                <a:cs typeface="Arial"/>
              </a:defRPr>
            </a:lvl2pPr>
            <a:lvl3pPr>
              <a:defRPr sz="4800" b="1">
                <a:solidFill>
                  <a:srgbClr val="17324D"/>
                </a:solidFill>
                <a:latin typeface="Arial"/>
                <a:ea typeface="Arial"/>
                <a:cs typeface="Arial"/>
              </a:defRPr>
            </a:lvl3pPr>
            <a:lvl4pPr>
              <a:defRPr sz="4800" b="1">
                <a:solidFill>
                  <a:srgbClr val="17324D"/>
                </a:solidFill>
                <a:latin typeface="Arial"/>
                <a:ea typeface="Arial"/>
                <a:cs typeface="Arial"/>
              </a:defRPr>
            </a:lvl4pPr>
            <a:lvl5pPr>
              <a:defRPr sz="4800" b="1">
                <a:solidFill>
                  <a:srgbClr val="17324D"/>
                </a:solidFill>
                <a:latin typeface="Arial"/>
                <a:ea typeface="Arial"/>
                <a:cs typeface="Arial"/>
              </a:defRPr>
            </a:lvl5pPr>
            <a:lvl6pPr>
              <a:defRPr sz="4800" b="1">
                <a:solidFill>
                  <a:srgbClr val="17324D"/>
                </a:solidFill>
                <a:latin typeface="Arial"/>
                <a:ea typeface="Arial"/>
                <a:cs typeface="Arial"/>
              </a:defRPr>
            </a:lvl6pPr>
            <a:lvl7pPr>
              <a:defRPr sz="4800" b="1">
                <a:solidFill>
                  <a:srgbClr val="17324D"/>
                </a:solidFill>
                <a:latin typeface="Arial"/>
                <a:ea typeface="Arial"/>
                <a:cs typeface="Arial"/>
              </a:defRPr>
            </a:lvl7pPr>
            <a:lvl8pPr>
              <a:defRPr sz="4800" b="1">
                <a:solidFill>
                  <a:srgbClr val="17324D"/>
                </a:solidFill>
                <a:latin typeface="Arial"/>
                <a:ea typeface="Arial"/>
                <a:cs typeface="Arial"/>
              </a:defRPr>
            </a:lvl8pPr>
            <a:lvl9pPr>
              <a:defRPr sz="4800" b="1">
                <a:solidFill>
                  <a:srgbClr val="17324D"/>
                </a:solidFill>
                <a:latin typeface="Arial"/>
                <a:ea typeface="Arial"/>
                <a:cs typeface="Arial"/>
              </a:defRPr>
            </a:lvl9pPr>
          </a:lstStyle>
          <a:p xmlns:a="http://schemas.openxmlformats.org/drawingml/2006/main">
            <a:pPr>
              <a:defRPr sz="4800" b="1">
                <a:solidFill>
                  <a:srgbClr val="17324D"/>
                </a:solidFill>
                <a:latin typeface="Arial"/>
                <a:ea typeface="Arial"/>
                <a:cs typeface="Arial"/>
              </a:defRPr>
            </a:pPr>
            <a:r>
              <a:rPr sz="4800"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11AEE2D1-F05F-4A86-B062-B1025033FE2F}"/>
              </a:ext>
            </a:extLst>
          </p:cNvPr>
          <p:cNvSpPr>
            <a:spLocks xmlns:a="http://schemas.openxmlformats.org/drawingml/2006/main" noGrp="1"/>
          </p:cNvSpPr>
          <p:nvPr/>
        </p:nvSpPr>
        <p:spPr>
          <a:xfrm xmlns:a="http://schemas.openxmlformats.org/drawingml/2006/main">
            <a:off x="685800" y="2457450"/>
            <a:ext cx="10191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a:solidFill>
                  <a:srgbClr val="2878A8"/>
                </a:solidFill>
                <a:latin typeface="Arial"/>
                <a:ea typeface="Arial"/>
                <a:cs typeface="Arial"/>
              </a:defRPr>
            </a:defPPr>
            <a:lvl1pPr>
              <a:defRPr sz="2700">
                <a:solidFill>
                  <a:srgbClr val="2878A8"/>
                </a:solidFill>
                <a:latin typeface="Arial"/>
                <a:ea typeface="Arial"/>
                <a:cs typeface="Arial"/>
              </a:defRPr>
            </a:lvl1pPr>
            <a:lvl2pPr>
              <a:defRPr sz="2700">
                <a:solidFill>
                  <a:srgbClr val="2878A8"/>
                </a:solidFill>
                <a:latin typeface="Arial"/>
                <a:ea typeface="Arial"/>
                <a:cs typeface="Arial"/>
              </a:defRPr>
            </a:lvl2pPr>
            <a:lvl3pPr>
              <a:defRPr sz="2700">
                <a:solidFill>
                  <a:srgbClr val="2878A8"/>
                </a:solidFill>
                <a:latin typeface="Arial"/>
                <a:ea typeface="Arial"/>
                <a:cs typeface="Arial"/>
              </a:defRPr>
            </a:lvl3pPr>
            <a:lvl4pPr>
              <a:defRPr sz="2700">
                <a:solidFill>
                  <a:srgbClr val="2878A8"/>
                </a:solidFill>
                <a:latin typeface="Arial"/>
                <a:ea typeface="Arial"/>
                <a:cs typeface="Arial"/>
              </a:defRPr>
            </a:lvl4pPr>
            <a:lvl5pPr>
              <a:defRPr sz="2700">
                <a:solidFill>
                  <a:srgbClr val="2878A8"/>
                </a:solidFill>
                <a:latin typeface="Arial"/>
                <a:ea typeface="Arial"/>
                <a:cs typeface="Arial"/>
              </a:defRPr>
            </a:lvl5pPr>
            <a:lvl6pPr>
              <a:defRPr sz="2700">
                <a:solidFill>
                  <a:srgbClr val="2878A8"/>
                </a:solidFill>
                <a:latin typeface="Arial"/>
                <a:ea typeface="Arial"/>
                <a:cs typeface="Arial"/>
              </a:defRPr>
            </a:lvl6pPr>
            <a:lvl7pPr>
              <a:defRPr sz="2700">
                <a:solidFill>
                  <a:srgbClr val="2878A8"/>
                </a:solidFill>
                <a:latin typeface="Arial"/>
                <a:ea typeface="Arial"/>
                <a:cs typeface="Arial"/>
              </a:defRPr>
            </a:lvl7pPr>
            <a:lvl8pPr>
              <a:defRPr sz="2700">
                <a:solidFill>
                  <a:srgbClr val="2878A8"/>
                </a:solidFill>
                <a:latin typeface="Arial"/>
                <a:ea typeface="Arial"/>
                <a:cs typeface="Arial"/>
              </a:defRPr>
            </a:lvl8pPr>
            <a:lvl9pPr>
              <a:defRPr sz="2700">
                <a:solidFill>
                  <a:srgbClr val="2878A8"/>
                </a:solidFill>
                <a:latin typeface="Arial"/>
                <a:ea typeface="Arial"/>
                <a:cs typeface="Arial"/>
              </a:defRPr>
            </a:lvl9pPr>
          </a:lstStyle>
          <a:p xmlns:a="http://schemas.openxmlformats.org/drawingml/2006/main">
            <a:pPr>
              <a:defRPr sz="2700">
                <a:solidFill>
                  <a:srgbClr val="2878A8"/>
                </a:solidFill>
                <a:latin typeface="Arial"/>
                <a:ea typeface="Arial"/>
                <a:cs typeface="Arial"/>
              </a:defRPr>
            </a:pPr>
            <a:r>
              <a:rPr sz="2700">
                <a:solidFill>
                  <a:srgbClr val="2878A8"/>
                </a:solidFill>
                <a:latin typeface="Arial"/>
                <a:ea typeface="Arial"/>
                <a:cs typeface="Arial"/>
              </a:rPr>
              <a:t>ML-guided custom instruction selection</a:t>
            </a:r>
          </a:p>
        </p:txBody>
      </p:sp>
      <p:sp>
        <p:nvSpPr>
          <p:cNvPr id="3" name="">
            <a:extLst xmlns:a="http://schemas.openxmlformats.org/drawingml/2006/main">
              <a:ext uri="{FF2B5EF4-FFF2-40B4-BE49-F238E27FC236}">
                <a16:creationId xmlns:a16="http://schemas.microsoft.com/office/drawing/2014/main" id="{38BCB28E-94D3-408F-B0FE-503EBDD24069}"/>
              </a:ext>
            </a:extLst>
          </p:cNvPr>
          <p:cNvSpPr>
            <a:spLocks xmlns:a="http://schemas.openxmlformats.org/drawingml/2006/main" noGrp="1"/>
          </p:cNvSpPr>
          <p:nvPr/>
        </p:nvSpPr>
        <p:spPr>
          <a:xfrm xmlns:a="http://schemas.openxmlformats.org/drawingml/2006/main">
            <a:off x="685800" y="3257550"/>
            <a:ext cx="4191000"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txBody xmlns:a="http://schemas.openxmlformats.org/drawingml/2006/main">
          <a:bodyPr/>
          <a:p/>
        </p:txBody>
      </p:sp>
      <p:sp>
        <p:nvSpPr>
          <p:cNvPr id="4" name="">
            <a:extLst xmlns:a="http://schemas.openxmlformats.org/drawingml/2006/main">
              <a:ext uri="{FF2B5EF4-FFF2-40B4-BE49-F238E27FC236}">
                <a16:creationId xmlns:a16="http://schemas.microsoft.com/office/drawing/2014/main" id="{E3E0C44C-7485-4EFA-BB25-D9E0044F461B}"/>
              </a:ext>
            </a:extLst>
          </p:cNvPr>
          <p:cNvSpPr>
            <a:spLocks xmlns:a="http://schemas.openxmlformats.org/drawingml/2006/main" noGrp="1"/>
          </p:cNvSpPr>
          <p:nvPr/>
        </p:nvSpPr>
        <p:spPr>
          <a:xfrm xmlns:a="http://schemas.openxmlformats.org/drawingml/2006/main">
            <a:off x="685800" y="3619500"/>
            <a:ext cx="809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a:solidFill>
                  <a:srgbClr val="263648"/>
                </a:solidFill>
                <a:latin typeface="Arial"/>
                <a:ea typeface="Arial"/>
                <a:cs typeface="Arial"/>
              </a:defRPr>
            </a:defPPr>
            <a:lvl1pPr>
              <a:defRPr sz="1800">
                <a:solidFill>
                  <a:srgbClr val="263648"/>
                </a:solidFill>
                <a:latin typeface="Arial"/>
                <a:ea typeface="Arial"/>
                <a:cs typeface="Arial"/>
              </a:defRPr>
            </a:lvl1pPr>
            <a:lvl2pPr>
              <a:defRPr sz="1800">
                <a:solidFill>
                  <a:srgbClr val="263648"/>
                </a:solidFill>
                <a:latin typeface="Arial"/>
                <a:ea typeface="Arial"/>
                <a:cs typeface="Arial"/>
              </a:defRPr>
            </a:lvl2pPr>
            <a:lvl3pPr>
              <a:defRPr sz="1800">
                <a:solidFill>
                  <a:srgbClr val="263648"/>
                </a:solidFill>
                <a:latin typeface="Arial"/>
                <a:ea typeface="Arial"/>
                <a:cs typeface="Arial"/>
              </a:defRPr>
            </a:lvl3pPr>
            <a:lvl4pPr>
              <a:defRPr sz="1800">
                <a:solidFill>
                  <a:srgbClr val="263648"/>
                </a:solidFill>
                <a:latin typeface="Arial"/>
                <a:ea typeface="Arial"/>
                <a:cs typeface="Arial"/>
              </a:defRPr>
            </a:lvl4pPr>
            <a:lvl5pPr>
              <a:defRPr sz="1800">
                <a:solidFill>
                  <a:srgbClr val="263648"/>
                </a:solidFill>
                <a:latin typeface="Arial"/>
                <a:ea typeface="Arial"/>
                <a:cs typeface="Arial"/>
              </a:defRPr>
            </a:lvl5pPr>
            <a:lvl6pPr>
              <a:defRPr sz="1800">
                <a:solidFill>
                  <a:srgbClr val="263648"/>
                </a:solidFill>
                <a:latin typeface="Arial"/>
                <a:ea typeface="Arial"/>
                <a:cs typeface="Arial"/>
              </a:defRPr>
            </a:lvl6pPr>
            <a:lvl7pPr>
              <a:defRPr sz="1800">
                <a:solidFill>
                  <a:srgbClr val="263648"/>
                </a:solidFill>
                <a:latin typeface="Arial"/>
                <a:ea typeface="Arial"/>
                <a:cs typeface="Arial"/>
              </a:defRPr>
            </a:lvl7pPr>
            <a:lvl8pPr>
              <a:defRPr sz="1800">
                <a:solidFill>
                  <a:srgbClr val="263648"/>
                </a:solidFill>
                <a:latin typeface="Arial"/>
                <a:ea typeface="Arial"/>
                <a:cs typeface="Arial"/>
              </a:defRPr>
            </a:lvl8pPr>
            <a:lvl9pPr>
              <a:defRPr sz="1800">
                <a:solidFill>
                  <a:srgbClr val="263648"/>
                </a:solidFill>
                <a:latin typeface="Arial"/>
                <a:ea typeface="Arial"/>
                <a:cs typeface="Arial"/>
              </a:defRPr>
            </a:lvl9pPr>
          </a:lstStyle>
          <a:p xmlns:a="http://schemas.openxmlformats.org/drawingml/2006/main">
            <a:pPr>
              <a:defRPr sz="1800">
                <a:solidFill>
                  <a:srgbClr val="263648"/>
                </a:solidFill>
                <a:latin typeface="Arial"/>
                <a:ea typeface="Arial"/>
                <a:cs typeface="Arial"/>
              </a:defRPr>
            </a:pPr>
            <a:r>
              <a:rPr sz="1800">
                <a:solidFill>
                  <a:srgbClr val="263648"/>
                </a:solidFill>
                <a:latin typeface="Arial"/>
                <a:ea typeface="Arial"/>
                <a:cs typeface="Arial"/>
              </a:rPr>
              <a:t>Midterm research progress  /  ECE 4803</a:t>
            </a:r>
          </a:p>
        </p:txBody>
      </p:sp>
      <p:sp>
        <p:nvSpPr>
          <p:cNvPr id="5" name="">
            <a:extLst xmlns:a="http://schemas.openxmlformats.org/drawingml/2006/main">
              <a:ext uri="{FF2B5EF4-FFF2-40B4-BE49-F238E27FC236}">
                <a16:creationId xmlns:a16="http://schemas.microsoft.com/office/drawing/2014/main" id="{7B149B5D-E8EA-4908-BBCB-0AFC71928D4D}"/>
              </a:ext>
            </a:extLst>
          </p:cNvPr>
          <p:cNvSpPr>
            <a:spLocks xmlns:a="http://schemas.openxmlformats.org/drawingml/2006/main" noGrp="1"/>
          </p:cNvSpPr>
          <p:nvPr/>
        </p:nvSpPr>
        <p:spPr>
          <a:xfrm xmlns:a="http://schemas.openxmlformats.org/drawingml/2006/main">
            <a:off x="685800" y="40767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a:solidFill>
                  <a:srgbClr val="607286"/>
                </a:solidFill>
                <a:latin typeface="Arial"/>
                <a:ea typeface="Arial"/>
                <a:cs typeface="Arial"/>
              </a:defRPr>
            </a:defPPr>
            <a:lvl1pPr>
              <a:defRPr sz="1350">
                <a:solidFill>
                  <a:srgbClr val="607286"/>
                </a:solidFill>
                <a:latin typeface="Arial"/>
                <a:ea typeface="Arial"/>
                <a:cs typeface="Arial"/>
              </a:defRPr>
            </a:lvl1pPr>
            <a:lvl2pPr>
              <a:defRPr sz="1350">
                <a:solidFill>
                  <a:srgbClr val="607286"/>
                </a:solidFill>
                <a:latin typeface="Arial"/>
                <a:ea typeface="Arial"/>
                <a:cs typeface="Arial"/>
              </a:defRPr>
            </a:lvl2pPr>
            <a:lvl3pPr>
              <a:defRPr sz="1350">
                <a:solidFill>
                  <a:srgbClr val="607286"/>
                </a:solidFill>
                <a:latin typeface="Arial"/>
                <a:ea typeface="Arial"/>
                <a:cs typeface="Arial"/>
              </a:defRPr>
            </a:lvl3pPr>
            <a:lvl4pPr>
              <a:defRPr sz="1350">
                <a:solidFill>
                  <a:srgbClr val="607286"/>
                </a:solidFill>
                <a:latin typeface="Arial"/>
                <a:ea typeface="Arial"/>
                <a:cs typeface="Arial"/>
              </a:defRPr>
            </a:lvl4pPr>
            <a:lvl5pPr>
              <a:defRPr sz="1350">
                <a:solidFill>
                  <a:srgbClr val="607286"/>
                </a:solidFill>
                <a:latin typeface="Arial"/>
                <a:ea typeface="Arial"/>
                <a:cs typeface="Arial"/>
              </a:defRPr>
            </a:lvl5pPr>
            <a:lvl6pPr>
              <a:defRPr sz="1350">
                <a:solidFill>
                  <a:srgbClr val="607286"/>
                </a:solidFill>
                <a:latin typeface="Arial"/>
                <a:ea typeface="Arial"/>
                <a:cs typeface="Arial"/>
              </a:defRPr>
            </a:lvl6pPr>
            <a:lvl7pPr>
              <a:defRPr sz="1350">
                <a:solidFill>
                  <a:srgbClr val="607286"/>
                </a:solidFill>
                <a:latin typeface="Arial"/>
                <a:ea typeface="Arial"/>
                <a:cs typeface="Arial"/>
              </a:defRPr>
            </a:lvl7pPr>
            <a:lvl8pPr>
              <a:defRPr sz="1350">
                <a:solidFill>
                  <a:srgbClr val="607286"/>
                </a:solidFill>
                <a:latin typeface="Arial"/>
                <a:ea typeface="Arial"/>
                <a:cs typeface="Arial"/>
              </a:defRPr>
            </a:lvl8pPr>
            <a:lvl9pPr>
              <a:defRPr sz="1350">
                <a:solidFill>
                  <a:srgbClr val="607286"/>
                </a:solidFill>
                <a:latin typeface="Arial"/>
                <a:ea typeface="Arial"/>
                <a:cs typeface="Arial"/>
              </a:defRPr>
            </a:lvl9pPr>
          </a:lstStyle>
          <a:p xmlns:a="http://schemas.openxmlformats.org/drawingml/2006/main">
            <a:pPr>
              <a:defRPr sz="1350">
                <a:solidFill>
                  <a:srgbClr val="607286"/>
                </a:solidFill>
                <a:latin typeface="Arial"/>
                <a:ea typeface="Arial"/>
                <a:cs typeface="Arial"/>
              </a:defRPr>
            </a:pPr>
            <a:r>
              <a:rPr sz="1350">
                <a:solidFill>
                  <a:srgbClr val="607286"/>
                </a:solidFill>
                <a:latin typeface="Arial"/>
                <a:ea typeface="Arial"/>
                <a:cs typeface="Arial"/>
              </a:rPr>
              <a:t>October 27, 2026</a:t>
            </a:r>
          </a:p>
        </p:txBody>
      </p:sp>
      <p:sp>
        <p:nvSpPr>
          <p:cNvPr id="6" name="">
            <a:extLst xmlns:a="http://schemas.openxmlformats.org/drawingml/2006/main">
              <a:ext uri="{FF2B5EF4-FFF2-40B4-BE49-F238E27FC236}">
                <a16:creationId xmlns:a16="http://schemas.microsoft.com/office/drawing/2014/main" id="{A07BA9C8-E742-49BC-BC91-389347C013FE}"/>
              </a:ext>
            </a:extLst>
          </p:cNvPr>
          <p:cNvSpPr>
            <a:spLocks xmlns:a="http://schemas.openxmlformats.org/drawingml/2006/main" noGrp="1"/>
          </p:cNvSpPr>
          <p:nvPr/>
        </p:nvSpPr>
        <p:spPr>
          <a:xfrm xmlns:a="http://schemas.openxmlformats.org/drawingml/2006/main">
            <a:off x="685800" y="5219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63648"/>
                </a:solidFill>
                <a:latin typeface="Arial"/>
                <a:ea typeface="Arial"/>
                <a:cs typeface="Arial"/>
              </a:defRPr>
            </a:defPPr>
            <a:lvl1pPr>
              <a:defRPr sz="1575" b="1">
                <a:solidFill>
                  <a:srgbClr val="263648"/>
                </a:solidFill>
                <a:latin typeface="Arial"/>
                <a:ea typeface="Arial"/>
                <a:cs typeface="Arial"/>
              </a:defRPr>
            </a:lvl1pPr>
            <a:lvl2pPr>
              <a:defRPr sz="1575" b="1">
                <a:solidFill>
                  <a:srgbClr val="263648"/>
                </a:solidFill>
                <a:latin typeface="Arial"/>
                <a:ea typeface="Arial"/>
                <a:cs typeface="Arial"/>
              </a:defRPr>
            </a:lvl2pPr>
            <a:lvl3pPr>
              <a:defRPr sz="1575" b="1">
                <a:solidFill>
                  <a:srgbClr val="263648"/>
                </a:solidFill>
                <a:latin typeface="Arial"/>
                <a:ea typeface="Arial"/>
                <a:cs typeface="Arial"/>
              </a:defRPr>
            </a:lvl3pPr>
            <a:lvl4pPr>
              <a:defRPr sz="1575" b="1">
                <a:solidFill>
                  <a:srgbClr val="263648"/>
                </a:solidFill>
                <a:latin typeface="Arial"/>
                <a:ea typeface="Arial"/>
                <a:cs typeface="Arial"/>
              </a:defRPr>
            </a:lvl4pPr>
            <a:lvl5pPr>
              <a:defRPr sz="1575" b="1">
                <a:solidFill>
                  <a:srgbClr val="263648"/>
                </a:solidFill>
                <a:latin typeface="Arial"/>
                <a:ea typeface="Arial"/>
                <a:cs typeface="Arial"/>
              </a:defRPr>
            </a:lvl5pPr>
            <a:lvl6pPr>
              <a:defRPr sz="1575" b="1">
                <a:solidFill>
                  <a:srgbClr val="263648"/>
                </a:solidFill>
                <a:latin typeface="Arial"/>
                <a:ea typeface="Arial"/>
                <a:cs typeface="Arial"/>
              </a:defRPr>
            </a:lvl6pPr>
            <a:lvl7pPr>
              <a:defRPr sz="1575" b="1">
                <a:solidFill>
                  <a:srgbClr val="263648"/>
                </a:solidFill>
                <a:latin typeface="Arial"/>
                <a:ea typeface="Arial"/>
                <a:cs typeface="Arial"/>
              </a:defRPr>
            </a:lvl7pPr>
            <a:lvl8pPr>
              <a:defRPr sz="1575" b="1">
                <a:solidFill>
                  <a:srgbClr val="263648"/>
                </a:solidFill>
                <a:latin typeface="Arial"/>
                <a:ea typeface="Arial"/>
                <a:cs typeface="Arial"/>
              </a:defRPr>
            </a:lvl8pPr>
            <a:lvl9pPr>
              <a:defRPr sz="1575" b="1">
                <a:solidFill>
                  <a:srgbClr val="263648"/>
                </a:solidFill>
                <a:latin typeface="Arial"/>
                <a:ea typeface="Arial"/>
                <a:cs typeface="Arial"/>
              </a:defRPr>
            </a:lvl9pPr>
          </a:lstStyle>
          <a:p xmlns:a="http://schemas.openxmlformats.org/drawingml/2006/main">
            <a:pPr>
              <a:defRPr sz="1575" b="1">
                <a:solidFill>
                  <a:srgbClr val="263648"/>
                </a:solidFill>
                <a:latin typeface="Arial"/>
                <a:ea typeface="Arial"/>
                <a:cs typeface="Arial"/>
              </a:defRPr>
            </a:pPr>
            <a:r>
              <a:rPr sz="1575" b="1">
                <a:solidFill>
                  <a:srgbClr val="263648"/>
                </a:solidFill>
                <a:latin typeface="Arial"/>
                <a:ea typeface="Arial"/>
                <a:cs typeface="Arial"/>
              </a:rPr>
              <a:t>Current evidence: ML has not consistently beaten the strongest heuristic.</a:t>
            </a:r>
          </a:p>
        </p:txBody>
      </p:sp>
      <p:sp>
        <p:nvSpPr>
          <p:cNvPr id="7" name="">
            <a:extLst xmlns:a="http://schemas.openxmlformats.org/drawingml/2006/main">
              <a:ext uri="{FF2B5EF4-FFF2-40B4-BE49-F238E27FC236}">
                <a16:creationId xmlns:a16="http://schemas.microsoft.com/office/drawing/2014/main" id="{412BF0FE-EEBF-4664-A26E-6DF604F51DCF}"/>
              </a:ext>
            </a:extLst>
          </p:cNvPr>
          <p:cNvSpPr>
            <a:spLocks xmlns:a="http://schemas.openxmlformats.org/drawingml/2006/main" noGrp="1"/>
          </p:cNvSpPr>
          <p:nvPr/>
        </p:nvSpPr>
        <p:spPr>
          <a:xfrm xmlns:a="http://schemas.openxmlformats.org/drawingml/2006/main">
            <a:off x="685800" y="573405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a:solidFill>
                  <a:srgbClr val="607286"/>
                </a:solidFill>
                <a:latin typeface="Arial"/>
                <a:ea typeface="Arial"/>
                <a:cs typeface="Arial"/>
              </a:defRPr>
            </a:defPPr>
            <a:lvl1pPr>
              <a:defRPr sz="1125">
                <a:solidFill>
                  <a:srgbClr val="607286"/>
                </a:solidFill>
                <a:latin typeface="Arial"/>
                <a:ea typeface="Arial"/>
                <a:cs typeface="Arial"/>
              </a:defRPr>
            </a:lvl1pPr>
            <a:lvl2pPr>
              <a:defRPr sz="1125">
                <a:solidFill>
                  <a:srgbClr val="607286"/>
                </a:solidFill>
                <a:latin typeface="Arial"/>
                <a:ea typeface="Arial"/>
                <a:cs typeface="Arial"/>
              </a:defRPr>
            </a:lvl2pPr>
            <a:lvl3pPr>
              <a:defRPr sz="1125">
                <a:solidFill>
                  <a:srgbClr val="607286"/>
                </a:solidFill>
                <a:latin typeface="Arial"/>
                <a:ea typeface="Arial"/>
                <a:cs typeface="Arial"/>
              </a:defRPr>
            </a:lvl3pPr>
            <a:lvl4pPr>
              <a:defRPr sz="1125">
                <a:solidFill>
                  <a:srgbClr val="607286"/>
                </a:solidFill>
                <a:latin typeface="Arial"/>
                <a:ea typeface="Arial"/>
                <a:cs typeface="Arial"/>
              </a:defRPr>
            </a:lvl4pPr>
            <a:lvl5pPr>
              <a:defRPr sz="1125">
                <a:solidFill>
                  <a:srgbClr val="607286"/>
                </a:solidFill>
                <a:latin typeface="Arial"/>
                <a:ea typeface="Arial"/>
                <a:cs typeface="Arial"/>
              </a:defRPr>
            </a:lvl5pPr>
            <a:lvl6pPr>
              <a:defRPr sz="1125">
                <a:solidFill>
                  <a:srgbClr val="607286"/>
                </a:solidFill>
                <a:latin typeface="Arial"/>
                <a:ea typeface="Arial"/>
                <a:cs typeface="Arial"/>
              </a:defRPr>
            </a:lvl6pPr>
            <a:lvl7pPr>
              <a:defRPr sz="1125">
                <a:solidFill>
                  <a:srgbClr val="607286"/>
                </a:solidFill>
                <a:latin typeface="Arial"/>
                <a:ea typeface="Arial"/>
                <a:cs typeface="Arial"/>
              </a:defRPr>
            </a:lvl7pPr>
            <a:lvl8pPr>
              <a:defRPr sz="1125">
                <a:solidFill>
                  <a:srgbClr val="607286"/>
                </a:solidFill>
                <a:latin typeface="Arial"/>
                <a:ea typeface="Arial"/>
                <a:cs typeface="Arial"/>
              </a:defRPr>
            </a:lvl8pPr>
            <a:lvl9pPr>
              <a:defRPr sz="1125">
                <a:solidFill>
                  <a:srgbClr val="607286"/>
                </a:solidFill>
                <a:latin typeface="Arial"/>
                <a:ea typeface="Arial"/>
                <a:cs typeface="Arial"/>
              </a:defRPr>
            </a:lvl9pPr>
          </a:lstStyle>
          <a:p xmlns:a="http://schemas.openxmlformats.org/drawingml/2006/main">
            <a:pPr>
              <a:defRPr sz="1125">
                <a:solidFill>
                  <a:srgbClr val="607286"/>
                </a:solidFill>
                <a:latin typeface="Arial"/>
                <a:ea typeface="Arial"/>
                <a:cs typeface="Arial"/>
              </a:defRPr>
            </a:pPr>
            <a:r>
              <a:rPr sz="1125">
                <a:solidFill>
                  <a:srgbClr val="607286"/>
                </a:solidFill>
                <a:latin typeface="Arial"/>
                <a:ea typeface="Arial"/>
                <a:cs typeface="Arial"/>
              </a:rPr>
              <a:t>Project team names and contribution mapping are left for confirmation.</a:t>
            </a:r>
          </a:p>
        </p:txBody>
      </p:sp>
    </p:spTree>
    <p:extLst>
      <p:ext uri="{BB962C8B-B14F-4D97-AF65-F5344CB8AC3E}">
        <p14:creationId xmlns:p14="http://schemas.microsoft.com/office/powerpoint/2010/main" val="186912707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F097B6D-D5EC-4759-A74E-319ED18EB64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goal and evaluation pipeline</a:t>
            </a:r>
          </a:p>
        </p:txBody>
      </p:sp>
      <p:sp>
        <p:nvSpPr>
          <p:cNvPr id="2" name="">
            <a:extLst xmlns:a="http://schemas.openxmlformats.org/drawingml/2006/main">
              <a:ext uri="{FF2B5EF4-FFF2-40B4-BE49-F238E27FC236}">
                <a16:creationId xmlns:a16="http://schemas.microsoft.com/office/drawing/2014/main" id="{3D3F155E-2347-4B82-A1C3-28486A04078F}"/>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71666E83-2BB4-4843-A66A-F6D1F7B4394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2</a:t>
            </a:r>
          </a:p>
        </p:txBody>
      </p:sp>
      <p:sp>
        <p:nvSpPr>
          <p:cNvPr id="4" name="">
            <a:extLst xmlns:a="http://schemas.openxmlformats.org/drawingml/2006/main">
              <a:ext uri="{FF2B5EF4-FFF2-40B4-BE49-F238E27FC236}">
                <a16:creationId xmlns:a16="http://schemas.microsoft.com/office/drawing/2014/main" id="{5D9B1931-6C76-4F21-A614-80E2F879B98E}"/>
              </a:ext>
            </a:extLst>
          </p:cNvPr>
          <p:cNvSpPr>
            <a:spLocks xmlns:a="http://schemas.openxmlformats.org/drawingml/2006/main" noGrp="1"/>
          </p:cNvSpPr>
          <p:nvPr/>
        </p:nvSpPr>
        <p:spPr>
          <a:xfrm xmlns:a="http://schemas.openxmlformats.org/drawingml/2006/main">
            <a:off x="685800" y="1257300"/>
            <a:ext cx="1076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263648"/>
                </a:solidFill>
                <a:latin typeface="Arial"/>
                <a:ea typeface="Arial"/>
                <a:cs typeface="Arial"/>
              </a:defRPr>
            </a:defPPr>
            <a:lvl1pPr>
              <a:defRPr sz="1950" b="1">
                <a:solidFill>
                  <a:srgbClr val="263648"/>
                </a:solidFill>
                <a:latin typeface="Arial"/>
                <a:ea typeface="Arial"/>
                <a:cs typeface="Arial"/>
              </a:defRPr>
            </a:lvl1pPr>
            <a:lvl2pPr>
              <a:defRPr sz="1950" b="1">
                <a:solidFill>
                  <a:srgbClr val="263648"/>
                </a:solidFill>
                <a:latin typeface="Arial"/>
                <a:ea typeface="Arial"/>
                <a:cs typeface="Arial"/>
              </a:defRPr>
            </a:lvl2pPr>
            <a:lvl3pPr>
              <a:defRPr sz="1950" b="1">
                <a:solidFill>
                  <a:srgbClr val="263648"/>
                </a:solidFill>
                <a:latin typeface="Arial"/>
                <a:ea typeface="Arial"/>
                <a:cs typeface="Arial"/>
              </a:defRPr>
            </a:lvl3pPr>
            <a:lvl4pPr>
              <a:defRPr sz="1950" b="1">
                <a:solidFill>
                  <a:srgbClr val="263648"/>
                </a:solidFill>
                <a:latin typeface="Arial"/>
                <a:ea typeface="Arial"/>
                <a:cs typeface="Arial"/>
              </a:defRPr>
            </a:lvl4pPr>
            <a:lvl5pPr>
              <a:defRPr sz="1950" b="1">
                <a:solidFill>
                  <a:srgbClr val="263648"/>
                </a:solidFill>
                <a:latin typeface="Arial"/>
                <a:ea typeface="Arial"/>
                <a:cs typeface="Arial"/>
              </a:defRPr>
            </a:lvl5pPr>
            <a:lvl6pPr>
              <a:defRPr sz="1950" b="1">
                <a:solidFill>
                  <a:srgbClr val="263648"/>
                </a:solidFill>
                <a:latin typeface="Arial"/>
                <a:ea typeface="Arial"/>
                <a:cs typeface="Arial"/>
              </a:defRPr>
            </a:lvl6pPr>
            <a:lvl7pPr>
              <a:defRPr sz="1950" b="1">
                <a:solidFill>
                  <a:srgbClr val="263648"/>
                </a:solidFill>
                <a:latin typeface="Arial"/>
                <a:ea typeface="Arial"/>
                <a:cs typeface="Arial"/>
              </a:defRPr>
            </a:lvl7pPr>
            <a:lvl8pPr>
              <a:defRPr sz="1950" b="1">
                <a:solidFill>
                  <a:srgbClr val="263648"/>
                </a:solidFill>
                <a:latin typeface="Arial"/>
                <a:ea typeface="Arial"/>
                <a:cs typeface="Arial"/>
              </a:defRPr>
            </a:lvl8pPr>
            <a:lvl9pPr>
              <a:defRPr sz="1950" b="1">
                <a:solidFill>
                  <a:srgbClr val="263648"/>
                </a:solidFill>
                <a:latin typeface="Arial"/>
                <a:ea typeface="Arial"/>
                <a:cs typeface="Arial"/>
              </a:defRPr>
            </a:lvl9pPr>
          </a:lstStyle>
          <a:p xmlns:a="http://schemas.openxmlformats.org/drawingml/2006/main">
            <a:pPr>
              <a:defRPr sz="1950" b="1">
                <a:solidFill>
                  <a:srgbClr val="263648"/>
                </a:solidFill>
                <a:latin typeface="Arial"/>
                <a:ea typeface="Arial"/>
                <a:cs typeface="Arial"/>
              </a:defRPr>
            </a:pPr>
            <a:r>
              <a:rPr sz="1950" b="1">
                <a:solidFill>
                  <a:srgbClr val="263648"/>
                </a:solidFill>
                <a:latin typeface="Arial"/>
                <a:ea typeface="Arial"/>
                <a:cs typeface="Arial"/>
              </a:rPr>
              <a:t>Can ML find better verified designs with fewer hardware evaluations?</a:t>
            </a:r>
          </a:p>
        </p:txBody>
      </p:sp>
      <p:sp>
        <p:nvSpPr>
          <p:cNvPr id="5" name="">
            <a:extLst xmlns:a="http://schemas.openxmlformats.org/drawingml/2006/main">
              <a:ext uri="{FF2B5EF4-FFF2-40B4-BE49-F238E27FC236}">
                <a16:creationId xmlns:a16="http://schemas.microsoft.com/office/drawing/2014/main" id="{521D234B-29EA-46BD-969A-203C836026BE}"/>
              </a:ext>
            </a:extLst>
          </p:cNvPr>
          <p:cNvSpPr>
            <a:spLocks xmlns:a="http://schemas.openxmlformats.org/drawingml/2006/main" noGrp="1"/>
          </p:cNvSpPr>
          <p:nvPr/>
        </p:nvSpPr>
        <p:spPr>
          <a:xfrm xmlns:a="http://schemas.openxmlformats.org/drawingml/2006/main">
            <a:off x="685800" y="2143125"/>
            <a:ext cx="1924050" cy="1352550"/>
          </a:xfrm>
          <a:prstGeom xmlns:a="http://schemas.openxmlformats.org/drawingml/2006/main" prst="roundRect">
            <a:avLst>
              <a:gd name="adj" fmla="val 5634"/>
            </a:avLst>
          </a:prstGeom>
          <a:solidFill xmlns:a="http://schemas.openxmlformats.org/drawingml/2006/main">
            <a:srgbClr val="F4F7FA"/>
          </a:solidFill>
          <a:ln xmlns:a="http://schemas.openxmlformats.org/drawingml/2006/main" w="11430">
            <a:solidFill>
              <a:srgbClr val="D9E1E8"/>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9BDEDEA-1848-4ABB-ADBC-082B92A07060}"/>
              </a:ext>
            </a:extLst>
          </p:cNvPr>
          <p:cNvSpPr>
            <a:spLocks xmlns:a="http://schemas.openxmlformats.org/drawingml/2006/main" noGrp="1"/>
          </p:cNvSpPr>
          <p:nvPr/>
        </p:nvSpPr>
        <p:spPr>
          <a:xfrm xmlns:a="http://schemas.openxmlformats.org/drawingml/2006/main">
            <a:off x="838200" y="227647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878A8"/>
                </a:solidFill>
                <a:latin typeface="Arial"/>
                <a:ea typeface="Arial"/>
                <a:cs typeface="Arial"/>
              </a:defRPr>
            </a:defPPr>
            <a:lvl1pPr>
              <a:defRPr sz="1350" b="1">
                <a:solidFill>
                  <a:srgbClr val="2878A8"/>
                </a:solidFill>
                <a:latin typeface="Arial"/>
                <a:ea typeface="Arial"/>
                <a:cs typeface="Arial"/>
              </a:defRPr>
            </a:lvl1pPr>
            <a:lvl2pPr>
              <a:defRPr sz="1350" b="1">
                <a:solidFill>
                  <a:srgbClr val="2878A8"/>
                </a:solidFill>
                <a:latin typeface="Arial"/>
                <a:ea typeface="Arial"/>
                <a:cs typeface="Arial"/>
              </a:defRPr>
            </a:lvl2pPr>
            <a:lvl3pPr>
              <a:defRPr sz="1350" b="1">
                <a:solidFill>
                  <a:srgbClr val="2878A8"/>
                </a:solidFill>
                <a:latin typeface="Arial"/>
                <a:ea typeface="Arial"/>
                <a:cs typeface="Arial"/>
              </a:defRPr>
            </a:lvl3pPr>
            <a:lvl4pPr>
              <a:defRPr sz="1350" b="1">
                <a:solidFill>
                  <a:srgbClr val="2878A8"/>
                </a:solidFill>
                <a:latin typeface="Arial"/>
                <a:ea typeface="Arial"/>
                <a:cs typeface="Arial"/>
              </a:defRPr>
            </a:lvl4pPr>
            <a:lvl5pPr>
              <a:defRPr sz="1350" b="1">
                <a:solidFill>
                  <a:srgbClr val="2878A8"/>
                </a:solidFill>
                <a:latin typeface="Arial"/>
                <a:ea typeface="Arial"/>
                <a:cs typeface="Arial"/>
              </a:defRPr>
            </a:lvl5pPr>
            <a:lvl6pPr>
              <a:defRPr sz="1350" b="1">
                <a:solidFill>
                  <a:srgbClr val="2878A8"/>
                </a:solidFill>
                <a:latin typeface="Arial"/>
                <a:ea typeface="Arial"/>
                <a:cs typeface="Arial"/>
              </a:defRPr>
            </a:lvl6pPr>
            <a:lvl7pPr>
              <a:defRPr sz="1350" b="1">
                <a:solidFill>
                  <a:srgbClr val="2878A8"/>
                </a:solidFill>
                <a:latin typeface="Arial"/>
                <a:ea typeface="Arial"/>
                <a:cs typeface="Arial"/>
              </a:defRPr>
            </a:lvl7pPr>
            <a:lvl8pPr>
              <a:defRPr sz="1350" b="1">
                <a:solidFill>
                  <a:srgbClr val="2878A8"/>
                </a:solidFill>
                <a:latin typeface="Arial"/>
                <a:ea typeface="Arial"/>
                <a:cs typeface="Arial"/>
              </a:defRPr>
            </a:lvl8pPr>
            <a:lvl9pPr>
              <a:defRPr sz="1350" b="1">
                <a:solidFill>
                  <a:srgbClr val="2878A8"/>
                </a:solidFill>
                <a:latin typeface="Arial"/>
                <a:ea typeface="Arial"/>
                <a:cs typeface="Arial"/>
              </a:defRPr>
            </a:lvl9pPr>
          </a:lstStyle>
          <a:p xmlns:a="http://schemas.openxmlformats.org/drawingml/2006/main">
            <a:pPr>
              <a:defRPr sz="1350" b="1">
                <a:solidFill>
                  <a:srgbClr val="2878A8"/>
                </a:solidFill>
                <a:latin typeface="Arial"/>
                <a:ea typeface="Arial"/>
                <a:cs typeface="Arial"/>
              </a:defRPr>
            </a:pPr>
            <a:r>
              <a:rPr sz="1350" b="1">
                <a:solidFill>
                  <a:srgbClr val="2878A8"/>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3E3E490D-5B25-4C5E-AC7A-5E56A2D4C93A}"/>
              </a:ext>
            </a:extLst>
          </p:cNvPr>
          <p:cNvSpPr>
            <a:spLocks xmlns:a="http://schemas.openxmlformats.org/drawingml/2006/main" noGrp="1"/>
          </p:cNvSpPr>
          <p:nvPr/>
        </p:nvSpPr>
        <p:spPr>
          <a:xfrm xmlns:a="http://schemas.openxmlformats.org/drawingml/2006/main">
            <a:off x="838200" y="25717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17324D"/>
                </a:solidFill>
                <a:latin typeface="Arial"/>
                <a:ea typeface="Arial"/>
                <a:cs typeface="Arial"/>
              </a:defRPr>
            </a:defPPr>
            <a:lvl1pPr algn="ctr">
              <a:defRPr sz="1650" b="1">
                <a:solidFill>
                  <a:srgbClr val="17324D"/>
                </a:solidFill>
                <a:latin typeface="Arial"/>
                <a:ea typeface="Arial"/>
                <a:cs typeface="Arial"/>
              </a:defRPr>
            </a:lvl1pPr>
            <a:lvl2pPr algn="ctr">
              <a:defRPr sz="1650" b="1">
                <a:solidFill>
                  <a:srgbClr val="17324D"/>
                </a:solidFill>
                <a:latin typeface="Arial"/>
                <a:ea typeface="Arial"/>
                <a:cs typeface="Arial"/>
              </a:defRPr>
            </a:lvl2pPr>
            <a:lvl3pPr algn="ctr">
              <a:defRPr sz="1650" b="1">
                <a:solidFill>
                  <a:srgbClr val="17324D"/>
                </a:solidFill>
                <a:latin typeface="Arial"/>
                <a:ea typeface="Arial"/>
                <a:cs typeface="Arial"/>
              </a:defRPr>
            </a:lvl3pPr>
            <a:lvl4pPr algn="ctr">
              <a:defRPr sz="1650" b="1">
                <a:solidFill>
                  <a:srgbClr val="17324D"/>
                </a:solidFill>
                <a:latin typeface="Arial"/>
                <a:ea typeface="Arial"/>
                <a:cs typeface="Arial"/>
              </a:defRPr>
            </a:lvl4pPr>
            <a:lvl5pPr algn="ctr">
              <a:defRPr sz="1650" b="1">
                <a:solidFill>
                  <a:srgbClr val="17324D"/>
                </a:solidFill>
                <a:latin typeface="Arial"/>
                <a:ea typeface="Arial"/>
                <a:cs typeface="Arial"/>
              </a:defRPr>
            </a:lvl5pPr>
            <a:lvl6pPr algn="ctr">
              <a:defRPr sz="1650" b="1">
                <a:solidFill>
                  <a:srgbClr val="17324D"/>
                </a:solidFill>
                <a:latin typeface="Arial"/>
                <a:ea typeface="Arial"/>
                <a:cs typeface="Arial"/>
              </a:defRPr>
            </a:lvl6pPr>
            <a:lvl7pPr algn="ctr">
              <a:defRPr sz="1650" b="1">
                <a:solidFill>
                  <a:srgbClr val="17324D"/>
                </a:solidFill>
                <a:latin typeface="Arial"/>
                <a:ea typeface="Arial"/>
                <a:cs typeface="Arial"/>
              </a:defRPr>
            </a:lvl7pPr>
            <a:lvl8pPr algn="ctr">
              <a:defRPr sz="1650" b="1">
                <a:solidFill>
                  <a:srgbClr val="17324D"/>
                </a:solidFill>
                <a:latin typeface="Arial"/>
                <a:ea typeface="Arial"/>
                <a:cs typeface="Arial"/>
              </a:defRPr>
            </a:lvl8pPr>
            <a:lvl9pPr algn="ctr">
              <a:defRPr sz="1650" b="1">
                <a:solidFill>
                  <a:srgbClr val="17324D"/>
                </a:solidFill>
                <a:latin typeface="Arial"/>
                <a:ea typeface="Arial"/>
                <a:cs typeface="Arial"/>
              </a:defRPr>
            </a:lvl9pPr>
          </a:lstStyle>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Real RV32I</a:t>
            </a:r>
          </a:p>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workload</a:t>
            </a:r>
          </a:p>
        </p:txBody>
      </p:sp>
      <p:sp>
        <p:nvSpPr>
          <p:cNvPr id="8" name="">
            <a:extLst xmlns:a="http://schemas.openxmlformats.org/drawingml/2006/main">
              <a:ext uri="{FF2B5EF4-FFF2-40B4-BE49-F238E27FC236}">
                <a16:creationId xmlns:a16="http://schemas.microsoft.com/office/drawing/2014/main" id="{D475B749-5703-415E-933D-C60ECEFD5A59}"/>
              </a:ext>
            </a:extLst>
          </p:cNvPr>
          <p:cNvSpPr>
            <a:spLocks xmlns:a="http://schemas.openxmlformats.org/drawingml/2006/main" noGrp="1"/>
          </p:cNvSpPr>
          <p:nvPr/>
        </p:nvSpPr>
        <p:spPr>
          <a:xfrm xmlns:a="http://schemas.openxmlformats.org/drawingml/2006/main">
            <a:off x="800100" y="3095625"/>
            <a:ext cx="1695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050">
                <a:solidFill>
                  <a:srgbClr val="607286"/>
                </a:solidFill>
                <a:latin typeface="Arial"/>
                <a:ea typeface="Arial"/>
                <a:cs typeface="Arial"/>
              </a:defRPr>
            </a:defPPr>
            <a:lvl1pPr algn="ctr">
              <a:defRPr sz="1050">
                <a:solidFill>
                  <a:srgbClr val="607286"/>
                </a:solidFill>
                <a:latin typeface="Arial"/>
                <a:ea typeface="Arial"/>
                <a:cs typeface="Arial"/>
              </a:defRPr>
            </a:lvl1pPr>
            <a:lvl2pPr algn="ctr">
              <a:defRPr sz="1050">
                <a:solidFill>
                  <a:srgbClr val="607286"/>
                </a:solidFill>
                <a:latin typeface="Arial"/>
                <a:ea typeface="Arial"/>
                <a:cs typeface="Arial"/>
              </a:defRPr>
            </a:lvl2pPr>
            <a:lvl3pPr algn="ctr">
              <a:defRPr sz="1050">
                <a:solidFill>
                  <a:srgbClr val="607286"/>
                </a:solidFill>
                <a:latin typeface="Arial"/>
                <a:ea typeface="Arial"/>
                <a:cs typeface="Arial"/>
              </a:defRPr>
            </a:lvl3pPr>
            <a:lvl4pPr algn="ctr">
              <a:defRPr sz="1050">
                <a:solidFill>
                  <a:srgbClr val="607286"/>
                </a:solidFill>
                <a:latin typeface="Arial"/>
                <a:ea typeface="Arial"/>
                <a:cs typeface="Arial"/>
              </a:defRPr>
            </a:lvl4pPr>
            <a:lvl5pPr algn="ctr">
              <a:defRPr sz="1050">
                <a:solidFill>
                  <a:srgbClr val="607286"/>
                </a:solidFill>
                <a:latin typeface="Arial"/>
                <a:ea typeface="Arial"/>
                <a:cs typeface="Arial"/>
              </a:defRPr>
            </a:lvl5pPr>
            <a:lvl6pPr algn="ctr">
              <a:defRPr sz="1050">
                <a:solidFill>
                  <a:srgbClr val="607286"/>
                </a:solidFill>
                <a:latin typeface="Arial"/>
                <a:ea typeface="Arial"/>
                <a:cs typeface="Arial"/>
              </a:defRPr>
            </a:lvl6pPr>
            <a:lvl7pPr algn="ctr">
              <a:defRPr sz="1050">
                <a:solidFill>
                  <a:srgbClr val="607286"/>
                </a:solidFill>
                <a:latin typeface="Arial"/>
                <a:ea typeface="Arial"/>
                <a:cs typeface="Arial"/>
              </a:defRPr>
            </a:lvl7pPr>
            <a:lvl8pPr algn="ctr">
              <a:defRPr sz="1050">
                <a:solidFill>
                  <a:srgbClr val="607286"/>
                </a:solidFill>
                <a:latin typeface="Arial"/>
                <a:ea typeface="Arial"/>
                <a:cs typeface="Arial"/>
              </a:defRPr>
            </a:lvl8pPr>
            <a:lvl9pPr algn="ctr">
              <a:defRPr sz="1050">
                <a:solidFill>
                  <a:srgbClr val="607286"/>
                </a:solidFill>
                <a:latin typeface="Arial"/>
                <a:ea typeface="Arial"/>
                <a:cs typeface="Arial"/>
              </a:defRPr>
            </a:lvl9pPr>
          </a:lstStyle>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Compile and run</a:t>
            </a:r>
          </a:p>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with self-checks</a:t>
            </a:r>
          </a:p>
        </p:txBody>
      </p:sp>
      <p:sp>
        <p:nvSpPr>
          <p:cNvPr id="9" name="">
            <a:extLst xmlns:a="http://schemas.openxmlformats.org/drawingml/2006/main">
              <a:ext uri="{FF2B5EF4-FFF2-40B4-BE49-F238E27FC236}">
                <a16:creationId xmlns:a16="http://schemas.microsoft.com/office/drawing/2014/main" id="{B8644948-89D9-4016-B59B-0BA0CDC141C1}"/>
              </a:ext>
            </a:extLst>
          </p:cNvPr>
          <p:cNvSpPr>
            <a:spLocks xmlns:a="http://schemas.openxmlformats.org/drawingml/2006/main" noGrp="1"/>
          </p:cNvSpPr>
          <p:nvPr/>
        </p:nvSpPr>
        <p:spPr>
          <a:xfrm xmlns:a="http://schemas.openxmlformats.org/drawingml/2006/main">
            <a:off x="2657475" y="2695575"/>
            <a:ext cx="22860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9E273251-841F-4BB1-83AD-EE860819D65D}"/>
              </a:ext>
            </a:extLst>
          </p:cNvPr>
          <p:cNvSpPr>
            <a:spLocks xmlns:a="http://schemas.openxmlformats.org/drawingml/2006/main" noGrp="1"/>
          </p:cNvSpPr>
          <p:nvPr/>
        </p:nvSpPr>
        <p:spPr>
          <a:xfrm xmlns:a="http://schemas.openxmlformats.org/drawingml/2006/main">
            <a:off x="2933700" y="2143125"/>
            <a:ext cx="1924050" cy="1352550"/>
          </a:xfrm>
          <a:prstGeom xmlns:a="http://schemas.openxmlformats.org/drawingml/2006/main" prst="roundRect">
            <a:avLst>
              <a:gd name="adj" fmla="val 5634"/>
            </a:avLst>
          </a:prstGeom>
          <a:solidFill xmlns:a="http://schemas.openxmlformats.org/drawingml/2006/main">
            <a:srgbClr val="F4F7FA"/>
          </a:solidFill>
          <a:ln xmlns:a="http://schemas.openxmlformats.org/drawingml/2006/main" w="11430">
            <a:solidFill>
              <a:srgbClr val="D9E1E8"/>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48A85B3D-AD90-4362-A3FE-964040E06163}"/>
              </a:ext>
            </a:extLst>
          </p:cNvPr>
          <p:cNvSpPr>
            <a:spLocks xmlns:a="http://schemas.openxmlformats.org/drawingml/2006/main" noGrp="1"/>
          </p:cNvSpPr>
          <p:nvPr/>
        </p:nvSpPr>
        <p:spPr>
          <a:xfrm xmlns:a="http://schemas.openxmlformats.org/drawingml/2006/main">
            <a:off x="3086100" y="227647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878A8"/>
                </a:solidFill>
                <a:latin typeface="Arial"/>
                <a:ea typeface="Arial"/>
                <a:cs typeface="Arial"/>
              </a:defRPr>
            </a:defPPr>
            <a:lvl1pPr>
              <a:defRPr sz="1350" b="1">
                <a:solidFill>
                  <a:srgbClr val="2878A8"/>
                </a:solidFill>
                <a:latin typeface="Arial"/>
                <a:ea typeface="Arial"/>
                <a:cs typeface="Arial"/>
              </a:defRPr>
            </a:lvl1pPr>
            <a:lvl2pPr>
              <a:defRPr sz="1350" b="1">
                <a:solidFill>
                  <a:srgbClr val="2878A8"/>
                </a:solidFill>
                <a:latin typeface="Arial"/>
                <a:ea typeface="Arial"/>
                <a:cs typeface="Arial"/>
              </a:defRPr>
            </a:lvl2pPr>
            <a:lvl3pPr>
              <a:defRPr sz="1350" b="1">
                <a:solidFill>
                  <a:srgbClr val="2878A8"/>
                </a:solidFill>
                <a:latin typeface="Arial"/>
                <a:ea typeface="Arial"/>
                <a:cs typeface="Arial"/>
              </a:defRPr>
            </a:lvl3pPr>
            <a:lvl4pPr>
              <a:defRPr sz="1350" b="1">
                <a:solidFill>
                  <a:srgbClr val="2878A8"/>
                </a:solidFill>
                <a:latin typeface="Arial"/>
                <a:ea typeface="Arial"/>
                <a:cs typeface="Arial"/>
              </a:defRPr>
            </a:lvl4pPr>
            <a:lvl5pPr>
              <a:defRPr sz="1350" b="1">
                <a:solidFill>
                  <a:srgbClr val="2878A8"/>
                </a:solidFill>
                <a:latin typeface="Arial"/>
                <a:ea typeface="Arial"/>
                <a:cs typeface="Arial"/>
              </a:defRPr>
            </a:lvl5pPr>
            <a:lvl6pPr>
              <a:defRPr sz="1350" b="1">
                <a:solidFill>
                  <a:srgbClr val="2878A8"/>
                </a:solidFill>
                <a:latin typeface="Arial"/>
                <a:ea typeface="Arial"/>
                <a:cs typeface="Arial"/>
              </a:defRPr>
            </a:lvl6pPr>
            <a:lvl7pPr>
              <a:defRPr sz="1350" b="1">
                <a:solidFill>
                  <a:srgbClr val="2878A8"/>
                </a:solidFill>
                <a:latin typeface="Arial"/>
                <a:ea typeface="Arial"/>
                <a:cs typeface="Arial"/>
              </a:defRPr>
            </a:lvl7pPr>
            <a:lvl8pPr>
              <a:defRPr sz="1350" b="1">
                <a:solidFill>
                  <a:srgbClr val="2878A8"/>
                </a:solidFill>
                <a:latin typeface="Arial"/>
                <a:ea typeface="Arial"/>
                <a:cs typeface="Arial"/>
              </a:defRPr>
            </a:lvl8pPr>
            <a:lvl9pPr>
              <a:defRPr sz="1350" b="1">
                <a:solidFill>
                  <a:srgbClr val="2878A8"/>
                </a:solidFill>
                <a:latin typeface="Arial"/>
                <a:ea typeface="Arial"/>
                <a:cs typeface="Arial"/>
              </a:defRPr>
            </a:lvl9pPr>
          </a:lstStyle>
          <a:p xmlns:a="http://schemas.openxmlformats.org/drawingml/2006/main">
            <a:pPr>
              <a:defRPr sz="1350" b="1">
                <a:solidFill>
                  <a:srgbClr val="2878A8"/>
                </a:solidFill>
                <a:latin typeface="Arial"/>
                <a:ea typeface="Arial"/>
                <a:cs typeface="Arial"/>
              </a:defRPr>
            </a:pPr>
            <a:r>
              <a:rPr sz="1350" b="1">
                <a:solidFill>
                  <a:srgbClr val="2878A8"/>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8F47AA45-66AF-449F-A6C5-474EF3C19102}"/>
              </a:ext>
            </a:extLst>
          </p:cNvPr>
          <p:cNvSpPr>
            <a:spLocks xmlns:a="http://schemas.openxmlformats.org/drawingml/2006/main" noGrp="1"/>
          </p:cNvSpPr>
          <p:nvPr/>
        </p:nvSpPr>
        <p:spPr>
          <a:xfrm xmlns:a="http://schemas.openxmlformats.org/drawingml/2006/main">
            <a:off x="3086100" y="25717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17324D"/>
                </a:solidFill>
                <a:latin typeface="Arial"/>
                <a:ea typeface="Arial"/>
                <a:cs typeface="Arial"/>
              </a:defRPr>
            </a:defPPr>
            <a:lvl1pPr algn="ctr">
              <a:defRPr sz="1650" b="1">
                <a:solidFill>
                  <a:srgbClr val="17324D"/>
                </a:solidFill>
                <a:latin typeface="Arial"/>
                <a:ea typeface="Arial"/>
                <a:cs typeface="Arial"/>
              </a:defRPr>
            </a:lvl1pPr>
            <a:lvl2pPr algn="ctr">
              <a:defRPr sz="1650" b="1">
                <a:solidFill>
                  <a:srgbClr val="17324D"/>
                </a:solidFill>
                <a:latin typeface="Arial"/>
                <a:ea typeface="Arial"/>
                <a:cs typeface="Arial"/>
              </a:defRPr>
            </a:lvl2pPr>
            <a:lvl3pPr algn="ctr">
              <a:defRPr sz="1650" b="1">
                <a:solidFill>
                  <a:srgbClr val="17324D"/>
                </a:solidFill>
                <a:latin typeface="Arial"/>
                <a:ea typeface="Arial"/>
                <a:cs typeface="Arial"/>
              </a:defRPr>
            </a:lvl3pPr>
            <a:lvl4pPr algn="ctr">
              <a:defRPr sz="1650" b="1">
                <a:solidFill>
                  <a:srgbClr val="17324D"/>
                </a:solidFill>
                <a:latin typeface="Arial"/>
                <a:ea typeface="Arial"/>
                <a:cs typeface="Arial"/>
              </a:defRPr>
            </a:lvl4pPr>
            <a:lvl5pPr algn="ctr">
              <a:defRPr sz="1650" b="1">
                <a:solidFill>
                  <a:srgbClr val="17324D"/>
                </a:solidFill>
                <a:latin typeface="Arial"/>
                <a:ea typeface="Arial"/>
                <a:cs typeface="Arial"/>
              </a:defRPr>
            </a:lvl5pPr>
            <a:lvl6pPr algn="ctr">
              <a:defRPr sz="1650" b="1">
                <a:solidFill>
                  <a:srgbClr val="17324D"/>
                </a:solidFill>
                <a:latin typeface="Arial"/>
                <a:ea typeface="Arial"/>
                <a:cs typeface="Arial"/>
              </a:defRPr>
            </a:lvl6pPr>
            <a:lvl7pPr algn="ctr">
              <a:defRPr sz="1650" b="1">
                <a:solidFill>
                  <a:srgbClr val="17324D"/>
                </a:solidFill>
                <a:latin typeface="Arial"/>
                <a:ea typeface="Arial"/>
                <a:cs typeface="Arial"/>
              </a:defRPr>
            </a:lvl7pPr>
            <a:lvl8pPr algn="ctr">
              <a:defRPr sz="1650" b="1">
                <a:solidFill>
                  <a:srgbClr val="17324D"/>
                </a:solidFill>
                <a:latin typeface="Arial"/>
                <a:ea typeface="Arial"/>
                <a:cs typeface="Arial"/>
              </a:defRPr>
            </a:lvl8pPr>
            <a:lvl9pPr algn="ctr">
              <a:defRPr sz="1650" b="1">
                <a:solidFill>
                  <a:srgbClr val="17324D"/>
                </a:solidFill>
                <a:latin typeface="Arial"/>
                <a:ea typeface="Arial"/>
                <a:cs typeface="Arial"/>
              </a:defRPr>
            </a:lvl9pPr>
          </a:lstStyle>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Trace and</a:t>
            </a:r>
          </a:p>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candidate graph</a:t>
            </a:r>
          </a:p>
        </p:txBody>
      </p:sp>
      <p:sp>
        <p:nvSpPr>
          <p:cNvPr id="13" name="">
            <a:extLst xmlns:a="http://schemas.openxmlformats.org/drawingml/2006/main">
              <a:ext uri="{FF2B5EF4-FFF2-40B4-BE49-F238E27FC236}">
                <a16:creationId xmlns:a16="http://schemas.microsoft.com/office/drawing/2014/main" id="{42167E24-8A85-46C8-AF33-9C5E6F83C36A}"/>
              </a:ext>
            </a:extLst>
          </p:cNvPr>
          <p:cNvSpPr>
            <a:spLocks xmlns:a="http://schemas.openxmlformats.org/drawingml/2006/main" noGrp="1"/>
          </p:cNvSpPr>
          <p:nvPr/>
        </p:nvSpPr>
        <p:spPr>
          <a:xfrm xmlns:a="http://schemas.openxmlformats.org/drawingml/2006/main">
            <a:off x="3048000" y="3095625"/>
            <a:ext cx="1695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050">
                <a:solidFill>
                  <a:srgbClr val="607286"/>
                </a:solidFill>
                <a:latin typeface="Arial"/>
                <a:ea typeface="Arial"/>
                <a:cs typeface="Arial"/>
              </a:defRPr>
            </a:defPPr>
            <a:lvl1pPr algn="ctr">
              <a:defRPr sz="1050">
                <a:solidFill>
                  <a:srgbClr val="607286"/>
                </a:solidFill>
                <a:latin typeface="Arial"/>
                <a:ea typeface="Arial"/>
                <a:cs typeface="Arial"/>
              </a:defRPr>
            </a:lvl1pPr>
            <a:lvl2pPr algn="ctr">
              <a:defRPr sz="1050">
                <a:solidFill>
                  <a:srgbClr val="607286"/>
                </a:solidFill>
                <a:latin typeface="Arial"/>
                <a:ea typeface="Arial"/>
                <a:cs typeface="Arial"/>
              </a:defRPr>
            </a:lvl2pPr>
            <a:lvl3pPr algn="ctr">
              <a:defRPr sz="1050">
                <a:solidFill>
                  <a:srgbClr val="607286"/>
                </a:solidFill>
                <a:latin typeface="Arial"/>
                <a:ea typeface="Arial"/>
                <a:cs typeface="Arial"/>
              </a:defRPr>
            </a:lvl3pPr>
            <a:lvl4pPr algn="ctr">
              <a:defRPr sz="1050">
                <a:solidFill>
                  <a:srgbClr val="607286"/>
                </a:solidFill>
                <a:latin typeface="Arial"/>
                <a:ea typeface="Arial"/>
                <a:cs typeface="Arial"/>
              </a:defRPr>
            </a:lvl4pPr>
            <a:lvl5pPr algn="ctr">
              <a:defRPr sz="1050">
                <a:solidFill>
                  <a:srgbClr val="607286"/>
                </a:solidFill>
                <a:latin typeface="Arial"/>
                <a:ea typeface="Arial"/>
                <a:cs typeface="Arial"/>
              </a:defRPr>
            </a:lvl5pPr>
            <a:lvl6pPr algn="ctr">
              <a:defRPr sz="1050">
                <a:solidFill>
                  <a:srgbClr val="607286"/>
                </a:solidFill>
                <a:latin typeface="Arial"/>
                <a:ea typeface="Arial"/>
                <a:cs typeface="Arial"/>
              </a:defRPr>
            </a:lvl6pPr>
            <a:lvl7pPr algn="ctr">
              <a:defRPr sz="1050">
                <a:solidFill>
                  <a:srgbClr val="607286"/>
                </a:solidFill>
                <a:latin typeface="Arial"/>
                <a:ea typeface="Arial"/>
                <a:cs typeface="Arial"/>
              </a:defRPr>
            </a:lvl7pPr>
            <a:lvl8pPr algn="ctr">
              <a:defRPr sz="1050">
                <a:solidFill>
                  <a:srgbClr val="607286"/>
                </a:solidFill>
                <a:latin typeface="Arial"/>
                <a:ea typeface="Arial"/>
                <a:cs typeface="Arial"/>
              </a:defRPr>
            </a:lvl8pPr>
            <a:lvl9pPr algn="ctr">
              <a:defRPr sz="1050">
                <a:solidFill>
                  <a:srgbClr val="607286"/>
                </a:solidFill>
                <a:latin typeface="Arial"/>
                <a:ea typeface="Arial"/>
                <a:cs typeface="Arial"/>
              </a:defRPr>
            </a:lvl9pPr>
          </a:lstStyle>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Find legal repeated</a:t>
            </a:r>
          </a:p>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integer subgraphs</a:t>
            </a:r>
          </a:p>
        </p:txBody>
      </p:sp>
      <p:sp>
        <p:nvSpPr>
          <p:cNvPr id="14" name="">
            <a:extLst xmlns:a="http://schemas.openxmlformats.org/drawingml/2006/main">
              <a:ext uri="{FF2B5EF4-FFF2-40B4-BE49-F238E27FC236}">
                <a16:creationId xmlns:a16="http://schemas.microsoft.com/office/drawing/2014/main" id="{AEADB08E-D3C9-4DA9-A425-227D8F4B6CCC}"/>
              </a:ext>
            </a:extLst>
          </p:cNvPr>
          <p:cNvSpPr>
            <a:spLocks xmlns:a="http://schemas.openxmlformats.org/drawingml/2006/main" noGrp="1"/>
          </p:cNvSpPr>
          <p:nvPr/>
        </p:nvSpPr>
        <p:spPr>
          <a:xfrm xmlns:a="http://schemas.openxmlformats.org/drawingml/2006/main">
            <a:off x="4905375" y="2695575"/>
            <a:ext cx="22860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70789183-7309-438E-8337-6963777B0367}"/>
              </a:ext>
            </a:extLst>
          </p:cNvPr>
          <p:cNvSpPr>
            <a:spLocks xmlns:a="http://schemas.openxmlformats.org/drawingml/2006/main" noGrp="1"/>
          </p:cNvSpPr>
          <p:nvPr/>
        </p:nvSpPr>
        <p:spPr>
          <a:xfrm xmlns:a="http://schemas.openxmlformats.org/drawingml/2006/main">
            <a:off x="5181600" y="2143125"/>
            <a:ext cx="1924050" cy="1352550"/>
          </a:xfrm>
          <a:prstGeom xmlns:a="http://schemas.openxmlformats.org/drawingml/2006/main" prst="roundRect">
            <a:avLst>
              <a:gd name="adj" fmla="val 5634"/>
            </a:avLst>
          </a:prstGeom>
          <a:solidFill xmlns:a="http://schemas.openxmlformats.org/drawingml/2006/main">
            <a:srgbClr val="F4F7FA"/>
          </a:solidFill>
          <a:ln xmlns:a="http://schemas.openxmlformats.org/drawingml/2006/main" w="11430">
            <a:solidFill>
              <a:srgbClr val="D9E1E8"/>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82D3E4F5-7BA3-490E-86B6-B6FFC79240FF}"/>
              </a:ext>
            </a:extLst>
          </p:cNvPr>
          <p:cNvSpPr>
            <a:spLocks xmlns:a="http://schemas.openxmlformats.org/drawingml/2006/main" noGrp="1"/>
          </p:cNvSpPr>
          <p:nvPr/>
        </p:nvSpPr>
        <p:spPr>
          <a:xfrm xmlns:a="http://schemas.openxmlformats.org/drawingml/2006/main">
            <a:off x="5334000" y="227647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878A8"/>
                </a:solidFill>
                <a:latin typeface="Arial"/>
                <a:ea typeface="Arial"/>
                <a:cs typeface="Arial"/>
              </a:defRPr>
            </a:defPPr>
            <a:lvl1pPr>
              <a:defRPr sz="1350" b="1">
                <a:solidFill>
                  <a:srgbClr val="2878A8"/>
                </a:solidFill>
                <a:latin typeface="Arial"/>
                <a:ea typeface="Arial"/>
                <a:cs typeface="Arial"/>
              </a:defRPr>
            </a:lvl1pPr>
            <a:lvl2pPr>
              <a:defRPr sz="1350" b="1">
                <a:solidFill>
                  <a:srgbClr val="2878A8"/>
                </a:solidFill>
                <a:latin typeface="Arial"/>
                <a:ea typeface="Arial"/>
                <a:cs typeface="Arial"/>
              </a:defRPr>
            </a:lvl2pPr>
            <a:lvl3pPr>
              <a:defRPr sz="1350" b="1">
                <a:solidFill>
                  <a:srgbClr val="2878A8"/>
                </a:solidFill>
                <a:latin typeface="Arial"/>
                <a:ea typeface="Arial"/>
                <a:cs typeface="Arial"/>
              </a:defRPr>
            </a:lvl3pPr>
            <a:lvl4pPr>
              <a:defRPr sz="1350" b="1">
                <a:solidFill>
                  <a:srgbClr val="2878A8"/>
                </a:solidFill>
                <a:latin typeface="Arial"/>
                <a:ea typeface="Arial"/>
                <a:cs typeface="Arial"/>
              </a:defRPr>
            </a:lvl4pPr>
            <a:lvl5pPr>
              <a:defRPr sz="1350" b="1">
                <a:solidFill>
                  <a:srgbClr val="2878A8"/>
                </a:solidFill>
                <a:latin typeface="Arial"/>
                <a:ea typeface="Arial"/>
                <a:cs typeface="Arial"/>
              </a:defRPr>
            </a:lvl5pPr>
            <a:lvl6pPr>
              <a:defRPr sz="1350" b="1">
                <a:solidFill>
                  <a:srgbClr val="2878A8"/>
                </a:solidFill>
                <a:latin typeface="Arial"/>
                <a:ea typeface="Arial"/>
                <a:cs typeface="Arial"/>
              </a:defRPr>
            </a:lvl6pPr>
            <a:lvl7pPr>
              <a:defRPr sz="1350" b="1">
                <a:solidFill>
                  <a:srgbClr val="2878A8"/>
                </a:solidFill>
                <a:latin typeface="Arial"/>
                <a:ea typeface="Arial"/>
                <a:cs typeface="Arial"/>
              </a:defRPr>
            </a:lvl7pPr>
            <a:lvl8pPr>
              <a:defRPr sz="1350" b="1">
                <a:solidFill>
                  <a:srgbClr val="2878A8"/>
                </a:solidFill>
                <a:latin typeface="Arial"/>
                <a:ea typeface="Arial"/>
                <a:cs typeface="Arial"/>
              </a:defRPr>
            </a:lvl8pPr>
            <a:lvl9pPr>
              <a:defRPr sz="1350" b="1">
                <a:solidFill>
                  <a:srgbClr val="2878A8"/>
                </a:solidFill>
                <a:latin typeface="Arial"/>
                <a:ea typeface="Arial"/>
                <a:cs typeface="Arial"/>
              </a:defRPr>
            </a:lvl9pPr>
          </a:lstStyle>
          <a:p xmlns:a="http://schemas.openxmlformats.org/drawingml/2006/main">
            <a:pPr>
              <a:defRPr sz="1350" b="1">
                <a:solidFill>
                  <a:srgbClr val="2878A8"/>
                </a:solidFill>
                <a:latin typeface="Arial"/>
                <a:ea typeface="Arial"/>
                <a:cs typeface="Arial"/>
              </a:defRPr>
            </a:pPr>
            <a:r>
              <a:rPr sz="1350" b="1">
                <a:solidFill>
                  <a:srgbClr val="2878A8"/>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44F4F208-B2DD-453A-AB49-579D9E8FB0E7}"/>
              </a:ext>
            </a:extLst>
          </p:cNvPr>
          <p:cNvSpPr>
            <a:spLocks xmlns:a="http://schemas.openxmlformats.org/drawingml/2006/main" noGrp="1"/>
          </p:cNvSpPr>
          <p:nvPr/>
        </p:nvSpPr>
        <p:spPr>
          <a:xfrm xmlns:a="http://schemas.openxmlformats.org/drawingml/2006/main">
            <a:off x="5334000" y="25717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17324D"/>
                </a:solidFill>
                <a:latin typeface="Arial"/>
                <a:ea typeface="Arial"/>
                <a:cs typeface="Arial"/>
              </a:defRPr>
            </a:defPPr>
            <a:lvl1pPr algn="ctr">
              <a:defRPr sz="1650" b="1">
                <a:solidFill>
                  <a:srgbClr val="17324D"/>
                </a:solidFill>
                <a:latin typeface="Arial"/>
                <a:ea typeface="Arial"/>
                <a:cs typeface="Arial"/>
              </a:defRPr>
            </a:lvl1pPr>
            <a:lvl2pPr algn="ctr">
              <a:defRPr sz="1650" b="1">
                <a:solidFill>
                  <a:srgbClr val="17324D"/>
                </a:solidFill>
                <a:latin typeface="Arial"/>
                <a:ea typeface="Arial"/>
                <a:cs typeface="Arial"/>
              </a:defRPr>
            </a:lvl2pPr>
            <a:lvl3pPr algn="ctr">
              <a:defRPr sz="1650" b="1">
                <a:solidFill>
                  <a:srgbClr val="17324D"/>
                </a:solidFill>
                <a:latin typeface="Arial"/>
                <a:ea typeface="Arial"/>
                <a:cs typeface="Arial"/>
              </a:defRPr>
            </a:lvl3pPr>
            <a:lvl4pPr algn="ctr">
              <a:defRPr sz="1650" b="1">
                <a:solidFill>
                  <a:srgbClr val="17324D"/>
                </a:solidFill>
                <a:latin typeface="Arial"/>
                <a:ea typeface="Arial"/>
                <a:cs typeface="Arial"/>
              </a:defRPr>
            </a:lvl4pPr>
            <a:lvl5pPr algn="ctr">
              <a:defRPr sz="1650" b="1">
                <a:solidFill>
                  <a:srgbClr val="17324D"/>
                </a:solidFill>
                <a:latin typeface="Arial"/>
                <a:ea typeface="Arial"/>
                <a:cs typeface="Arial"/>
              </a:defRPr>
            </a:lvl5pPr>
            <a:lvl6pPr algn="ctr">
              <a:defRPr sz="1650" b="1">
                <a:solidFill>
                  <a:srgbClr val="17324D"/>
                </a:solidFill>
                <a:latin typeface="Arial"/>
                <a:ea typeface="Arial"/>
                <a:cs typeface="Arial"/>
              </a:defRPr>
            </a:lvl6pPr>
            <a:lvl7pPr algn="ctr">
              <a:defRPr sz="1650" b="1">
                <a:solidFill>
                  <a:srgbClr val="17324D"/>
                </a:solidFill>
                <a:latin typeface="Arial"/>
                <a:ea typeface="Arial"/>
                <a:cs typeface="Arial"/>
              </a:defRPr>
            </a:lvl7pPr>
            <a:lvl8pPr algn="ctr">
              <a:defRPr sz="1650" b="1">
                <a:solidFill>
                  <a:srgbClr val="17324D"/>
                </a:solidFill>
                <a:latin typeface="Arial"/>
                <a:ea typeface="Arial"/>
                <a:cs typeface="Arial"/>
              </a:defRPr>
            </a:lvl8pPr>
            <a:lvl9pPr algn="ctr">
              <a:defRPr sz="1650" b="1">
                <a:solidFill>
                  <a:srgbClr val="17324D"/>
                </a:solidFill>
                <a:latin typeface="Arial"/>
                <a:ea typeface="Arial"/>
                <a:cs typeface="Arial"/>
              </a:defRPr>
            </a:lvl9pPr>
          </a:lstStyle>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Lower and</a:t>
            </a:r>
          </a:p>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verify</a:t>
            </a:r>
          </a:p>
        </p:txBody>
      </p:sp>
      <p:sp>
        <p:nvSpPr>
          <p:cNvPr id="18" name="">
            <a:extLst xmlns:a="http://schemas.openxmlformats.org/drawingml/2006/main">
              <a:ext uri="{FF2B5EF4-FFF2-40B4-BE49-F238E27FC236}">
                <a16:creationId xmlns:a16="http://schemas.microsoft.com/office/drawing/2014/main" id="{31857980-AFB5-47FA-90A0-396FD68F9884}"/>
              </a:ext>
            </a:extLst>
          </p:cNvPr>
          <p:cNvSpPr>
            <a:spLocks xmlns:a="http://schemas.openxmlformats.org/drawingml/2006/main" noGrp="1"/>
          </p:cNvSpPr>
          <p:nvPr/>
        </p:nvSpPr>
        <p:spPr>
          <a:xfrm xmlns:a="http://schemas.openxmlformats.org/drawingml/2006/main">
            <a:off x="5295900" y="3095625"/>
            <a:ext cx="1695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050">
                <a:solidFill>
                  <a:srgbClr val="607286"/>
                </a:solidFill>
                <a:latin typeface="Arial"/>
                <a:ea typeface="Arial"/>
                <a:cs typeface="Arial"/>
              </a:defRPr>
            </a:defPPr>
            <a:lvl1pPr algn="ctr">
              <a:defRPr sz="1050">
                <a:solidFill>
                  <a:srgbClr val="607286"/>
                </a:solidFill>
                <a:latin typeface="Arial"/>
                <a:ea typeface="Arial"/>
                <a:cs typeface="Arial"/>
              </a:defRPr>
            </a:lvl1pPr>
            <a:lvl2pPr algn="ctr">
              <a:defRPr sz="1050">
                <a:solidFill>
                  <a:srgbClr val="607286"/>
                </a:solidFill>
                <a:latin typeface="Arial"/>
                <a:ea typeface="Arial"/>
                <a:cs typeface="Arial"/>
              </a:defRPr>
            </a:lvl2pPr>
            <a:lvl3pPr algn="ctr">
              <a:defRPr sz="1050">
                <a:solidFill>
                  <a:srgbClr val="607286"/>
                </a:solidFill>
                <a:latin typeface="Arial"/>
                <a:ea typeface="Arial"/>
                <a:cs typeface="Arial"/>
              </a:defRPr>
            </a:lvl3pPr>
            <a:lvl4pPr algn="ctr">
              <a:defRPr sz="1050">
                <a:solidFill>
                  <a:srgbClr val="607286"/>
                </a:solidFill>
                <a:latin typeface="Arial"/>
                <a:ea typeface="Arial"/>
                <a:cs typeface="Arial"/>
              </a:defRPr>
            </a:lvl4pPr>
            <a:lvl5pPr algn="ctr">
              <a:defRPr sz="1050">
                <a:solidFill>
                  <a:srgbClr val="607286"/>
                </a:solidFill>
                <a:latin typeface="Arial"/>
                <a:ea typeface="Arial"/>
                <a:cs typeface="Arial"/>
              </a:defRPr>
            </a:lvl5pPr>
            <a:lvl6pPr algn="ctr">
              <a:defRPr sz="1050">
                <a:solidFill>
                  <a:srgbClr val="607286"/>
                </a:solidFill>
                <a:latin typeface="Arial"/>
                <a:ea typeface="Arial"/>
                <a:cs typeface="Arial"/>
              </a:defRPr>
            </a:lvl6pPr>
            <a:lvl7pPr algn="ctr">
              <a:defRPr sz="1050">
                <a:solidFill>
                  <a:srgbClr val="607286"/>
                </a:solidFill>
                <a:latin typeface="Arial"/>
                <a:ea typeface="Arial"/>
                <a:cs typeface="Arial"/>
              </a:defRPr>
            </a:lvl7pPr>
            <a:lvl8pPr algn="ctr">
              <a:defRPr sz="1050">
                <a:solidFill>
                  <a:srgbClr val="607286"/>
                </a:solidFill>
                <a:latin typeface="Arial"/>
                <a:ea typeface="Arial"/>
                <a:cs typeface="Arial"/>
              </a:defRPr>
            </a:lvl8pPr>
            <a:lvl9pPr algn="ctr">
              <a:defRPr sz="1050">
                <a:solidFill>
                  <a:srgbClr val="607286"/>
                </a:solidFill>
                <a:latin typeface="Arial"/>
                <a:ea typeface="Arial"/>
                <a:cs typeface="Arial"/>
              </a:defRPr>
            </a:lvl9pPr>
          </a:lstStyle>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Emit custom opcode;</a:t>
            </a:r>
          </a:p>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check correctness</a:t>
            </a:r>
          </a:p>
        </p:txBody>
      </p:sp>
      <p:sp>
        <p:nvSpPr>
          <p:cNvPr id="19" name="">
            <a:extLst xmlns:a="http://schemas.openxmlformats.org/drawingml/2006/main">
              <a:ext uri="{FF2B5EF4-FFF2-40B4-BE49-F238E27FC236}">
                <a16:creationId xmlns:a16="http://schemas.microsoft.com/office/drawing/2014/main" id="{AFB87EC1-9453-4D0C-AE49-AD1E54300E0C}"/>
              </a:ext>
            </a:extLst>
          </p:cNvPr>
          <p:cNvSpPr>
            <a:spLocks xmlns:a="http://schemas.openxmlformats.org/drawingml/2006/main" noGrp="1"/>
          </p:cNvSpPr>
          <p:nvPr/>
        </p:nvSpPr>
        <p:spPr>
          <a:xfrm xmlns:a="http://schemas.openxmlformats.org/drawingml/2006/main">
            <a:off x="7153275" y="2695575"/>
            <a:ext cx="22860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A94C6A93-EFB4-4126-8765-F46373A85E67}"/>
              </a:ext>
            </a:extLst>
          </p:cNvPr>
          <p:cNvSpPr>
            <a:spLocks xmlns:a="http://schemas.openxmlformats.org/drawingml/2006/main" noGrp="1"/>
          </p:cNvSpPr>
          <p:nvPr/>
        </p:nvSpPr>
        <p:spPr>
          <a:xfrm xmlns:a="http://schemas.openxmlformats.org/drawingml/2006/main">
            <a:off x="7429500" y="2143125"/>
            <a:ext cx="1924050" cy="1352550"/>
          </a:xfrm>
          <a:prstGeom xmlns:a="http://schemas.openxmlformats.org/drawingml/2006/main" prst="roundRect">
            <a:avLst>
              <a:gd name="adj" fmla="val 5634"/>
            </a:avLst>
          </a:prstGeom>
          <a:solidFill xmlns:a="http://schemas.openxmlformats.org/drawingml/2006/main">
            <a:srgbClr val="F4F7FA"/>
          </a:solidFill>
          <a:ln xmlns:a="http://schemas.openxmlformats.org/drawingml/2006/main" w="11430">
            <a:solidFill>
              <a:srgbClr val="D9E1E8"/>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75C6A698-AFED-4901-A925-469CDCF55EC4}"/>
              </a:ext>
            </a:extLst>
          </p:cNvPr>
          <p:cNvSpPr>
            <a:spLocks xmlns:a="http://schemas.openxmlformats.org/drawingml/2006/main" noGrp="1"/>
          </p:cNvSpPr>
          <p:nvPr/>
        </p:nvSpPr>
        <p:spPr>
          <a:xfrm xmlns:a="http://schemas.openxmlformats.org/drawingml/2006/main">
            <a:off x="7581900" y="227647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878A8"/>
                </a:solidFill>
                <a:latin typeface="Arial"/>
                <a:ea typeface="Arial"/>
                <a:cs typeface="Arial"/>
              </a:defRPr>
            </a:defPPr>
            <a:lvl1pPr>
              <a:defRPr sz="1350" b="1">
                <a:solidFill>
                  <a:srgbClr val="2878A8"/>
                </a:solidFill>
                <a:latin typeface="Arial"/>
                <a:ea typeface="Arial"/>
                <a:cs typeface="Arial"/>
              </a:defRPr>
            </a:lvl1pPr>
            <a:lvl2pPr>
              <a:defRPr sz="1350" b="1">
                <a:solidFill>
                  <a:srgbClr val="2878A8"/>
                </a:solidFill>
                <a:latin typeface="Arial"/>
                <a:ea typeface="Arial"/>
                <a:cs typeface="Arial"/>
              </a:defRPr>
            </a:lvl2pPr>
            <a:lvl3pPr>
              <a:defRPr sz="1350" b="1">
                <a:solidFill>
                  <a:srgbClr val="2878A8"/>
                </a:solidFill>
                <a:latin typeface="Arial"/>
                <a:ea typeface="Arial"/>
                <a:cs typeface="Arial"/>
              </a:defRPr>
            </a:lvl3pPr>
            <a:lvl4pPr>
              <a:defRPr sz="1350" b="1">
                <a:solidFill>
                  <a:srgbClr val="2878A8"/>
                </a:solidFill>
                <a:latin typeface="Arial"/>
                <a:ea typeface="Arial"/>
                <a:cs typeface="Arial"/>
              </a:defRPr>
            </a:lvl4pPr>
            <a:lvl5pPr>
              <a:defRPr sz="1350" b="1">
                <a:solidFill>
                  <a:srgbClr val="2878A8"/>
                </a:solidFill>
                <a:latin typeface="Arial"/>
                <a:ea typeface="Arial"/>
                <a:cs typeface="Arial"/>
              </a:defRPr>
            </a:lvl5pPr>
            <a:lvl6pPr>
              <a:defRPr sz="1350" b="1">
                <a:solidFill>
                  <a:srgbClr val="2878A8"/>
                </a:solidFill>
                <a:latin typeface="Arial"/>
                <a:ea typeface="Arial"/>
                <a:cs typeface="Arial"/>
              </a:defRPr>
            </a:lvl6pPr>
            <a:lvl7pPr>
              <a:defRPr sz="1350" b="1">
                <a:solidFill>
                  <a:srgbClr val="2878A8"/>
                </a:solidFill>
                <a:latin typeface="Arial"/>
                <a:ea typeface="Arial"/>
                <a:cs typeface="Arial"/>
              </a:defRPr>
            </a:lvl7pPr>
            <a:lvl8pPr>
              <a:defRPr sz="1350" b="1">
                <a:solidFill>
                  <a:srgbClr val="2878A8"/>
                </a:solidFill>
                <a:latin typeface="Arial"/>
                <a:ea typeface="Arial"/>
                <a:cs typeface="Arial"/>
              </a:defRPr>
            </a:lvl8pPr>
            <a:lvl9pPr>
              <a:defRPr sz="1350" b="1">
                <a:solidFill>
                  <a:srgbClr val="2878A8"/>
                </a:solidFill>
                <a:latin typeface="Arial"/>
                <a:ea typeface="Arial"/>
                <a:cs typeface="Arial"/>
              </a:defRPr>
            </a:lvl9pPr>
          </a:lstStyle>
          <a:p xmlns:a="http://schemas.openxmlformats.org/drawingml/2006/main">
            <a:pPr>
              <a:defRPr sz="1350" b="1">
                <a:solidFill>
                  <a:srgbClr val="2878A8"/>
                </a:solidFill>
                <a:latin typeface="Arial"/>
                <a:ea typeface="Arial"/>
                <a:cs typeface="Arial"/>
              </a:defRPr>
            </a:pPr>
            <a:r>
              <a:rPr sz="1350" b="1">
                <a:solidFill>
                  <a:srgbClr val="2878A8"/>
                </a:solidFill>
                <a:latin typeface="Arial"/>
                <a:ea typeface="Arial"/>
                <a:cs typeface="Arial"/>
              </a:rPr>
              <a:t>4</a:t>
            </a:r>
          </a:p>
        </p:txBody>
      </p:sp>
      <p:sp>
        <p:nvSpPr>
          <p:cNvPr id="22" name="">
            <a:extLst xmlns:a="http://schemas.openxmlformats.org/drawingml/2006/main">
              <a:ext uri="{FF2B5EF4-FFF2-40B4-BE49-F238E27FC236}">
                <a16:creationId xmlns:a16="http://schemas.microsoft.com/office/drawing/2014/main" id="{F9B237DD-55D5-4AC4-B914-F2401372D954}"/>
              </a:ext>
            </a:extLst>
          </p:cNvPr>
          <p:cNvSpPr>
            <a:spLocks xmlns:a="http://schemas.openxmlformats.org/drawingml/2006/main" noGrp="1"/>
          </p:cNvSpPr>
          <p:nvPr/>
        </p:nvSpPr>
        <p:spPr>
          <a:xfrm xmlns:a="http://schemas.openxmlformats.org/drawingml/2006/main">
            <a:off x="7581900" y="25717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17324D"/>
                </a:solidFill>
                <a:latin typeface="Arial"/>
                <a:ea typeface="Arial"/>
                <a:cs typeface="Arial"/>
              </a:defRPr>
            </a:defPPr>
            <a:lvl1pPr algn="ctr">
              <a:defRPr sz="1650" b="1">
                <a:solidFill>
                  <a:srgbClr val="17324D"/>
                </a:solidFill>
                <a:latin typeface="Arial"/>
                <a:ea typeface="Arial"/>
                <a:cs typeface="Arial"/>
              </a:defRPr>
            </a:lvl1pPr>
            <a:lvl2pPr algn="ctr">
              <a:defRPr sz="1650" b="1">
                <a:solidFill>
                  <a:srgbClr val="17324D"/>
                </a:solidFill>
                <a:latin typeface="Arial"/>
                <a:ea typeface="Arial"/>
                <a:cs typeface="Arial"/>
              </a:defRPr>
            </a:lvl2pPr>
            <a:lvl3pPr algn="ctr">
              <a:defRPr sz="1650" b="1">
                <a:solidFill>
                  <a:srgbClr val="17324D"/>
                </a:solidFill>
                <a:latin typeface="Arial"/>
                <a:ea typeface="Arial"/>
                <a:cs typeface="Arial"/>
              </a:defRPr>
            </a:lvl3pPr>
            <a:lvl4pPr algn="ctr">
              <a:defRPr sz="1650" b="1">
                <a:solidFill>
                  <a:srgbClr val="17324D"/>
                </a:solidFill>
                <a:latin typeface="Arial"/>
                <a:ea typeface="Arial"/>
                <a:cs typeface="Arial"/>
              </a:defRPr>
            </a:lvl4pPr>
            <a:lvl5pPr algn="ctr">
              <a:defRPr sz="1650" b="1">
                <a:solidFill>
                  <a:srgbClr val="17324D"/>
                </a:solidFill>
                <a:latin typeface="Arial"/>
                <a:ea typeface="Arial"/>
                <a:cs typeface="Arial"/>
              </a:defRPr>
            </a:lvl5pPr>
            <a:lvl6pPr algn="ctr">
              <a:defRPr sz="1650" b="1">
                <a:solidFill>
                  <a:srgbClr val="17324D"/>
                </a:solidFill>
                <a:latin typeface="Arial"/>
                <a:ea typeface="Arial"/>
                <a:cs typeface="Arial"/>
              </a:defRPr>
            </a:lvl6pPr>
            <a:lvl7pPr algn="ctr">
              <a:defRPr sz="1650" b="1">
                <a:solidFill>
                  <a:srgbClr val="17324D"/>
                </a:solidFill>
                <a:latin typeface="Arial"/>
                <a:ea typeface="Arial"/>
                <a:cs typeface="Arial"/>
              </a:defRPr>
            </a:lvl7pPr>
            <a:lvl8pPr algn="ctr">
              <a:defRPr sz="1650" b="1">
                <a:solidFill>
                  <a:srgbClr val="17324D"/>
                </a:solidFill>
                <a:latin typeface="Arial"/>
                <a:ea typeface="Arial"/>
                <a:cs typeface="Arial"/>
              </a:defRPr>
            </a:lvl8pPr>
            <a:lvl9pPr algn="ctr">
              <a:defRPr sz="1650" b="1">
                <a:solidFill>
                  <a:srgbClr val="17324D"/>
                </a:solidFill>
                <a:latin typeface="Arial"/>
                <a:ea typeface="Arial"/>
                <a:cs typeface="Arial"/>
              </a:defRPr>
            </a:lvl9pPr>
          </a:lstStyle>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PicoRV32</a:t>
            </a:r>
          </a:p>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measurement</a:t>
            </a:r>
          </a:p>
        </p:txBody>
      </p:sp>
      <p:sp>
        <p:nvSpPr>
          <p:cNvPr id="23" name="">
            <a:extLst xmlns:a="http://schemas.openxmlformats.org/drawingml/2006/main">
              <a:ext uri="{FF2B5EF4-FFF2-40B4-BE49-F238E27FC236}">
                <a16:creationId xmlns:a16="http://schemas.microsoft.com/office/drawing/2014/main" id="{7FBDF3A2-048E-4D60-AF7B-22EF7A42556D}"/>
              </a:ext>
            </a:extLst>
          </p:cNvPr>
          <p:cNvSpPr>
            <a:spLocks xmlns:a="http://schemas.openxmlformats.org/drawingml/2006/main" noGrp="1"/>
          </p:cNvSpPr>
          <p:nvPr/>
        </p:nvSpPr>
        <p:spPr>
          <a:xfrm xmlns:a="http://schemas.openxmlformats.org/drawingml/2006/main">
            <a:off x="7543800" y="3095625"/>
            <a:ext cx="1695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050">
                <a:solidFill>
                  <a:srgbClr val="607286"/>
                </a:solidFill>
                <a:latin typeface="Arial"/>
                <a:ea typeface="Arial"/>
                <a:cs typeface="Arial"/>
              </a:defRPr>
            </a:defPPr>
            <a:lvl1pPr algn="ctr">
              <a:defRPr sz="1050">
                <a:solidFill>
                  <a:srgbClr val="607286"/>
                </a:solidFill>
                <a:latin typeface="Arial"/>
                <a:ea typeface="Arial"/>
                <a:cs typeface="Arial"/>
              </a:defRPr>
            </a:lvl1pPr>
            <a:lvl2pPr algn="ctr">
              <a:defRPr sz="1050">
                <a:solidFill>
                  <a:srgbClr val="607286"/>
                </a:solidFill>
                <a:latin typeface="Arial"/>
                <a:ea typeface="Arial"/>
                <a:cs typeface="Arial"/>
              </a:defRPr>
            </a:lvl2pPr>
            <a:lvl3pPr algn="ctr">
              <a:defRPr sz="1050">
                <a:solidFill>
                  <a:srgbClr val="607286"/>
                </a:solidFill>
                <a:latin typeface="Arial"/>
                <a:ea typeface="Arial"/>
                <a:cs typeface="Arial"/>
              </a:defRPr>
            </a:lvl3pPr>
            <a:lvl4pPr algn="ctr">
              <a:defRPr sz="1050">
                <a:solidFill>
                  <a:srgbClr val="607286"/>
                </a:solidFill>
                <a:latin typeface="Arial"/>
                <a:ea typeface="Arial"/>
                <a:cs typeface="Arial"/>
              </a:defRPr>
            </a:lvl4pPr>
            <a:lvl5pPr algn="ctr">
              <a:defRPr sz="1050">
                <a:solidFill>
                  <a:srgbClr val="607286"/>
                </a:solidFill>
                <a:latin typeface="Arial"/>
                <a:ea typeface="Arial"/>
                <a:cs typeface="Arial"/>
              </a:defRPr>
            </a:lvl5pPr>
            <a:lvl6pPr algn="ctr">
              <a:defRPr sz="1050">
                <a:solidFill>
                  <a:srgbClr val="607286"/>
                </a:solidFill>
                <a:latin typeface="Arial"/>
                <a:ea typeface="Arial"/>
                <a:cs typeface="Arial"/>
              </a:defRPr>
            </a:lvl6pPr>
            <a:lvl7pPr algn="ctr">
              <a:defRPr sz="1050">
                <a:solidFill>
                  <a:srgbClr val="607286"/>
                </a:solidFill>
                <a:latin typeface="Arial"/>
                <a:ea typeface="Arial"/>
                <a:cs typeface="Arial"/>
              </a:defRPr>
            </a:lvl7pPr>
            <a:lvl8pPr algn="ctr">
              <a:defRPr sz="1050">
                <a:solidFill>
                  <a:srgbClr val="607286"/>
                </a:solidFill>
                <a:latin typeface="Arial"/>
                <a:ea typeface="Arial"/>
                <a:cs typeface="Arial"/>
              </a:defRPr>
            </a:lvl8pPr>
            <a:lvl9pPr algn="ctr">
              <a:defRPr sz="1050">
                <a:solidFill>
                  <a:srgbClr val="607286"/>
                </a:solidFill>
                <a:latin typeface="Arial"/>
                <a:ea typeface="Arial"/>
                <a:cs typeface="Arial"/>
              </a:defRPr>
            </a:lvl9pPr>
          </a:lstStyle>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Measure cycles, LUT4,</a:t>
            </a:r>
          </a:p>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routed timing</a:t>
            </a:r>
          </a:p>
        </p:txBody>
      </p:sp>
      <p:sp>
        <p:nvSpPr>
          <p:cNvPr id="24" name="">
            <a:extLst xmlns:a="http://schemas.openxmlformats.org/drawingml/2006/main">
              <a:ext uri="{FF2B5EF4-FFF2-40B4-BE49-F238E27FC236}">
                <a16:creationId xmlns:a16="http://schemas.microsoft.com/office/drawing/2014/main" id="{26CDC59B-60BF-4BA5-A767-136ED5C8118A}"/>
              </a:ext>
            </a:extLst>
          </p:cNvPr>
          <p:cNvSpPr>
            <a:spLocks xmlns:a="http://schemas.openxmlformats.org/drawingml/2006/main" noGrp="1"/>
          </p:cNvSpPr>
          <p:nvPr/>
        </p:nvSpPr>
        <p:spPr>
          <a:xfrm xmlns:a="http://schemas.openxmlformats.org/drawingml/2006/main">
            <a:off x="9401175" y="2695575"/>
            <a:ext cx="22860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D9543CC4-4682-49E4-8B5F-2584987114F3}"/>
              </a:ext>
            </a:extLst>
          </p:cNvPr>
          <p:cNvSpPr>
            <a:spLocks xmlns:a="http://schemas.openxmlformats.org/drawingml/2006/main" noGrp="1"/>
          </p:cNvSpPr>
          <p:nvPr/>
        </p:nvSpPr>
        <p:spPr>
          <a:xfrm xmlns:a="http://schemas.openxmlformats.org/drawingml/2006/main">
            <a:off x="9677400" y="2143125"/>
            <a:ext cx="1924050" cy="1352550"/>
          </a:xfrm>
          <a:prstGeom xmlns:a="http://schemas.openxmlformats.org/drawingml/2006/main" prst="roundRect">
            <a:avLst>
              <a:gd name="adj" fmla="val 5634"/>
            </a:avLst>
          </a:prstGeom>
          <a:solidFill xmlns:a="http://schemas.openxmlformats.org/drawingml/2006/main">
            <a:srgbClr val="F4F7FA"/>
          </a:solidFill>
          <a:ln xmlns:a="http://schemas.openxmlformats.org/drawingml/2006/main" w="11430">
            <a:solidFill>
              <a:srgbClr val="D9E1E8"/>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8181796A-2C47-4D14-A1D1-C11EE312D596}"/>
              </a:ext>
            </a:extLst>
          </p:cNvPr>
          <p:cNvSpPr>
            <a:spLocks xmlns:a="http://schemas.openxmlformats.org/drawingml/2006/main" noGrp="1"/>
          </p:cNvSpPr>
          <p:nvPr/>
        </p:nvSpPr>
        <p:spPr>
          <a:xfrm xmlns:a="http://schemas.openxmlformats.org/drawingml/2006/main">
            <a:off x="9829800" y="227647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878A8"/>
                </a:solidFill>
                <a:latin typeface="Arial"/>
                <a:ea typeface="Arial"/>
                <a:cs typeface="Arial"/>
              </a:defRPr>
            </a:defPPr>
            <a:lvl1pPr>
              <a:defRPr sz="1350" b="1">
                <a:solidFill>
                  <a:srgbClr val="2878A8"/>
                </a:solidFill>
                <a:latin typeface="Arial"/>
                <a:ea typeface="Arial"/>
                <a:cs typeface="Arial"/>
              </a:defRPr>
            </a:lvl1pPr>
            <a:lvl2pPr>
              <a:defRPr sz="1350" b="1">
                <a:solidFill>
                  <a:srgbClr val="2878A8"/>
                </a:solidFill>
                <a:latin typeface="Arial"/>
                <a:ea typeface="Arial"/>
                <a:cs typeface="Arial"/>
              </a:defRPr>
            </a:lvl2pPr>
            <a:lvl3pPr>
              <a:defRPr sz="1350" b="1">
                <a:solidFill>
                  <a:srgbClr val="2878A8"/>
                </a:solidFill>
                <a:latin typeface="Arial"/>
                <a:ea typeface="Arial"/>
                <a:cs typeface="Arial"/>
              </a:defRPr>
            </a:lvl3pPr>
            <a:lvl4pPr>
              <a:defRPr sz="1350" b="1">
                <a:solidFill>
                  <a:srgbClr val="2878A8"/>
                </a:solidFill>
                <a:latin typeface="Arial"/>
                <a:ea typeface="Arial"/>
                <a:cs typeface="Arial"/>
              </a:defRPr>
            </a:lvl4pPr>
            <a:lvl5pPr>
              <a:defRPr sz="1350" b="1">
                <a:solidFill>
                  <a:srgbClr val="2878A8"/>
                </a:solidFill>
                <a:latin typeface="Arial"/>
                <a:ea typeface="Arial"/>
                <a:cs typeface="Arial"/>
              </a:defRPr>
            </a:lvl5pPr>
            <a:lvl6pPr>
              <a:defRPr sz="1350" b="1">
                <a:solidFill>
                  <a:srgbClr val="2878A8"/>
                </a:solidFill>
                <a:latin typeface="Arial"/>
                <a:ea typeface="Arial"/>
                <a:cs typeface="Arial"/>
              </a:defRPr>
            </a:lvl6pPr>
            <a:lvl7pPr>
              <a:defRPr sz="1350" b="1">
                <a:solidFill>
                  <a:srgbClr val="2878A8"/>
                </a:solidFill>
                <a:latin typeface="Arial"/>
                <a:ea typeface="Arial"/>
                <a:cs typeface="Arial"/>
              </a:defRPr>
            </a:lvl7pPr>
            <a:lvl8pPr>
              <a:defRPr sz="1350" b="1">
                <a:solidFill>
                  <a:srgbClr val="2878A8"/>
                </a:solidFill>
                <a:latin typeface="Arial"/>
                <a:ea typeface="Arial"/>
                <a:cs typeface="Arial"/>
              </a:defRPr>
            </a:lvl8pPr>
            <a:lvl9pPr>
              <a:defRPr sz="1350" b="1">
                <a:solidFill>
                  <a:srgbClr val="2878A8"/>
                </a:solidFill>
                <a:latin typeface="Arial"/>
                <a:ea typeface="Arial"/>
                <a:cs typeface="Arial"/>
              </a:defRPr>
            </a:lvl9pPr>
          </a:lstStyle>
          <a:p xmlns:a="http://schemas.openxmlformats.org/drawingml/2006/main">
            <a:pPr>
              <a:defRPr sz="1350" b="1">
                <a:solidFill>
                  <a:srgbClr val="2878A8"/>
                </a:solidFill>
                <a:latin typeface="Arial"/>
                <a:ea typeface="Arial"/>
                <a:cs typeface="Arial"/>
              </a:defRPr>
            </a:pPr>
            <a:r>
              <a:rPr sz="1350" b="1">
                <a:solidFill>
                  <a:srgbClr val="2878A8"/>
                </a:solidFill>
                <a:latin typeface="Arial"/>
                <a:ea typeface="Arial"/>
                <a:cs typeface="Arial"/>
              </a:rPr>
              <a:t>5</a:t>
            </a:r>
          </a:p>
        </p:txBody>
      </p:sp>
      <p:sp>
        <p:nvSpPr>
          <p:cNvPr id="27" name="">
            <a:extLst xmlns:a="http://schemas.openxmlformats.org/drawingml/2006/main">
              <a:ext uri="{FF2B5EF4-FFF2-40B4-BE49-F238E27FC236}">
                <a16:creationId xmlns:a16="http://schemas.microsoft.com/office/drawing/2014/main" id="{2FFD16CD-84E2-4C4B-8604-74A6A1D43300}"/>
              </a:ext>
            </a:extLst>
          </p:cNvPr>
          <p:cNvSpPr>
            <a:spLocks xmlns:a="http://schemas.openxmlformats.org/drawingml/2006/main" noGrp="1"/>
          </p:cNvSpPr>
          <p:nvPr/>
        </p:nvSpPr>
        <p:spPr>
          <a:xfrm xmlns:a="http://schemas.openxmlformats.org/drawingml/2006/main">
            <a:off x="9829800" y="25717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17324D"/>
                </a:solidFill>
                <a:latin typeface="Arial"/>
                <a:ea typeface="Arial"/>
                <a:cs typeface="Arial"/>
              </a:defRPr>
            </a:defPPr>
            <a:lvl1pPr algn="ctr">
              <a:defRPr sz="1650" b="1">
                <a:solidFill>
                  <a:srgbClr val="17324D"/>
                </a:solidFill>
                <a:latin typeface="Arial"/>
                <a:ea typeface="Arial"/>
                <a:cs typeface="Arial"/>
              </a:defRPr>
            </a:lvl1pPr>
            <a:lvl2pPr algn="ctr">
              <a:defRPr sz="1650" b="1">
                <a:solidFill>
                  <a:srgbClr val="17324D"/>
                </a:solidFill>
                <a:latin typeface="Arial"/>
                <a:ea typeface="Arial"/>
                <a:cs typeface="Arial"/>
              </a:defRPr>
            </a:lvl2pPr>
            <a:lvl3pPr algn="ctr">
              <a:defRPr sz="1650" b="1">
                <a:solidFill>
                  <a:srgbClr val="17324D"/>
                </a:solidFill>
                <a:latin typeface="Arial"/>
                <a:ea typeface="Arial"/>
                <a:cs typeface="Arial"/>
              </a:defRPr>
            </a:lvl3pPr>
            <a:lvl4pPr algn="ctr">
              <a:defRPr sz="1650" b="1">
                <a:solidFill>
                  <a:srgbClr val="17324D"/>
                </a:solidFill>
                <a:latin typeface="Arial"/>
                <a:ea typeface="Arial"/>
                <a:cs typeface="Arial"/>
              </a:defRPr>
            </a:lvl4pPr>
            <a:lvl5pPr algn="ctr">
              <a:defRPr sz="1650" b="1">
                <a:solidFill>
                  <a:srgbClr val="17324D"/>
                </a:solidFill>
                <a:latin typeface="Arial"/>
                <a:ea typeface="Arial"/>
                <a:cs typeface="Arial"/>
              </a:defRPr>
            </a:lvl5pPr>
            <a:lvl6pPr algn="ctr">
              <a:defRPr sz="1650" b="1">
                <a:solidFill>
                  <a:srgbClr val="17324D"/>
                </a:solidFill>
                <a:latin typeface="Arial"/>
                <a:ea typeface="Arial"/>
                <a:cs typeface="Arial"/>
              </a:defRPr>
            </a:lvl6pPr>
            <a:lvl7pPr algn="ctr">
              <a:defRPr sz="1650" b="1">
                <a:solidFill>
                  <a:srgbClr val="17324D"/>
                </a:solidFill>
                <a:latin typeface="Arial"/>
                <a:ea typeface="Arial"/>
                <a:cs typeface="Arial"/>
              </a:defRPr>
            </a:lvl7pPr>
            <a:lvl8pPr algn="ctr">
              <a:defRPr sz="1650" b="1">
                <a:solidFill>
                  <a:srgbClr val="17324D"/>
                </a:solidFill>
                <a:latin typeface="Arial"/>
                <a:ea typeface="Arial"/>
                <a:cs typeface="Arial"/>
              </a:defRPr>
            </a:lvl8pPr>
            <a:lvl9pPr algn="ctr">
              <a:defRPr sz="1650" b="1">
                <a:solidFill>
                  <a:srgbClr val="17324D"/>
                </a:solidFill>
                <a:latin typeface="Arial"/>
                <a:ea typeface="Arial"/>
                <a:cs typeface="Arial"/>
              </a:defRPr>
            </a:lvl9pPr>
          </a:lstStyle>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Rank and</a:t>
            </a:r>
          </a:p>
          <a:p xmlns:a="http://schemas.openxmlformats.org/drawingml/2006/main">
            <a:pPr algn="ctr">
              <a:defRPr sz="1650" b="1">
                <a:solidFill>
                  <a:srgbClr val="17324D"/>
                </a:solidFill>
                <a:latin typeface="Arial"/>
                <a:ea typeface="Arial"/>
                <a:cs typeface="Arial"/>
              </a:defRPr>
            </a:pPr>
            <a:r>
              <a:rPr sz="1650" b="1">
                <a:solidFill>
                  <a:srgbClr val="17324D"/>
                </a:solidFill>
                <a:latin typeface="Arial"/>
                <a:ea typeface="Arial"/>
                <a:cs typeface="Arial"/>
              </a:rPr>
              <a:t>select</a:t>
            </a:r>
          </a:p>
        </p:txBody>
      </p:sp>
      <p:sp>
        <p:nvSpPr>
          <p:cNvPr id="28" name="">
            <a:extLst xmlns:a="http://schemas.openxmlformats.org/drawingml/2006/main">
              <a:ext uri="{FF2B5EF4-FFF2-40B4-BE49-F238E27FC236}">
                <a16:creationId xmlns:a16="http://schemas.microsoft.com/office/drawing/2014/main" id="{4112A8B3-8934-4A3B-9F0B-AEB1DED219BE}"/>
              </a:ext>
            </a:extLst>
          </p:cNvPr>
          <p:cNvSpPr>
            <a:spLocks xmlns:a="http://schemas.openxmlformats.org/drawingml/2006/main" noGrp="1"/>
          </p:cNvSpPr>
          <p:nvPr/>
        </p:nvSpPr>
        <p:spPr>
          <a:xfrm xmlns:a="http://schemas.openxmlformats.org/drawingml/2006/main">
            <a:off x="9791700" y="3095625"/>
            <a:ext cx="1695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050">
                <a:solidFill>
                  <a:srgbClr val="607286"/>
                </a:solidFill>
                <a:latin typeface="Arial"/>
                <a:ea typeface="Arial"/>
                <a:cs typeface="Arial"/>
              </a:defRPr>
            </a:defPPr>
            <a:lvl1pPr algn="ctr">
              <a:defRPr sz="1050">
                <a:solidFill>
                  <a:srgbClr val="607286"/>
                </a:solidFill>
                <a:latin typeface="Arial"/>
                <a:ea typeface="Arial"/>
                <a:cs typeface="Arial"/>
              </a:defRPr>
            </a:lvl1pPr>
            <a:lvl2pPr algn="ctr">
              <a:defRPr sz="1050">
                <a:solidFill>
                  <a:srgbClr val="607286"/>
                </a:solidFill>
                <a:latin typeface="Arial"/>
                <a:ea typeface="Arial"/>
                <a:cs typeface="Arial"/>
              </a:defRPr>
            </a:lvl2pPr>
            <a:lvl3pPr algn="ctr">
              <a:defRPr sz="1050">
                <a:solidFill>
                  <a:srgbClr val="607286"/>
                </a:solidFill>
                <a:latin typeface="Arial"/>
                <a:ea typeface="Arial"/>
                <a:cs typeface="Arial"/>
              </a:defRPr>
            </a:lvl3pPr>
            <a:lvl4pPr algn="ctr">
              <a:defRPr sz="1050">
                <a:solidFill>
                  <a:srgbClr val="607286"/>
                </a:solidFill>
                <a:latin typeface="Arial"/>
                <a:ea typeface="Arial"/>
                <a:cs typeface="Arial"/>
              </a:defRPr>
            </a:lvl4pPr>
            <a:lvl5pPr algn="ctr">
              <a:defRPr sz="1050">
                <a:solidFill>
                  <a:srgbClr val="607286"/>
                </a:solidFill>
                <a:latin typeface="Arial"/>
                <a:ea typeface="Arial"/>
                <a:cs typeface="Arial"/>
              </a:defRPr>
            </a:lvl5pPr>
            <a:lvl6pPr algn="ctr">
              <a:defRPr sz="1050">
                <a:solidFill>
                  <a:srgbClr val="607286"/>
                </a:solidFill>
                <a:latin typeface="Arial"/>
                <a:ea typeface="Arial"/>
                <a:cs typeface="Arial"/>
              </a:defRPr>
            </a:lvl6pPr>
            <a:lvl7pPr algn="ctr">
              <a:defRPr sz="1050">
                <a:solidFill>
                  <a:srgbClr val="607286"/>
                </a:solidFill>
                <a:latin typeface="Arial"/>
                <a:ea typeface="Arial"/>
                <a:cs typeface="Arial"/>
              </a:defRPr>
            </a:lvl7pPr>
            <a:lvl8pPr algn="ctr">
              <a:defRPr sz="1050">
                <a:solidFill>
                  <a:srgbClr val="607286"/>
                </a:solidFill>
                <a:latin typeface="Arial"/>
                <a:ea typeface="Arial"/>
                <a:cs typeface="Arial"/>
              </a:defRPr>
            </a:lvl8pPr>
            <a:lvl9pPr algn="ctr">
              <a:defRPr sz="1050">
                <a:solidFill>
                  <a:srgbClr val="607286"/>
                </a:solidFill>
                <a:latin typeface="Arial"/>
                <a:ea typeface="Arial"/>
                <a:cs typeface="Arial"/>
              </a:defRPr>
            </a:lvl9pPr>
          </a:lstStyle>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Choose under area,</a:t>
            </a:r>
          </a:p>
          <a:p xmlns:a="http://schemas.openxmlformats.org/drawingml/2006/main">
            <a:pPr algn="ctr">
              <a:defRPr sz="1050">
                <a:solidFill>
                  <a:srgbClr val="607286"/>
                </a:solidFill>
                <a:latin typeface="Arial"/>
                <a:ea typeface="Arial"/>
                <a:cs typeface="Arial"/>
              </a:defRPr>
            </a:pPr>
            <a:r>
              <a:rPr sz="1050">
                <a:solidFill>
                  <a:srgbClr val="607286"/>
                </a:solidFill>
                <a:latin typeface="Arial"/>
                <a:ea typeface="Arial"/>
                <a:cs typeface="Arial"/>
              </a:rPr>
              <a:t>timing, and budget</a:t>
            </a:r>
          </a:p>
        </p:txBody>
      </p:sp>
      <p:sp>
        <p:nvSpPr>
          <p:cNvPr id="29" name="">
            <a:extLst xmlns:a="http://schemas.openxmlformats.org/drawingml/2006/main">
              <a:ext uri="{FF2B5EF4-FFF2-40B4-BE49-F238E27FC236}">
                <a16:creationId xmlns:a16="http://schemas.microsoft.com/office/drawing/2014/main" id="{F0375752-A20C-47FC-8DF5-82D78615C002}"/>
              </a:ext>
            </a:extLst>
          </p:cNvPr>
          <p:cNvSpPr>
            <a:spLocks xmlns:a="http://schemas.openxmlformats.org/drawingml/2006/main" noGrp="1"/>
          </p:cNvSpPr>
          <p:nvPr/>
        </p:nvSpPr>
        <p:spPr>
          <a:xfrm xmlns:a="http://schemas.openxmlformats.org/drawingml/2006/main">
            <a:off x="685800" y="4086225"/>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878A8"/>
                </a:solidFill>
                <a:latin typeface="Arial"/>
                <a:ea typeface="Arial"/>
                <a:cs typeface="Arial"/>
              </a:defRPr>
            </a:defPPr>
            <a:lvl1pPr>
              <a:defRPr sz="1350" b="1">
                <a:solidFill>
                  <a:srgbClr val="2878A8"/>
                </a:solidFill>
                <a:latin typeface="Arial"/>
                <a:ea typeface="Arial"/>
                <a:cs typeface="Arial"/>
              </a:defRPr>
            </a:lvl1pPr>
            <a:lvl2pPr>
              <a:defRPr sz="1350" b="1">
                <a:solidFill>
                  <a:srgbClr val="2878A8"/>
                </a:solidFill>
                <a:latin typeface="Arial"/>
                <a:ea typeface="Arial"/>
                <a:cs typeface="Arial"/>
              </a:defRPr>
            </a:lvl2pPr>
            <a:lvl3pPr>
              <a:defRPr sz="1350" b="1">
                <a:solidFill>
                  <a:srgbClr val="2878A8"/>
                </a:solidFill>
                <a:latin typeface="Arial"/>
                <a:ea typeface="Arial"/>
                <a:cs typeface="Arial"/>
              </a:defRPr>
            </a:lvl3pPr>
            <a:lvl4pPr>
              <a:defRPr sz="1350" b="1">
                <a:solidFill>
                  <a:srgbClr val="2878A8"/>
                </a:solidFill>
                <a:latin typeface="Arial"/>
                <a:ea typeface="Arial"/>
                <a:cs typeface="Arial"/>
              </a:defRPr>
            </a:lvl4pPr>
            <a:lvl5pPr>
              <a:defRPr sz="1350" b="1">
                <a:solidFill>
                  <a:srgbClr val="2878A8"/>
                </a:solidFill>
                <a:latin typeface="Arial"/>
                <a:ea typeface="Arial"/>
                <a:cs typeface="Arial"/>
              </a:defRPr>
            </a:lvl5pPr>
            <a:lvl6pPr>
              <a:defRPr sz="1350" b="1">
                <a:solidFill>
                  <a:srgbClr val="2878A8"/>
                </a:solidFill>
                <a:latin typeface="Arial"/>
                <a:ea typeface="Arial"/>
                <a:cs typeface="Arial"/>
              </a:defRPr>
            </a:lvl6pPr>
            <a:lvl7pPr>
              <a:defRPr sz="1350" b="1">
                <a:solidFill>
                  <a:srgbClr val="2878A8"/>
                </a:solidFill>
                <a:latin typeface="Arial"/>
                <a:ea typeface="Arial"/>
                <a:cs typeface="Arial"/>
              </a:defRPr>
            </a:lvl7pPr>
            <a:lvl8pPr>
              <a:defRPr sz="1350" b="1">
                <a:solidFill>
                  <a:srgbClr val="2878A8"/>
                </a:solidFill>
                <a:latin typeface="Arial"/>
                <a:ea typeface="Arial"/>
                <a:cs typeface="Arial"/>
              </a:defRPr>
            </a:lvl8pPr>
            <a:lvl9pPr>
              <a:defRPr sz="1350" b="1">
                <a:solidFill>
                  <a:srgbClr val="2878A8"/>
                </a:solidFill>
                <a:latin typeface="Arial"/>
                <a:ea typeface="Arial"/>
                <a:cs typeface="Arial"/>
              </a:defRPr>
            </a:lvl9pPr>
          </a:lstStyle>
          <a:p xmlns:a="http://schemas.openxmlformats.org/drawingml/2006/main">
            <a:pPr>
              <a:defRPr sz="1350" b="1">
                <a:solidFill>
                  <a:srgbClr val="2878A8"/>
                </a:solidFill>
                <a:latin typeface="Arial"/>
                <a:ea typeface="Arial"/>
                <a:cs typeface="Arial"/>
              </a:defRPr>
            </a:pPr>
            <a:r>
              <a:rPr sz="1350" b="1">
                <a:solidFill>
                  <a:srgbClr val="2878A8"/>
                </a:solidFill>
                <a:latin typeface="Arial"/>
                <a:ea typeface="Arial"/>
                <a:cs typeface="Arial"/>
              </a:rPr>
              <a:t>Primary endpoint</a:t>
            </a:r>
          </a:p>
        </p:txBody>
      </p:sp>
      <p:sp>
        <p:nvSpPr>
          <p:cNvPr id="30" name="">
            <a:extLst xmlns:a="http://schemas.openxmlformats.org/drawingml/2006/main">
              <a:ext uri="{FF2B5EF4-FFF2-40B4-BE49-F238E27FC236}">
                <a16:creationId xmlns:a16="http://schemas.microsoft.com/office/drawing/2014/main" id="{014D38E2-1D86-4487-BC47-F390B298930D}"/>
              </a:ext>
            </a:extLst>
          </p:cNvPr>
          <p:cNvSpPr>
            <a:spLocks xmlns:a="http://schemas.openxmlformats.org/drawingml/2006/main" noGrp="1"/>
          </p:cNvSpPr>
          <p:nvPr/>
        </p:nvSpPr>
        <p:spPr>
          <a:xfrm xmlns:a="http://schemas.openxmlformats.org/drawingml/2006/main">
            <a:off x="685800" y="4419600"/>
            <a:ext cx="1057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a:solidFill>
                  <a:srgbClr val="263648"/>
                </a:solidFill>
                <a:latin typeface="Arial"/>
                <a:ea typeface="Arial"/>
                <a:cs typeface="Arial"/>
              </a:defRPr>
            </a:defPPr>
            <a:lvl1pPr>
              <a:defRPr sz="1650">
                <a:solidFill>
                  <a:srgbClr val="263648"/>
                </a:solidFill>
                <a:latin typeface="Arial"/>
                <a:ea typeface="Arial"/>
                <a:cs typeface="Arial"/>
              </a:defRPr>
            </a:lvl1pPr>
            <a:lvl2pPr>
              <a:defRPr sz="1650">
                <a:solidFill>
                  <a:srgbClr val="263648"/>
                </a:solidFill>
                <a:latin typeface="Arial"/>
                <a:ea typeface="Arial"/>
                <a:cs typeface="Arial"/>
              </a:defRPr>
            </a:lvl2pPr>
            <a:lvl3pPr>
              <a:defRPr sz="1650">
                <a:solidFill>
                  <a:srgbClr val="263648"/>
                </a:solidFill>
                <a:latin typeface="Arial"/>
                <a:ea typeface="Arial"/>
                <a:cs typeface="Arial"/>
              </a:defRPr>
            </a:lvl3pPr>
            <a:lvl4pPr>
              <a:defRPr sz="1650">
                <a:solidFill>
                  <a:srgbClr val="263648"/>
                </a:solidFill>
                <a:latin typeface="Arial"/>
                <a:ea typeface="Arial"/>
                <a:cs typeface="Arial"/>
              </a:defRPr>
            </a:lvl4pPr>
            <a:lvl5pPr>
              <a:defRPr sz="1650">
                <a:solidFill>
                  <a:srgbClr val="263648"/>
                </a:solidFill>
                <a:latin typeface="Arial"/>
                <a:ea typeface="Arial"/>
                <a:cs typeface="Arial"/>
              </a:defRPr>
            </a:lvl5pPr>
            <a:lvl6pPr>
              <a:defRPr sz="1650">
                <a:solidFill>
                  <a:srgbClr val="263648"/>
                </a:solidFill>
                <a:latin typeface="Arial"/>
                <a:ea typeface="Arial"/>
                <a:cs typeface="Arial"/>
              </a:defRPr>
            </a:lvl6pPr>
            <a:lvl7pPr>
              <a:defRPr sz="1650">
                <a:solidFill>
                  <a:srgbClr val="263648"/>
                </a:solidFill>
                <a:latin typeface="Arial"/>
                <a:ea typeface="Arial"/>
                <a:cs typeface="Arial"/>
              </a:defRPr>
            </a:lvl7pPr>
            <a:lvl8pPr>
              <a:defRPr sz="1650">
                <a:solidFill>
                  <a:srgbClr val="263648"/>
                </a:solidFill>
                <a:latin typeface="Arial"/>
                <a:ea typeface="Arial"/>
                <a:cs typeface="Arial"/>
              </a:defRPr>
            </a:lvl8pPr>
            <a:lvl9pPr>
              <a:defRPr sz="1650">
                <a:solidFill>
                  <a:srgbClr val="263648"/>
                </a:solidFill>
                <a:latin typeface="Arial"/>
                <a:ea typeface="Arial"/>
                <a:cs typeface="Arial"/>
              </a:defRPr>
            </a:lvl9pPr>
          </a:lstStyle>
          <a:p xmlns:a="http://schemas.openxmlformats.org/drawingml/2006/main">
            <a:pPr>
              <a:defRPr sz="1650">
                <a:solidFill>
                  <a:srgbClr val="263648"/>
                </a:solidFill>
                <a:latin typeface="Arial"/>
                <a:ea typeface="Arial"/>
                <a:cs typeface="Arial"/>
              </a:defRPr>
            </a:pPr>
            <a:r>
              <a:rPr sz="1650">
                <a:solidFill>
                  <a:srgbClr val="263648"/>
                </a:solidFill>
                <a:latin typeface="Arial"/>
                <a:ea typeface="Arial"/>
                <a:cs typeface="Arial"/>
              </a:rPr>
              <a:t>Best actually measured, correct design that meets area and timing limits, versus the exhaustive feasible-pool oracle at the same query budget.</a:t>
            </a:r>
          </a:p>
        </p:txBody>
      </p:sp>
      <p:sp>
        <p:nvSpPr>
          <p:cNvPr id="31" name="">
            <a:extLst xmlns:a="http://schemas.openxmlformats.org/drawingml/2006/main">
              <a:ext uri="{FF2B5EF4-FFF2-40B4-BE49-F238E27FC236}">
                <a16:creationId xmlns:a16="http://schemas.microsoft.com/office/drawing/2014/main" id="{75C0C849-AF41-410D-BEA5-EF623DE2FF85}"/>
              </a:ext>
            </a:extLst>
          </p:cNvPr>
          <p:cNvSpPr>
            <a:spLocks xmlns:a="http://schemas.openxmlformats.org/drawingml/2006/main" noGrp="1"/>
          </p:cNvSpPr>
          <p:nvPr/>
        </p:nvSpPr>
        <p:spPr>
          <a:xfrm xmlns:a="http://schemas.openxmlformats.org/drawingml/2006/main">
            <a:off x="685800" y="541020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a:solidFill>
                  <a:srgbClr val="607286"/>
                </a:solidFill>
                <a:latin typeface="Arial"/>
                <a:ea typeface="Arial"/>
                <a:cs typeface="Arial"/>
              </a:defRPr>
            </a:defPPr>
            <a:lvl1pPr>
              <a:defRPr sz="1275">
                <a:solidFill>
                  <a:srgbClr val="607286"/>
                </a:solidFill>
                <a:latin typeface="Arial"/>
                <a:ea typeface="Arial"/>
                <a:cs typeface="Arial"/>
              </a:defRPr>
            </a:lvl1pPr>
            <a:lvl2pPr>
              <a:defRPr sz="1275">
                <a:solidFill>
                  <a:srgbClr val="607286"/>
                </a:solidFill>
                <a:latin typeface="Arial"/>
                <a:ea typeface="Arial"/>
                <a:cs typeface="Arial"/>
              </a:defRPr>
            </a:lvl2pPr>
            <a:lvl3pPr>
              <a:defRPr sz="1275">
                <a:solidFill>
                  <a:srgbClr val="607286"/>
                </a:solidFill>
                <a:latin typeface="Arial"/>
                <a:ea typeface="Arial"/>
                <a:cs typeface="Arial"/>
              </a:defRPr>
            </a:lvl3pPr>
            <a:lvl4pPr>
              <a:defRPr sz="1275">
                <a:solidFill>
                  <a:srgbClr val="607286"/>
                </a:solidFill>
                <a:latin typeface="Arial"/>
                <a:ea typeface="Arial"/>
                <a:cs typeface="Arial"/>
              </a:defRPr>
            </a:lvl4pPr>
            <a:lvl5pPr>
              <a:defRPr sz="1275">
                <a:solidFill>
                  <a:srgbClr val="607286"/>
                </a:solidFill>
                <a:latin typeface="Arial"/>
                <a:ea typeface="Arial"/>
                <a:cs typeface="Arial"/>
              </a:defRPr>
            </a:lvl5pPr>
            <a:lvl6pPr>
              <a:defRPr sz="1275">
                <a:solidFill>
                  <a:srgbClr val="607286"/>
                </a:solidFill>
                <a:latin typeface="Arial"/>
                <a:ea typeface="Arial"/>
                <a:cs typeface="Arial"/>
              </a:defRPr>
            </a:lvl6pPr>
            <a:lvl7pPr>
              <a:defRPr sz="1275">
                <a:solidFill>
                  <a:srgbClr val="607286"/>
                </a:solidFill>
                <a:latin typeface="Arial"/>
                <a:ea typeface="Arial"/>
                <a:cs typeface="Arial"/>
              </a:defRPr>
            </a:lvl7pPr>
            <a:lvl8pPr>
              <a:defRPr sz="1275">
                <a:solidFill>
                  <a:srgbClr val="607286"/>
                </a:solidFill>
                <a:latin typeface="Arial"/>
                <a:ea typeface="Arial"/>
                <a:cs typeface="Arial"/>
              </a:defRPr>
            </a:lvl8pPr>
            <a:lvl9pPr>
              <a:defRPr sz="1275">
                <a:solidFill>
                  <a:srgbClr val="607286"/>
                </a:solidFill>
                <a:latin typeface="Arial"/>
                <a:ea typeface="Arial"/>
                <a:cs typeface="Arial"/>
              </a:defRPr>
            </a:lvl9pPr>
          </a:lstStyle>
          <a:p xmlns:a="http://schemas.openxmlformats.org/drawingml/2006/main">
            <a:pPr>
              <a:defRPr sz="1275">
                <a:solidFill>
                  <a:srgbClr val="607286"/>
                </a:solidFill>
                <a:latin typeface="Arial"/>
                <a:ea typeface="Arial"/>
                <a:cs typeface="Arial"/>
              </a:defRPr>
            </a:pPr>
            <a:r>
              <a:rPr sz="1275">
                <a:solidFill>
                  <a:srgbClr val="607286"/>
                </a:solidFill>
                <a:latin typeface="Arial"/>
                <a:ea typeface="Arial"/>
                <a:cs typeface="Arial"/>
              </a:rPr>
              <a:t>Existing enumeration and architectural checks are reused; the research test is selection quality under a measurement budget.</a:t>
            </a:r>
          </a:p>
        </p:txBody>
      </p:sp>
    </p:spTree>
    <p:extLst>
      <p:ext uri="{BB962C8B-B14F-4D97-AF65-F5344CB8AC3E}">
        <p14:creationId xmlns:p14="http://schemas.microsoft.com/office/powerpoint/2010/main" val="18876190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937DC12-B529-4781-AE35-4BD8C4E2B2FE}"/>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Measured dataset and label definition</a:t>
            </a:r>
          </a:p>
        </p:txBody>
      </p:sp>
      <p:sp>
        <p:nvSpPr>
          <p:cNvPr id="2" name="">
            <a:extLst xmlns:a="http://schemas.openxmlformats.org/drawingml/2006/main">
              <a:ext uri="{FF2B5EF4-FFF2-40B4-BE49-F238E27FC236}">
                <a16:creationId xmlns:a16="http://schemas.microsoft.com/office/drawing/2014/main" id="{DB1EE410-41B7-493B-A575-657D47E88C6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F32809D-8AA5-4640-A497-8FD07F524253}"/>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3</a:t>
            </a:r>
          </a:p>
        </p:txBody>
      </p:sp>
      <p:graphicFrame>
        <p:nvGraphicFramePr>
          <p:cNvPr id="4" name="Chart">
            <a:extLst xmlns:a="http://schemas.openxmlformats.org/drawingml/2006/main">
              <a:ext uri="{FF2B5EF4-FFF2-40B4-BE49-F238E27FC236}">
                <a16:creationId xmlns:a16="http://schemas.microsoft.com/office/drawing/2014/main" id="{918CF7C8-E8F4-4DA4-9F9D-3E1D2144A0EA}"/>
              </a:ext>
            </a:extLst>
          </p:cNvPr>
          <p:cNvGraphicFramePr/>
          <p:nvPr/>
        </p:nvGraphicFramePr>
        <p:xfrm>
          <a:off xmlns:a="http://schemas.openxmlformats.org/drawingml/2006/main" x="552450" y="1428750"/>
          <a:ext xmlns:a="http://schemas.openxmlformats.org/drawingml/2006/main" cx="6096000" cy="3762375"/>
        </p:xfrm>
        <a:graphic xmlns:a="http://schemas.openxmlformats.org/drawingml/2006/main">
          <a:graphicData uri="http://schemas.openxmlformats.org/drawingml/2006/chart">
            <c:chart xmlns:r="http://schemas.openxmlformats.org/officeDocument/2006/relationships" xmlns:c="http://schemas.openxmlformats.org/drawingml/2006/chart" r:id="Rbd973576d7984973"/>
          </a:graphicData>
        </a:graphic>
      </p:graphicFrame>
      <p:sp>
        <p:nvSpPr>
          <p:cNvPr id="5" name="">
            <a:extLst xmlns:a="http://schemas.openxmlformats.org/drawingml/2006/main">
              <a:ext uri="{FF2B5EF4-FFF2-40B4-BE49-F238E27FC236}">
                <a16:creationId xmlns:a16="http://schemas.microsoft.com/office/drawing/2014/main" id="{22081C7B-7D2A-4CB6-B68F-0A58C4EC249F}"/>
              </a:ext>
            </a:extLst>
          </p:cNvPr>
          <p:cNvSpPr>
            <a:spLocks xmlns:a="http://schemas.openxmlformats.org/drawingml/2006/main" noGrp="1"/>
          </p:cNvSpPr>
          <p:nvPr/>
        </p:nvSpPr>
        <p:spPr>
          <a:xfrm xmlns:a="http://schemas.openxmlformats.org/drawingml/2006/main">
            <a:off x="7191375" y="14954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122 labels</a:t>
            </a:r>
          </a:p>
        </p:txBody>
      </p:sp>
      <p:sp>
        <p:nvSpPr>
          <p:cNvPr id="6" name="">
            <a:extLst xmlns:a="http://schemas.openxmlformats.org/drawingml/2006/main">
              <a:ext uri="{FF2B5EF4-FFF2-40B4-BE49-F238E27FC236}">
                <a16:creationId xmlns:a16="http://schemas.microsoft.com/office/drawing/2014/main" id="{5ED5760E-E297-48A2-83F3-179708589F9A}"/>
              </a:ext>
            </a:extLst>
          </p:cNvPr>
          <p:cNvSpPr>
            <a:spLocks xmlns:a="http://schemas.openxmlformats.org/drawingml/2006/main" noGrp="1"/>
          </p:cNvSpPr>
          <p:nvPr/>
        </p:nvSpPr>
        <p:spPr>
          <a:xfrm xmlns:a="http://schemas.openxmlformats.org/drawingml/2006/main">
            <a:off x="7191375" y="18478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a:solidFill>
                  <a:srgbClr val="607286"/>
                </a:solidFill>
                <a:latin typeface="Arial"/>
                <a:ea typeface="Arial"/>
                <a:cs typeface="Arial"/>
              </a:defRPr>
            </a:defPPr>
            <a:lvl1pPr>
              <a:defRPr sz="1275">
                <a:solidFill>
                  <a:srgbClr val="607286"/>
                </a:solidFill>
                <a:latin typeface="Arial"/>
                <a:ea typeface="Arial"/>
                <a:cs typeface="Arial"/>
              </a:defRPr>
            </a:lvl1pPr>
            <a:lvl2pPr>
              <a:defRPr sz="1275">
                <a:solidFill>
                  <a:srgbClr val="607286"/>
                </a:solidFill>
                <a:latin typeface="Arial"/>
                <a:ea typeface="Arial"/>
                <a:cs typeface="Arial"/>
              </a:defRPr>
            </a:lvl2pPr>
            <a:lvl3pPr>
              <a:defRPr sz="1275">
                <a:solidFill>
                  <a:srgbClr val="607286"/>
                </a:solidFill>
                <a:latin typeface="Arial"/>
                <a:ea typeface="Arial"/>
                <a:cs typeface="Arial"/>
              </a:defRPr>
            </a:lvl3pPr>
            <a:lvl4pPr>
              <a:defRPr sz="1275">
                <a:solidFill>
                  <a:srgbClr val="607286"/>
                </a:solidFill>
                <a:latin typeface="Arial"/>
                <a:ea typeface="Arial"/>
                <a:cs typeface="Arial"/>
              </a:defRPr>
            </a:lvl4pPr>
            <a:lvl5pPr>
              <a:defRPr sz="1275">
                <a:solidFill>
                  <a:srgbClr val="607286"/>
                </a:solidFill>
                <a:latin typeface="Arial"/>
                <a:ea typeface="Arial"/>
                <a:cs typeface="Arial"/>
              </a:defRPr>
            </a:lvl5pPr>
            <a:lvl6pPr>
              <a:defRPr sz="1275">
                <a:solidFill>
                  <a:srgbClr val="607286"/>
                </a:solidFill>
                <a:latin typeface="Arial"/>
                <a:ea typeface="Arial"/>
                <a:cs typeface="Arial"/>
              </a:defRPr>
            </a:lvl6pPr>
            <a:lvl7pPr>
              <a:defRPr sz="1275">
                <a:solidFill>
                  <a:srgbClr val="607286"/>
                </a:solidFill>
                <a:latin typeface="Arial"/>
                <a:ea typeface="Arial"/>
                <a:cs typeface="Arial"/>
              </a:defRPr>
            </a:lvl7pPr>
            <a:lvl8pPr>
              <a:defRPr sz="1275">
                <a:solidFill>
                  <a:srgbClr val="607286"/>
                </a:solidFill>
                <a:latin typeface="Arial"/>
                <a:ea typeface="Arial"/>
                <a:cs typeface="Arial"/>
              </a:defRPr>
            </a:lvl8pPr>
            <a:lvl9pPr>
              <a:defRPr sz="1275">
                <a:solidFill>
                  <a:srgbClr val="607286"/>
                </a:solidFill>
                <a:latin typeface="Arial"/>
                <a:ea typeface="Arial"/>
                <a:cs typeface="Arial"/>
              </a:defRPr>
            </a:lvl9pPr>
          </a:lstStyle>
          <a:p xmlns:a="http://schemas.openxmlformats.org/drawingml/2006/main">
            <a:pPr>
              <a:defRPr sz="1275">
                <a:solidFill>
                  <a:srgbClr val="607286"/>
                </a:solidFill>
                <a:latin typeface="Arial"/>
                <a:ea typeface="Arial"/>
                <a:cs typeface="Arial"/>
              </a:defRPr>
            </a:pPr>
            <a:r>
              <a:rPr sz="1275">
                <a:solidFill>
                  <a:srgbClr val="607286"/>
                </a:solidFill>
                <a:latin typeface="Arial"/>
                <a:ea typeface="Arial"/>
                <a:cs typeface="Arial"/>
              </a:rPr>
              <a:t>whole-program speedup</a:t>
            </a:r>
          </a:p>
          <a:p xmlns:a="http://schemas.openxmlformats.org/drawingml/2006/main">
            <a:pPr>
              <a:defRPr sz="1275">
                <a:solidFill>
                  <a:srgbClr val="607286"/>
                </a:solidFill>
                <a:latin typeface="Arial"/>
                <a:ea typeface="Arial"/>
                <a:cs typeface="Arial"/>
              </a:defRPr>
            </a:pPr>
            <a:r>
              <a:rPr sz="1275">
                <a:solidFill>
                  <a:srgbClr val="607286"/>
                </a:solidFill>
                <a:latin typeface="Arial"/>
                <a:ea typeface="Arial"/>
                <a:cs typeface="Arial"/>
              </a:rPr>
              <a:t>plus measured hardware</a:t>
            </a:r>
          </a:p>
        </p:txBody>
      </p:sp>
      <p:sp>
        <p:nvSpPr>
          <p:cNvPr id="7" name="">
            <a:extLst xmlns:a="http://schemas.openxmlformats.org/drawingml/2006/main">
              <a:ext uri="{FF2B5EF4-FFF2-40B4-BE49-F238E27FC236}">
                <a16:creationId xmlns:a16="http://schemas.microsoft.com/office/drawing/2014/main" id="{D77DFBEA-2D9B-457D-B403-0AADA72D3A97}"/>
              </a:ext>
            </a:extLst>
          </p:cNvPr>
          <p:cNvSpPr>
            <a:spLocks xmlns:a="http://schemas.openxmlformats.org/drawingml/2006/main" noGrp="1"/>
          </p:cNvSpPr>
          <p:nvPr/>
        </p:nvSpPr>
        <p:spPr>
          <a:xfrm xmlns:a="http://schemas.openxmlformats.org/drawingml/2006/main">
            <a:off x="7191375" y="2571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14 workload groups</a:t>
            </a:r>
          </a:p>
        </p:txBody>
      </p:sp>
      <p:sp>
        <p:nvSpPr>
          <p:cNvPr id="8" name="">
            <a:extLst xmlns:a="http://schemas.openxmlformats.org/drawingml/2006/main">
              <a:ext uri="{FF2B5EF4-FFF2-40B4-BE49-F238E27FC236}">
                <a16:creationId xmlns:a16="http://schemas.microsoft.com/office/drawing/2014/main" id="{54E337EB-6058-4D29-9380-CD173C369484}"/>
              </a:ext>
            </a:extLst>
          </p:cNvPr>
          <p:cNvSpPr>
            <a:spLocks xmlns:a="http://schemas.openxmlformats.org/drawingml/2006/main" noGrp="1"/>
          </p:cNvSpPr>
          <p:nvPr/>
        </p:nvSpPr>
        <p:spPr>
          <a:xfrm xmlns:a="http://schemas.openxmlformats.org/drawingml/2006/main">
            <a:off x="7191375" y="2924175"/>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a:solidFill>
                  <a:srgbClr val="607286"/>
                </a:solidFill>
                <a:latin typeface="Arial"/>
                <a:ea typeface="Arial"/>
                <a:cs typeface="Arial"/>
              </a:defRPr>
            </a:defPPr>
            <a:lvl1pPr>
              <a:defRPr sz="1275">
                <a:solidFill>
                  <a:srgbClr val="607286"/>
                </a:solidFill>
                <a:latin typeface="Arial"/>
                <a:ea typeface="Arial"/>
                <a:cs typeface="Arial"/>
              </a:defRPr>
            </a:lvl1pPr>
            <a:lvl2pPr>
              <a:defRPr sz="1275">
                <a:solidFill>
                  <a:srgbClr val="607286"/>
                </a:solidFill>
                <a:latin typeface="Arial"/>
                <a:ea typeface="Arial"/>
                <a:cs typeface="Arial"/>
              </a:defRPr>
            </a:lvl2pPr>
            <a:lvl3pPr>
              <a:defRPr sz="1275">
                <a:solidFill>
                  <a:srgbClr val="607286"/>
                </a:solidFill>
                <a:latin typeface="Arial"/>
                <a:ea typeface="Arial"/>
                <a:cs typeface="Arial"/>
              </a:defRPr>
            </a:lvl3pPr>
            <a:lvl4pPr>
              <a:defRPr sz="1275">
                <a:solidFill>
                  <a:srgbClr val="607286"/>
                </a:solidFill>
                <a:latin typeface="Arial"/>
                <a:ea typeface="Arial"/>
                <a:cs typeface="Arial"/>
              </a:defRPr>
            </a:lvl4pPr>
            <a:lvl5pPr>
              <a:defRPr sz="1275">
                <a:solidFill>
                  <a:srgbClr val="607286"/>
                </a:solidFill>
                <a:latin typeface="Arial"/>
                <a:ea typeface="Arial"/>
                <a:cs typeface="Arial"/>
              </a:defRPr>
            </a:lvl5pPr>
            <a:lvl6pPr>
              <a:defRPr sz="1275">
                <a:solidFill>
                  <a:srgbClr val="607286"/>
                </a:solidFill>
                <a:latin typeface="Arial"/>
                <a:ea typeface="Arial"/>
                <a:cs typeface="Arial"/>
              </a:defRPr>
            </a:lvl6pPr>
            <a:lvl7pPr>
              <a:defRPr sz="1275">
                <a:solidFill>
                  <a:srgbClr val="607286"/>
                </a:solidFill>
                <a:latin typeface="Arial"/>
                <a:ea typeface="Arial"/>
                <a:cs typeface="Arial"/>
              </a:defRPr>
            </a:lvl7pPr>
            <a:lvl8pPr>
              <a:defRPr sz="1275">
                <a:solidFill>
                  <a:srgbClr val="607286"/>
                </a:solidFill>
                <a:latin typeface="Arial"/>
                <a:ea typeface="Arial"/>
                <a:cs typeface="Arial"/>
              </a:defRPr>
            </a:lvl8pPr>
            <a:lvl9pPr>
              <a:defRPr sz="1275">
                <a:solidFill>
                  <a:srgbClr val="607286"/>
                </a:solidFill>
                <a:latin typeface="Arial"/>
                <a:ea typeface="Arial"/>
                <a:cs typeface="Arial"/>
              </a:defRPr>
            </a:lvl9pPr>
          </a:lstStyle>
          <a:p xmlns:a="http://schemas.openxmlformats.org/drawingml/2006/main">
            <a:pPr>
              <a:defRPr sz="1275">
                <a:solidFill>
                  <a:srgbClr val="607286"/>
                </a:solidFill>
                <a:latin typeface="Arial"/>
                <a:ea typeface="Arial"/>
                <a:cs typeface="Arial"/>
              </a:defRPr>
            </a:pPr>
            <a:r>
              <a:rPr sz="1275">
                <a:solidFill>
                  <a:srgbClr val="607286"/>
                </a:solidFill>
                <a:latin typeface="Arial"/>
                <a:ea typeface="Arial"/>
                <a:cs typeface="Arial"/>
              </a:rPr>
              <a:t>15 program/build/input contexts</a:t>
            </a:r>
          </a:p>
          <a:p xmlns:a="http://schemas.openxmlformats.org/drawingml/2006/main">
            <a:pPr>
              <a:defRPr sz="1275">
                <a:solidFill>
                  <a:srgbClr val="607286"/>
                </a:solidFill>
                <a:latin typeface="Arial"/>
                <a:ea typeface="Arial"/>
                <a:cs typeface="Arial"/>
              </a:defRPr>
            </a:pPr>
            <a:r>
              <a:rPr sz="1275">
                <a:solidFill>
                  <a:srgbClr val="607286"/>
                </a:solidFill>
                <a:latin typeface="Arial"/>
                <a:ea typeface="Arial"/>
                <a:cs typeface="Arial"/>
              </a:rPr>
              <a:t>with whole-workload holdouts</a:t>
            </a:r>
          </a:p>
        </p:txBody>
      </p:sp>
      <p:sp>
        <p:nvSpPr>
          <p:cNvPr id="9" name="">
            <a:extLst xmlns:a="http://schemas.openxmlformats.org/drawingml/2006/main">
              <a:ext uri="{FF2B5EF4-FFF2-40B4-BE49-F238E27FC236}">
                <a16:creationId xmlns:a16="http://schemas.microsoft.com/office/drawing/2014/main" id="{8897CF25-0CAD-489D-AC53-60DD8E75A91C}"/>
              </a:ext>
            </a:extLst>
          </p:cNvPr>
          <p:cNvSpPr>
            <a:spLocks xmlns:a="http://schemas.openxmlformats.org/drawingml/2006/main" noGrp="1"/>
          </p:cNvSpPr>
          <p:nvPr/>
        </p:nvSpPr>
        <p:spPr>
          <a:xfrm xmlns:a="http://schemas.openxmlformats.org/drawingml/2006/main">
            <a:off x="7191375" y="364807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4 failures retained</a:t>
            </a:r>
          </a:p>
        </p:txBody>
      </p:sp>
      <p:sp>
        <p:nvSpPr>
          <p:cNvPr id="10" name="">
            <a:extLst xmlns:a="http://schemas.openxmlformats.org/drawingml/2006/main">
              <a:ext uri="{FF2B5EF4-FFF2-40B4-BE49-F238E27FC236}">
                <a16:creationId xmlns:a16="http://schemas.microsoft.com/office/drawing/2014/main" id="{986A647D-B665-40E4-BB75-99989AC6950C}"/>
              </a:ext>
            </a:extLst>
          </p:cNvPr>
          <p:cNvSpPr>
            <a:spLocks xmlns:a="http://schemas.openxmlformats.org/drawingml/2006/main" noGrp="1"/>
          </p:cNvSpPr>
          <p:nvPr/>
        </p:nvSpPr>
        <p:spPr>
          <a:xfrm xmlns:a="http://schemas.openxmlformats.org/drawingml/2006/main">
            <a:off x="7191375" y="400050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a:solidFill>
                  <a:srgbClr val="607286"/>
                </a:solidFill>
                <a:latin typeface="Arial"/>
                <a:ea typeface="Arial"/>
                <a:cs typeface="Arial"/>
              </a:defRPr>
            </a:defPPr>
            <a:lvl1pPr>
              <a:defRPr sz="1275">
                <a:solidFill>
                  <a:srgbClr val="607286"/>
                </a:solidFill>
                <a:latin typeface="Arial"/>
                <a:ea typeface="Arial"/>
                <a:cs typeface="Arial"/>
              </a:defRPr>
            </a:lvl1pPr>
            <a:lvl2pPr>
              <a:defRPr sz="1275">
                <a:solidFill>
                  <a:srgbClr val="607286"/>
                </a:solidFill>
                <a:latin typeface="Arial"/>
                <a:ea typeface="Arial"/>
                <a:cs typeface="Arial"/>
              </a:defRPr>
            </a:lvl2pPr>
            <a:lvl3pPr>
              <a:defRPr sz="1275">
                <a:solidFill>
                  <a:srgbClr val="607286"/>
                </a:solidFill>
                <a:latin typeface="Arial"/>
                <a:ea typeface="Arial"/>
                <a:cs typeface="Arial"/>
              </a:defRPr>
            </a:lvl3pPr>
            <a:lvl4pPr>
              <a:defRPr sz="1275">
                <a:solidFill>
                  <a:srgbClr val="607286"/>
                </a:solidFill>
                <a:latin typeface="Arial"/>
                <a:ea typeface="Arial"/>
                <a:cs typeface="Arial"/>
              </a:defRPr>
            </a:lvl4pPr>
            <a:lvl5pPr>
              <a:defRPr sz="1275">
                <a:solidFill>
                  <a:srgbClr val="607286"/>
                </a:solidFill>
                <a:latin typeface="Arial"/>
                <a:ea typeface="Arial"/>
                <a:cs typeface="Arial"/>
              </a:defRPr>
            </a:lvl5pPr>
            <a:lvl6pPr>
              <a:defRPr sz="1275">
                <a:solidFill>
                  <a:srgbClr val="607286"/>
                </a:solidFill>
                <a:latin typeface="Arial"/>
                <a:ea typeface="Arial"/>
                <a:cs typeface="Arial"/>
              </a:defRPr>
            </a:lvl6pPr>
            <a:lvl7pPr>
              <a:defRPr sz="1275">
                <a:solidFill>
                  <a:srgbClr val="607286"/>
                </a:solidFill>
                <a:latin typeface="Arial"/>
                <a:ea typeface="Arial"/>
                <a:cs typeface="Arial"/>
              </a:defRPr>
            </a:lvl7pPr>
            <a:lvl8pPr>
              <a:defRPr sz="1275">
                <a:solidFill>
                  <a:srgbClr val="607286"/>
                </a:solidFill>
                <a:latin typeface="Arial"/>
                <a:ea typeface="Arial"/>
                <a:cs typeface="Arial"/>
              </a:defRPr>
            </a:lvl8pPr>
            <a:lvl9pPr>
              <a:defRPr sz="1275">
                <a:solidFill>
                  <a:srgbClr val="607286"/>
                </a:solidFill>
                <a:latin typeface="Arial"/>
                <a:ea typeface="Arial"/>
                <a:cs typeface="Arial"/>
              </a:defRPr>
            </a:lvl9pPr>
          </a:lstStyle>
          <a:p xmlns:a="http://schemas.openxmlformats.org/drawingml/2006/main">
            <a:pPr>
              <a:defRPr sz="1275">
                <a:solidFill>
                  <a:srgbClr val="607286"/>
                </a:solidFill>
                <a:latin typeface="Arial"/>
                <a:ea typeface="Arial"/>
                <a:cs typeface="Arial"/>
              </a:defRPr>
            </a:pPr>
            <a:r>
              <a:rPr sz="1275">
                <a:solidFill>
                  <a:srgbClr val="607286"/>
                </a:solidFill>
                <a:latin typeface="Arial"/>
                <a:ea typeface="Arial"/>
                <a:cs typeface="Arial"/>
              </a:rPr>
              <a:t>charged evaluation attempts;</a:t>
            </a:r>
          </a:p>
          <a:p xmlns:a="http://schemas.openxmlformats.org/drawingml/2006/main">
            <a:pPr>
              <a:defRPr sz="1275">
                <a:solidFill>
                  <a:srgbClr val="607286"/>
                </a:solidFill>
                <a:latin typeface="Arial"/>
                <a:ea typeface="Arial"/>
                <a:cs typeface="Arial"/>
              </a:defRPr>
            </a:pPr>
            <a:r>
              <a:rPr sz="1275">
                <a:solidFill>
                  <a:srgbClr val="607286"/>
                </a:solidFill>
                <a:latin typeface="Arial"/>
                <a:ea typeface="Arial"/>
                <a:cs typeface="Arial"/>
              </a:rPr>
              <a:t>never relabeled as infeasible</a:t>
            </a:r>
          </a:p>
        </p:txBody>
      </p:sp>
      <p:sp>
        <p:nvSpPr>
          <p:cNvPr id="11" name="">
            <a:extLst xmlns:a="http://schemas.openxmlformats.org/drawingml/2006/main">
              <a:ext uri="{FF2B5EF4-FFF2-40B4-BE49-F238E27FC236}">
                <a16:creationId xmlns:a16="http://schemas.microsoft.com/office/drawing/2014/main" id="{5291B8C1-6215-4BFA-B897-8E69ABBB9669}"/>
              </a:ext>
            </a:extLst>
          </p:cNvPr>
          <p:cNvSpPr>
            <a:spLocks xmlns:a="http://schemas.openxmlformats.org/drawingml/2006/main" noGrp="1"/>
          </p:cNvSpPr>
          <p:nvPr/>
        </p:nvSpPr>
        <p:spPr>
          <a:xfrm xmlns:a="http://schemas.openxmlformats.org/drawingml/2006/main">
            <a:off x="7191375" y="4829175"/>
            <a:ext cx="4095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a:solidFill>
                  <a:srgbClr val="263648"/>
                </a:solidFill>
                <a:latin typeface="Arial"/>
                <a:ea typeface="Arial"/>
                <a:cs typeface="Arial"/>
              </a:defRPr>
            </a:defPPr>
            <a:lvl1pPr>
              <a:defRPr sz="1275">
                <a:solidFill>
                  <a:srgbClr val="263648"/>
                </a:solidFill>
                <a:latin typeface="Arial"/>
                <a:ea typeface="Arial"/>
                <a:cs typeface="Arial"/>
              </a:defRPr>
            </a:lvl1pPr>
            <a:lvl2pPr>
              <a:defRPr sz="1275">
                <a:solidFill>
                  <a:srgbClr val="263648"/>
                </a:solidFill>
                <a:latin typeface="Arial"/>
                <a:ea typeface="Arial"/>
                <a:cs typeface="Arial"/>
              </a:defRPr>
            </a:lvl2pPr>
            <a:lvl3pPr>
              <a:defRPr sz="1275">
                <a:solidFill>
                  <a:srgbClr val="263648"/>
                </a:solidFill>
                <a:latin typeface="Arial"/>
                <a:ea typeface="Arial"/>
                <a:cs typeface="Arial"/>
              </a:defRPr>
            </a:lvl3pPr>
            <a:lvl4pPr>
              <a:defRPr sz="1275">
                <a:solidFill>
                  <a:srgbClr val="263648"/>
                </a:solidFill>
                <a:latin typeface="Arial"/>
                <a:ea typeface="Arial"/>
                <a:cs typeface="Arial"/>
              </a:defRPr>
            </a:lvl4pPr>
            <a:lvl5pPr>
              <a:defRPr sz="1275">
                <a:solidFill>
                  <a:srgbClr val="263648"/>
                </a:solidFill>
                <a:latin typeface="Arial"/>
                <a:ea typeface="Arial"/>
                <a:cs typeface="Arial"/>
              </a:defRPr>
            </a:lvl5pPr>
            <a:lvl6pPr>
              <a:defRPr sz="1275">
                <a:solidFill>
                  <a:srgbClr val="263648"/>
                </a:solidFill>
                <a:latin typeface="Arial"/>
                <a:ea typeface="Arial"/>
                <a:cs typeface="Arial"/>
              </a:defRPr>
            </a:lvl6pPr>
            <a:lvl7pPr>
              <a:defRPr sz="1275">
                <a:solidFill>
                  <a:srgbClr val="263648"/>
                </a:solidFill>
                <a:latin typeface="Arial"/>
                <a:ea typeface="Arial"/>
                <a:cs typeface="Arial"/>
              </a:defRPr>
            </a:lvl7pPr>
            <a:lvl8pPr>
              <a:defRPr sz="1275">
                <a:solidFill>
                  <a:srgbClr val="263648"/>
                </a:solidFill>
                <a:latin typeface="Arial"/>
                <a:ea typeface="Arial"/>
                <a:cs typeface="Arial"/>
              </a:defRPr>
            </a:lvl8pPr>
            <a:lvl9pPr>
              <a:defRPr sz="1275">
                <a:solidFill>
                  <a:srgbClr val="263648"/>
                </a:solidFill>
                <a:latin typeface="Arial"/>
                <a:ea typeface="Arial"/>
                <a:cs typeface="Arial"/>
              </a:defRPr>
            </a:lvl9pPr>
          </a:lstStyle>
          <a:p xmlns:a="http://schemas.openxmlformats.org/drawingml/2006/main">
            <a:pPr>
              <a:defRPr sz="1275">
                <a:solidFill>
                  <a:srgbClr val="263648"/>
                </a:solidFill>
                <a:latin typeface="Arial"/>
                <a:ea typeface="Arial"/>
                <a:cs typeface="Arial"/>
              </a:defRPr>
            </a:pPr>
            <a:r>
              <a:rPr sz="1275">
                <a:solidFill>
                  <a:srgbClr val="263648"/>
                </a:solidFill>
                <a:latin typeface="Arial"/>
                <a:ea typeface="Arial"/>
                <a:cs typeface="Arial"/>
              </a:rPr>
              <a:t>Each row carries 35 candidate features, measured cycle speedup, added LUT4, routed Fmax, and correctness evidence.</a:t>
            </a:r>
          </a:p>
        </p:txBody>
      </p:sp>
      <p:sp>
        <p:nvSpPr>
          <p:cNvPr id="12" name="">
            <a:extLst xmlns:a="http://schemas.openxmlformats.org/drawingml/2006/main">
              <a:ext uri="{FF2B5EF4-FFF2-40B4-BE49-F238E27FC236}">
                <a16:creationId xmlns:a16="http://schemas.microsoft.com/office/drawing/2014/main" id="{7BCA7373-9A8C-48EB-9E2A-BF7676691F27}"/>
              </a:ext>
            </a:extLst>
          </p:cNvPr>
          <p:cNvSpPr>
            <a:spLocks xmlns:a="http://schemas.openxmlformats.org/drawingml/2006/main" noGrp="1"/>
          </p:cNvSpPr>
          <p:nvPr/>
        </p:nvSpPr>
        <p:spPr>
          <a:xfrm xmlns:a="http://schemas.openxmlformats.org/drawingml/2006/main">
            <a:off x="685800" y="5534025"/>
            <a:ext cx="10715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263648"/>
                </a:solidFill>
                <a:latin typeface="Arial"/>
                <a:ea typeface="Arial"/>
                <a:cs typeface="Arial"/>
              </a:defRPr>
            </a:defPPr>
            <a:lvl1pPr>
              <a:defRPr sz="1275" b="1">
                <a:solidFill>
                  <a:srgbClr val="263648"/>
                </a:solidFill>
                <a:latin typeface="Arial"/>
                <a:ea typeface="Arial"/>
                <a:cs typeface="Arial"/>
              </a:defRPr>
            </a:lvl1pPr>
            <a:lvl2pPr>
              <a:defRPr sz="1275" b="1">
                <a:solidFill>
                  <a:srgbClr val="263648"/>
                </a:solidFill>
                <a:latin typeface="Arial"/>
                <a:ea typeface="Arial"/>
                <a:cs typeface="Arial"/>
              </a:defRPr>
            </a:lvl2pPr>
            <a:lvl3pPr>
              <a:defRPr sz="1275" b="1">
                <a:solidFill>
                  <a:srgbClr val="263648"/>
                </a:solidFill>
                <a:latin typeface="Arial"/>
                <a:ea typeface="Arial"/>
                <a:cs typeface="Arial"/>
              </a:defRPr>
            </a:lvl3pPr>
            <a:lvl4pPr>
              <a:defRPr sz="1275" b="1">
                <a:solidFill>
                  <a:srgbClr val="263648"/>
                </a:solidFill>
                <a:latin typeface="Arial"/>
                <a:ea typeface="Arial"/>
                <a:cs typeface="Arial"/>
              </a:defRPr>
            </a:lvl4pPr>
            <a:lvl5pPr>
              <a:defRPr sz="1275" b="1">
                <a:solidFill>
                  <a:srgbClr val="263648"/>
                </a:solidFill>
                <a:latin typeface="Arial"/>
                <a:ea typeface="Arial"/>
                <a:cs typeface="Arial"/>
              </a:defRPr>
            </a:lvl5pPr>
            <a:lvl6pPr>
              <a:defRPr sz="1275" b="1">
                <a:solidFill>
                  <a:srgbClr val="263648"/>
                </a:solidFill>
                <a:latin typeface="Arial"/>
                <a:ea typeface="Arial"/>
                <a:cs typeface="Arial"/>
              </a:defRPr>
            </a:lvl6pPr>
            <a:lvl7pPr>
              <a:defRPr sz="1275" b="1">
                <a:solidFill>
                  <a:srgbClr val="263648"/>
                </a:solidFill>
                <a:latin typeface="Arial"/>
                <a:ea typeface="Arial"/>
                <a:cs typeface="Arial"/>
              </a:defRPr>
            </a:lvl7pPr>
            <a:lvl8pPr>
              <a:defRPr sz="1275" b="1">
                <a:solidFill>
                  <a:srgbClr val="263648"/>
                </a:solidFill>
                <a:latin typeface="Arial"/>
                <a:ea typeface="Arial"/>
                <a:cs typeface="Arial"/>
              </a:defRPr>
            </a:lvl8pPr>
            <a:lvl9pPr>
              <a:defRPr sz="1275" b="1">
                <a:solidFill>
                  <a:srgbClr val="263648"/>
                </a:solidFill>
                <a:latin typeface="Arial"/>
                <a:ea typeface="Arial"/>
                <a:cs typeface="Arial"/>
              </a:defRPr>
            </a:lvl9pPr>
          </a:lstStyle>
          <a:p xmlns:a="http://schemas.openxmlformats.org/drawingml/2006/main">
            <a:pPr>
              <a:defRPr sz="1275" b="1">
                <a:solidFill>
                  <a:srgbClr val="263648"/>
                </a:solidFill>
                <a:latin typeface="Arial"/>
                <a:ea typeface="Arial"/>
                <a:cs typeface="Arial"/>
              </a:defRPr>
            </a:pPr>
            <a:r>
              <a:rPr sz="1275" b="1">
                <a:solidFill>
                  <a:srgbClr val="263648"/>
                </a:solidFill>
                <a:latin typeface="Arial"/>
                <a:ea typeface="Arial"/>
                <a:cs typeface="Arial"/>
              </a:rPr>
              <a:t>12/14 workload groups have complete measured-pool oracles; two remain censored.</a:t>
            </a:r>
          </a:p>
        </p:txBody>
      </p:sp>
    </p:spTree>
    <p:extLst>
      <p:ext uri="{BB962C8B-B14F-4D97-AF65-F5344CB8AC3E}">
        <p14:creationId xmlns:p14="http://schemas.microsoft.com/office/powerpoint/2010/main" val="1988868817"/>
      </p:ext>
    </p:extLst>
  </p:cSld>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9224" y="402336"/>
            <a:ext cx="10671048" cy="548640"/>
          </a:xfrm>
          <a:prstGeom prst="rect">
            <a:avLst/>
          </a:prstGeom>
          <a:noFill/>
        </p:spPr>
        <p:txBody>
          <a:bodyPr wrap="square" lIns="27432" rIns="27432" tIns="13716" bIns="13716" anchor="ctr">
            <a:spAutoFit/>
          </a:bodyPr>
          <a:lstStyle/>
          <a:p>
            <a:pPr algn="l">
              <a:spcBef>
                <a:spcPts val="0"/>
              </a:spcBef>
              <a:spcAft>
                <a:spcPts val="0"/>
              </a:spcAft>
              <a:defRPr sz="3225" b="1">
                <a:solidFill>
                  <a:srgbClr val="17324D"/>
                </a:solidFill>
                <a:latin typeface="Arial"/>
              </a:defRPr>
            </a:pPr>
            <a:r>
              <a:t>Inside the XGBoost ranker</a:t>
            </a:r>
          </a:p>
        </p:txBody>
      </p:sp>
      <p:sp>
        <p:nvSpPr>
          <p:cNvPr id="3" name="Rectangle 2"/>
          <p:cNvSpPr/>
          <p:nvPr/>
        </p:nvSpPr>
        <p:spPr>
          <a:xfrm>
            <a:off x="649224" y="1042415"/>
            <a:ext cx="10899648" cy="10972"/>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25296"/>
            <a:ext cx="10835640" cy="365760"/>
          </a:xfrm>
          <a:prstGeom prst="rect">
            <a:avLst/>
          </a:prstGeom>
          <a:noFill/>
        </p:spPr>
        <p:txBody>
          <a:bodyPr wrap="square" lIns="27432" rIns="27432" tIns="13716" bIns="13716" anchor="ctr">
            <a:spAutoFit/>
          </a:bodyPr>
          <a:lstStyle/>
          <a:p>
            <a:pPr algn="l">
              <a:spcBef>
                <a:spcPts val="0"/>
              </a:spcBef>
              <a:spcAft>
                <a:spcPts val="0"/>
              </a:spcAft>
              <a:defRPr sz="1620" b="1">
                <a:solidFill>
                  <a:srgbClr val="263648"/>
                </a:solidFill>
                <a:latin typeface="Arial"/>
              </a:defRPr>
            </a:pPr>
            <a:r>
              <a:t>ISAForge uses boosted decision trees, not a neural network. The ranker learns candidate order from measured whole-program speedups.</a:t>
            </a:r>
          </a:p>
        </p:txBody>
      </p:sp>
      <p:sp>
        <p:nvSpPr>
          <p:cNvPr id="5" name="Rounded Rectangle 4"/>
          <p:cNvSpPr/>
          <p:nvPr/>
        </p:nvSpPr>
        <p:spPr>
          <a:xfrm>
            <a:off x="685800" y="1847088"/>
            <a:ext cx="2395728" cy="1517904"/>
          </a:xfrm>
          <a:prstGeom prst="roundRect">
            <a:avLst/>
          </a:prstGeom>
          <a:solidFill>
            <a:srgbClr val="F3F7FA"/>
          </a:solidFill>
          <a:ln w="12700">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 y="1938528"/>
            <a:ext cx="2139696" cy="237744"/>
          </a:xfrm>
          <a:prstGeom prst="rect">
            <a:avLst/>
          </a:prstGeom>
          <a:noFill/>
        </p:spPr>
        <p:txBody>
          <a:bodyPr wrap="square" lIns="27432" rIns="27432" tIns="13716" bIns="13716" anchor="ctr">
            <a:spAutoFit/>
          </a:bodyPr>
          <a:lstStyle/>
          <a:p>
            <a:pPr algn="l">
              <a:spcBef>
                <a:spcPts val="0"/>
              </a:spcBef>
              <a:spcAft>
                <a:spcPts val="0"/>
              </a:spcAft>
              <a:defRPr sz="1120" b="1">
                <a:solidFill>
                  <a:srgbClr val="2878A8"/>
                </a:solidFill>
                <a:latin typeface="Arial"/>
              </a:defRPr>
            </a:pPr>
            <a:r>
              <a:t>TRAINING DATA</a:t>
            </a:r>
          </a:p>
        </p:txBody>
      </p:sp>
      <p:sp>
        <p:nvSpPr>
          <p:cNvPr id="7" name="TextBox 6"/>
          <p:cNvSpPr txBox="1"/>
          <p:nvPr/>
        </p:nvSpPr>
        <p:spPr>
          <a:xfrm>
            <a:off x="813816" y="2203704"/>
            <a:ext cx="2139696" cy="1088136"/>
          </a:xfrm>
          <a:prstGeom prst="rect">
            <a:avLst/>
          </a:prstGeom>
          <a:noFill/>
        </p:spPr>
        <p:txBody>
          <a:bodyPr wrap="square" lIns="27432" rIns="27432" tIns="13716" bIns="13716" anchor="t">
            <a:spAutoFit/>
          </a:bodyPr>
          <a:lstStyle/>
          <a:p>
            <a:pPr algn="l">
              <a:spcBef>
                <a:spcPts val="0"/>
              </a:spcBef>
              <a:spcAft>
                <a:spcPts val="0"/>
              </a:spcAft>
              <a:defRPr sz="1220" b="0">
                <a:solidFill>
                  <a:srgbClr val="263648"/>
                </a:solidFill>
                <a:latin typeface="Arial"/>
              </a:defRPr>
            </a:pPr>
            <a:r>
              <a:t>122 verified labels · 14 groups</a:t>
            </a:r>
            <a:br/>
            <a:r>
              <a:t>35 structural/profile features</a:t>
            </a:r>
            <a:br/>
            <a:r>
              <a:t>Label: baseline ÷ candidate cycles</a:t>
            </a:r>
            <a:br/>
            <a:r>
              <a:t>Grouped by workload context</a:t>
            </a:r>
          </a:p>
        </p:txBody>
      </p:sp>
      <p:sp>
        <p:nvSpPr>
          <p:cNvPr id="8" name="Rounded Rectangle 7"/>
          <p:cNvSpPr/>
          <p:nvPr/>
        </p:nvSpPr>
        <p:spPr>
          <a:xfrm>
            <a:off x="3502152" y="1847088"/>
            <a:ext cx="2724912" cy="1517904"/>
          </a:xfrm>
          <a:prstGeom prst="roundRect">
            <a:avLst/>
          </a:prstGeom>
          <a:solidFill>
            <a:srgbClr val="F3F7FA"/>
          </a:solidFill>
          <a:ln w="12700">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0168" y="1938528"/>
            <a:ext cx="2468880" cy="237744"/>
          </a:xfrm>
          <a:prstGeom prst="rect">
            <a:avLst/>
          </a:prstGeom>
          <a:noFill/>
        </p:spPr>
        <p:txBody>
          <a:bodyPr wrap="square" lIns="27432" rIns="27432" tIns="13716" bIns="13716" anchor="ctr">
            <a:spAutoFit/>
          </a:bodyPr>
          <a:lstStyle/>
          <a:p>
            <a:pPr algn="l">
              <a:spcBef>
                <a:spcPts val="0"/>
              </a:spcBef>
              <a:spcAft>
                <a:spcPts val="0"/>
              </a:spcAft>
              <a:defRPr sz="1120" b="1">
                <a:solidFill>
                  <a:srgbClr val="2878A8"/>
                </a:solidFill>
                <a:latin typeface="Arial"/>
              </a:defRPr>
            </a:pPr>
            <a:r>
              <a:t>PAIRWISE XGBOOST RANKER</a:t>
            </a:r>
          </a:p>
        </p:txBody>
      </p:sp>
      <p:sp>
        <p:nvSpPr>
          <p:cNvPr id="10" name="TextBox 9"/>
          <p:cNvSpPr txBox="1"/>
          <p:nvPr/>
        </p:nvSpPr>
        <p:spPr>
          <a:xfrm>
            <a:off x="3630168" y="2203704"/>
            <a:ext cx="2468880" cy="1088136"/>
          </a:xfrm>
          <a:prstGeom prst="rect">
            <a:avLst/>
          </a:prstGeom>
          <a:noFill/>
        </p:spPr>
        <p:txBody>
          <a:bodyPr wrap="square" lIns="27432" rIns="27432" tIns="13716" bIns="13716" anchor="t">
            <a:spAutoFit/>
          </a:bodyPr>
          <a:lstStyle/>
          <a:p>
            <a:pPr algn="l">
              <a:spcBef>
                <a:spcPts val="0"/>
              </a:spcBef>
              <a:spcAft>
                <a:spcPts val="0"/>
              </a:spcAft>
              <a:defRPr sz="1300" b="0">
                <a:solidFill>
                  <a:srgbClr val="263648"/>
                </a:solidFill>
                <a:latin typeface="Arial"/>
              </a:defRPr>
            </a:pPr>
            <a:r>
              <a:t>80 boosted trees · depth 2</a:t>
            </a:r>
            <a:br/>
            <a:r>
              <a:t>rank:pairwise objective</a:t>
            </a:r>
            <a:br/>
            <a:r>
              <a:t>Learns which candidate is faster within each workload group</a:t>
            </a:r>
          </a:p>
        </p:txBody>
      </p:sp>
      <p:sp>
        <p:nvSpPr>
          <p:cNvPr id="11" name="Rounded Rectangle 10"/>
          <p:cNvSpPr/>
          <p:nvPr/>
        </p:nvSpPr>
        <p:spPr>
          <a:xfrm>
            <a:off x="6656832" y="1847088"/>
            <a:ext cx="1965960" cy="1517904"/>
          </a:xfrm>
          <a:prstGeom prst="roundRect">
            <a:avLst/>
          </a:prstGeom>
          <a:solidFill>
            <a:srgbClr val="F3F7FA"/>
          </a:solidFill>
          <a:ln w="12700">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84848" y="1938528"/>
            <a:ext cx="1709928" cy="237744"/>
          </a:xfrm>
          <a:prstGeom prst="rect">
            <a:avLst/>
          </a:prstGeom>
          <a:noFill/>
        </p:spPr>
        <p:txBody>
          <a:bodyPr wrap="square" lIns="27432" rIns="27432" tIns="13716" bIns="13716" anchor="ctr">
            <a:spAutoFit/>
          </a:bodyPr>
          <a:lstStyle/>
          <a:p>
            <a:pPr algn="l">
              <a:spcBef>
                <a:spcPts val="0"/>
              </a:spcBef>
              <a:spcAft>
                <a:spcPts val="0"/>
              </a:spcAft>
              <a:defRPr sz="1120" b="1">
                <a:solidFill>
                  <a:srgbClr val="2878A8"/>
                </a:solidFill>
                <a:latin typeface="Arial"/>
              </a:defRPr>
            </a:pPr>
            <a:r>
              <a:t>RANK OUTPUT</a:t>
            </a:r>
          </a:p>
        </p:txBody>
      </p:sp>
      <p:sp>
        <p:nvSpPr>
          <p:cNvPr id="13" name="TextBox 12"/>
          <p:cNvSpPr txBox="1"/>
          <p:nvPr/>
        </p:nvSpPr>
        <p:spPr>
          <a:xfrm>
            <a:off x="6784848" y="2203704"/>
            <a:ext cx="1709928" cy="1088136"/>
          </a:xfrm>
          <a:prstGeom prst="rect">
            <a:avLst/>
          </a:prstGeom>
          <a:noFill/>
        </p:spPr>
        <p:txBody>
          <a:bodyPr wrap="square" lIns="27432" rIns="27432" tIns="13716" bIns="13716" anchor="t">
            <a:spAutoFit/>
          </a:bodyPr>
          <a:lstStyle/>
          <a:p>
            <a:pPr algn="l">
              <a:spcBef>
                <a:spcPts val="0"/>
              </a:spcBef>
              <a:spcAft>
                <a:spcPts val="0"/>
              </a:spcAft>
              <a:defRPr sz="1200" b="0">
                <a:solidFill>
                  <a:srgbClr val="263648"/>
                </a:solidFill>
                <a:latin typeface="Arial"/>
              </a:defRPr>
            </a:pPr>
            <a:r>
              <a:t>rank_score</a:t>
            </a:r>
            <a:br/>
            <a:r>
              <a:t>Orders candidates</a:t>
            </a:r>
            <a:br/>
            <a:r>
              <a:t>Not a speedup or confidence estimate</a:t>
            </a:r>
          </a:p>
        </p:txBody>
      </p:sp>
      <p:sp>
        <p:nvSpPr>
          <p:cNvPr id="14" name="Rounded Rectangle 13"/>
          <p:cNvSpPr/>
          <p:nvPr/>
        </p:nvSpPr>
        <p:spPr>
          <a:xfrm>
            <a:off x="8988552" y="1847088"/>
            <a:ext cx="2514600" cy="1517904"/>
          </a:xfrm>
          <a:prstGeom prst="roundRect">
            <a:avLst/>
          </a:prstGeom>
          <a:solidFill>
            <a:srgbClr val="F3F7FA"/>
          </a:solidFill>
          <a:ln w="12700">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16568" y="1938528"/>
            <a:ext cx="2258568" cy="237744"/>
          </a:xfrm>
          <a:prstGeom prst="rect">
            <a:avLst/>
          </a:prstGeom>
          <a:noFill/>
        </p:spPr>
        <p:txBody>
          <a:bodyPr wrap="square" lIns="27432" rIns="27432" tIns="13716" bIns="13716" anchor="ctr">
            <a:spAutoFit/>
          </a:bodyPr>
          <a:lstStyle/>
          <a:p>
            <a:pPr algn="l">
              <a:spcBef>
                <a:spcPts val="0"/>
              </a:spcBef>
              <a:spcAft>
                <a:spcPts val="0"/>
              </a:spcAft>
              <a:defRPr sz="1120" b="1">
                <a:solidFill>
                  <a:srgbClr val="2878A8"/>
                </a:solidFill>
                <a:latin typeface="Arial"/>
              </a:defRPr>
            </a:pPr>
            <a:r>
              <a:t>SELECTION POLICY</a:t>
            </a:r>
          </a:p>
        </p:txBody>
      </p:sp>
      <p:sp>
        <p:nvSpPr>
          <p:cNvPr id="16" name="TextBox 15"/>
          <p:cNvSpPr txBox="1"/>
          <p:nvPr/>
        </p:nvSpPr>
        <p:spPr>
          <a:xfrm>
            <a:off x="9116568" y="2203704"/>
            <a:ext cx="2258568" cy="1088136"/>
          </a:xfrm>
          <a:prstGeom prst="rect">
            <a:avLst/>
          </a:prstGeom>
          <a:noFill/>
        </p:spPr>
        <p:txBody>
          <a:bodyPr wrap="square" lIns="27432" rIns="27432" tIns="13716" bIns="13716" anchor="t">
            <a:spAutoFit/>
          </a:bodyPr>
          <a:lstStyle/>
          <a:p>
            <a:pPr algn="l">
              <a:spcBef>
                <a:spcPts val="0"/>
              </a:spcBef>
              <a:spcAft>
                <a:spcPts val="0"/>
              </a:spcAft>
              <a:defRPr sz="1200" b="0">
                <a:solidFill>
                  <a:srgbClr val="263648"/>
                </a:solidFill>
                <a:latin typeface="Arial"/>
              </a:defRPr>
            </a:pPr>
            <a:r>
              <a:t>Use scores and paid results to choose the next candidate. Respect the query budget and hardware limits. Policy: heuristic or bounded LLM.</a:t>
            </a:r>
          </a:p>
        </p:txBody>
      </p:sp>
      <p:sp>
        <p:nvSpPr>
          <p:cNvPr id="17" name="Right Arrow 16"/>
          <p:cNvSpPr/>
          <p:nvPr/>
        </p:nvSpPr>
        <p:spPr>
          <a:xfrm>
            <a:off x="3182112" y="2514600"/>
            <a:ext cx="210312" cy="164592"/>
          </a:xfrm>
          <a:prstGeom prst="rightArrow">
            <a:avLst/>
          </a:prstGeom>
          <a:solidFill>
            <a:srgbClr val="28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6318504" y="2514600"/>
            <a:ext cx="210312" cy="164592"/>
          </a:xfrm>
          <a:prstGeom prst="rightArrow">
            <a:avLst/>
          </a:prstGeom>
          <a:solidFill>
            <a:srgbClr val="28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8732520" y="2514600"/>
            <a:ext cx="182880" cy="164592"/>
          </a:xfrm>
          <a:prstGeom prst="rightArrow">
            <a:avLst/>
          </a:prstGeom>
          <a:solidFill>
            <a:srgbClr val="28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3602736"/>
            <a:ext cx="10817352" cy="658368"/>
          </a:xfrm>
          <a:prstGeom prst="roundRect">
            <a:avLst/>
          </a:prstGeom>
          <a:solidFill>
            <a:srgbClr val="FFFFFF"/>
          </a:solidFill>
          <a:ln w="12700">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 y="3712463"/>
            <a:ext cx="2075688" cy="402336"/>
          </a:xfrm>
          <a:prstGeom prst="rect">
            <a:avLst/>
          </a:prstGeom>
          <a:noFill/>
        </p:spPr>
        <p:txBody>
          <a:bodyPr wrap="square" lIns="27432" rIns="27432" tIns="13716" bIns="13716" anchor="ctr">
            <a:spAutoFit/>
          </a:bodyPr>
          <a:lstStyle/>
          <a:p>
            <a:pPr algn="l">
              <a:spcBef>
                <a:spcPts val="0"/>
              </a:spcBef>
              <a:spcAft>
                <a:spcPts val="0"/>
              </a:spcAft>
              <a:defRPr sz="1080" b="1">
                <a:solidFill>
                  <a:srgbClr val="2878A8"/>
                </a:solidFill>
                <a:latin typeface="Arial"/>
              </a:defRPr>
            </a:pPr>
            <a:r>
              <a:t>SEPARATE SPEEDUP MODEL</a:t>
            </a:r>
          </a:p>
        </p:txBody>
      </p:sp>
      <p:sp>
        <p:nvSpPr>
          <p:cNvPr id="22" name="TextBox 21"/>
          <p:cNvSpPr txBox="1"/>
          <p:nvPr/>
        </p:nvSpPr>
        <p:spPr>
          <a:xfrm>
            <a:off x="3090672" y="3694176"/>
            <a:ext cx="8174736" cy="438912"/>
          </a:xfrm>
          <a:prstGeom prst="rect">
            <a:avLst/>
          </a:prstGeom>
          <a:noFill/>
        </p:spPr>
        <p:txBody>
          <a:bodyPr wrap="square" lIns="27432" rIns="27432" tIns="13716" bIns="13716" anchor="ctr">
            <a:spAutoFit/>
          </a:bodyPr>
          <a:lstStyle/>
          <a:p>
            <a:pPr algn="l">
              <a:spcBef>
                <a:spcPts val="0"/>
              </a:spcBef>
              <a:spcAft>
                <a:spcPts val="0"/>
              </a:spcAft>
              <a:defRPr sz="1230" b="0">
                <a:solidFill>
                  <a:srgbClr val="263648"/>
                </a:solidFill>
                <a:latin typeface="Arial"/>
              </a:defRPr>
            </a:pPr>
            <a:r>
              <a:t>20 bootstrapped XGBoost regressors predict the speedup ratio; their spread is model disagreement, not calibrated uncertainty.</a:t>
            </a:r>
          </a:p>
        </p:txBody>
      </p:sp>
      <p:sp>
        <p:nvSpPr>
          <p:cNvPr id="23" name="TextBox 22"/>
          <p:cNvSpPr txBox="1"/>
          <p:nvPr/>
        </p:nvSpPr>
        <p:spPr>
          <a:xfrm>
            <a:off x="685800" y="4462272"/>
            <a:ext cx="10789920" cy="246888"/>
          </a:xfrm>
          <a:prstGeom prst="rect">
            <a:avLst/>
          </a:prstGeom>
          <a:noFill/>
        </p:spPr>
        <p:txBody>
          <a:bodyPr wrap="square" lIns="27432" rIns="27432" tIns="13716" bIns="13716" anchor="ctr">
            <a:spAutoFit/>
          </a:bodyPr>
          <a:lstStyle/>
          <a:p>
            <a:pPr algn="l">
              <a:spcBef>
                <a:spcPts val="0"/>
              </a:spcBef>
              <a:spcAft>
                <a:spcPts val="0"/>
              </a:spcAft>
              <a:defRPr sz="1200" b="1">
                <a:solidFill>
                  <a:srgbClr val="2878A8"/>
                </a:solidFill>
                <a:latin typeface="Arial"/>
              </a:defRPr>
            </a:pPr>
            <a:r>
              <a:t>A paid query produces new ground truth</a:t>
            </a:r>
          </a:p>
        </p:txBody>
      </p:sp>
      <p:sp>
        <p:nvSpPr>
          <p:cNvPr id="24" name="Rounded Rectangle 23"/>
          <p:cNvSpPr/>
          <p:nvPr/>
        </p:nvSpPr>
        <p:spPr>
          <a:xfrm>
            <a:off x="685800" y="4773168"/>
            <a:ext cx="2761488" cy="832104"/>
          </a:xfrm>
          <a:prstGeom prst="roundRect">
            <a:avLst/>
          </a:prstGeom>
          <a:solidFill>
            <a:srgbClr val="F3F7FA"/>
          </a:solidFill>
          <a:ln w="12700">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 y="4864607"/>
            <a:ext cx="2505456" cy="237744"/>
          </a:xfrm>
          <a:prstGeom prst="rect">
            <a:avLst/>
          </a:prstGeom>
          <a:noFill/>
        </p:spPr>
        <p:txBody>
          <a:bodyPr wrap="square" lIns="27432" rIns="27432" tIns="13716" bIns="13716" anchor="ctr">
            <a:spAutoFit/>
          </a:bodyPr>
          <a:lstStyle/>
          <a:p>
            <a:pPr algn="l">
              <a:spcBef>
                <a:spcPts val="0"/>
              </a:spcBef>
              <a:spcAft>
                <a:spcPts val="0"/>
              </a:spcAft>
              <a:defRPr sz="1120" b="1">
                <a:solidFill>
                  <a:srgbClr val="2878A8"/>
                </a:solidFill>
                <a:latin typeface="Arial"/>
              </a:defRPr>
            </a:pPr>
            <a:r>
              <a:t>ONE CANDIDATE</a:t>
            </a:r>
          </a:p>
        </p:txBody>
      </p:sp>
      <p:sp>
        <p:nvSpPr>
          <p:cNvPr id="26" name="TextBox 25"/>
          <p:cNvSpPr txBox="1"/>
          <p:nvPr/>
        </p:nvSpPr>
        <p:spPr>
          <a:xfrm>
            <a:off x="813816" y="5129783"/>
            <a:ext cx="2505456" cy="402336"/>
          </a:xfrm>
          <a:prstGeom prst="rect">
            <a:avLst/>
          </a:prstGeom>
          <a:noFill/>
        </p:spPr>
        <p:txBody>
          <a:bodyPr wrap="square" lIns="27432" rIns="27432" tIns="13716" bIns="13716" anchor="t">
            <a:spAutoFit/>
          </a:bodyPr>
          <a:lstStyle/>
          <a:p>
            <a:pPr algn="l">
              <a:spcBef>
                <a:spcPts val="0"/>
              </a:spcBef>
              <a:spcAft>
                <a:spcPts val="0"/>
              </a:spcAft>
              <a:defRPr sz="1240" b="0">
                <a:solidFill>
                  <a:srgbClr val="263648"/>
                </a:solidFill>
                <a:latin typeface="Arial"/>
              </a:defRPr>
            </a:pPr>
            <a:r>
              <a:t>Spend one query from the fixed budget.</a:t>
            </a:r>
          </a:p>
        </p:txBody>
      </p:sp>
      <p:sp>
        <p:nvSpPr>
          <p:cNvPr id="27" name="Rounded Rectangle 26"/>
          <p:cNvSpPr/>
          <p:nvPr/>
        </p:nvSpPr>
        <p:spPr>
          <a:xfrm>
            <a:off x="3730752" y="4773168"/>
            <a:ext cx="3127248" cy="832104"/>
          </a:xfrm>
          <a:prstGeom prst="roundRect">
            <a:avLst/>
          </a:prstGeom>
          <a:solidFill>
            <a:srgbClr val="F3F7FA"/>
          </a:solidFill>
          <a:ln w="12700">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58768" y="4864607"/>
            <a:ext cx="2871215" cy="237744"/>
          </a:xfrm>
          <a:prstGeom prst="rect">
            <a:avLst/>
          </a:prstGeom>
          <a:noFill/>
        </p:spPr>
        <p:txBody>
          <a:bodyPr wrap="square" lIns="27432" rIns="27432" tIns="13716" bIns="13716" anchor="ctr">
            <a:spAutoFit/>
          </a:bodyPr>
          <a:lstStyle/>
          <a:p>
            <a:pPr algn="l">
              <a:spcBef>
                <a:spcPts val="0"/>
              </a:spcBef>
              <a:spcAft>
                <a:spcPts val="0"/>
              </a:spcAft>
              <a:defRPr sz="1120" b="1">
                <a:solidFill>
                  <a:srgbClr val="2878A8"/>
                </a:solidFill>
                <a:latin typeface="Arial"/>
              </a:defRPr>
            </a:pPr>
            <a:r>
              <a:t>PICORV32 EVALUATION</a:t>
            </a:r>
          </a:p>
        </p:txBody>
      </p:sp>
      <p:sp>
        <p:nvSpPr>
          <p:cNvPr id="29" name="TextBox 28"/>
          <p:cNvSpPr txBox="1"/>
          <p:nvPr/>
        </p:nvSpPr>
        <p:spPr>
          <a:xfrm>
            <a:off x="3858768" y="5129783"/>
            <a:ext cx="2871215" cy="402336"/>
          </a:xfrm>
          <a:prstGeom prst="rect">
            <a:avLst/>
          </a:prstGeom>
          <a:noFill/>
        </p:spPr>
        <p:txBody>
          <a:bodyPr wrap="square" lIns="27432" rIns="27432" tIns="13716" bIns="13716" anchor="t">
            <a:spAutoFit/>
          </a:bodyPr>
          <a:lstStyle/>
          <a:p>
            <a:pPr algn="l">
              <a:spcBef>
                <a:spcPts val="0"/>
              </a:spcBef>
              <a:spcAft>
                <a:spcPts val="0"/>
              </a:spcAft>
              <a:defRPr sz="1240" b="0">
                <a:solidFill>
                  <a:srgbClr val="263648"/>
                </a:solidFill>
                <a:latin typeface="Arial"/>
              </a:defRPr>
            </a:pPr>
            <a:r>
              <a:t>Lower · execute · verify · synthesize and route.</a:t>
            </a:r>
          </a:p>
        </p:txBody>
      </p:sp>
      <p:sp>
        <p:nvSpPr>
          <p:cNvPr id="30" name="Rounded Rectangle 29"/>
          <p:cNvSpPr/>
          <p:nvPr/>
        </p:nvSpPr>
        <p:spPr>
          <a:xfrm>
            <a:off x="7205472" y="4773168"/>
            <a:ext cx="4297680" cy="832104"/>
          </a:xfrm>
          <a:prstGeom prst="roundRect">
            <a:avLst/>
          </a:prstGeom>
          <a:solidFill>
            <a:srgbClr val="F3F7FA"/>
          </a:solidFill>
          <a:ln w="12700">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33488" y="4864607"/>
            <a:ext cx="4041648" cy="237744"/>
          </a:xfrm>
          <a:prstGeom prst="rect">
            <a:avLst/>
          </a:prstGeom>
          <a:noFill/>
        </p:spPr>
        <p:txBody>
          <a:bodyPr wrap="square" lIns="27432" rIns="27432" tIns="13716" bIns="13716" anchor="ctr">
            <a:spAutoFit/>
          </a:bodyPr>
          <a:lstStyle/>
          <a:p>
            <a:pPr algn="l">
              <a:spcBef>
                <a:spcPts val="0"/>
              </a:spcBef>
              <a:spcAft>
                <a:spcPts val="0"/>
              </a:spcAft>
              <a:defRPr sz="1120" b="1">
                <a:solidFill>
                  <a:srgbClr val="2878A8"/>
                </a:solidFill>
                <a:latin typeface="Arial"/>
              </a:defRPr>
            </a:pPr>
            <a:r>
              <a:t>MEASURED OUTCOME</a:t>
            </a:r>
          </a:p>
        </p:txBody>
      </p:sp>
      <p:sp>
        <p:nvSpPr>
          <p:cNvPr id="32" name="TextBox 31"/>
          <p:cNvSpPr txBox="1"/>
          <p:nvPr/>
        </p:nvSpPr>
        <p:spPr>
          <a:xfrm>
            <a:off x="7333488" y="5129783"/>
            <a:ext cx="4041648" cy="402336"/>
          </a:xfrm>
          <a:prstGeom prst="rect">
            <a:avLst/>
          </a:prstGeom>
          <a:noFill/>
        </p:spPr>
        <p:txBody>
          <a:bodyPr wrap="square" lIns="27432" rIns="27432" tIns="13716" bIns="13716" anchor="t">
            <a:spAutoFit/>
          </a:bodyPr>
          <a:lstStyle/>
          <a:p>
            <a:pPr algn="l">
              <a:spcBef>
                <a:spcPts val="0"/>
              </a:spcBef>
              <a:spcAft>
                <a:spcPts val="0"/>
              </a:spcAft>
              <a:defRPr sz="1240" b="0">
                <a:solidFill>
                  <a:srgbClr val="263648"/>
                </a:solidFill>
                <a:latin typeface="Arial"/>
              </a:defRPr>
            </a:pPr>
            <a:r>
              <a:t>Whole-program cycles and speedup · added LUT4 · routed Fmax · correctness.</a:t>
            </a:r>
          </a:p>
        </p:txBody>
      </p:sp>
      <p:sp>
        <p:nvSpPr>
          <p:cNvPr id="33" name="Right Arrow 32"/>
          <p:cNvSpPr/>
          <p:nvPr/>
        </p:nvSpPr>
        <p:spPr>
          <a:xfrm>
            <a:off x="3456432" y="5102352"/>
            <a:ext cx="201168" cy="164592"/>
          </a:xfrm>
          <a:prstGeom prst="rightArrow">
            <a:avLst/>
          </a:prstGeom>
          <a:solidFill>
            <a:srgbClr val="28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ight Arrow 33"/>
          <p:cNvSpPr/>
          <p:nvPr/>
        </p:nvSpPr>
        <p:spPr>
          <a:xfrm>
            <a:off x="6903720" y="5102352"/>
            <a:ext cx="201168" cy="164592"/>
          </a:xfrm>
          <a:prstGeom prst="rightArrow">
            <a:avLst/>
          </a:prstGeom>
          <a:solidFill>
            <a:srgbClr val="287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760720"/>
            <a:ext cx="10835640" cy="438912"/>
          </a:xfrm>
          <a:prstGeom prst="rect">
            <a:avLst/>
          </a:prstGeom>
          <a:noFill/>
        </p:spPr>
        <p:txBody>
          <a:bodyPr wrap="square" lIns="27432" rIns="27432" tIns="13716" bIns="13716" anchor="ctr">
            <a:spAutoFit/>
          </a:bodyPr>
          <a:lstStyle/>
          <a:p>
            <a:pPr algn="l">
              <a:spcBef>
                <a:spcPts val="0"/>
              </a:spcBef>
              <a:spcAft>
                <a:spcPts val="0"/>
              </a:spcAft>
              <a:defRPr sz="1080" b="0">
                <a:solidFill>
                  <a:srgbClr val="607286"/>
                </a:solidFill>
                <a:latin typeface="Arial"/>
              </a:defRPr>
            </a:pPr>
            <a:r>
              <a:t>The rank score does not predict area or timing. Final feasibility uses measured hardware results; paid outcomes update the live history, while the frozen model is not retrained mid-search.</a:t>
            </a:r>
          </a:p>
        </p:txBody>
      </p:sp>
      <p:sp>
        <p:nvSpPr>
          <p:cNvPr id="36" name="TextBox 35"/>
          <p:cNvSpPr txBox="1"/>
          <p:nvPr/>
        </p:nvSpPr>
        <p:spPr>
          <a:xfrm>
            <a:off x="649224" y="6537960"/>
            <a:ext cx="10899648" cy="173736"/>
          </a:xfrm>
          <a:prstGeom prst="rect">
            <a:avLst/>
          </a:prstGeom>
          <a:noFill/>
        </p:spPr>
        <p:txBody>
          <a:bodyPr wrap="square" lIns="27432" rIns="27432" tIns="13716" bIns="13716" anchor="ctr">
            <a:spAutoFit/>
          </a:bodyPr>
          <a:lstStyle/>
          <a:p>
            <a:r>
              <a:rPr sz="900">
                <a:solidFill>
                  <a:srgbClr val="607286"/>
                </a:solidFill>
                <a:latin typeface="Arial"/>
              </a:rPr>
              <a:t>ISAForge  /  ECE 4803                                    4</a:t>
            </a:r>
          </a:p>
        </p:txBody>
      </p:sp>
    </p:spTree>
  </p:cSld>
  <p:clrMapOvr>
    <a:masterClrMapping/>
  </p:clrMapOvr>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5D270DC-57F8-48A9-8803-F1F778B9C66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What drives the XGBoost ranker</a:t>
            </a:r>
          </a:p>
        </p:txBody>
      </p:sp>
      <p:sp>
        <p:nvSpPr>
          <p:cNvPr id="2" name="">
            <a:extLst xmlns:a="http://schemas.openxmlformats.org/drawingml/2006/main">
              <a:ext uri="{FF2B5EF4-FFF2-40B4-BE49-F238E27FC236}">
                <a16:creationId xmlns:a16="http://schemas.microsoft.com/office/drawing/2014/main" id="{6CCA11B7-68BD-4419-843A-AD13686C0A1A}"/>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9C6D9F8-E3CC-4E80-BBDD-A06822427D5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43D13896-0C3F-4A26-A7FD-4CBCD83F84B5}"/>
              </a:ext>
            </a:extLst>
          </p:cNvPr>
          <p:cNvGraphicFramePr/>
          <p:nvPr/>
        </p:nvGraphicFramePr>
        <p:xfrm>
          <a:off xmlns:a="http://schemas.openxmlformats.org/drawingml/2006/main" x="457200" y="1381125"/>
          <a:ext xmlns:a="http://schemas.openxmlformats.org/drawingml/2006/main" cx="6762750" cy="4333875"/>
        </p:xfrm>
        <a:graphic xmlns:a="http://schemas.openxmlformats.org/drawingml/2006/main">
          <a:graphicData uri="http://schemas.openxmlformats.org/drawingml/2006/chart">
            <c:chart xmlns:r="http://schemas.openxmlformats.org/officeDocument/2006/relationships" xmlns:c="http://schemas.openxmlformats.org/drawingml/2006/chart" r:id="Rcdcae0c359ee465b"/>
          </a:graphicData>
        </a:graphic>
      </p:graphicFrame>
      <p:sp>
        <p:nvSpPr>
          <p:cNvPr id="5" name="">
            <a:extLst xmlns:a="http://schemas.openxmlformats.org/drawingml/2006/main">
              <a:ext uri="{FF2B5EF4-FFF2-40B4-BE49-F238E27FC236}">
                <a16:creationId xmlns:a16="http://schemas.microsoft.com/office/drawing/2014/main" id="{3ADA7A25-0765-4F67-95B9-C87341CD255F}"/>
              </a:ext>
            </a:extLst>
          </p:cNvPr>
          <p:cNvSpPr>
            <a:spLocks xmlns:a="http://schemas.openxmlformats.org/drawingml/2006/main" noGrp="1"/>
          </p:cNvSpPr>
          <p:nvPr/>
        </p:nvSpPr>
        <p:spPr>
          <a:xfrm xmlns:a="http://schemas.openxmlformats.org/drawingml/2006/main">
            <a:off x="7648575" y="1790700"/>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350" b="1">
                <a:solidFill>
                  <a:srgbClr val="2878A8"/>
                </a:solidFill>
                <a:latin typeface="Arial"/>
                <a:ea typeface="Arial"/>
                <a:cs typeface="Arial"/>
              </a:defRPr>
            </a:defPPr>
            <a:lvl1pPr>
              <a:defRPr sz="4350" b="1">
                <a:solidFill>
                  <a:srgbClr val="2878A8"/>
                </a:solidFill>
                <a:latin typeface="Arial"/>
                <a:ea typeface="Arial"/>
                <a:cs typeface="Arial"/>
              </a:defRPr>
            </a:lvl1pPr>
            <a:lvl2pPr>
              <a:defRPr sz="4350" b="1">
                <a:solidFill>
                  <a:srgbClr val="2878A8"/>
                </a:solidFill>
                <a:latin typeface="Arial"/>
                <a:ea typeface="Arial"/>
                <a:cs typeface="Arial"/>
              </a:defRPr>
            </a:lvl2pPr>
            <a:lvl3pPr>
              <a:defRPr sz="4350" b="1">
                <a:solidFill>
                  <a:srgbClr val="2878A8"/>
                </a:solidFill>
                <a:latin typeface="Arial"/>
                <a:ea typeface="Arial"/>
                <a:cs typeface="Arial"/>
              </a:defRPr>
            </a:lvl3pPr>
            <a:lvl4pPr>
              <a:defRPr sz="4350" b="1">
                <a:solidFill>
                  <a:srgbClr val="2878A8"/>
                </a:solidFill>
                <a:latin typeface="Arial"/>
                <a:ea typeface="Arial"/>
                <a:cs typeface="Arial"/>
              </a:defRPr>
            </a:lvl4pPr>
            <a:lvl5pPr>
              <a:defRPr sz="4350" b="1">
                <a:solidFill>
                  <a:srgbClr val="2878A8"/>
                </a:solidFill>
                <a:latin typeface="Arial"/>
                <a:ea typeface="Arial"/>
                <a:cs typeface="Arial"/>
              </a:defRPr>
            </a:lvl5pPr>
            <a:lvl6pPr>
              <a:defRPr sz="4350" b="1">
                <a:solidFill>
                  <a:srgbClr val="2878A8"/>
                </a:solidFill>
                <a:latin typeface="Arial"/>
                <a:ea typeface="Arial"/>
                <a:cs typeface="Arial"/>
              </a:defRPr>
            </a:lvl6pPr>
            <a:lvl7pPr>
              <a:defRPr sz="4350" b="1">
                <a:solidFill>
                  <a:srgbClr val="2878A8"/>
                </a:solidFill>
                <a:latin typeface="Arial"/>
                <a:ea typeface="Arial"/>
                <a:cs typeface="Arial"/>
              </a:defRPr>
            </a:lvl7pPr>
            <a:lvl8pPr>
              <a:defRPr sz="4350" b="1">
                <a:solidFill>
                  <a:srgbClr val="2878A8"/>
                </a:solidFill>
                <a:latin typeface="Arial"/>
                <a:ea typeface="Arial"/>
                <a:cs typeface="Arial"/>
              </a:defRPr>
            </a:lvl8pPr>
            <a:lvl9pPr>
              <a:defRPr sz="4350" b="1">
                <a:solidFill>
                  <a:srgbClr val="2878A8"/>
                </a:solidFill>
                <a:latin typeface="Arial"/>
                <a:ea typeface="Arial"/>
                <a:cs typeface="Arial"/>
              </a:defRPr>
            </a:lvl9pPr>
          </a:lstStyle>
          <a:p xmlns:a="http://schemas.openxmlformats.org/drawingml/2006/main">
            <a:pPr>
              <a:defRPr sz="4350" b="1">
                <a:solidFill>
                  <a:srgbClr val="2878A8"/>
                </a:solidFill>
                <a:latin typeface="Arial"/>
                <a:ea typeface="Arial"/>
                <a:cs typeface="Arial"/>
              </a:defRPr>
            </a:pPr>
            <a:r>
              <a:rPr sz="4350" b="1">
                <a:solidFill>
                  <a:srgbClr val="2878A8"/>
                </a:solidFill>
                <a:latin typeface="Arial"/>
                <a:ea typeface="Arial"/>
                <a:cs typeface="Arial"/>
              </a:rPr>
              <a:t>66.4%</a:t>
            </a:r>
          </a:p>
        </p:txBody>
      </p:sp>
      <p:sp>
        <p:nvSpPr>
          <p:cNvPr id="6" name="">
            <a:extLst xmlns:a="http://schemas.openxmlformats.org/drawingml/2006/main">
              <a:ext uri="{FF2B5EF4-FFF2-40B4-BE49-F238E27FC236}">
                <a16:creationId xmlns:a16="http://schemas.microsoft.com/office/drawing/2014/main" id="{80C22284-80A9-4654-986E-DCAD6921FF62}"/>
              </a:ext>
            </a:extLst>
          </p:cNvPr>
          <p:cNvSpPr>
            <a:spLocks xmlns:a="http://schemas.openxmlformats.org/drawingml/2006/main" noGrp="1"/>
          </p:cNvSpPr>
          <p:nvPr/>
        </p:nvSpPr>
        <p:spPr>
          <a:xfrm xmlns:a="http://schemas.openxmlformats.org/drawingml/2006/main">
            <a:off x="7667625" y="2457450"/>
            <a:ext cx="3667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a:solidFill>
                  <a:srgbClr val="263648"/>
                </a:solidFill>
                <a:latin typeface="Arial"/>
                <a:ea typeface="Arial"/>
                <a:cs typeface="Arial"/>
              </a:defRPr>
            </a:defPPr>
            <a:lvl1pPr>
              <a:defRPr sz="1575">
                <a:solidFill>
                  <a:srgbClr val="263648"/>
                </a:solidFill>
                <a:latin typeface="Arial"/>
                <a:ea typeface="Arial"/>
                <a:cs typeface="Arial"/>
              </a:defRPr>
            </a:lvl1pPr>
            <a:lvl2pPr>
              <a:defRPr sz="1575">
                <a:solidFill>
                  <a:srgbClr val="263648"/>
                </a:solidFill>
                <a:latin typeface="Arial"/>
                <a:ea typeface="Arial"/>
                <a:cs typeface="Arial"/>
              </a:defRPr>
            </a:lvl2pPr>
            <a:lvl3pPr>
              <a:defRPr sz="1575">
                <a:solidFill>
                  <a:srgbClr val="263648"/>
                </a:solidFill>
                <a:latin typeface="Arial"/>
                <a:ea typeface="Arial"/>
                <a:cs typeface="Arial"/>
              </a:defRPr>
            </a:lvl3pPr>
            <a:lvl4pPr>
              <a:defRPr sz="1575">
                <a:solidFill>
                  <a:srgbClr val="263648"/>
                </a:solidFill>
                <a:latin typeface="Arial"/>
                <a:ea typeface="Arial"/>
                <a:cs typeface="Arial"/>
              </a:defRPr>
            </a:lvl4pPr>
            <a:lvl5pPr>
              <a:defRPr sz="1575">
                <a:solidFill>
                  <a:srgbClr val="263648"/>
                </a:solidFill>
                <a:latin typeface="Arial"/>
                <a:ea typeface="Arial"/>
                <a:cs typeface="Arial"/>
              </a:defRPr>
            </a:lvl5pPr>
            <a:lvl6pPr>
              <a:defRPr sz="1575">
                <a:solidFill>
                  <a:srgbClr val="263648"/>
                </a:solidFill>
                <a:latin typeface="Arial"/>
                <a:ea typeface="Arial"/>
                <a:cs typeface="Arial"/>
              </a:defRPr>
            </a:lvl6pPr>
            <a:lvl7pPr>
              <a:defRPr sz="1575">
                <a:solidFill>
                  <a:srgbClr val="263648"/>
                </a:solidFill>
                <a:latin typeface="Arial"/>
                <a:ea typeface="Arial"/>
                <a:cs typeface="Arial"/>
              </a:defRPr>
            </a:lvl7pPr>
            <a:lvl8pPr>
              <a:defRPr sz="1575">
                <a:solidFill>
                  <a:srgbClr val="263648"/>
                </a:solidFill>
                <a:latin typeface="Arial"/>
                <a:ea typeface="Arial"/>
                <a:cs typeface="Arial"/>
              </a:defRPr>
            </a:lvl8pPr>
            <a:lvl9pPr>
              <a:defRPr sz="1575">
                <a:solidFill>
                  <a:srgbClr val="263648"/>
                </a:solidFill>
                <a:latin typeface="Arial"/>
                <a:ea typeface="Arial"/>
                <a:cs typeface="Arial"/>
              </a:defRPr>
            </a:lvl9pPr>
          </a:lstStyle>
          <a:p xmlns:a="http://schemas.openxmlformats.org/drawingml/2006/main">
            <a:pPr>
              <a:defRPr sz="1575">
                <a:solidFill>
                  <a:srgbClr val="263648"/>
                </a:solidFill>
                <a:latin typeface="Arial"/>
                <a:ea typeface="Arial"/>
                <a:cs typeface="Arial"/>
              </a:defRPr>
            </a:pPr>
            <a:r>
              <a:rPr sz="1575">
                <a:solidFill>
                  <a:srgbClr val="263648"/>
                </a:solidFill>
                <a:latin typeface="Arial"/>
                <a:ea typeface="Arial"/>
                <a:cs typeface="Arial"/>
              </a:rPr>
              <a:t>of total attribution comes from profile-derived opportunity features</a:t>
            </a:r>
          </a:p>
        </p:txBody>
      </p:sp>
      <p:sp>
        <p:nvSpPr>
          <p:cNvPr id="7" name="">
            <a:extLst xmlns:a="http://schemas.openxmlformats.org/drawingml/2006/main">
              <a:ext uri="{FF2B5EF4-FFF2-40B4-BE49-F238E27FC236}">
                <a16:creationId xmlns:a16="http://schemas.microsoft.com/office/drawing/2014/main" id="{785A753A-934D-4BD6-AFFB-55155B127E80}"/>
              </a:ext>
            </a:extLst>
          </p:cNvPr>
          <p:cNvSpPr>
            <a:spLocks xmlns:a="http://schemas.openxmlformats.org/drawingml/2006/main" noGrp="1"/>
          </p:cNvSpPr>
          <p:nvPr/>
        </p:nvSpPr>
        <p:spPr>
          <a:xfrm xmlns:a="http://schemas.openxmlformats.org/drawingml/2006/main">
            <a:off x="7667625" y="3409950"/>
            <a:ext cx="3524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17324D"/>
                </a:solidFill>
                <a:latin typeface="Arial"/>
                <a:ea typeface="Arial"/>
                <a:cs typeface="Arial"/>
              </a:defRPr>
            </a:defPPr>
            <a:lvl1pPr>
              <a:defRPr sz="1500" b="1">
                <a:solidFill>
                  <a:srgbClr val="17324D"/>
                </a:solidFill>
                <a:latin typeface="Arial"/>
                <a:ea typeface="Arial"/>
                <a:cs typeface="Arial"/>
              </a:defRPr>
            </a:lvl1pPr>
            <a:lvl2pPr>
              <a:defRPr sz="1500" b="1">
                <a:solidFill>
                  <a:srgbClr val="17324D"/>
                </a:solidFill>
                <a:latin typeface="Arial"/>
                <a:ea typeface="Arial"/>
                <a:cs typeface="Arial"/>
              </a:defRPr>
            </a:lvl2pPr>
            <a:lvl3pPr>
              <a:defRPr sz="1500" b="1">
                <a:solidFill>
                  <a:srgbClr val="17324D"/>
                </a:solidFill>
                <a:latin typeface="Arial"/>
                <a:ea typeface="Arial"/>
                <a:cs typeface="Arial"/>
              </a:defRPr>
            </a:lvl3pPr>
            <a:lvl4pPr>
              <a:defRPr sz="1500" b="1">
                <a:solidFill>
                  <a:srgbClr val="17324D"/>
                </a:solidFill>
                <a:latin typeface="Arial"/>
                <a:ea typeface="Arial"/>
                <a:cs typeface="Arial"/>
              </a:defRPr>
            </a:lvl4pPr>
            <a:lvl5pPr>
              <a:defRPr sz="1500" b="1">
                <a:solidFill>
                  <a:srgbClr val="17324D"/>
                </a:solidFill>
                <a:latin typeface="Arial"/>
                <a:ea typeface="Arial"/>
                <a:cs typeface="Arial"/>
              </a:defRPr>
            </a:lvl5pPr>
            <a:lvl6pPr>
              <a:defRPr sz="1500" b="1">
                <a:solidFill>
                  <a:srgbClr val="17324D"/>
                </a:solidFill>
                <a:latin typeface="Arial"/>
                <a:ea typeface="Arial"/>
                <a:cs typeface="Arial"/>
              </a:defRPr>
            </a:lvl6pPr>
            <a:lvl7pPr>
              <a:defRPr sz="1500" b="1">
                <a:solidFill>
                  <a:srgbClr val="17324D"/>
                </a:solidFill>
                <a:latin typeface="Arial"/>
                <a:ea typeface="Arial"/>
                <a:cs typeface="Arial"/>
              </a:defRPr>
            </a:lvl7pPr>
            <a:lvl8pPr>
              <a:defRPr sz="1500" b="1">
                <a:solidFill>
                  <a:srgbClr val="17324D"/>
                </a:solidFill>
                <a:latin typeface="Arial"/>
                <a:ea typeface="Arial"/>
                <a:cs typeface="Arial"/>
              </a:defRPr>
            </a:lvl8pPr>
            <a:lvl9pPr>
              <a:defRPr sz="1500" b="1">
                <a:solidFill>
                  <a:srgbClr val="17324D"/>
                </a:solidFill>
                <a:latin typeface="Arial"/>
                <a:ea typeface="Arial"/>
                <a:cs typeface="Arial"/>
              </a:defRPr>
            </a:lvl9pPr>
          </a:lstStyle>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The single largest input is saved_percent at 47.1%.</a:t>
            </a:r>
          </a:p>
        </p:txBody>
      </p:sp>
      <p:sp>
        <p:nvSpPr>
          <p:cNvPr id="8" name="">
            <a:extLst xmlns:a="http://schemas.openxmlformats.org/drawingml/2006/main">
              <a:ext uri="{FF2B5EF4-FFF2-40B4-BE49-F238E27FC236}">
                <a16:creationId xmlns:a16="http://schemas.microsoft.com/office/drawing/2014/main" id="{F2B02725-F5D2-4B2D-9914-C3658084B0A4}"/>
              </a:ext>
            </a:extLst>
          </p:cNvPr>
          <p:cNvSpPr>
            <a:spLocks xmlns:a="http://schemas.openxmlformats.org/drawingml/2006/main" noGrp="1"/>
          </p:cNvSpPr>
          <p:nvPr/>
        </p:nvSpPr>
        <p:spPr>
          <a:xfrm xmlns:a="http://schemas.openxmlformats.org/drawingml/2006/main">
            <a:off x="7667625" y="4095750"/>
            <a:ext cx="3524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a:solidFill>
                  <a:srgbClr val="263648"/>
                </a:solidFill>
                <a:latin typeface="Arial"/>
                <a:ea typeface="Arial"/>
                <a:cs typeface="Arial"/>
              </a:defRPr>
            </a:defPPr>
            <a:lvl1pPr>
              <a:defRPr sz="1350">
                <a:solidFill>
                  <a:srgbClr val="263648"/>
                </a:solidFill>
                <a:latin typeface="Arial"/>
                <a:ea typeface="Arial"/>
                <a:cs typeface="Arial"/>
              </a:defRPr>
            </a:lvl1pPr>
            <a:lvl2pPr>
              <a:defRPr sz="1350">
                <a:solidFill>
                  <a:srgbClr val="263648"/>
                </a:solidFill>
                <a:latin typeface="Arial"/>
                <a:ea typeface="Arial"/>
                <a:cs typeface="Arial"/>
              </a:defRPr>
            </a:lvl2pPr>
            <a:lvl3pPr>
              <a:defRPr sz="1350">
                <a:solidFill>
                  <a:srgbClr val="263648"/>
                </a:solidFill>
                <a:latin typeface="Arial"/>
                <a:ea typeface="Arial"/>
                <a:cs typeface="Arial"/>
              </a:defRPr>
            </a:lvl3pPr>
            <a:lvl4pPr>
              <a:defRPr sz="1350">
                <a:solidFill>
                  <a:srgbClr val="263648"/>
                </a:solidFill>
                <a:latin typeface="Arial"/>
                <a:ea typeface="Arial"/>
                <a:cs typeface="Arial"/>
              </a:defRPr>
            </a:lvl4pPr>
            <a:lvl5pPr>
              <a:defRPr sz="1350">
                <a:solidFill>
                  <a:srgbClr val="263648"/>
                </a:solidFill>
                <a:latin typeface="Arial"/>
                <a:ea typeface="Arial"/>
                <a:cs typeface="Arial"/>
              </a:defRPr>
            </a:lvl5pPr>
            <a:lvl6pPr>
              <a:defRPr sz="1350">
                <a:solidFill>
                  <a:srgbClr val="263648"/>
                </a:solidFill>
                <a:latin typeface="Arial"/>
                <a:ea typeface="Arial"/>
                <a:cs typeface="Arial"/>
              </a:defRPr>
            </a:lvl6pPr>
            <a:lvl7pPr>
              <a:defRPr sz="1350">
                <a:solidFill>
                  <a:srgbClr val="263648"/>
                </a:solidFill>
                <a:latin typeface="Arial"/>
                <a:ea typeface="Arial"/>
                <a:cs typeface="Arial"/>
              </a:defRPr>
            </a:lvl7pPr>
            <a:lvl8pPr>
              <a:defRPr sz="1350">
                <a:solidFill>
                  <a:srgbClr val="263648"/>
                </a:solidFill>
                <a:latin typeface="Arial"/>
                <a:ea typeface="Arial"/>
                <a:cs typeface="Arial"/>
              </a:defRPr>
            </a:lvl8pPr>
            <a:lvl9pPr>
              <a:defRPr sz="1350">
                <a:solidFill>
                  <a:srgbClr val="263648"/>
                </a:solidFill>
                <a:latin typeface="Arial"/>
                <a:ea typeface="Arial"/>
                <a:cs typeface="Arial"/>
              </a:defRPr>
            </a:lvl9pPr>
          </a:lstStyle>
          <a:p xmlns:a="http://schemas.openxmlformats.org/drawingml/2006/main">
            <a:pPr>
              <a:defRPr sz="1350">
                <a:solidFill>
                  <a:srgbClr val="263648"/>
                </a:solidFill>
                <a:latin typeface="Arial"/>
                <a:ea typeface="Arial"/>
                <a:cs typeface="Arial"/>
              </a:defRPr>
            </a:pPr>
            <a:r>
              <a:rPr sz="1350">
                <a:solidFill>
                  <a:srgbClr val="263648"/>
                </a:solidFill>
                <a:latin typeface="Arial"/>
                <a:ea typeface="Arial"/>
                <a:cs typeface="Arial"/>
              </a:rPr>
              <a:t>The model mainly reuses trace savings signals. These are opportunity proxies, not measured speedup or hardware cost.</a:t>
            </a:r>
          </a:p>
        </p:txBody>
      </p:sp>
      <p:sp>
        <p:nvSpPr>
          <p:cNvPr id="9" name="">
            <a:extLst xmlns:a="http://schemas.openxmlformats.org/drawingml/2006/main">
              <a:ext uri="{FF2B5EF4-FFF2-40B4-BE49-F238E27FC236}">
                <a16:creationId xmlns:a16="http://schemas.microsoft.com/office/drawing/2014/main" id="{835E0E89-D428-42D6-80CD-68801D2C66C7}"/>
              </a:ext>
            </a:extLst>
          </p:cNvPr>
          <p:cNvSpPr>
            <a:spLocks xmlns:a="http://schemas.openxmlformats.org/drawingml/2006/main" noGrp="1"/>
          </p:cNvSpPr>
          <p:nvPr/>
        </p:nvSpPr>
        <p:spPr>
          <a:xfrm xmlns:a="http://schemas.openxmlformats.org/drawingml/2006/main">
            <a:off x="685800" y="58483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a:solidFill>
                  <a:srgbClr val="607286"/>
                </a:solidFill>
                <a:latin typeface="Arial"/>
                <a:ea typeface="Arial"/>
                <a:cs typeface="Arial"/>
              </a:defRPr>
            </a:defPPr>
            <a:lvl1pPr>
              <a:defRPr sz="1050">
                <a:solidFill>
                  <a:srgbClr val="607286"/>
                </a:solidFill>
                <a:latin typeface="Arial"/>
                <a:ea typeface="Arial"/>
                <a:cs typeface="Arial"/>
              </a:defRPr>
            </a:lvl1pPr>
            <a:lvl2pPr>
              <a:defRPr sz="1050">
                <a:solidFill>
                  <a:srgbClr val="607286"/>
                </a:solidFill>
                <a:latin typeface="Arial"/>
                <a:ea typeface="Arial"/>
                <a:cs typeface="Arial"/>
              </a:defRPr>
            </a:lvl2pPr>
            <a:lvl3pPr>
              <a:defRPr sz="1050">
                <a:solidFill>
                  <a:srgbClr val="607286"/>
                </a:solidFill>
                <a:latin typeface="Arial"/>
                <a:ea typeface="Arial"/>
                <a:cs typeface="Arial"/>
              </a:defRPr>
            </a:lvl3pPr>
            <a:lvl4pPr>
              <a:defRPr sz="1050">
                <a:solidFill>
                  <a:srgbClr val="607286"/>
                </a:solidFill>
                <a:latin typeface="Arial"/>
                <a:ea typeface="Arial"/>
                <a:cs typeface="Arial"/>
              </a:defRPr>
            </a:lvl4pPr>
            <a:lvl5pPr>
              <a:defRPr sz="1050">
                <a:solidFill>
                  <a:srgbClr val="607286"/>
                </a:solidFill>
                <a:latin typeface="Arial"/>
                <a:ea typeface="Arial"/>
                <a:cs typeface="Arial"/>
              </a:defRPr>
            </a:lvl5pPr>
            <a:lvl6pPr>
              <a:defRPr sz="1050">
                <a:solidFill>
                  <a:srgbClr val="607286"/>
                </a:solidFill>
                <a:latin typeface="Arial"/>
                <a:ea typeface="Arial"/>
                <a:cs typeface="Arial"/>
              </a:defRPr>
            </a:lvl6pPr>
            <a:lvl7pPr>
              <a:defRPr sz="1050">
                <a:solidFill>
                  <a:srgbClr val="607286"/>
                </a:solidFill>
                <a:latin typeface="Arial"/>
                <a:ea typeface="Arial"/>
                <a:cs typeface="Arial"/>
              </a:defRPr>
            </a:lvl7pPr>
            <a:lvl8pPr>
              <a:defRPr sz="1050">
                <a:solidFill>
                  <a:srgbClr val="607286"/>
                </a:solidFill>
                <a:latin typeface="Arial"/>
                <a:ea typeface="Arial"/>
                <a:cs typeface="Arial"/>
              </a:defRPr>
            </a:lvl8pPr>
            <a:lvl9pPr>
              <a:defRPr sz="1050">
                <a:solidFill>
                  <a:srgbClr val="607286"/>
                </a:solidFill>
                <a:latin typeface="Arial"/>
                <a:ea typeface="Arial"/>
                <a:cs typeface="Arial"/>
              </a:defRPr>
            </a:lvl9pPr>
          </a:lstStyle>
          <a:p xmlns:a="http://schemas.openxmlformats.org/drawingml/2006/main">
            <a:pPr>
              <a:defRPr sz="1050">
                <a:solidFill>
                  <a:srgbClr val="607286"/>
                </a:solidFill>
                <a:latin typeface="Arial"/>
                <a:ea typeface="Arial"/>
                <a:cs typeface="Arial"/>
              </a:defRPr>
            </a:pPr>
            <a:r>
              <a:rPr sz="1050">
                <a:solidFill>
                  <a:srgbClr val="607286"/>
                </a:solidFill>
                <a:latin typeface="Arial"/>
                <a:ea typeface="Arial"/>
                <a:cs typeface="Arial"/>
              </a:rPr>
              <a:t>Global values: normalized XGBoost tree contributions, macro-averaged across 14 held-out workloads. The full plot includes workload-bootstrap intervals.</a:t>
            </a:r>
          </a:p>
        </p:txBody>
      </p:sp>
    </p:spTree>
    <p:extLst>
      <p:ext uri="{BB962C8B-B14F-4D97-AF65-F5344CB8AC3E}">
        <p14:creationId xmlns:p14="http://schemas.microsoft.com/office/powerpoint/2010/main" val="15507424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9" name="">
            <a:extLst xmlns:a="http://schemas.openxmlformats.org/drawingml/2006/main">
              <a:ext uri="{FF2B5EF4-FFF2-40B4-BE49-F238E27FC236}">
                <a16:creationId xmlns:a16="http://schemas.microsoft.com/office/drawing/2014/main" id="{30ADD9AC-AD37-497C-BAEB-58CA1CE56E0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A held-out candidate, explained</a:t>
            </a:r>
          </a:p>
        </p:txBody>
      </p:sp>
      <p:sp>
        <p:nvSpPr>
          <p:cNvPr id="2" name="">
            <a:extLst xmlns:a="http://schemas.openxmlformats.org/drawingml/2006/main">
              <a:ext uri="{FF2B5EF4-FFF2-40B4-BE49-F238E27FC236}">
                <a16:creationId xmlns:a16="http://schemas.microsoft.com/office/drawing/2014/main" id="{B182E626-C036-4155-B43A-558CF60B07F3}"/>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D685667-0F5C-468B-9EA5-E05A1F8F2E3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6</a:t>
            </a:r>
          </a:p>
        </p:txBody>
      </p:sp>
      <p:sp>
        <p:nvSpPr>
          <p:cNvPr id="4" name="">
            <a:extLst xmlns:a="http://schemas.openxmlformats.org/drawingml/2006/main">
              <a:ext uri="{FF2B5EF4-FFF2-40B4-BE49-F238E27FC236}">
                <a16:creationId xmlns:a16="http://schemas.microsoft.com/office/drawing/2014/main" id="{684F56BA-FEA8-4BA5-9534-9F5BBCEBD198}"/>
              </a:ext>
            </a:extLst>
          </p:cNvPr>
          <p:cNvSpPr>
            <a:spLocks xmlns:a="http://schemas.openxmlformats.org/drawingml/2006/main" noGrp="1"/>
          </p:cNvSpPr>
          <p:nvPr/>
        </p:nvSpPr>
        <p:spPr>
          <a:xfrm xmlns:a="http://schemas.openxmlformats.org/drawingml/2006/main">
            <a:off x="685800" y="12573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add(in0,andi(in1,15))</a:t>
            </a:r>
          </a:p>
        </p:txBody>
      </p:sp>
      <p:sp>
        <p:nvSpPr>
          <p:cNvPr id="5" name="">
            <a:extLst xmlns:a="http://schemas.openxmlformats.org/drawingml/2006/main">
              <a:ext uri="{FF2B5EF4-FFF2-40B4-BE49-F238E27FC236}">
                <a16:creationId xmlns:a16="http://schemas.microsoft.com/office/drawing/2014/main" id="{244E3967-580B-4DEF-877F-D4B5D8FA503A}"/>
              </a:ext>
            </a:extLst>
          </p:cNvPr>
          <p:cNvSpPr>
            <a:spLocks xmlns:a="http://schemas.openxmlformats.org/drawingml/2006/main" noGrp="1"/>
          </p:cNvSpPr>
          <p:nvPr/>
        </p:nvSpPr>
        <p:spPr>
          <a:xfrm xmlns:a="http://schemas.openxmlformats.org/drawingml/2006/main">
            <a:off x="685800" y="1647825"/>
            <a:ext cx="742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a:solidFill>
                  <a:srgbClr val="607286"/>
                </a:solidFill>
                <a:latin typeface="Arial"/>
                <a:ea typeface="Arial"/>
                <a:cs typeface="Arial"/>
              </a:defRPr>
            </a:defPPr>
            <a:lvl1pPr>
              <a:defRPr sz="1200">
                <a:solidFill>
                  <a:srgbClr val="607286"/>
                </a:solidFill>
                <a:latin typeface="Arial"/>
                <a:ea typeface="Arial"/>
                <a:cs typeface="Arial"/>
              </a:defRPr>
            </a:lvl1pPr>
            <a:lvl2pPr>
              <a:defRPr sz="1200">
                <a:solidFill>
                  <a:srgbClr val="607286"/>
                </a:solidFill>
                <a:latin typeface="Arial"/>
                <a:ea typeface="Arial"/>
                <a:cs typeface="Arial"/>
              </a:defRPr>
            </a:lvl2pPr>
            <a:lvl3pPr>
              <a:defRPr sz="1200">
                <a:solidFill>
                  <a:srgbClr val="607286"/>
                </a:solidFill>
                <a:latin typeface="Arial"/>
                <a:ea typeface="Arial"/>
                <a:cs typeface="Arial"/>
              </a:defRPr>
            </a:lvl3pPr>
            <a:lvl4pPr>
              <a:defRPr sz="1200">
                <a:solidFill>
                  <a:srgbClr val="607286"/>
                </a:solidFill>
                <a:latin typeface="Arial"/>
                <a:ea typeface="Arial"/>
                <a:cs typeface="Arial"/>
              </a:defRPr>
            </a:lvl4pPr>
            <a:lvl5pPr>
              <a:defRPr sz="1200">
                <a:solidFill>
                  <a:srgbClr val="607286"/>
                </a:solidFill>
                <a:latin typeface="Arial"/>
                <a:ea typeface="Arial"/>
                <a:cs typeface="Arial"/>
              </a:defRPr>
            </a:lvl5pPr>
            <a:lvl6pPr>
              <a:defRPr sz="1200">
                <a:solidFill>
                  <a:srgbClr val="607286"/>
                </a:solidFill>
                <a:latin typeface="Arial"/>
                <a:ea typeface="Arial"/>
                <a:cs typeface="Arial"/>
              </a:defRPr>
            </a:lvl6pPr>
            <a:lvl7pPr>
              <a:defRPr sz="1200">
                <a:solidFill>
                  <a:srgbClr val="607286"/>
                </a:solidFill>
                <a:latin typeface="Arial"/>
                <a:ea typeface="Arial"/>
                <a:cs typeface="Arial"/>
              </a:defRPr>
            </a:lvl7pPr>
            <a:lvl8pPr>
              <a:defRPr sz="1200">
                <a:solidFill>
                  <a:srgbClr val="607286"/>
                </a:solidFill>
                <a:latin typeface="Arial"/>
                <a:ea typeface="Arial"/>
                <a:cs typeface="Arial"/>
              </a:defRPr>
            </a:lvl8pPr>
            <a:lvl9pPr>
              <a:defRPr sz="1200">
                <a:solidFill>
                  <a:srgbClr val="607286"/>
                </a:solidFill>
                <a:latin typeface="Arial"/>
                <a:ea typeface="Arial"/>
                <a:cs typeface="Arial"/>
              </a:defRPr>
            </a:lvl9pPr>
          </a:lstStyle>
          <a:p xmlns:a="http://schemas.openxmlformats.org/drawingml/2006/main">
            <a:pPr>
              <a:defRPr sz="1200">
                <a:solidFill>
                  <a:srgbClr val="607286"/>
                </a:solidFill>
                <a:latin typeface="Arial"/>
                <a:ea typeface="Arial"/>
                <a:cs typeface="Arial"/>
              </a:defRPr>
            </a:pPr>
            <a:r>
              <a:rPr sz="1200">
                <a:solidFill>
                  <a:srgbClr val="607286"/>
                </a:solidFill>
                <a:latin typeface="Arial"/>
                <a:ea typeface="Arial"/>
                <a:cs typeface="Arial"/>
              </a:rPr>
              <a:t>Bitcount  /  ranked 1 of 12  /  raw score 0.473</a:t>
            </a:r>
          </a:p>
        </p:txBody>
      </p:sp>
      <p:sp>
        <p:nvSpPr>
          <p:cNvPr id="6" name="">
            <a:extLst xmlns:a="http://schemas.openxmlformats.org/drawingml/2006/main">
              <a:ext uri="{FF2B5EF4-FFF2-40B4-BE49-F238E27FC236}">
                <a16:creationId xmlns:a16="http://schemas.microsoft.com/office/drawing/2014/main" id="{EBFD0CAD-5738-42DE-8CE4-60ED879085AA}"/>
              </a:ext>
            </a:extLst>
          </p:cNvPr>
          <p:cNvSpPr>
            <a:spLocks xmlns:a="http://schemas.openxmlformats.org/drawingml/2006/main" noGrp="1"/>
          </p:cNvSpPr>
          <p:nvPr/>
        </p:nvSpPr>
        <p:spPr>
          <a:xfrm xmlns:a="http://schemas.openxmlformats.org/drawingml/2006/main">
            <a:off x="5229225" y="2352675"/>
            <a:ext cx="0" cy="350520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7" name="">
            <a:extLst xmlns:a="http://schemas.openxmlformats.org/drawingml/2006/main">
              <a:ext uri="{FF2B5EF4-FFF2-40B4-BE49-F238E27FC236}">
                <a16:creationId xmlns:a16="http://schemas.microsoft.com/office/drawing/2014/main" id="{E220ABED-F921-4B4C-B7A8-6AA61722BC4C}"/>
              </a:ext>
            </a:extLst>
          </p:cNvPr>
          <p:cNvSpPr>
            <a:spLocks xmlns:a="http://schemas.openxmlformats.org/drawingml/2006/main" noGrp="1"/>
          </p:cNvSpPr>
          <p:nvPr/>
        </p:nvSpPr>
        <p:spPr>
          <a:xfrm xmlns:a="http://schemas.openxmlformats.org/drawingml/2006/main">
            <a:off x="5000625" y="59436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900">
                <a:solidFill>
                  <a:srgbClr val="607286"/>
                </a:solidFill>
                <a:latin typeface="Arial"/>
                <a:ea typeface="Arial"/>
                <a:cs typeface="Arial"/>
              </a:defRPr>
            </a:defPPr>
            <a:lvl1pPr algn="ctr">
              <a:defRPr sz="900">
                <a:solidFill>
                  <a:srgbClr val="607286"/>
                </a:solidFill>
                <a:latin typeface="Arial"/>
                <a:ea typeface="Arial"/>
                <a:cs typeface="Arial"/>
              </a:defRPr>
            </a:lvl1pPr>
            <a:lvl2pPr algn="ctr">
              <a:defRPr sz="900">
                <a:solidFill>
                  <a:srgbClr val="607286"/>
                </a:solidFill>
                <a:latin typeface="Arial"/>
                <a:ea typeface="Arial"/>
                <a:cs typeface="Arial"/>
              </a:defRPr>
            </a:lvl2pPr>
            <a:lvl3pPr algn="ctr">
              <a:defRPr sz="900">
                <a:solidFill>
                  <a:srgbClr val="607286"/>
                </a:solidFill>
                <a:latin typeface="Arial"/>
                <a:ea typeface="Arial"/>
                <a:cs typeface="Arial"/>
              </a:defRPr>
            </a:lvl3pPr>
            <a:lvl4pPr algn="ctr">
              <a:defRPr sz="900">
                <a:solidFill>
                  <a:srgbClr val="607286"/>
                </a:solidFill>
                <a:latin typeface="Arial"/>
                <a:ea typeface="Arial"/>
                <a:cs typeface="Arial"/>
              </a:defRPr>
            </a:lvl4pPr>
            <a:lvl5pPr algn="ctr">
              <a:defRPr sz="900">
                <a:solidFill>
                  <a:srgbClr val="607286"/>
                </a:solidFill>
                <a:latin typeface="Arial"/>
                <a:ea typeface="Arial"/>
                <a:cs typeface="Arial"/>
              </a:defRPr>
            </a:lvl5pPr>
            <a:lvl6pPr algn="ctr">
              <a:defRPr sz="900">
                <a:solidFill>
                  <a:srgbClr val="607286"/>
                </a:solidFill>
                <a:latin typeface="Arial"/>
                <a:ea typeface="Arial"/>
                <a:cs typeface="Arial"/>
              </a:defRPr>
            </a:lvl6pPr>
            <a:lvl7pPr algn="ctr">
              <a:defRPr sz="900">
                <a:solidFill>
                  <a:srgbClr val="607286"/>
                </a:solidFill>
                <a:latin typeface="Arial"/>
                <a:ea typeface="Arial"/>
                <a:cs typeface="Arial"/>
              </a:defRPr>
            </a:lvl7pPr>
            <a:lvl8pPr algn="ctr">
              <a:defRPr sz="900">
                <a:solidFill>
                  <a:srgbClr val="607286"/>
                </a:solidFill>
                <a:latin typeface="Arial"/>
                <a:ea typeface="Arial"/>
                <a:cs typeface="Arial"/>
              </a:defRPr>
            </a:lvl8pPr>
            <a:lvl9pPr algn="ctr">
              <a:defRPr sz="900">
                <a:solidFill>
                  <a:srgbClr val="607286"/>
                </a:solidFill>
                <a:latin typeface="Arial"/>
                <a:ea typeface="Arial"/>
                <a:cs typeface="Arial"/>
              </a:defRPr>
            </a:lvl9pPr>
          </a:lstStyle>
          <a:p xmlns:a="http://schemas.openxmlformats.org/drawingml/2006/main">
            <a:pPr algn="ctr">
              <a:defRPr sz="900">
                <a:solidFill>
                  <a:srgbClr val="607286"/>
                </a:solidFill>
                <a:latin typeface="Arial"/>
                <a:ea typeface="Arial"/>
                <a:cs typeface="Arial"/>
              </a:defRPr>
            </a:pPr>
            <a:r>
              <a:rPr sz="900">
                <a:solidFill>
                  <a:srgbClr val="607286"/>
                </a:solidFill>
                <a:latin typeface="Arial"/>
                <a:ea typeface="Arial"/>
                <a:cs typeface="Arial"/>
              </a:rPr>
              <a:t>-0.4</a:t>
            </a:r>
          </a:p>
        </p:txBody>
      </p:sp>
      <p:sp>
        <p:nvSpPr>
          <p:cNvPr id="8" name="">
            <a:extLst xmlns:a="http://schemas.openxmlformats.org/drawingml/2006/main">
              <a:ext uri="{FF2B5EF4-FFF2-40B4-BE49-F238E27FC236}">
                <a16:creationId xmlns:a16="http://schemas.microsoft.com/office/drawing/2014/main" id="{2B043F28-1DDD-4437-B051-E643C555A2FA}"/>
              </a:ext>
            </a:extLst>
          </p:cNvPr>
          <p:cNvSpPr>
            <a:spLocks xmlns:a="http://schemas.openxmlformats.org/drawingml/2006/main" noGrp="1"/>
          </p:cNvSpPr>
          <p:nvPr/>
        </p:nvSpPr>
        <p:spPr>
          <a:xfrm xmlns:a="http://schemas.openxmlformats.org/drawingml/2006/main">
            <a:off x="6543675" y="2352675"/>
            <a:ext cx="0" cy="350520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C2DD1BEC-3D6C-4530-9481-950B9FAFE3C8}"/>
              </a:ext>
            </a:extLst>
          </p:cNvPr>
          <p:cNvSpPr>
            <a:spLocks xmlns:a="http://schemas.openxmlformats.org/drawingml/2006/main" noGrp="1"/>
          </p:cNvSpPr>
          <p:nvPr/>
        </p:nvSpPr>
        <p:spPr>
          <a:xfrm xmlns:a="http://schemas.openxmlformats.org/drawingml/2006/main">
            <a:off x="6315075" y="59436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900">
                <a:solidFill>
                  <a:srgbClr val="607286"/>
                </a:solidFill>
                <a:latin typeface="Arial"/>
                <a:ea typeface="Arial"/>
                <a:cs typeface="Arial"/>
              </a:defRPr>
            </a:defPPr>
            <a:lvl1pPr algn="ctr">
              <a:defRPr sz="900">
                <a:solidFill>
                  <a:srgbClr val="607286"/>
                </a:solidFill>
                <a:latin typeface="Arial"/>
                <a:ea typeface="Arial"/>
                <a:cs typeface="Arial"/>
              </a:defRPr>
            </a:lvl1pPr>
            <a:lvl2pPr algn="ctr">
              <a:defRPr sz="900">
                <a:solidFill>
                  <a:srgbClr val="607286"/>
                </a:solidFill>
                <a:latin typeface="Arial"/>
                <a:ea typeface="Arial"/>
                <a:cs typeface="Arial"/>
              </a:defRPr>
            </a:lvl2pPr>
            <a:lvl3pPr algn="ctr">
              <a:defRPr sz="900">
                <a:solidFill>
                  <a:srgbClr val="607286"/>
                </a:solidFill>
                <a:latin typeface="Arial"/>
                <a:ea typeface="Arial"/>
                <a:cs typeface="Arial"/>
              </a:defRPr>
            </a:lvl3pPr>
            <a:lvl4pPr algn="ctr">
              <a:defRPr sz="900">
                <a:solidFill>
                  <a:srgbClr val="607286"/>
                </a:solidFill>
                <a:latin typeface="Arial"/>
                <a:ea typeface="Arial"/>
                <a:cs typeface="Arial"/>
              </a:defRPr>
            </a:lvl4pPr>
            <a:lvl5pPr algn="ctr">
              <a:defRPr sz="900">
                <a:solidFill>
                  <a:srgbClr val="607286"/>
                </a:solidFill>
                <a:latin typeface="Arial"/>
                <a:ea typeface="Arial"/>
                <a:cs typeface="Arial"/>
              </a:defRPr>
            </a:lvl5pPr>
            <a:lvl6pPr algn="ctr">
              <a:defRPr sz="900">
                <a:solidFill>
                  <a:srgbClr val="607286"/>
                </a:solidFill>
                <a:latin typeface="Arial"/>
                <a:ea typeface="Arial"/>
                <a:cs typeface="Arial"/>
              </a:defRPr>
            </a:lvl6pPr>
            <a:lvl7pPr algn="ctr">
              <a:defRPr sz="900">
                <a:solidFill>
                  <a:srgbClr val="607286"/>
                </a:solidFill>
                <a:latin typeface="Arial"/>
                <a:ea typeface="Arial"/>
                <a:cs typeface="Arial"/>
              </a:defRPr>
            </a:lvl7pPr>
            <a:lvl8pPr algn="ctr">
              <a:defRPr sz="900">
                <a:solidFill>
                  <a:srgbClr val="607286"/>
                </a:solidFill>
                <a:latin typeface="Arial"/>
                <a:ea typeface="Arial"/>
                <a:cs typeface="Arial"/>
              </a:defRPr>
            </a:lvl8pPr>
            <a:lvl9pPr algn="ctr">
              <a:defRPr sz="900">
                <a:solidFill>
                  <a:srgbClr val="607286"/>
                </a:solidFill>
                <a:latin typeface="Arial"/>
                <a:ea typeface="Arial"/>
                <a:cs typeface="Arial"/>
              </a:defRPr>
            </a:lvl9pPr>
          </a:lstStyle>
          <a:p xmlns:a="http://schemas.openxmlformats.org/drawingml/2006/main">
            <a:pPr algn="ctr">
              <a:defRPr sz="900">
                <a:solidFill>
                  <a:srgbClr val="607286"/>
                </a:solidFill>
                <a:latin typeface="Arial"/>
                <a:ea typeface="Arial"/>
                <a:cs typeface="Arial"/>
              </a:defRPr>
            </a:pPr>
            <a:r>
              <a:rPr sz="900">
                <a:solidFill>
                  <a:srgbClr val="607286"/>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BA91791A-2CFC-4C95-9290-F7F14FAFE10E}"/>
              </a:ext>
            </a:extLst>
          </p:cNvPr>
          <p:cNvSpPr>
            <a:spLocks xmlns:a="http://schemas.openxmlformats.org/drawingml/2006/main" noGrp="1"/>
          </p:cNvSpPr>
          <p:nvPr/>
        </p:nvSpPr>
        <p:spPr>
          <a:xfrm xmlns:a="http://schemas.openxmlformats.org/drawingml/2006/main">
            <a:off x="7858125" y="2352675"/>
            <a:ext cx="0" cy="3505200"/>
          </a:xfrm>
          <a:prstGeom xmlns:a="http://schemas.openxmlformats.org/drawingml/2006/main" prst="line">
            <a:avLst/>
          </a:prstGeom>
          <a:noFill xmlns:a="http://schemas.openxmlformats.org/drawingml/2006/main"/>
          <a:ln xmlns:a="http://schemas.openxmlformats.org/drawingml/2006/main" w="19050">
            <a:solidFill>
              <a:srgbClr val="263648"/>
            </a:solidFill>
            <a:prstDash val="solid"/>
          </a:ln>
        </p:spPr>
      </p:sp>
      <p:sp>
        <p:nvSpPr>
          <p:cNvPr id="11" name="">
            <a:extLst xmlns:a="http://schemas.openxmlformats.org/drawingml/2006/main">
              <a:ext uri="{FF2B5EF4-FFF2-40B4-BE49-F238E27FC236}">
                <a16:creationId xmlns:a16="http://schemas.microsoft.com/office/drawing/2014/main" id="{94B5FF54-465B-467B-934C-28F31496A17C}"/>
              </a:ext>
            </a:extLst>
          </p:cNvPr>
          <p:cNvSpPr>
            <a:spLocks xmlns:a="http://schemas.openxmlformats.org/drawingml/2006/main" noGrp="1"/>
          </p:cNvSpPr>
          <p:nvPr/>
        </p:nvSpPr>
        <p:spPr>
          <a:xfrm xmlns:a="http://schemas.openxmlformats.org/drawingml/2006/main">
            <a:off x="7629525" y="59436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900">
                <a:solidFill>
                  <a:srgbClr val="607286"/>
                </a:solidFill>
                <a:latin typeface="Arial"/>
                <a:ea typeface="Arial"/>
                <a:cs typeface="Arial"/>
              </a:defRPr>
            </a:defPPr>
            <a:lvl1pPr algn="ctr">
              <a:defRPr sz="900">
                <a:solidFill>
                  <a:srgbClr val="607286"/>
                </a:solidFill>
                <a:latin typeface="Arial"/>
                <a:ea typeface="Arial"/>
                <a:cs typeface="Arial"/>
              </a:defRPr>
            </a:lvl1pPr>
            <a:lvl2pPr algn="ctr">
              <a:defRPr sz="900">
                <a:solidFill>
                  <a:srgbClr val="607286"/>
                </a:solidFill>
                <a:latin typeface="Arial"/>
                <a:ea typeface="Arial"/>
                <a:cs typeface="Arial"/>
              </a:defRPr>
            </a:lvl2pPr>
            <a:lvl3pPr algn="ctr">
              <a:defRPr sz="900">
                <a:solidFill>
                  <a:srgbClr val="607286"/>
                </a:solidFill>
                <a:latin typeface="Arial"/>
                <a:ea typeface="Arial"/>
                <a:cs typeface="Arial"/>
              </a:defRPr>
            </a:lvl3pPr>
            <a:lvl4pPr algn="ctr">
              <a:defRPr sz="900">
                <a:solidFill>
                  <a:srgbClr val="607286"/>
                </a:solidFill>
                <a:latin typeface="Arial"/>
                <a:ea typeface="Arial"/>
                <a:cs typeface="Arial"/>
              </a:defRPr>
            </a:lvl4pPr>
            <a:lvl5pPr algn="ctr">
              <a:defRPr sz="900">
                <a:solidFill>
                  <a:srgbClr val="607286"/>
                </a:solidFill>
                <a:latin typeface="Arial"/>
                <a:ea typeface="Arial"/>
                <a:cs typeface="Arial"/>
              </a:defRPr>
            </a:lvl5pPr>
            <a:lvl6pPr algn="ctr">
              <a:defRPr sz="900">
                <a:solidFill>
                  <a:srgbClr val="607286"/>
                </a:solidFill>
                <a:latin typeface="Arial"/>
                <a:ea typeface="Arial"/>
                <a:cs typeface="Arial"/>
              </a:defRPr>
            </a:lvl6pPr>
            <a:lvl7pPr algn="ctr">
              <a:defRPr sz="900">
                <a:solidFill>
                  <a:srgbClr val="607286"/>
                </a:solidFill>
                <a:latin typeface="Arial"/>
                <a:ea typeface="Arial"/>
                <a:cs typeface="Arial"/>
              </a:defRPr>
            </a:lvl7pPr>
            <a:lvl8pPr algn="ctr">
              <a:defRPr sz="900">
                <a:solidFill>
                  <a:srgbClr val="607286"/>
                </a:solidFill>
                <a:latin typeface="Arial"/>
                <a:ea typeface="Arial"/>
                <a:cs typeface="Arial"/>
              </a:defRPr>
            </a:lvl8pPr>
            <a:lvl9pPr algn="ctr">
              <a:defRPr sz="900">
                <a:solidFill>
                  <a:srgbClr val="607286"/>
                </a:solidFill>
                <a:latin typeface="Arial"/>
                <a:ea typeface="Arial"/>
                <a:cs typeface="Arial"/>
              </a:defRPr>
            </a:lvl9pPr>
          </a:lstStyle>
          <a:p xmlns:a="http://schemas.openxmlformats.org/drawingml/2006/main">
            <a:pPr algn="ctr">
              <a:defRPr sz="900">
                <a:solidFill>
                  <a:srgbClr val="607286"/>
                </a:solidFill>
                <a:latin typeface="Arial"/>
                <a:ea typeface="Arial"/>
                <a:cs typeface="Arial"/>
              </a:defRPr>
            </a:pPr>
            <a:r>
              <a:rPr sz="900">
                <a:solidFill>
                  <a:srgbClr val="607286"/>
                </a:solidFill>
                <a:latin typeface="Arial"/>
                <a:ea typeface="Arial"/>
                <a:cs typeface="Arial"/>
              </a:rPr>
              <a:t>0.0</a:t>
            </a:r>
          </a:p>
        </p:txBody>
      </p:sp>
      <p:sp>
        <p:nvSpPr>
          <p:cNvPr id="12" name="">
            <a:extLst xmlns:a="http://schemas.openxmlformats.org/drawingml/2006/main">
              <a:ext uri="{FF2B5EF4-FFF2-40B4-BE49-F238E27FC236}">
                <a16:creationId xmlns:a16="http://schemas.microsoft.com/office/drawing/2014/main" id="{38267915-EDDE-4A3B-9E7F-62C3DA0346F8}"/>
              </a:ext>
            </a:extLst>
          </p:cNvPr>
          <p:cNvSpPr>
            <a:spLocks xmlns:a="http://schemas.openxmlformats.org/drawingml/2006/main" noGrp="1"/>
          </p:cNvSpPr>
          <p:nvPr/>
        </p:nvSpPr>
        <p:spPr>
          <a:xfrm xmlns:a="http://schemas.openxmlformats.org/drawingml/2006/main">
            <a:off x="9172575" y="2352675"/>
            <a:ext cx="0" cy="350520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AC82F273-8CD5-4AB6-B631-D2B579A14D45}"/>
              </a:ext>
            </a:extLst>
          </p:cNvPr>
          <p:cNvSpPr>
            <a:spLocks xmlns:a="http://schemas.openxmlformats.org/drawingml/2006/main" noGrp="1"/>
          </p:cNvSpPr>
          <p:nvPr/>
        </p:nvSpPr>
        <p:spPr>
          <a:xfrm xmlns:a="http://schemas.openxmlformats.org/drawingml/2006/main">
            <a:off x="8943975" y="59436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900">
                <a:solidFill>
                  <a:srgbClr val="607286"/>
                </a:solidFill>
                <a:latin typeface="Arial"/>
                <a:ea typeface="Arial"/>
                <a:cs typeface="Arial"/>
              </a:defRPr>
            </a:defPPr>
            <a:lvl1pPr algn="ctr">
              <a:defRPr sz="900">
                <a:solidFill>
                  <a:srgbClr val="607286"/>
                </a:solidFill>
                <a:latin typeface="Arial"/>
                <a:ea typeface="Arial"/>
                <a:cs typeface="Arial"/>
              </a:defRPr>
            </a:lvl1pPr>
            <a:lvl2pPr algn="ctr">
              <a:defRPr sz="900">
                <a:solidFill>
                  <a:srgbClr val="607286"/>
                </a:solidFill>
                <a:latin typeface="Arial"/>
                <a:ea typeface="Arial"/>
                <a:cs typeface="Arial"/>
              </a:defRPr>
            </a:lvl2pPr>
            <a:lvl3pPr algn="ctr">
              <a:defRPr sz="900">
                <a:solidFill>
                  <a:srgbClr val="607286"/>
                </a:solidFill>
                <a:latin typeface="Arial"/>
                <a:ea typeface="Arial"/>
                <a:cs typeface="Arial"/>
              </a:defRPr>
            </a:lvl3pPr>
            <a:lvl4pPr algn="ctr">
              <a:defRPr sz="900">
                <a:solidFill>
                  <a:srgbClr val="607286"/>
                </a:solidFill>
                <a:latin typeface="Arial"/>
                <a:ea typeface="Arial"/>
                <a:cs typeface="Arial"/>
              </a:defRPr>
            </a:lvl4pPr>
            <a:lvl5pPr algn="ctr">
              <a:defRPr sz="900">
                <a:solidFill>
                  <a:srgbClr val="607286"/>
                </a:solidFill>
                <a:latin typeface="Arial"/>
                <a:ea typeface="Arial"/>
                <a:cs typeface="Arial"/>
              </a:defRPr>
            </a:lvl5pPr>
            <a:lvl6pPr algn="ctr">
              <a:defRPr sz="900">
                <a:solidFill>
                  <a:srgbClr val="607286"/>
                </a:solidFill>
                <a:latin typeface="Arial"/>
                <a:ea typeface="Arial"/>
                <a:cs typeface="Arial"/>
              </a:defRPr>
            </a:lvl6pPr>
            <a:lvl7pPr algn="ctr">
              <a:defRPr sz="900">
                <a:solidFill>
                  <a:srgbClr val="607286"/>
                </a:solidFill>
                <a:latin typeface="Arial"/>
                <a:ea typeface="Arial"/>
                <a:cs typeface="Arial"/>
              </a:defRPr>
            </a:lvl7pPr>
            <a:lvl8pPr algn="ctr">
              <a:defRPr sz="900">
                <a:solidFill>
                  <a:srgbClr val="607286"/>
                </a:solidFill>
                <a:latin typeface="Arial"/>
                <a:ea typeface="Arial"/>
                <a:cs typeface="Arial"/>
              </a:defRPr>
            </a:lvl8pPr>
            <a:lvl9pPr algn="ctr">
              <a:defRPr sz="900">
                <a:solidFill>
                  <a:srgbClr val="607286"/>
                </a:solidFill>
                <a:latin typeface="Arial"/>
                <a:ea typeface="Arial"/>
                <a:cs typeface="Arial"/>
              </a:defRPr>
            </a:lvl9pPr>
          </a:lstStyle>
          <a:p xmlns:a="http://schemas.openxmlformats.org/drawingml/2006/main">
            <a:pPr algn="ctr">
              <a:defRPr sz="900">
                <a:solidFill>
                  <a:srgbClr val="607286"/>
                </a:solidFill>
                <a:latin typeface="Arial"/>
                <a:ea typeface="Arial"/>
                <a:cs typeface="Arial"/>
              </a:defRPr>
            </a:pPr>
            <a:r>
              <a:rPr sz="900">
                <a:solidFill>
                  <a:srgbClr val="607286"/>
                </a:solidFill>
                <a:latin typeface="Arial"/>
                <a:ea typeface="Arial"/>
                <a:cs typeface="Arial"/>
              </a:rPr>
              <a:t>+0.2</a:t>
            </a:r>
          </a:p>
        </p:txBody>
      </p:sp>
      <p:sp>
        <p:nvSpPr>
          <p:cNvPr id="14" name="">
            <a:extLst xmlns:a="http://schemas.openxmlformats.org/drawingml/2006/main">
              <a:ext uri="{FF2B5EF4-FFF2-40B4-BE49-F238E27FC236}">
                <a16:creationId xmlns:a16="http://schemas.microsoft.com/office/drawing/2014/main" id="{53CF764B-B411-404A-8250-FD469D684FDC}"/>
              </a:ext>
            </a:extLst>
          </p:cNvPr>
          <p:cNvSpPr>
            <a:spLocks xmlns:a="http://schemas.openxmlformats.org/drawingml/2006/main" noGrp="1"/>
          </p:cNvSpPr>
          <p:nvPr/>
        </p:nvSpPr>
        <p:spPr>
          <a:xfrm xmlns:a="http://schemas.openxmlformats.org/drawingml/2006/main">
            <a:off x="10487025" y="2352675"/>
            <a:ext cx="0" cy="350520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5" name="">
            <a:extLst xmlns:a="http://schemas.openxmlformats.org/drawingml/2006/main">
              <a:ext uri="{FF2B5EF4-FFF2-40B4-BE49-F238E27FC236}">
                <a16:creationId xmlns:a16="http://schemas.microsoft.com/office/drawing/2014/main" id="{31F4673A-E661-44C5-9507-74EC70458B5A}"/>
              </a:ext>
            </a:extLst>
          </p:cNvPr>
          <p:cNvSpPr>
            <a:spLocks xmlns:a="http://schemas.openxmlformats.org/drawingml/2006/main" noGrp="1"/>
          </p:cNvSpPr>
          <p:nvPr/>
        </p:nvSpPr>
        <p:spPr>
          <a:xfrm xmlns:a="http://schemas.openxmlformats.org/drawingml/2006/main">
            <a:off x="10258425" y="59436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900">
                <a:solidFill>
                  <a:srgbClr val="607286"/>
                </a:solidFill>
                <a:latin typeface="Arial"/>
                <a:ea typeface="Arial"/>
                <a:cs typeface="Arial"/>
              </a:defRPr>
            </a:defPPr>
            <a:lvl1pPr algn="ctr">
              <a:defRPr sz="900">
                <a:solidFill>
                  <a:srgbClr val="607286"/>
                </a:solidFill>
                <a:latin typeface="Arial"/>
                <a:ea typeface="Arial"/>
                <a:cs typeface="Arial"/>
              </a:defRPr>
            </a:lvl1pPr>
            <a:lvl2pPr algn="ctr">
              <a:defRPr sz="900">
                <a:solidFill>
                  <a:srgbClr val="607286"/>
                </a:solidFill>
                <a:latin typeface="Arial"/>
                <a:ea typeface="Arial"/>
                <a:cs typeface="Arial"/>
              </a:defRPr>
            </a:lvl2pPr>
            <a:lvl3pPr algn="ctr">
              <a:defRPr sz="900">
                <a:solidFill>
                  <a:srgbClr val="607286"/>
                </a:solidFill>
                <a:latin typeface="Arial"/>
                <a:ea typeface="Arial"/>
                <a:cs typeface="Arial"/>
              </a:defRPr>
            </a:lvl3pPr>
            <a:lvl4pPr algn="ctr">
              <a:defRPr sz="900">
                <a:solidFill>
                  <a:srgbClr val="607286"/>
                </a:solidFill>
                <a:latin typeface="Arial"/>
                <a:ea typeface="Arial"/>
                <a:cs typeface="Arial"/>
              </a:defRPr>
            </a:lvl4pPr>
            <a:lvl5pPr algn="ctr">
              <a:defRPr sz="900">
                <a:solidFill>
                  <a:srgbClr val="607286"/>
                </a:solidFill>
                <a:latin typeface="Arial"/>
                <a:ea typeface="Arial"/>
                <a:cs typeface="Arial"/>
              </a:defRPr>
            </a:lvl5pPr>
            <a:lvl6pPr algn="ctr">
              <a:defRPr sz="900">
                <a:solidFill>
                  <a:srgbClr val="607286"/>
                </a:solidFill>
                <a:latin typeface="Arial"/>
                <a:ea typeface="Arial"/>
                <a:cs typeface="Arial"/>
              </a:defRPr>
            </a:lvl6pPr>
            <a:lvl7pPr algn="ctr">
              <a:defRPr sz="900">
                <a:solidFill>
                  <a:srgbClr val="607286"/>
                </a:solidFill>
                <a:latin typeface="Arial"/>
                <a:ea typeface="Arial"/>
                <a:cs typeface="Arial"/>
              </a:defRPr>
            </a:lvl7pPr>
            <a:lvl8pPr algn="ctr">
              <a:defRPr sz="900">
                <a:solidFill>
                  <a:srgbClr val="607286"/>
                </a:solidFill>
                <a:latin typeface="Arial"/>
                <a:ea typeface="Arial"/>
                <a:cs typeface="Arial"/>
              </a:defRPr>
            </a:lvl8pPr>
            <a:lvl9pPr algn="ctr">
              <a:defRPr sz="900">
                <a:solidFill>
                  <a:srgbClr val="607286"/>
                </a:solidFill>
                <a:latin typeface="Arial"/>
                <a:ea typeface="Arial"/>
                <a:cs typeface="Arial"/>
              </a:defRPr>
            </a:lvl9pPr>
          </a:lstStyle>
          <a:p xmlns:a="http://schemas.openxmlformats.org/drawingml/2006/main">
            <a:pPr algn="ctr">
              <a:defRPr sz="900">
                <a:solidFill>
                  <a:srgbClr val="607286"/>
                </a:solidFill>
                <a:latin typeface="Arial"/>
                <a:ea typeface="Arial"/>
                <a:cs typeface="Arial"/>
              </a:defRPr>
            </a:pPr>
            <a:r>
              <a:rPr sz="900">
                <a:solidFill>
                  <a:srgbClr val="607286"/>
                </a:solidFill>
                <a:latin typeface="Arial"/>
                <a:ea typeface="Arial"/>
                <a:cs typeface="Arial"/>
              </a:rPr>
              <a:t>+0.4</a:t>
            </a:r>
          </a:p>
        </p:txBody>
      </p:sp>
      <p:sp>
        <p:nvSpPr>
          <p:cNvPr id="16" name="">
            <a:extLst xmlns:a="http://schemas.openxmlformats.org/drawingml/2006/main">
              <a:ext uri="{FF2B5EF4-FFF2-40B4-BE49-F238E27FC236}">
                <a16:creationId xmlns:a16="http://schemas.microsoft.com/office/drawing/2014/main" id="{4418DDE9-A7D6-456E-A366-3779F84009DB}"/>
              </a:ext>
            </a:extLst>
          </p:cNvPr>
          <p:cNvSpPr>
            <a:spLocks xmlns:a="http://schemas.openxmlformats.org/drawingml/2006/main" noGrp="1"/>
          </p:cNvSpPr>
          <p:nvPr/>
        </p:nvSpPr>
        <p:spPr>
          <a:xfrm xmlns:a="http://schemas.openxmlformats.org/drawingml/2006/main">
            <a:off x="685800" y="24860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saved percent</a:t>
            </a:r>
          </a:p>
        </p:txBody>
      </p:sp>
      <p:sp>
        <p:nvSpPr>
          <p:cNvPr id="17" name="">
            <a:extLst xmlns:a="http://schemas.openxmlformats.org/drawingml/2006/main">
              <a:ext uri="{FF2B5EF4-FFF2-40B4-BE49-F238E27FC236}">
                <a16:creationId xmlns:a16="http://schemas.microsoft.com/office/drawing/2014/main" id="{B2BAD3EA-A620-40A0-BB45-4D9BFFAF758E}"/>
              </a:ext>
            </a:extLst>
          </p:cNvPr>
          <p:cNvSpPr>
            <a:spLocks xmlns:a="http://schemas.openxmlformats.org/drawingml/2006/main" noGrp="1"/>
          </p:cNvSpPr>
          <p:nvPr/>
        </p:nvSpPr>
        <p:spPr>
          <a:xfrm xmlns:a="http://schemas.openxmlformats.org/drawingml/2006/main">
            <a:off x="685800" y="26670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estimated instruction-count savings (% of trace)</a:t>
            </a:r>
          </a:p>
        </p:txBody>
      </p:sp>
      <p:sp>
        <p:nvSpPr>
          <p:cNvPr id="18" name="">
            <a:extLst xmlns:a="http://schemas.openxmlformats.org/drawingml/2006/main">
              <a:ext uri="{FF2B5EF4-FFF2-40B4-BE49-F238E27FC236}">
                <a16:creationId xmlns:a16="http://schemas.microsoft.com/office/drawing/2014/main" id="{F43D8299-8652-4C90-B1D1-421F16C13726}"/>
              </a:ext>
            </a:extLst>
          </p:cNvPr>
          <p:cNvSpPr>
            <a:spLocks xmlns:a="http://schemas.openxmlformats.org/drawingml/2006/main" noGrp="1"/>
          </p:cNvSpPr>
          <p:nvPr/>
        </p:nvSpPr>
        <p:spPr>
          <a:xfrm xmlns:a="http://schemas.openxmlformats.org/drawingml/2006/main">
            <a:off x="7858125" y="2514600"/>
            <a:ext cx="2941872" cy="190500"/>
          </a:xfrm>
          <a:prstGeom xmlns:a="http://schemas.openxmlformats.org/drawingml/2006/main" prst="roundRect">
            <a:avLst>
              <a:gd name="adj" fmla="val 40000"/>
            </a:avLst>
          </a:prstGeom>
          <a:solidFill xmlns:a="http://schemas.openxmlformats.org/drawingml/2006/main">
            <a:srgbClr val="18856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579EC53-4286-4235-9651-6236B8DD4849}"/>
              </a:ext>
            </a:extLst>
          </p:cNvPr>
          <p:cNvSpPr>
            <a:spLocks xmlns:a="http://schemas.openxmlformats.org/drawingml/2006/main" noGrp="1"/>
          </p:cNvSpPr>
          <p:nvPr/>
        </p:nvSpPr>
        <p:spPr>
          <a:xfrm xmlns:a="http://schemas.openxmlformats.org/drawingml/2006/main">
            <a:off x="10876197" y="25241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900" b="1">
                <a:solidFill>
                  <a:srgbClr val="263648"/>
                </a:solidFill>
                <a:latin typeface="Arial"/>
                <a:ea typeface="Arial"/>
                <a:cs typeface="Arial"/>
              </a:defRPr>
            </a:defPPr>
            <a:lvl1pPr algn="l">
              <a:defRPr sz="900" b="1">
                <a:solidFill>
                  <a:srgbClr val="263648"/>
                </a:solidFill>
                <a:latin typeface="Arial"/>
                <a:ea typeface="Arial"/>
                <a:cs typeface="Arial"/>
              </a:defRPr>
            </a:lvl1pPr>
            <a:lvl2pPr algn="l">
              <a:defRPr sz="900" b="1">
                <a:solidFill>
                  <a:srgbClr val="263648"/>
                </a:solidFill>
                <a:latin typeface="Arial"/>
                <a:ea typeface="Arial"/>
                <a:cs typeface="Arial"/>
              </a:defRPr>
            </a:lvl2pPr>
            <a:lvl3pPr algn="l">
              <a:defRPr sz="900" b="1">
                <a:solidFill>
                  <a:srgbClr val="263648"/>
                </a:solidFill>
                <a:latin typeface="Arial"/>
                <a:ea typeface="Arial"/>
                <a:cs typeface="Arial"/>
              </a:defRPr>
            </a:lvl3pPr>
            <a:lvl4pPr algn="l">
              <a:defRPr sz="900" b="1">
                <a:solidFill>
                  <a:srgbClr val="263648"/>
                </a:solidFill>
                <a:latin typeface="Arial"/>
                <a:ea typeface="Arial"/>
                <a:cs typeface="Arial"/>
              </a:defRPr>
            </a:lvl4pPr>
            <a:lvl5pPr algn="l">
              <a:defRPr sz="900" b="1">
                <a:solidFill>
                  <a:srgbClr val="263648"/>
                </a:solidFill>
                <a:latin typeface="Arial"/>
                <a:ea typeface="Arial"/>
                <a:cs typeface="Arial"/>
              </a:defRPr>
            </a:lvl5pPr>
            <a:lvl6pPr algn="l">
              <a:defRPr sz="900" b="1">
                <a:solidFill>
                  <a:srgbClr val="263648"/>
                </a:solidFill>
                <a:latin typeface="Arial"/>
                <a:ea typeface="Arial"/>
                <a:cs typeface="Arial"/>
              </a:defRPr>
            </a:lvl6pPr>
            <a:lvl7pPr algn="l">
              <a:defRPr sz="900" b="1">
                <a:solidFill>
                  <a:srgbClr val="263648"/>
                </a:solidFill>
                <a:latin typeface="Arial"/>
                <a:ea typeface="Arial"/>
                <a:cs typeface="Arial"/>
              </a:defRPr>
            </a:lvl7pPr>
            <a:lvl8pPr algn="l">
              <a:defRPr sz="900" b="1">
                <a:solidFill>
                  <a:srgbClr val="263648"/>
                </a:solidFill>
                <a:latin typeface="Arial"/>
                <a:ea typeface="Arial"/>
                <a:cs typeface="Arial"/>
              </a:defRPr>
            </a:lvl8pPr>
            <a:lvl9pPr algn="l">
              <a:defRPr sz="900" b="1">
                <a:solidFill>
                  <a:srgbClr val="263648"/>
                </a:solidFill>
                <a:latin typeface="Arial"/>
                <a:ea typeface="Arial"/>
                <a:cs typeface="Arial"/>
              </a:defRPr>
            </a:lvl9pPr>
          </a:lstStyle>
          <a:p xmlns:a="http://schemas.openxmlformats.org/drawingml/2006/main">
            <a:pPr algn="l">
              <a:defRPr sz="900" b="1">
                <a:solidFill>
                  <a:srgbClr val="263648"/>
                </a:solidFill>
                <a:latin typeface="Arial"/>
                <a:ea typeface="Arial"/>
                <a:cs typeface="Arial"/>
              </a:defRPr>
            </a:pPr>
            <a:r>
              <a:rPr sz="900" b="1">
                <a:solidFill>
                  <a:srgbClr val="263648"/>
                </a:solidFill>
                <a:latin typeface="Arial"/>
                <a:ea typeface="Arial"/>
                <a:cs typeface="Arial"/>
              </a:rPr>
              <a:t>+0.448</a:t>
            </a:r>
          </a:p>
        </p:txBody>
      </p:sp>
      <p:sp>
        <p:nvSpPr>
          <p:cNvPr id="20" name="">
            <a:extLst xmlns:a="http://schemas.openxmlformats.org/drawingml/2006/main">
              <a:ext uri="{FF2B5EF4-FFF2-40B4-BE49-F238E27FC236}">
                <a16:creationId xmlns:a16="http://schemas.microsoft.com/office/drawing/2014/main" id="{90982E33-B1A7-4E48-9555-9118CA91DD73}"/>
              </a:ext>
            </a:extLst>
          </p:cNvPr>
          <p:cNvSpPr>
            <a:spLocks xmlns:a="http://schemas.openxmlformats.org/drawingml/2006/main" noGrp="1"/>
          </p:cNvSpPr>
          <p:nvPr/>
        </p:nvSpPr>
        <p:spPr>
          <a:xfrm xmlns:a="http://schemas.openxmlformats.org/drawingml/2006/main">
            <a:off x="685800" y="28289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places</a:t>
            </a:r>
          </a:p>
        </p:txBody>
      </p:sp>
      <p:sp>
        <p:nvSpPr>
          <p:cNvPr id="21" name="">
            <a:extLst xmlns:a="http://schemas.openxmlformats.org/drawingml/2006/main">
              <a:ext uri="{FF2B5EF4-FFF2-40B4-BE49-F238E27FC236}">
                <a16:creationId xmlns:a16="http://schemas.microsoft.com/office/drawing/2014/main" id="{5F296A19-5ABB-42C6-B370-2A6E20899542}"/>
              </a:ext>
            </a:extLst>
          </p:cNvPr>
          <p:cNvSpPr>
            <a:spLocks xmlns:a="http://schemas.openxmlformats.org/drawingml/2006/main" noGrp="1"/>
          </p:cNvSpPr>
          <p:nvPr/>
        </p:nvSpPr>
        <p:spPr>
          <a:xfrm xmlns:a="http://schemas.openxmlformats.org/drawingml/2006/main">
            <a:off x="685800" y="30099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candidate occurrences found in the trace</a:t>
            </a:r>
          </a:p>
        </p:txBody>
      </p:sp>
      <p:sp>
        <p:nvSpPr>
          <p:cNvPr id="22" name="">
            <a:extLst xmlns:a="http://schemas.openxmlformats.org/drawingml/2006/main">
              <a:ext uri="{FF2B5EF4-FFF2-40B4-BE49-F238E27FC236}">
                <a16:creationId xmlns:a16="http://schemas.microsoft.com/office/drawing/2014/main" id="{F15FD1DB-8363-463F-8A98-8ADCCBE0D76A}"/>
              </a:ext>
            </a:extLst>
          </p:cNvPr>
          <p:cNvSpPr>
            <a:spLocks xmlns:a="http://schemas.openxmlformats.org/drawingml/2006/main" noGrp="1"/>
          </p:cNvSpPr>
          <p:nvPr/>
        </p:nvSpPr>
        <p:spPr>
          <a:xfrm xmlns:a="http://schemas.openxmlformats.org/drawingml/2006/main">
            <a:off x="7858125" y="2857500"/>
            <a:ext cx="933316" cy="190500"/>
          </a:xfrm>
          <a:prstGeom xmlns:a="http://schemas.openxmlformats.org/drawingml/2006/main" prst="roundRect">
            <a:avLst>
              <a:gd name="adj" fmla="val 40000"/>
            </a:avLst>
          </a:prstGeom>
          <a:solidFill xmlns:a="http://schemas.openxmlformats.org/drawingml/2006/main">
            <a:srgbClr val="18856B"/>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A2B7C99-C783-43F2-BB58-5081B748A831}"/>
              </a:ext>
            </a:extLst>
          </p:cNvPr>
          <p:cNvSpPr>
            <a:spLocks xmlns:a="http://schemas.openxmlformats.org/drawingml/2006/main" noGrp="1"/>
          </p:cNvSpPr>
          <p:nvPr/>
        </p:nvSpPr>
        <p:spPr>
          <a:xfrm xmlns:a="http://schemas.openxmlformats.org/drawingml/2006/main">
            <a:off x="8867641" y="28670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900" b="1">
                <a:solidFill>
                  <a:srgbClr val="263648"/>
                </a:solidFill>
                <a:latin typeface="Arial"/>
                <a:ea typeface="Arial"/>
                <a:cs typeface="Arial"/>
              </a:defRPr>
            </a:defPPr>
            <a:lvl1pPr algn="l">
              <a:defRPr sz="900" b="1">
                <a:solidFill>
                  <a:srgbClr val="263648"/>
                </a:solidFill>
                <a:latin typeface="Arial"/>
                <a:ea typeface="Arial"/>
                <a:cs typeface="Arial"/>
              </a:defRPr>
            </a:lvl1pPr>
            <a:lvl2pPr algn="l">
              <a:defRPr sz="900" b="1">
                <a:solidFill>
                  <a:srgbClr val="263648"/>
                </a:solidFill>
                <a:latin typeface="Arial"/>
                <a:ea typeface="Arial"/>
                <a:cs typeface="Arial"/>
              </a:defRPr>
            </a:lvl2pPr>
            <a:lvl3pPr algn="l">
              <a:defRPr sz="900" b="1">
                <a:solidFill>
                  <a:srgbClr val="263648"/>
                </a:solidFill>
                <a:latin typeface="Arial"/>
                <a:ea typeface="Arial"/>
                <a:cs typeface="Arial"/>
              </a:defRPr>
            </a:lvl3pPr>
            <a:lvl4pPr algn="l">
              <a:defRPr sz="900" b="1">
                <a:solidFill>
                  <a:srgbClr val="263648"/>
                </a:solidFill>
                <a:latin typeface="Arial"/>
                <a:ea typeface="Arial"/>
                <a:cs typeface="Arial"/>
              </a:defRPr>
            </a:lvl4pPr>
            <a:lvl5pPr algn="l">
              <a:defRPr sz="900" b="1">
                <a:solidFill>
                  <a:srgbClr val="263648"/>
                </a:solidFill>
                <a:latin typeface="Arial"/>
                <a:ea typeface="Arial"/>
                <a:cs typeface="Arial"/>
              </a:defRPr>
            </a:lvl5pPr>
            <a:lvl6pPr algn="l">
              <a:defRPr sz="900" b="1">
                <a:solidFill>
                  <a:srgbClr val="263648"/>
                </a:solidFill>
                <a:latin typeface="Arial"/>
                <a:ea typeface="Arial"/>
                <a:cs typeface="Arial"/>
              </a:defRPr>
            </a:lvl6pPr>
            <a:lvl7pPr algn="l">
              <a:defRPr sz="900" b="1">
                <a:solidFill>
                  <a:srgbClr val="263648"/>
                </a:solidFill>
                <a:latin typeface="Arial"/>
                <a:ea typeface="Arial"/>
                <a:cs typeface="Arial"/>
              </a:defRPr>
            </a:lvl7pPr>
            <a:lvl8pPr algn="l">
              <a:defRPr sz="900" b="1">
                <a:solidFill>
                  <a:srgbClr val="263648"/>
                </a:solidFill>
                <a:latin typeface="Arial"/>
                <a:ea typeface="Arial"/>
                <a:cs typeface="Arial"/>
              </a:defRPr>
            </a:lvl8pPr>
            <a:lvl9pPr algn="l">
              <a:defRPr sz="900" b="1">
                <a:solidFill>
                  <a:srgbClr val="263648"/>
                </a:solidFill>
                <a:latin typeface="Arial"/>
                <a:ea typeface="Arial"/>
                <a:cs typeface="Arial"/>
              </a:defRPr>
            </a:lvl9pPr>
          </a:lstStyle>
          <a:p xmlns:a="http://schemas.openxmlformats.org/drawingml/2006/main">
            <a:pPr algn="l">
              <a:defRPr sz="900" b="1">
                <a:solidFill>
                  <a:srgbClr val="263648"/>
                </a:solidFill>
                <a:latin typeface="Arial"/>
                <a:ea typeface="Arial"/>
                <a:cs typeface="Arial"/>
              </a:defRPr>
            </a:pPr>
            <a:r>
              <a:rPr sz="900" b="1">
                <a:solidFill>
                  <a:srgbClr val="263648"/>
                </a:solidFill>
                <a:latin typeface="Arial"/>
                <a:ea typeface="Arial"/>
                <a:cs typeface="Arial"/>
              </a:rPr>
              <a:t>+0.142</a:t>
            </a:r>
          </a:p>
        </p:txBody>
      </p:sp>
      <p:sp>
        <p:nvSpPr>
          <p:cNvPr id="24" name="">
            <a:extLst xmlns:a="http://schemas.openxmlformats.org/drawingml/2006/main">
              <a:ext uri="{FF2B5EF4-FFF2-40B4-BE49-F238E27FC236}">
                <a16:creationId xmlns:a16="http://schemas.microsoft.com/office/drawing/2014/main" id="{625DB657-8AF6-4BEA-9E52-1CDD02DD380B}"/>
              </a:ext>
            </a:extLst>
          </p:cNvPr>
          <p:cNvSpPr>
            <a:spLocks xmlns:a="http://schemas.openxmlformats.org/drawingml/2006/main" noGrp="1"/>
          </p:cNvSpPr>
          <p:nvPr/>
        </p:nvSpPr>
        <p:spPr>
          <a:xfrm xmlns:a="http://schemas.openxmlformats.org/drawingml/2006/main">
            <a:off x="685800" y="31718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size</a:t>
            </a:r>
          </a:p>
        </p:txBody>
      </p:sp>
      <p:sp>
        <p:nvSpPr>
          <p:cNvPr id="25" name="">
            <a:extLst xmlns:a="http://schemas.openxmlformats.org/drawingml/2006/main">
              <a:ext uri="{FF2B5EF4-FFF2-40B4-BE49-F238E27FC236}">
                <a16:creationId xmlns:a16="http://schemas.microsoft.com/office/drawing/2014/main" id="{A2A3FF41-AF93-445C-81B7-3F7599C6E6CF}"/>
              </a:ext>
            </a:extLst>
          </p:cNvPr>
          <p:cNvSpPr>
            <a:spLocks xmlns:a="http://schemas.openxmlformats.org/drawingml/2006/main" noGrp="1"/>
          </p:cNvSpPr>
          <p:nvPr/>
        </p:nvSpPr>
        <p:spPr>
          <a:xfrm xmlns:a="http://schemas.openxmlformats.org/drawingml/2006/main">
            <a:off x="685800" y="33528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number of operations fused into the candidate</a:t>
            </a:r>
          </a:p>
        </p:txBody>
      </p:sp>
      <p:sp>
        <p:nvSpPr>
          <p:cNvPr id="26" name="">
            <a:extLst xmlns:a="http://schemas.openxmlformats.org/drawingml/2006/main">
              <a:ext uri="{FF2B5EF4-FFF2-40B4-BE49-F238E27FC236}">
                <a16:creationId xmlns:a16="http://schemas.microsoft.com/office/drawing/2014/main" id="{1AE12296-964D-4B44-9362-6ED8471479CD}"/>
              </a:ext>
            </a:extLst>
          </p:cNvPr>
          <p:cNvSpPr>
            <a:spLocks xmlns:a="http://schemas.openxmlformats.org/drawingml/2006/main" noGrp="1"/>
          </p:cNvSpPr>
          <p:nvPr/>
        </p:nvSpPr>
        <p:spPr>
          <a:xfrm xmlns:a="http://schemas.openxmlformats.org/drawingml/2006/main">
            <a:off x="7355947" y="3200400"/>
            <a:ext cx="502178" cy="190500"/>
          </a:xfrm>
          <a:prstGeom xmlns:a="http://schemas.openxmlformats.org/drawingml/2006/main" prst="roundRect">
            <a:avLst>
              <a:gd name="adj" fmla="val 40000"/>
            </a:avLst>
          </a:prstGeom>
          <a:solidFill xmlns:a="http://schemas.openxmlformats.org/drawingml/2006/main">
            <a:srgbClr val="B94A4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B19D836-45F8-4E50-AA8E-5D67AF381093}"/>
              </a:ext>
            </a:extLst>
          </p:cNvPr>
          <p:cNvSpPr>
            <a:spLocks xmlns:a="http://schemas.openxmlformats.org/drawingml/2006/main" noGrp="1"/>
          </p:cNvSpPr>
          <p:nvPr/>
        </p:nvSpPr>
        <p:spPr>
          <a:xfrm xmlns:a="http://schemas.openxmlformats.org/drawingml/2006/main">
            <a:off x="6708247" y="32099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900" b="1">
                <a:solidFill>
                  <a:srgbClr val="263648"/>
                </a:solidFill>
                <a:latin typeface="Arial"/>
                <a:ea typeface="Arial"/>
                <a:cs typeface="Arial"/>
              </a:defRPr>
            </a:defPPr>
            <a:lvl1pPr algn="r">
              <a:defRPr sz="900" b="1">
                <a:solidFill>
                  <a:srgbClr val="263648"/>
                </a:solidFill>
                <a:latin typeface="Arial"/>
                <a:ea typeface="Arial"/>
                <a:cs typeface="Arial"/>
              </a:defRPr>
            </a:lvl1pPr>
            <a:lvl2pPr algn="r">
              <a:defRPr sz="900" b="1">
                <a:solidFill>
                  <a:srgbClr val="263648"/>
                </a:solidFill>
                <a:latin typeface="Arial"/>
                <a:ea typeface="Arial"/>
                <a:cs typeface="Arial"/>
              </a:defRPr>
            </a:lvl2pPr>
            <a:lvl3pPr algn="r">
              <a:defRPr sz="900" b="1">
                <a:solidFill>
                  <a:srgbClr val="263648"/>
                </a:solidFill>
                <a:latin typeface="Arial"/>
                <a:ea typeface="Arial"/>
                <a:cs typeface="Arial"/>
              </a:defRPr>
            </a:lvl3pPr>
            <a:lvl4pPr algn="r">
              <a:defRPr sz="900" b="1">
                <a:solidFill>
                  <a:srgbClr val="263648"/>
                </a:solidFill>
                <a:latin typeface="Arial"/>
                <a:ea typeface="Arial"/>
                <a:cs typeface="Arial"/>
              </a:defRPr>
            </a:lvl4pPr>
            <a:lvl5pPr algn="r">
              <a:defRPr sz="900" b="1">
                <a:solidFill>
                  <a:srgbClr val="263648"/>
                </a:solidFill>
                <a:latin typeface="Arial"/>
                <a:ea typeface="Arial"/>
                <a:cs typeface="Arial"/>
              </a:defRPr>
            </a:lvl5pPr>
            <a:lvl6pPr algn="r">
              <a:defRPr sz="900" b="1">
                <a:solidFill>
                  <a:srgbClr val="263648"/>
                </a:solidFill>
                <a:latin typeface="Arial"/>
                <a:ea typeface="Arial"/>
                <a:cs typeface="Arial"/>
              </a:defRPr>
            </a:lvl6pPr>
            <a:lvl7pPr algn="r">
              <a:defRPr sz="900" b="1">
                <a:solidFill>
                  <a:srgbClr val="263648"/>
                </a:solidFill>
                <a:latin typeface="Arial"/>
                <a:ea typeface="Arial"/>
                <a:cs typeface="Arial"/>
              </a:defRPr>
            </a:lvl7pPr>
            <a:lvl8pPr algn="r">
              <a:defRPr sz="900" b="1">
                <a:solidFill>
                  <a:srgbClr val="263648"/>
                </a:solidFill>
                <a:latin typeface="Arial"/>
                <a:ea typeface="Arial"/>
                <a:cs typeface="Arial"/>
              </a:defRPr>
            </a:lvl8pPr>
            <a:lvl9pPr algn="r">
              <a:defRPr sz="900" b="1">
                <a:solidFill>
                  <a:srgbClr val="263648"/>
                </a:solidFill>
                <a:latin typeface="Arial"/>
                <a:ea typeface="Arial"/>
                <a:cs typeface="Arial"/>
              </a:defRPr>
            </a:lvl9pPr>
          </a:lstStyle>
          <a:p xmlns:a="http://schemas.openxmlformats.org/drawingml/2006/main">
            <a:pPr algn="r">
              <a:defRPr sz="900" b="1">
                <a:solidFill>
                  <a:srgbClr val="263648"/>
                </a:solidFill>
                <a:latin typeface="Arial"/>
                <a:ea typeface="Arial"/>
                <a:cs typeface="Arial"/>
              </a:defRPr>
            </a:pPr>
            <a:r>
              <a:rPr sz="900" b="1">
                <a:solidFill>
                  <a:srgbClr val="263648"/>
                </a:solidFill>
                <a:latin typeface="Arial"/>
                <a:ea typeface="Arial"/>
                <a:cs typeface="Arial"/>
              </a:rPr>
              <a:t>-0.076</a:t>
            </a:r>
          </a:p>
        </p:txBody>
      </p:sp>
      <p:sp>
        <p:nvSpPr>
          <p:cNvPr id="28" name="">
            <a:extLst xmlns:a="http://schemas.openxmlformats.org/drawingml/2006/main">
              <a:ext uri="{FF2B5EF4-FFF2-40B4-BE49-F238E27FC236}">
                <a16:creationId xmlns:a16="http://schemas.microsoft.com/office/drawing/2014/main" id="{5356CA49-771F-4BA6-918A-83998AED5D7C}"/>
              </a:ext>
            </a:extLst>
          </p:cNvPr>
          <p:cNvSpPr>
            <a:spLocks xmlns:a="http://schemas.openxmlformats.org/drawingml/2006/main" noGrp="1"/>
          </p:cNvSpPr>
          <p:nvPr/>
        </p:nvSpPr>
        <p:spPr>
          <a:xfrm xmlns:a="http://schemas.openxmlformats.org/drawingml/2006/main">
            <a:off x="685800" y="35147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constant count</a:t>
            </a:r>
          </a:p>
        </p:txBody>
      </p:sp>
      <p:sp>
        <p:nvSpPr>
          <p:cNvPr id="29" name="">
            <a:extLst xmlns:a="http://schemas.openxmlformats.org/drawingml/2006/main">
              <a:ext uri="{FF2B5EF4-FFF2-40B4-BE49-F238E27FC236}">
                <a16:creationId xmlns:a16="http://schemas.microsoft.com/office/drawing/2014/main" id="{B44DD03E-15B5-40D6-9697-981974CF12FA}"/>
              </a:ext>
            </a:extLst>
          </p:cNvPr>
          <p:cNvSpPr>
            <a:spLocks xmlns:a="http://schemas.openxmlformats.org/drawingml/2006/main" noGrp="1"/>
          </p:cNvSpPr>
          <p:nvPr/>
        </p:nvSpPr>
        <p:spPr>
          <a:xfrm xmlns:a="http://schemas.openxmlformats.org/drawingml/2006/main">
            <a:off x="685800" y="36957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constant operands</a:t>
            </a:r>
          </a:p>
        </p:txBody>
      </p:sp>
      <p:sp>
        <p:nvSpPr>
          <p:cNvPr id="30" name="">
            <a:extLst xmlns:a="http://schemas.openxmlformats.org/drawingml/2006/main">
              <a:ext uri="{FF2B5EF4-FFF2-40B4-BE49-F238E27FC236}">
                <a16:creationId xmlns:a16="http://schemas.microsoft.com/office/drawing/2014/main" id="{A47EEEF4-940B-41FD-8A51-7AB16A2E4E67}"/>
              </a:ext>
            </a:extLst>
          </p:cNvPr>
          <p:cNvSpPr>
            <a:spLocks xmlns:a="http://schemas.openxmlformats.org/drawingml/2006/main" noGrp="1"/>
          </p:cNvSpPr>
          <p:nvPr/>
        </p:nvSpPr>
        <p:spPr>
          <a:xfrm xmlns:a="http://schemas.openxmlformats.org/drawingml/2006/main">
            <a:off x="7516220" y="3543300"/>
            <a:ext cx="341905" cy="190500"/>
          </a:xfrm>
          <a:prstGeom xmlns:a="http://schemas.openxmlformats.org/drawingml/2006/main" prst="roundRect">
            <a:avLst>
              <a:gd name="adj" fmla="val 40000"/>
            </a:avLst>
          </a:prstGeom>
          <a:solidFill xmlns:a="http://schemas.openxmlformats.org/drawingml/2006/main">
            <a:srgbClr val="B94A4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9FE09EE-808A-4995-90EB-A6462B963F13}"/>
              </a:ext>
            </a:extLst>
          </p:cNvPr>
          <p:cNvSpPr>
            <a:spLocks xmlns:a="http://schemas.openxmlformats.org/drawingml/2006/main" noGrp="1"/>
          </p:cNvSpPr>
          <p:nvPr/>
        </p:nvSpPr>
        <p:spPr>
          <a:xfrm xmlns:a="http://schemas.openxmlformats.org/drawingml/2006/main">
            <a:off x="6868520" y="35528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900" b="1">
                <a:solidFill>
                  <a:srgbClr val="263648"/>
                </a:solidFill>
                <a:latin typeface="Arial"/>
                <a:ea typeface="Arial"/>
                <a:cs typeface="Arial"/>
              </a:defRPr>
            </a:defPPr>
            <a:lvl1pPr algn="r">
              <a:defRPr sz="900" b="1">
                <a:solidFill>
                  <a:srgbClr val="263648"/>
                </a:solidFill>
                <a:latin typeface="Arial"/>
                <a:ea typeface="Arial"/>
                <a:cs typeface="Arial"/>
              </a:defRPr>
            </a:lvl1pPr>
            <a:lvl2pPr algn="r">
              <a:defRPr sz="900" b="1">
                <a:solidFill>
                  <a:srgbClr val="263648"/>
                </a:solidFill>
                <a:latin typeface="Arial"/>
                <a:ea typeface="Arial"/>
                <a:cs typeface="Arial"/>
              </a:defRPr>
            </a:lvl2pPr>
            <a:lvl3pPr algn="r">
              <a:defRPr sz="900" b="1">
                <a:solidFill>
                  <a:srgbClr val="263648"/>
                </a:solidFill>
                <a:latin typeface="Arial"/>
                <a:ea typeface="Arial"/>
                <a:cs typeface="Arial"/>
              </a:defRPr>
            </a:lvl3pPr>
            <a:lvl4pPr algn="r">
              <a:defRPr sz="900" b="1">
                <a:solidFill>
                  <a:srgbClr val="263648"/>
                </a:solidFill>
                <a:latin typeface="Arial"/>
                <a:ea typeface="Arial"/>
                <a:cs typeface="Arial"/>
              </a:defRPr>
            </a:lvl4pPr>
            <a:lvl5pPr algn="r">
              <a:defRPr sz="900" b="1">
                <a:solidFill>
                  <a:srgbClr val="263648"/>
                </a:solidFill>
                <a:latin typeface="Arial"/>
                <a:ea typeface="Arial"/>
                <a:cs typeface="Arial"/>
              </a:defRPr>
            </a:lvl5pPr>
            <a:lvl6pPr algn="r">
              <a:defRPr sz="900" b="1">
                <a:solidFill>
                  <a:srgbClr val="263648"/>
                </a:solidFill>
                <a:latin typeface="Arial"/>
                <a:ea typeface="Arial"/>
                <a:cs typeface="Arial"/>
              </a:defRPr>
            </a:lvl6pPr>
            <a:lvl7pPr algn="r">
              <a:defRPr sz="900" b="1">
                <a:solidFill>
                  <a:srgbClr val="263648"/>
                </a:solidFill>
                <a:latin typeface="Arial"/>
                <a:ea typeface="Arial"/>
                <a:cs typeface="Arial"/>
              </a:defRPr>
            </a:lvl7pPr>
            <a:lvl8pPr algn="r">
              <a:defRPr sz="900" b="1">
                <a:solidFill>
                  <a:srgbClr val="263648"/>
                </a:solidFill>
                <a:latin typeface="Arial"/>
                <a:ea typeface="Arial"/>
                <a:cs typeface="Arial"/>
              </a:defRPr>
            </a:lvl8pPr>
            <a:lvl9pPr algn="r">
              <a:defRPr sz="900" b="1">
                <a:solidFill>
                  <a:srgbClr val="263648"/>
                </a:solidFill>
                <a:latin typeface="Arial"/>
                <a:ea typeface="Arial"/>
                <a:cs typeface="Arial"/>
              </a:defRPr>
            </a:lvl9pPr>
          </a:lstStyle>
          <a:p xmlns:a="http://schemas.openxmlformats.org/drawingml/2006/main">
            <a:pPr algn="r">
              <a:defRPr sz="900" b="1">
                <a:solidFill>
                  <a:srgbClr val="263648"/>
                </a:solidFill>
                <a:latin typeface="Arial"/>
                <a:ea typeface="Arial"/>
                <a:cs typeface="Arial"/>
              </a:defRPr>
            </a:pPr>
            <a:r>
              <a:rPr sz="900" b="1">
                <a:solidFill>
                  <a:srgbClr val="263648"/>
                </a:solidFill>
                <a:latin typeface="Arial"/>
                <a:ea typeface="Arial"/>
                <a:cs typeface="Arial"/>
              </a:rPr>
              <a:t>-0.052</a:t>
            </a:r>
          </a:p>
        </p:txBody>
      </p:sp>
      <p:sp>
        <p:nvSpPr>
          <p:cNvPr id="32" name="">
            <a:extLst xmlns:a="http://schemas.openxmlformats.org/drawingml/2006/main">
              <a:ext uri="{FF2B5EF4-FFF2-40B4-BE49-F238E27FC236}">
                <a16:creationId xmlns:a16="http://schemas.microsoft.com/office/drawing/2014/main" id="{6647E783-A0D3-47CA-BC98-C844D029C8BC}"/>
              </a:ext>
            </a:extLst>
          </p:cNvPr>
          <p:cNvSpPr>
            <a:spLocks xmlns:a="http://schemas.openxmlformats.org/drawingml/2006/main" noGrp="1"/>
          </p:cNvSpPr>
          <p:nvPr/>
        </p:nvSpPr>
        <p:spPr>
          <a:xfrm xmlns:a="http://schemas.openxmlformats.org/drawingml/2006/main">
            <a:off x="685800" y="38576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max abs constant</a:t>
            </a:r>
          </a:p>
        </p:txBody>
      </p:sp>
      <p:sp>
        <p:nvSpPr>
          <p:cNvPr id="33" name="">
            <a:extLst xmlns:a="http://schemas.openxmlformats.org/drawingml/2006/main">
              <a:ext uri="{FF2B5EF4-FFF2-40B4-BE49-F238E27FC236}">
                <a16:creationId xmlns:a16="http://schemas.microsoft.com/office/drawing/2014/main" id="{57A927E4-1479-48E9-B312-97D7862AC3E4}"/>
              </a:ext>
            </a:extLst>
          </p:cNvPr>
          <p:cNvSpPr>
            <a:spLocks xmlns:a="http://schemas.openxmlformats.org/drawingml/2006/main" noGrp="1"/>
          </p:cNvSpPr>
          <p:nvPr/>
        </p:nvSpPr>
        <p:spPr>
          <a:xfrm xmlns:a="http://schemas.openxmlformats.org/drawingml/2006/main">
            <a:off x="685800" y="40386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largest absolute constant value</a:t>
            </a:r>
          </a:p>
        </p:txBody>
      </p:sp>
      <p:sp>
        <p:nvSpPr>
          <p:cNvPr id="34" name="">
            <a:extLst xmlns:a="http://schemas.openxmlformats.org/drawingml/2006/main">
              <a:ext uri="{FF2B5EF4-FFF2-40B4-BE49-F238E27FC236}">
                <a16:creationId xmlns:a16="http://schemas.microsoft.com/office/drawing/2014/main" id="{4628F0AD-0802-4F73-9D66-281C9F865E81}"/>
              </a:ext>
            </a:extLst>
          </p:cNvPr>
          <p:cNvSpPr>
            <a:spLocks xmlns:a="http://schemas.openxmlformats.org/drawingml/2006/main" noGrp="1"/>
          </p:cNvSpPr>
          <p:nvPr/>
        </p:nvSpPr>
        <p:spPr>
          <a:xfrm xmlns:a="http://schemas.openxmlformats.org/drawingml/2006/main">
            <a:off x="7858125" y="3886200"/>
            <a:ext cx="279098" cy="190500"/>
          </a:xfrm>
          <a:prstGeom xmlns:a="http://schemas.openxmlformats.org/drawingml/2006/main" prst="roundRect">
            <a:avLst>
              <a:gd name="adj" fmla="val 40000"/>
            </a:avLst>
          </a:prstGeom>
          <a:solidFill xmlns:a="http://schemas.openxmlformats.org/drawingml/2006/main">
            <a:srgbClr val="18856B"/>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FFC5CB6-5914-43CD-AB83-8868A4A36A3F}"/>
              </a:ext>
            </a:extLst>
          </p:cNvPr>
          <p:cNvSpPr>
            <a:spLocks xmlns:a="http://schemas.openxmlformats.org/drawingml/2006/main" noGrp="1"/>
          </p:cNvSpPr>
          <p:nvPr/>
        </p:nvSpPr>
        <p:spPr>
          <a:xfrm xmlns:a="http://schemas.openxmlformats.org/drawingml/2006/main">
            <a:off x="8213423" y="38957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900" b="1">
                <a:solidFill>
                  <a:srgbClr val="263648"/>
                </a:solidFill>
                <a:latin typeface="Arial"/>
                <a:ea typeface="Arial"/>
                <a:cs typeface="Arial"/>
              </a:defRPr>
            </a:defPPr>
            <a:lvl1pPr algn="l">
              <a:defRPr sz="900" b="1">
                <a:solidFill>
                  <a:srgbClr val="263648"/>
                </a:solidFill>
                <a:latin typeface="Arial"/>
                <a:ea typeface="Arial"/>
                <a:cs typeface="Arial"/>
              </a:defRPr>
            </a:lvl1pPr>
            <a:lvl2pPr algn="l">
              <a:defRPr sz="900" b="1">
                <a:solidFill>
                  <a:srgbClr val="263648"/>
                </a:solidFill>
                <a:latin typeface="Arial"/>
                <a:ea typeface="Arial"/>
                <a:cs typeface="Arial"/>
              </a:defRPr>
            </a:lvl2pPr>
            <a:lvl3pPr algn="l">
              <a:defRPr sz="900" b="1">
                <a:solidFill>
                  <a:srgbClr val="263648"/>
                </a:solidFill>
                <a:latin typeface="Arial"/>
                <a:ea typeface="Arial"/>
                <a:cs typeface="Arial"/>
              </a:defRPr>
            </a:lvl3pPr>
            <a:lvl4pPr algn="l">
              <a:defRPr sz="900" b="1">
                <a:solidFill>
                  <a:srgbClr val="263648"/>
                </a:solidFill>
                <a:latin typeface="Arial"/>
                <a:ea typeface="Arial"/>
                <a:cs typeface="Arial"/>
              </a:defRPr>
            </a:lvl4pPr>
            <a:lvl5pPr algn="l">
              <a:defRPr sz="900" b="1">
                <a:solidFill>
                  <a:srgbClr val="263648"/>
                </a:solidFill>
                <a:latin typeface="Arial"/>
                <a:ea typeface="Arial"/>
                <a:cs typeface="Arial"/>
              </a:defRPr>
            </a:lvl5pPr>
            <a:lvl6pPr algn="l">
              <a:defRPr sz="900" b="1">
                <a:solidFill>
                  <a:srgbClr val="263648"/>
                </a:solidFill>
                <a:latin typeface="Arial"/>
                <a:ea typeface="Arial"/>
                <a:cs typeface="Arial"/>
              </a:defRPr>
            </a:lvl6pPr>
            <a:lvl7pPr algn="l">
              <a:defRPr sz="900" b="1">
                <a:solidFill>
                  <a:srgbClr val="263648"/>
                </a:solidFill>
                <a:latin typeface="Arial"/>
                <a:ea typeface="Arial"/>
                <a:cs typeface="Arial"/>
              </a:defRPr>
            </a:lvl7pPr>
            <a:lvl8pPr algn="l">
              <a:defRPr sz="900" b="1">
                <a:solidFill>
                  <a:srgbClr val="263648"/>
                </a:solidFill>
                <a:latin typeface="Arial"/>
                <a:ea typeface="Arial"/>
                <a:cs typeface="Arial"/>
              </a:defRPr>
            </a:lvl8pPr>
            <a:lvl9pPr algn="l">
              <a:defRPr sz="900" b="1">
                <a:solidFill>
                  <a:srgbClr val="263648"/>
                </a:solidFill>
                <a:latin typeface="Arial"/>
                <a:ea typeface="Arial"/>
                <a:cs typeface="Arial"/>
              </a:defRPr>
            </a:lvl9pPr>
          </a:lstStyle>
          <a:p xmlns:a="http://schemas.openxmlformats.org/drawingml/2006/main">
            <a:pPr algn="l">
              <a:defRPr sz="900" b="1">
                <a:solidFill>
                  <a:srgbClr val="263648"/>
                </a:solidFill>
                <a:latin typeface="Arial"/>
                <a:ea typeface="Arial"/>
                <a:cs typeface="Arial"/>
              </a:defRPr>
            </a:pPr>
            <a:r>
              <a:rPr sz="900" b="1">
                <a:solidFill>
                  <a:srgbClr val="263648"/>
                </a:solidFill>
                <a:latin typeface="Arial"/>
                <a:ea typeface="Arial"/>
                <a:cs typeface="Arial"/>
              </a:rPr>
              <a:t>+0.042</a:t>
            </a:r>
          </a:p>
        </p:txBody>
      </p:sp>
      <p:sp>
        <p:nvSpPr>
          <p:cNvPr id="36" name="">
            <a:extLst xmlns:a="http://schemas.openxmlformats.org/drawingml/2006/main">
              <a:ext uri="{FF2B5EF4-FFF2-40B4-BE49-F238E27FC236}">
                <a16:creationId xmlns:a16="http://schemas.microsoft.com/office/drawing/2014/main" id="{C84DE65A-FC77-4B90-9019-90E3E056A32E}"/>
              </a:ext>
            </a:extLst>
          </p:cNvPr>
          <p:cNvSpPr>
            <a:spLocks xmlns:a="http://schemas.openxmlformats.org/drawingml/2006/main" noGrp="1"/>
          </p:cNvSpPr>
          <p:nvPr/>
        </p:nvSpPr>
        <p:spPr>
          <a:xfrm xmlns:a="http://schemas.openxmlformats.org/drawingml/2006/main">
            <a:off x="685800" y="42005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op slli</a:t>
            </a:r>
          </a:p>
        </p:txBody>
      </p:sp>
      <p:sp>
        <p:nvSpPr>
          <p:cNvPr id="37" name="">
            <a:extLst xmlns:a="http://schemas.openxmlformats.org/drawingml/2006/main">
              <a:ext uri="{FF2B5EF4-FFF2-40B4-BE49-F238E27FC236}">
                <a16:creationId xmlns:a16="http://schemas.microsoft.com/office/drawing/2014/main" id="{83171F55-90DC-40B3-A711-65F108404A87}"/>
              </a:ext>
            </a:extLst>
          </p:cNvPr>
          <p:cNvSpPr>
            <a:spLocks xmlns:a="http://schemas.openxmlformats.org/drawingml/2006/main" noGrp="1"/>
          </p:cNvSpPr>
          <p:nvPr/>
        </p:nvSpPr>
        <p:spPr>
          <a:xfrm xmlns:a="http://schemas.openxmlformats.org/drawingml/2006/main">
            <a:off x="685800" y="43815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SLLI operators in the candidate expression</a:t>
            </a:r>
          </a:p>
        </p:txBody>
      </p:sp>
      <p:sp>
        <p:nvSpPr>
          <p:cNvPr id="38" name="">
            <a:extLst xmlns:a="http://schemas.openxmlformats.org/drawingml/2006/main">
              <a:ext uri="{FF2B5EF4-FFF2-40B4-BE49-F238E27FC236}">
                <a16:creationId xmlns:a16="http://schemas.microsoft.com/office/drawing/2014/main" id="{B9E73829-0E2F-4917-8A47-A0EF3EF4FA75}"/>
              </a:ext>
            </a:extLst>
          </p:cNvPr>
          <p:cNvSpPr>
            <a:spLocks xmlns:a="http://schemas.openxmlformats.org/drawingml/2006/main" noGrp="1"/>
          </p:cNvSpPr>
          <p:nvPr/>
        </p:nvSpPr>
        <p:spPr>
          <a:xfrm xmlns:a="http://schemas.openxmlformats.org/drawingml/2006/main">
            <a:off x="7697705" y="4229100"/>
            <a:ext cx="160420" cy="190500"/>
          </a:xfrm>
          <a:prstGeom xmlns:a="http://schemas.openxmlformats.org/drawingml/2006/main" prst="roundRect">
            <a:avLst>
              <a:gd name="adj" fmla="val 47500"/>
            </a:avLst>
          </a:prstGeom>
          <a:solidFill xmlns:a="http://schemas.openxmlformats.org/drawingml/2006/main">
            <a:srgbClr val="B94A4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79269F75-ADD7-45E9-A593-1D759756220E}"/>
              </a:ext>
            </a:extLst>
          </p:cNvPr>
          <p:cNvSpPr>
            <a:spLocks xmlns:a="http://schemas.openxmlformats.org/drawingml/2006/main" noGrp="1"/>
          </p:cNvSpPr>
          <p:nvPr/>
        </p:nvSpPr>
        <p:spPr>
          <a:xfrm xmlns:a="http://schemas.openxmlformats.org/drawingml/2006/main">
            <a:off x="7050005" y="42386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900" b="1">
                <a:solidFill>
                  <a:srgbClr val="263648"/>
                </a:solidFill>
                <a:latin typeface="Arial"/>
                <a:ea typeface="Arial"/>
                <a:cs typeface="Arial"/>
              </a:defRPr>
            </a:defPPr>
            <a:lvl1pPr algn="r">
              <a:defRPr sz="900" b="1">
                <a:solidFill>
                  <a:srgbClr val="263648"/>
                </a:solidFill>
                <a:latin typeface="Arial"/>
                <a:ea typeface="Arial"/>
                <a:cs typeface="Arial"/>
              </a:defRPr>
            </a:lvl1pPr>
            <a:lvl2pPr algn="r">
              <a:defRPr sz="900" b="1">
                <a:solidFill>
                  <a:srgbClr val="263648"/>
                </a:solidFill>
                <a:latin typeface="Arial"/>
                <a:ea typeface="Arial"/>
                <a:cs typeface="Arial"/>
              </a:defRPr>
            </a:lvl2pPr>
            <a:lvl3pPr algn="r">
              <a:defRPr sz="900" b="1">
                <a:solidFill>
                  <a:srgbClr val="263648"/>
                </a:solidFill>
                <a:latin typeface="Arial"/>
                <a:ea typeface="Arial"/>
                <a:cs typeface="Arial"/>
              </a:defRPr>
            </a:lvl3pPr>
            <a:lvl4pPr algn="r">
              <a:defRPr sz="900" b="1">
                <a:solidFill>
                  <a:srgbClr val="263648"/>
                </a:solidFill>
                <a:latin typeface="Arial"/>
                <a:ea typeface="Arial"/>
                <a:cs typeface="Arial"/>
              </a:defRPr>
            </a:lvl4pPr>
            <a:lvl5pPr algn="r">
              <a:defRPr sz="900" b="1">
                <a:solidFill>
                  <a:srgbClr val="263648"/>
                </a:solidFill>
                <a:latin typeface="Arial"/>
                <a:ea typeface="Arial"/>
                <a:cs typeface="Arial"/>
              </a:defRPr>
            </a:lvl5pPr>
            <a:lvl6pPr algn="r">
              <a:defRPr sz="900" b="1">
                <a:solidFill>
                  <a:srgbClr val="263648"/>
                </a:solidFill>
                <a:latin typeface="Arial"/>
                <a:ea typeface="Arial"/>
                <a:cs typeface="Arial"/>
              </a:defRPr>
            </a:lvl6pPr>
            <a:lvl7pPr algn="r">
              <a:defRPr sz="900" b="1">
                <a:solidFill>
                  <a:srgbClr val="263648"/>
                </a:solidFill>
                <a:latin typeface="Arial"/>
                <a:ea typeface="Arial"/>
                <a:cs typeface="Arial"/>
              </a:defRPr>
            </a:lvl7pPr>
            <a:lvl8pPr algn="r">
              <a:defRPr sz="900" b="1">
                <a:solidFill>
                  <a:srgbClr val="263648"/>
                </a:solidFill>
                <a:latin typeface="Arial"/>
                <a:ea typeface="Arial"/>
                <a:cs typeface="Arial"/>
              </a:defRPr>
            </a:lvl8pPr>
            <a:lvl9pPr algn="r">
              <a:defRPr sz="900" b="1">
                <a:solidFill>
                  <a:srgbClr val="263648"/>
                </a:solidFill>
                <a:latin typeface="Arial"/>
                <a:ea typeface="Arial"/>
                <a:cs typeface="Arial"/>
              </a:defRPr>
            </a:lvl9pPr>
          </a:lstStyle>
          <a:p xmlns:a="http://schemas.openxmlformats.org/drawingml/2006/main">
            <a:pPr algn="r">
              <a:defRPr sz="900" b="1">
                <a:solidFill>
                  <a:srgbClr val="263648"/>
                </a:solidFill>
                <a:latin typeface="Arial"/>
                <a:ea typeface="Arial"/>
                <a:cs typeface="Arial"/>
              </a:defRPr>
            </a:pPr>
            <a:r>
              <a:rPr sz="900" b="1">
                <a:solidFill>
                  <a:srgbClr val="263648"/>
                </a:solidFill>
                <a:latin typeface="Arial"/>
                <a:ea typeface="Arial"/>
                <a:cs typeface="Arial"/>
              </a:rPr>
              <a:t>-0.024</a:t>
            </a:r>
          </a:p>
        </p:txBody>
      </p:sp>
      <p:sp>
        <p:nvSpPr>
          <p:cNvPr id="40" name="">
            <a:extLst xmlns:a="http://schemas.openxmlformats.org/drawingml/2006/main">
              <a:ext uri="{FF2B5EF4-FFF2-40B4-BE49-F238E27FC236}">
                <a16:creationId xmlns:a16="http://schemas.microsoft.com/office/drawing/2014/main" id="{0B34DF1B-922C-4FF8-9288-C2BDE47A1008}"/>
              </a:ext>
            </a:extLst>
          </p:cNvPr>
          <p:cNvSpPr>
            <a:spLocks xmlns:a="http://schemas.openxmlformats.org/drawingml/2006/main" noGrp="1"/>
          </p:cNvSpPr>
          <p:nvPr/>
        </p:nvSpPr>
        <p:spPr>
          <a:xfrm xmlns:a="http://schemas.openxmlformats.org/drawingml/2006/main">
            <a:off x="685800" y="45434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depth</a:t>
            </a:r>
          </a:p>
        </p:txBody>
      </p:sp>
      <p:sp>
        <p:nvSpPr>
          <p:cNvPr id="41" name="">
            <a:extLst xmlns:a="http://schemas.openxmlformats.org/drawingml/2006/main">
              <a:ext uri="{FF2B5EF4-FFF2-40B4-BE49-F238E27FC236}">
                <a16:creationId xmlns:a16="http://schemas.microsoft.com/office/drawing/2014/main" id="{57BCDAD0-3CF0-4123-9F8C-2CE167B243DC}"/>
              </a:ext>
            </a:extLst>
          </p:cNvPr>
          <p:cNvSpPr>
            <a:spLocks xmlns:a="http://schemas.openxmlformats.org/drawingml/2006/main" noGrp="1"/>
          </p:cNvSpPr>
          <p:nvPr/>
        </p:nvSpPr>
        <p:spPr>
          <a:xfrm xmlns:a="http://schemas.openxmlformats.org/drawingml/2006/main">
            <a:off x="685800" y="47244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expression-tree depth</a:t>
            </a:r>
          </a:p>
        </p:txBody>
      </p:sp>
      <p:sp>
        <p:nvSpPr>
          <p:cNvPr id="42" name="">
            <a:extLst xmlns:a="http://schemas.openxmlformats.org/drawingml/2006/main">
              <a:ext uri="{FF2B5EF4-FFF2-40B4-BE49-F238E27FC236}">
                <a16:creationId xmlns:a16="http://schemas.microsoft.com/office/drawing/2014/main" id="{35467B43-B334-474E-AAB7-A746CA50877A}"/>
              </a:ext>
            </a:extLst>
          </p:cNvPr>
          <p:cNvSpPr>
            <a:spLocks xmlns:a="http://schemas.openxmlformats.org/drawingml/2006/main" noGrp="1"/>
          </p:cNvSpPr>
          <p:nvPr/>
        </p:nvSpPr>
        <p:spPr>
          <a:xfrm xmlns:a="http://schemas.openxmlformats.org/drawingml/2006/main">
            <a:off x="7704476" y="4572000"/>
            <a:ext cx="153649" cy="190500"/>
          </a:xfrm>
          <a:prstGeom xmlns:a="http://schemas.openxmlformats.org/drawingml/2006/main" prst="roundRect">
            <a:avLst>
              <a:gd name="adj" fmla="val 49594"/>
            </a:avLst>
          </a:prstGeom>
          <a:solidFill xmlns:a="http://schemas.openxmlformats.org/drawingml/2006/main">
            <a:srgbClr val="B94A4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FF76B68E-6919-424F-8877-E238D0F69705}"/>
              </a:ext>
            </a:extLst>
          </p:cNvPr>
          <p:cNvSpPr>
            <a:spLocks xmlns:a="http://schemas.openxmlformats.org/drawingml/2006/main" noGrp="1"/>
          </p:cNvSpPr>
          <p:nvPr/>
        </p:nvSpPr>
        <p:spPr>
          <a:xfrm xmlns:a="http://schemas.openxmlformats.org/drawingml/2006/main">
            <a:off x="7056776" y="45815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900" b="1">
                <a:solidFill>
                  <a:srgbClr val="263648"/>
                </a:solidFill>
                <a:latin typeface="Arial"/>
                <a:ea typeface="Arial"/>
                <a:cs typeface="Arial"/>
              </a:defRPr>
            </a:defPPr>
            <a:lvl1pPr algn="r">
              <a:defRPr sz="900" b="1">
                <a:solidFill>
                  <a:srgbClr val="263648"/>
                </a:solidFill>
                <a:latin typeface="Arial"/>
                <a:ea typeface="Arial"/>
                <a:cs typeface="Arial"/>
              </a:defRPr>
            </a:lvl1pPr>
            <a:lvl2pPr algn="r">
              <a:defRPr sz="900" b="1">
                <a:solidFill>
                  <a:srgbClr val="263648"/>
                </a:solidFill>
                <a:latin typeface="Arial"/>
                <a:ea typeface="Arial"/>
                <a:cs typeface="Arial"/>
              </a:defRPr>
            </a:lvl2pPr>
            <a:lvl3pPr algn="r">
              <a:defRPr sz="900" b="1">
                <a:solidFill>
                  <a:srgbClr val="263648"/>
                </a:solidFill>
                <a:latin typeface="Arial"/>
                <a:ea typeface="Arial"/>
                <a:cs typeface="Arial"/>
              </a:defRPr>
            </a:lvl3pPr>
            <a:lvl4pPr algn="r">
              <a:defRPr sz="900" b="1">
                <a:solidFill>
                  <a:srgbClr val="263648"/>
                </a:solidFill>
                <a:latin typeface="Arial"/>
                <a:ea typeface="Arial"/>
                <a:cs typeface="Arial"/>
              </a:defRPr>
            </a:lvl4pPr>
            <a:lvl5pPr algn="r">
              <a:defRPr sz="900" b="1">
                <a:solidFill>
                  <a:srgbClr val="263648"/>
                </a:solidFill>
                <a:latin typeface="Arial"/>
                <a:ea typeface="Arial"/>
                <a:cs typeface="Arial"/>
              </a:defRPr>
            </a:lvl5pPr>
            <a:lvl6pPr algn="r">
              <a:defRPr sz="900" b="1">
                <a:solidFill>
                  <a:srgbClr val="263648"/>
                </a:solidFill>
                <a:latin typeface="Arial"/>
                <a:ea typeface="Arial"/>
                <a:cs typeface="Arial"/>
              </a:defRPr>
            </a:lvl6pPr>
            <a:lvl7pPr algn="r">
              <a:defRPr sz="900" b="1">
                <a:solidFill>
                  <a:srgbClr val="263648"/>
                </a:solidFill>
                <a:latin typeface="Arial"/>
                <a:ea typeface="Arial"/>
                <a:cs typeface="Arial"/>
              </a:defRPr>
            </a:lvl7pPr>
            <a:lvl8pPr algn="r">
              <a:defRPr sz="900" b="1">
                <a:solidFill>
                  <a:srgbClr val="263648"/>
                </a:solidFill>
                <a:latin typeface="Arial"/>
                <a:ea typeface="Arial"/>
                <a:cs typeface="Arial"/>
              </a:defRPr>
            </a:lvl8pPr>
            <a:lvl9pPr algn="r">
              <a:defRPr sz="900" b="1">
                <a:solidFill>
                  <a:srgbClr val="263648"/>
                </a:solidFill>
                <a:latin typeface="Arial"/>
                <a:ea typeface="Arial"/>
                <a:cs typeface="Arial"/>
              </a:defRPr>
            </a:lvl9pPr>
          </a:lstStyle>
          <a:p xmlns:a="http://schemas.openxmlformats.org/drawingml/2006/main">
            <a:pPr algn="r">
              <a:defRPr sz="900" b="1">
                <a:solidFill>
                  <a:srgbClr val="263648"/>
                </a:solidFill>
                <a:latin typeface="Arial"/>
                <a:ea typeface="Arial"/>
                <a:cs typeface="Arial"/>
              </a:defRPr>
            </a:pPr>
            <a:r>
              <a:rPr sz="900" b="1">
                <a:solidFill>
                  <a:srgbClr val="263648"/>
                </a:solidFill>
                <a:latin typeface="Arial"/>
                <a:ea typeface="Arial"/>
                <a:cs typeface="Arial"/>
              </a:rPr>
              <a:t>-0.023</a:t>
            </a:r>
          </a:p>
        </p:txBody>
      </p:sp>
      <p:sp>
        <p:nvSpPr>
          <p:cNvPr id="44" name="">
            <a:extLst xmlns:a="http://schemas.openxmlformats.org/drawingml/2006/main">
              <a:ext uri="{FF2B5EF4-FFF2-40B4-BE49-F238E27FC236}">
                <a16:creationId xmlns:a16="http://schemas.microsoft.com/office/drawing/2014/main" id="{603270CA-4953-4E6B-BEE4-617534269C62}"/>
              </a:ext>
            </a:extLst>
          </p:cNvPr>
          <p:cNvSpPr>
            <a:spLocks xmlns:a="http://schemas.openxmlformats.org/drawingml/2006/main" noGrp="1"/>
          </p:cNvSpPr>
          <p:nvPr/>
        </p:nvSpPr>
        <p:spPr>
          <a:xfrm xmlns:a="http://schemas.openxmlformats.org/drawingml/2006/main">
            <a:off x="685800" y="48863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op add</a:t>
            </a:r>
          </a:p>
        </p:txBody>
      </p:sp>
      <p:sp>
        <p:nvSpPr>
          <p:cNvPr id="45" name="">
            <a:extLst xmlns:a="http://schemas.openxmlformats.org/drawingml/2006/main">
              <a:ext uri="{FF2B5EF4-FFF2-40B4-BE49-F238E27FC236}">
                <a16:creationId xmlns:a16="http://schemas.microsoft.com/office/drawing/2014/main" id="{828B7E72-DC71-4099-8AD6-A203CC5DBFAE}"/>
              </a:ext>
            </a:extLst>
          </p:cNvPr>
          <p:cNvSpPr>
            <a:spLocks xmlns:a="http://schemas.openxmlformats.org/drawingml/2006/main" noGrp="1"/>
          </p:cNvSpPr>
          <p:nvPr/>
        </p:nvSpPr>
        <p:spPr>
          <a:xfrm xmlns:a="http://schemas.openxmlformats.org/drawingml/2006/main">
            <a:off x="685800" y="50673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ADD operators in the candidate expression</a:t>
            </a:r>
          </a:p>
        </p:txBody>
      </p:sp>
      <p:sp>
        <p:nvSpPr>
          <p:cNvPr id="46" name="">
            <a:extLst xmlns:a="http://schemas.openxmlformats.org/drawingml/2006/main">
              <a:ext uri="{FF2B5EF4-FFF2-40B4-BE49-F238E27FC236}">
                <a16:creationId xmlns:a16="http://schemas.microsoft.com/office/drawing/2014/main" id="{FA6D7D8A-0BDE-49FA-96ED-DD06F17DB60E}"/>
              </a:ext>
            </a:extLst>
          </p:cNvPr>
          <p:cNvSpPr>
            <a:spLocks xmlns:a="http://schemas.openxmlformats.org/drawingml/2006/main" noGrp="1"/>
          </p:cNvSpPr>
          <p:nvPr/>
        </p:nvSpPr>
        <p:spPr>
          <a:xfrm xmlns:a="http://schemas.openxmlformats.org/drawingml/2006/main">
            <a:off x="7858125" y="4914900"/>
            <a:ext cx="146755" cy="190500"/>
          </a:xfrm>
          <a:prstGeom xmlns:a="http://schemas.openxmlformats.org/drawingml/2006/main" prst="roundRect">
            <a:avLst>
              <a:gd name="adj" fmla="val 50000"/>
            </a:avLst>
          </a:prstGeom>
          <a:solidFill xmlns:a="http://schemas.openxmlformats.org/drawingml/2006/main">
            <a:srgbClr val="18856B"/>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5F0B6E24-72FE-42D0-83B6-172C764D9725}"/>
              </a:ext>
            </a:extLst>
          </p:cNvPr>
          <p:cNvSpPr>
            <a:spLocks xmlns:a="http://schemas.openxmlformats.org/drawingml/2006/main" noGrp="1"/>
          </p:cNvSpPr>
          <p:nvPr/>
        </p:nvSpPr>
        <p:spPr>
          <a:xfrm xmlns:a="http://schemas.openxmlformats.org/drawingml/2006/main">
            <a:off x="8081080" y="49244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900" b="1">
                <a:solidFill>
                  <a:srgbClr val="263648"/>
                </a:solidFill>
                <a:latin typeface="Arial"/>
                <a:ea typeface="Arial"/>
                <a:cs typeface="Arial"/>
              </a:defRPr>
            </a:defPPr>
            <a:lvl1pPr algn="l">
              <a:defRPr sz="900" b="1">
                <a:solidFill>
                  <a:srgbClr val="263648"/>
                </a:solidFill>
                <a:latin typeface="Arial"/>
                <a:ea typeface="Arial"/>
                <a:cs typeface="Arial"/>
              </a:defRPr>
            </a:lvl1pPr>
            <a:lvl2pPr algn="l">
              <a:defRPr sz="900" b="1">
                <a:solidFill>
                  <a:srgbClr val="263648"/>
                </a:solidFill>
                <a:latin typeface="Arial"/>
                <a:ea typeface="Arial"/>
                <a:cs typeface="Arial"/>
              </a:defRPr>
            </a:lvl2pPr>
            <a:lvl3pPr algn="l">
              <a:defRPr sz="900" b="1">
                <a:solidFill>
                  <a:srgbClr val="263648"/>
                </a:solidFill>
                <a:latin typeface="Arial"/>
                <a:ea typeface="Arial"/>
                <a:cs typeface="Arial"/>
              </a:defRPr>
            </a:lvl3pPr>
            <a:lvl4pPr algn="l">
              <a:defRPr sz="900" b="1">
                <a:solidFill>
                  <a:srgbClr val="263648"/>
                </a:solidFill>
                <a:latin typeface="Arial"/>
                <a:ea typeface="Arial"/>
                <a:cs typeface="Arial"/>
              </a:defRPr>
            </a:lvl4pPr>
            <a:lvl5pPr algn="l">
              <a:defRPr sz="900" b="1">
                <a:solidFill>
                  <a:srgbClr val="263648"/>
                </a:solidFill>
                <a:latin typeface="Arial"/>
                <a:ea typeface="Arial"/>
                <a:cs typeface="Arial"/>
              </a:defRPr>
            </a:lvl5pPr>
            <a:lvl6pPr algn="l">
              <a:defRPr sz="900" b="1">
                <a:solidFill>
                  <a:srgbClr val="263648"/>
                </a:solidFill>
                <a:latin typeface="Arial"/>
                <a:ea typeface="Arial"/>
                <a:cs typeface="Arial"/>
              </a:defRPr>
            </a:lvl6pPr>
            <a:lvl7pPr algn="l">
              <a:defRPr sz="900" b="1">
                <a:solidFill>
                  <a:srgbClr val="263648"/>
                </a:solidFill>
                <a:latin typeface="Arial"/>
                <a:ea typeface="Arial"/>
                <a:cs typeface="Arial"/>
              </a:defRPr>
            </a:lvl7pPr>
            <a:lvl8pPr algn="l">
              <a:defRPr sz="900" b="1">
                <a:solidFill>
                  <a:srgbClr val="263648"/>
                </a:solidFill>
                <a:latin typeface="Arial"/>
                <a:ea typeface="Arial"/>
                <a:cs typeface="Arial"/>
              </a:defRPr>
            </a:lvl8pPr>
            <a:lvl9pPr algn="l">
              <a:defRPr sz="900" b="1">
                <a:solidFill>
                  <a:srgbClr val="263648"/>
                </a:solidFill>
                <a:latin typeface="Arial"/>
                <a:ea typeface="Arial"/>
                <a:cs typeface="Arial"/>
              </a:defRPr>
            </a:lvl9pPr>
          </a:lstStyle>
          <a:p xmlns:a="http://schemas.openxmlformats.org/drawingml/2006/main">
            <a:pPr algn="l">
              <a:defRPr sz="900" b="1">
                <a:solidFill>
                  <a:srgbClr val="263648"/>
                </a:solidFill>
                <a:latin typeface="Arial"/>
                <a:ea typeface="Arial"/>
                <a:cs typeface="Arial"/>
              </a:defRPr>
            </a:pPr>
            <a:r>
              <a:rPr sz="900" b="1">
                <a:solidFill>
                  <a:srgbClr val="263648"/>
                </a:solidFill>
                <a:latin typeface="Arial"/>
                <a:ea typeface="Arial"/>
                <a:cs typeface="Arial"/>
              </a:rPr>
              <a:t>+0.022</a:t>
            </a:r>
          </a:p>
        </p:txBody>
      </p:sp>
      <p:sp>
        <p:nvSpPr>
          <p:cNvPr id="48" name="">
            <a:extLst xmlns:a="http://schemas.openxmlformats.org/drawingml/2006/main">
              <a:ext uri="{FF2B5EF4-FFF2-40B4-BE49-F238E27FC236}">
                <a16:creationId xmlns:a16="http://schemas.microsoft.com/office/drawing/2014/main" id="{6E99BC43-3E94-4823-9520-2047C35B414A}"/>
              </a:ext>
            </a:extLst>
          </p:cNvPr>
          <p:cNvSpPr>
            <a:spLocks xmlns:a="http://schemas.openxmlformats.org/drawingml/2006/main" noGrp="1"/>
          </p:cNvSpPr>
          <p:nvPr/>
        </p:nvSpPr>
        <p:spPr>
          <a:xfrm xmlns:a="http://schemas.openxmlformats.org/drawingml/2006/main">
            <a:off x="685800" y="52292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Other 27 feature inputs</a:t>
            </a:r>
          </a:p>
        </p:txBody>
      </p:sp>
      <p:sp>
        <p:nvSpPr>
          <p:cNvPr id="49" name="">
            <a:extLst xmlns:a="http://schemas.openxmlformats.org/drawingml/2006/main">
              <a:ext uri="{FF2B5EF4-FFF2-40B4-BE49-F238E27FC236}">
                <a16:creationId xmlns:a16="http://schemas.microsoft.com/office/drawing/2014/main" id="{6B005782-BA77-4EFC-8AA7-19797A5F971A}"/>
              </a:ext>
            </a:extLst>
          </p:cNvPr>
          <p:cNvSpPr>
            <a:spLocks xmlns:a="http://schemas.openxmlformats.org/drawingml/2006/main" noGrp="1"/>
          </p:cNvSpPr>
          <p:nvPr/>
        </p:nvSpPr>
        <p:spPr>
          <a:xfrm xmlns:a="http://schemas.openxmlformats.org/drawingml/2006/main">
            <a:off x="685800" y="54102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remaining feature contributions combined</a:t>
            </a:r>
          </a:p>
        </p:txBody>
      </p:sp>
      <p:sp>
        <p:nvSpPr>
          <p:cNvPr id="50" name="">
            <a:extLst xmlns:a="http://schemas.openxmlformats.org/drawingml/2006/main">
              <a:ext uri="{FF2B5EF4-FFF2-40B4-BE49-F238E27FC236}">
                <a16:creationId xmlns:a16="http://schemas.microsoft.com/office/drawing/2014/main" id="{8322EC0C-0869-4558-9DE4-B5461D355DB7}"/>
              </a:ext>
            </a:extLst>
          </p:cNvPr>
          <p:cNvSpPr>
            <a:spLocks xmlns:a="http://schemas.openxmlformats.org/drawingml/2006/main" noGrp="1"/>
          </p:cNvSpPr>
          <p:nvPr/>
        </p:nvSpPr>
        <p:spPr>
          <a:xfrm xmlns:a="http://schemas.openxmlformats.org/drawingml/2006/main">
            <a:off x="7845802" y="5257800"/>
            <a:ext cx="19050" cy="190500"/>
          </a:xfrm>
          <a:prstGeom xmlns:a="http://schemas.openxmlformats.org/drawingml/2006/main" prst="roundRect">
            <a:avLst>
              <a:gd name="adj" fmla="val 50000"/>
            </a:avLst>
          </a:prstGeom>
          <a:solidFill xmlns:a="http://schemas.openxmlformats.org/drawingml/2006/main">
            <a:srgbClr val="B94A48"/>
          </a:solidFill>
          <a:ln xmlns:a="http://schemas.openxmlformats.org/drawingml/2006/main" w="0">
            <a:noFill/>
            <a:prstDash val="solid"/>
          </a:ln>
        </p:spPr>
      </p:sp>
      <p:sp>
        <p:nvSpPr>
          <p:cNvPr id="51" name="">
            <a:extLst xmlns:a="http://schemas.openxmlformats.org/drawingml/2006/main">
              <a:ext uri="{FF2B5EF4-FFF2-40B4-BE49-F238E27FC236}">
                <a16:creationId xmlns:a16="http://schemas.microsoft.com/office/drawing/2014/main" id="{444966C2-E4C7-40CD-9FB5-15087492625B}"/>
              </a:ext>
            </a:extLst>
          </p:cNvPr>
          <p:cNvSpPr>
            <a:spLocks xmlns:a="http://schemas.openxmlformats.org/drawingml/2006/main" noGrp="1"/>
          </p:cNvSpPr>
          <p:nvPr/>
        </p:nvSpPr>
        <p:spPr>
          <a:xfrm xmlns:a="http://schemas.openxmlformats.org/drawingml/2006/main">
            <a:off x="7198102" y="52673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900" b="1">
                <a:solidFill>
                  <a:srgbClr val="263648"/>
                </a:solidFill>
                <a:latin typeface="Arial"/>
                <a:ea typeface="Arial"/>
                <a:cs typeface="Arial"/>
              </a:defRPr>
            </a:defPPr>
            <a:lvl1pPr algn="r">
              <a:defRPr sz="900" b="1">
                <a:solidFill>
                  <a:srgbClr val="263648"/>
                </a:solidFill>
                <a:latin typeface="Arial"/>
                <a:ea typeface="Arial"/>
                <a:cs typeface="Arial"/>
              </a:defRPr>
            </a:lvl1pPr>
            <a:lvl2pPr algn="r">
              <a:defRPr sz="900" b="1">
                <a:solidFill>
                  <a:srgbClr val="263648"/>
                </a:solidFill>
                <a:latin typeface="Arial"/>
                <a:ea typeface="Arial"/>
                <a:cs typeface="Arial"/>
              </a:defRPr>
            </a:lvl2pPr>
            <a:lvl3pPr algn="r">
              <a:defRPr sz="900" b="1">
                <a:solidFill>
                  <a:srgbClr val="263648"/>
                </a:solidFill>
                <a:latin typeface="Arial"/>
                <a:ea typeface="Arial"/>
                <a:cs typeface="Arial"/>
              </a:defRPr>
            </a:lvl3pPr>
            <a:lvl4pPr algn="r">
              <a:defRPr sz="900" b="1">
                <a:solidFill>
                  <a:srgbClr val="263648"/>
                </a:solidFill>
                <a:latin typeface="Arial"/>
                <a:ea typeface="Arial"/>
                <a:cs typeface="Arial"/>
              </a:defRPr>
            </a:lvl4pPr>
            <a:lvl5pPr algn="r">
              <a:defRPr sz="900" b="1">
                <a:solidFill>
                  <a:srgbClr val="263648"/>
                </a:solidFill>
                <a:latin typeface="Arial"/>
                <a:ea typeface="Arial"/>
                <a:cs typeface="Arial"/>
              </a:defRPr>
            </a:lvl5pPr>
            <a:lvl6pPr algn="r">
              <a:defRPr sz="900" b="1">
                <a:solidFill>
                  <a:srgbClr val="263648"/>
                </a:solidFill>
                <a:latin typeface="Arial"/>
                <a:ea typeface="Arial"/>
                <a:cs typeface="Arial"/>
              </a:defRPr>
            </a:lvl6pPr>
            <a:lvl7pPr algn="r">
              <a:defRPr sz="900" b="1">
                <a:solidFill>
                  <a:srgbClr val="263648"/>
                </a:solidFill>
                <a:latin typeface="Arial"/>
                <a:ea typeface="Arial"/>
                <a:cs typeface="Arial"/>
              </a:defRPr>
            </a:lvl7pPr>
            <a:lvl8pPr algn="r">
              <a:defRPr sz="900" b="1">
                <a:solidFill>
                  <a:srgbClr val="263648"/>
                </a:solidFill>
                <a:latin typeface="Arial"/>
                <a:ea typeface="Arial"/>
                <a:cs typeface="Arial"/>
              </a:defRPr>
            </a:lvl8pPr>
            <a:lvl9pPr algn="r">
              <a:defRPr sz="900" b="1">
                <a:solidFill>
                  <a:srgbClr val="263648"/>
                </a:solidFill>
                <a:latin typeface="Arial"/>
                <a:ea typeface="Arial"/>
                <a:cs typeface="Arial"/>
              </a:defRPr>
            </a:lvl9pPr>
          </a:lstStyle>
          <a:p xmlns:a="http://schemas.openxmlformats.org/drawingml/2006/main">
            <a:pPr algn="r">
              <a:defRPr sz="900" b="1">
                <a:solidFill>
                  <a:srgbClr val="263648"/>
                </a:solidFill>
                <a:latin typeface="Arial"/>
                <a:ea typeface="Arial"/>
                <a:cs typeface="Arial"/>
              </a:defRPr>
            </a:pPr>
            <a:r>
              <a:rPr sz="900" b="1">
                <a:solidFill>
                  <a:srgbClr val="263648"/>
                </a:solidFill>
                <a:latin typeface="Arial"/>
                <a:ea typeface="Arial"/>
                <a:cs typeface="Arial"/>
              </a:rPr>
              <a:t>-0.002</a:t>
            </a:r>
          </a:p>
        </p:txBody>
      </p:sp>
      <p:sp>
        <p:nvSpPr>
          <p:cNvPr id="52" name="">
            <a:extLst xmlns:a="http://schemas.openxmlformats.org/drawingml/2006/main">
              <a:ext uri="{FF2B5EF4-FFF2-40B4-BE49-F238E27FC236}">
                <a16:creationId xmlns:a16="http://schemas.microsoft.com/office/drawing/2014/main" id="{0C224AEF-5C5A-474A-A7ED-A297A4D9AB4A}"/>
              </a:ext>
            </a:extLst>
          </p:cNvPr>
          <p:cNvSpPr>
            <a:spLocks xmlns:a="http://schemas.openxmlformats.org/drawingml/2006/main" noGrp="1"/>
          </p:cNvSpPr>
          <p:nvPr/>
        </p:nvSpPr>
        <p:spPr>
          <a:xfrm xmlns:a="http://schemas.openxmlformats.org/drawingml/2006/main">
            <a:off x="685800" y="5572125"/>
            <a:ext cx="342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263648"/>
                </a:solidFill>
                <a:latin typeface="Arial"/>
                <a:ea typeface="Arial"/>
                <a:cs typeface="Arial"/>
              </a:defRPr>
            </a:defPPr>
            <a:lvl1pPr>
              <a:defRPr sz="1125" b="1">
                <a:solidFill>
                  <a:srgbClr val="263648"/>
                </a:solidFill>
                <a:latin typeface="Arial"/>
                <a:ea typeface="Arial"/>
                <a:cs typeface="Arial"/>
              </a:defRPr>
            </a:lvl1pPr>
            <a:lvl2pPr>
              <a:defRPr sz="1125" b="1">
                <a:solidFill>
                  <a:srgbClr val="263648"/>
                </a:solidFill>
                <a:latin typeface="Arial"/>
                <a:ea typeface="Arial"/>
                <a:cs typeface="Arial"/>
              </a:defRPr>
            </a:lvl2pPr>
            <a:lvl3pPr>
              <a:defRPr sz="1125" b="1">
                <a:solidFill>
                  <a:srgbClr val="263648"/>
                </a:solidFill>
                <a:latin typeface="Arial"/>
                <a:ea typeface="Arial"/>
                <a:cs typeface="Arial"/>
              </a:defRPr>
            </a:lvl3pPr>
            <a:lvl4pPr>
              <a:defRPr sz="1125" b="1">
                <a:solidFill>
                  <a:srgbClr val="263648"/>
                </a:solidFill>
                <a:latin typeface="Arial"/>
                <a:ea typeface="Arial"/>
                <a:cs typeface="Arial"/>
              </a:defRPr>
            </a:lvl4pPr>
            <a:lvl5pPr>
              <a:defRPr sz="1125" b="1">
                <a:solidFill>
                  <a:srgbClr val="263648"/>
                </a:solidFill>
                <a:latin typeface="Arial"/>
                <a:ea typeface="Arial"/>
                <a:cs typeface="Arial"/>
              </a:defRPr>
            </a:lvl5pPr>
            <a:lvl6pPr>
              <a:defRPr sz="1125" b="1">
                <a:solidFill>
                  <a:srgbClr val="263648"/>
                </a:solidFill>
                <a:latin typeface="Arial"/>
                <a:ea typeface="Arial"/>
                <a:cs typeface="Arial"/>
              </a:defRPr>
            </a:lvl6pPr>
            <a:lvl7pPr>
              <a:defRPr sz="1125" b="1">
                <a:solidFill>
                  <a:srgbClr val="263648"/>
                </a:solidFill>
                <a:latin typeface="Arial"/>
                <a:ea typeface="Arial"/>
                <a:cs typeface="Arial"/>
              </a:defRPr>
            </a:lvl7pPr>
            <a:lvl8pPr>
              <a:defRPr sz="1125" b="1">
                <a:solidFill>
                  <a:srgbClr val="263648"/>
                </a:solidFill>
                <a:latin typeface="Arial"/>
                <a:ea typeface="Arial"/>
                <a:cs typeface="Arial"/>
              </a:defRPr>
            </a:lvl8pPr>
            <a:lvl9pPr>
              <a:defRPr sz="1125" b="1">
                <a:solidFill>
                  <a:srgbClr val="263648"/>
                </a:solidFill>
                <a:latin typeface="Arial"/>
                <a:ea typeface="Arial"/>
                <a:cs typeface="Arial"/>
              </a:defRPr>
            </a:lvl9pPr>
          </a:lstStyle>
          <a:p xmlns:a="http://schemas.openxmlformats.org/drawingml/2006/main">
            <a:pPr>
              <a:defRPr sz="1125" b="1">
                <a:solidFill>
                  <a:srgbClr val="263648"/>
                </a:solidFill>
                <a:latin typeface="Arial"/>
                <a:ea typeface="Arial"/>
                <a:cs typeface="Arial"/>
              </a:defRPr>
            </a:pPr>
            <a:r>
              <a:rPr sz="1125" b="1">
                <a:solidFill>
                  <a:srgbClr val="263648"/>
                </a:solidFill>
                <a:latin typeface="Arial"/>
                <a:ea typeface="Arial"/>
                <a:cs typeface="Arial"/>
              </a:rPr>
              <a:t>Base score</a:t>
            </a:r>
          </a:p>
        </p:txBody>
      </p:sp>
      <p:sp>
        <p:nvSpPr>
          <p:cNvPr id="53" name="">
            <a:extLst xmlns:a="http://schemas.openxmlformats.org/drawingml/2006/main">
              <a:ext uri="{FF2B5EF4-FFF2-40B4-BE49-F238E27FC236}">
                <a16:creationId xmlns:a16="http://schemas.microsoft.com/office/drawing/2014/main" id="{DA2A5233-864A-4FCF-919A-0036CCBD83A4}"/>
              </a:ext>
            </a:extLst>
          </p:cNvPr>
          <p:cNvSpPr>
            <a:spLocks xmlns:a="http://schemas.openxmlformats.org/drawingml/2006/main" noGrp="1"/>
          </p:cNvSpPr>
          <p:nvPr/>
        </p:nvSpPr>
        <p:spPr>
          <a:xfrm xmlns:a="http://schemas.openxmlformats.org/drawingml/2006/main">
            <a:off x="685800" y="5753100"/>
            <a:ext cx="3429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25">
                <a:solidFill>
                  <a:srgbClr val="607286"/>
                </a:solidFill>
                <a:latin typeface="Arial"/>
                <a:ea typeface="Arial"/>
                <a:cs typeface="Arial"/>
              </a:defRPr>
            </a:defPPr>
            <a:lvl1pPr>
              <a:defRPr sz="825">
                <a:solidFill>
                  <a:srgbClr val="607286"/>
                </a:solidFill>
                <a:latin typeface="Arial"/>
                <a:ea typeface="Arial"/>
                <a:cs typeface="Arial"/>
              </a:defRPr>
            </a:lvl1pPr>
            <a:lvl2pPr>
              <a:defRPr sz="825">
                <a:solidFill>
                  <a:srgbClr val="607286"/>
                </a:solidFill>
                <a:latin typeface="Arial"/>
                <a:ea typeface="Arial"/>
                <a:cs typeface="Arial"/>
              </a:defRPr>
            </a:lvl2pPr>
            <a:lvl3pPr>
              <a:defRPr sz="825">
                <a:solidFill>
                  <a:srgbClr val="607286"/>
                </a:solidFill>
                <a:latin typeface="Arial"/>
                <a:ea typeface="Arial"/>
                <a:cs typeface="Arial"/>
              </a:defRPr>
            </a:lvl3pPr>
            <a:lvl4pPr>
              <a:defRPr sz="825">
                <a:solidFill>
                  <a:srgbClr val="607286"/>
                </a:solidFill>
                <a:latin typeface="Arial"/>
                <a:ea typeface="Arial"/>
                <a:cs typeface="Arial"/>
              </a:defRPr>
            </a:lvl4pPr>
            <a:lvl5pPr>
              <a:defRPr sz="825">
                <a:solidFill>
                  <a:srgbClr val="607286"/>
                </a:solidFill>
                <a:latin typeface="Arial"/>
                <a:ea typeface="Arial"/>
                <a:cs typeface="Arial"/>
              </a:defRPr>
            </a:lvl5pPr>
            <a:lvl6pPr>
              <a:defRPr sz="825">
                <a:solidFill>
                  <a:srgbClr val="607286"/>
                </a:solidFill>
                <a:latin typeface="Arial"/>
                <a:ea typeface="Arial"/>
                <a:cs typeface="Arial"/>
              </a:defRPr>
            </a:lvl6pPr>
            <a:lvl7pPr>
              <a:defRPr sz="825">
                <a:solidFill>
                  <a:srgbClr val="607286"/>
                </a:solidFill>
                <a:latin typeface="Arial"/>
                <a:ea typeface="Arial"/>
                <a:cs typeface="Arial"/>
              </a:defRPr>
            </a:lvl7pPr>
            <a:lvl8pPr>
              <a:defRPr sz="825">
                <a:solidFill>
                  <a:srgbClr val="607286"/>
                </a:solidFill>
                <a:latin typeface="Arial"/>
                <a:ea typeface="Arial"/>
                <a:cs typeface="Arial"/>
              </a:defRPr>
            </a:lvl8pPr>
            <a:lvl9pPr>
              <a:defRPr sz="825">
                <a:solidFill>
                  <a:srgbClr val="607286"/>
                </a:solidFill>
                <a:latin typeface="Arial"/>
                <a:ea typeface="Arial"/>
                <a:cs typeface="Arial"/>
              </a:defRPr>
            </a:lvl9pPr>
          </a:lstStyle>
          <a:p xmlns:a="http://schemas.openxmlformats.org/drawingml/2006/main">
            <a:pPr>
              <a:defRPr sz="825">
                <a:solidFill>
                  <a:srgbClr val="607286"/>
                </a:solidFill>
                <a:latin typeface="Arial"/>
                <a:ea typeface="Arial"/>
                <a:cs typeface="Arial"/>
              </a:defRPr>
            </a:pPr>
            <a:r>
              <a:rPr sz="825">
                <a:solidFill>
                  <a:srgbClr val="607286"/>
                </a:solidFill>
                <a:latin typeface="Arial"/>
                <a:ea typeface="Arial"/>
                <a:cs typeface="Arial"/>
              </a:rPr>
              <a:t>model's starting rank score before this candidate's features</a:t>
            </a:r>
          </a:p>
        </p:txBody>
      </p:sp>
      <p:sp>
        <p:nvSpPr>
          <p:cNvPr id="54" name="">
            <a:extLst xmlns:a="http://schemas.openxmlformats.org/drawingml/2006/main">
              <a:ext uri="{FF2B5EF4-FFF2-40B4-BE49-F238E27FC236}">
                <a16:creationId xmlns:a16="http://schemas.microsoft.com/office/drawing/2014/main" id="{1C3ECD72-7A77-45B3-AF64-72264F34E554}"/>
              </a:ext>
            </a:extLst>
          </p:cNvPr>
          <p:cNvSpPr>
            <a:spLocks xmlns:a="http://schemas.openxmlformats.org/drawingml/2006/main" noGrp="1"/>
          </p:cNvSpPr>
          <p:nvPr/>
        </p:nvSpPr>
        <p:spPr>
          <a:xfrm xmlns:a="http://schemas.openxmlformats.org/drawingml/2006/main">
            <a:off x="7835875" y="5600700"/>
            <a:ext cx="22250" cy="190500"/>
          </a:xfrm>
          <a:prstGeom xmlns:a="http://schemas.openxmlformats.org/drawingml/2006/main" prst="roundRect">
            <a:avLst>
              <a:gd name="adj" fmla="val 50000"/>
            </a:avLst>
          </a:prstGeom>
          <a:solidFill xmlns:a="http://schemas.openxmlformats.org/drawingml/2006/main">
            <a:srgbClr val="B94A48"/>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C3A7723-E4CC-4AC8-ACEB-CCB736F66B56}"/>
              </a:ext>
            </a:extLst>
          </p:cNvPr>
          <p:cNvSpPr>
            <a:spLocks xmlns:a="http://schemas.openxmlformats.org/drawingml/2006/main" noGrp="1"/>
          </p:cNvSpPr>
          <p:nvPr/>
        </p:nvSpPr>
        <p:spPr>
          <a:xfrm xmlns:a="http://schemas.openxmlformats.org/drawingml/2006/main">
            <a:off x="7188175" y="5610225"/>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900" b="1">
                <a:solidFill>
                  <a:srgbClr val="263648"/>
                </a:solidFill>
                <a:latin typeface="Arial"/>
                <a:ea typeface="Arial"/>
                <a:cs typeface="Arial"/>
              </a:defRPr>
            </a:defPPr>
            <a:lvl1pPr algn="r">
              <a:defRPr sz="900" b="1">
                <a:solidFill>
                  <a:srgbClr val="263648"/>
                </a:solidFill>
                <a:latin typeface="Arial"/>
                <a:ea typeface="Arial"/>
                <a:cs typeface="Arial"/>
              </a:defRPr>
            </a:lvl1pPr>
            <a:lvl2pPr algn="r">
              <a:defRPr sz="900" b="1">
                <a:solidFill>
                  <a:srgbClr val="263648"/>
                </a:solidFill>
                <a:latin typeface="Arial"/>
                <a:ea typeface="Arial"/>
                <a:cs typeface="Arial"/>
              </a:defRPr>
            </a:lvl2pPr>
            <a:lvl3pPr algn="r">
              <a:defRPr sz="900" b="1">
                <a:solidFill>
                  <a:srgbClr val="263648"/>
                </a:solidFill>
                <a:latin typeface="Arial"/>
                <a:ea typeface="Arial"/>
                <a:cs typeface="Arial"/>
              </a:defRPr>
            </a:lvl3pPr>
            <a:lvl4pPr algn="r">
              <a:defRPr sz="900" b="1">
                <a:solidFill>
                  <a:srgbClr val="263648"/>
                </a:solidFill>
                <a:latin typeface="Arial"/>
                <a:ea typeface="Arial"/>
                <a:cs typeface="Arial"/>
              </a:defRPr>
            </a:lvl4pPr>
            <a:lvl5pPr algn="r">
              <a:defRPr sz="900" b="1">
                <a:solidFill>
                  <a:srgbClr val="263648"/>
                </a:solidFill>
                <a:latin typeface="Arial"/>
                <a:ea typeface="Arial"/>
                <a:cs typeface="Arial"/>
              </a:defRPr>
            </a:lvl5pPr>
            <a:lvl6pPr algn="r">
              <a:defRPr sz="900" b="1">
                <a:solidFill>
                  <a:srgbClr val="263648"/>
                </a:solidFill>
                <a:latin typeface="Arial"/>
                <a:ea typeface="Arial"/>
                <a:cs typeface="Arial"/>
              </a:defRPr>
            </a:lvl6pPr>
            <a:lvl7pPr algn="r">
              <a:defRPr sz="900" b="1">
                <a:solidFill>
                  <a:srgbClr val="263648"/>
                </a:solidFill>
                <a:latin typeface="Arial"/>
                <a:ea typeface="Arial"/>
                <a:cs typeface="Arial"/>
              </a:defRPr>
            </a:lvl7pPr>
            <a:lvl8pPr algn="r">
              <a:defRPr sz="900" b="1">
                <a:solidFill>
                  <a:srgbClr val="263648"/>
                </a:solidFill>
                <a:latin typeface="Arial"/>
                <a:ea typeface="Arial"/>
                <a:cs typeface="Arial"/>
              </a:defRPr>
            </a:lvl8pPr>
            <a:lvl9pPr algn="r">
              <a:defRPr sz="900" b="1">
                <a:solidFill>
                  <a:srgbClr val="263648"/>
                </a:solidFill>
                <a:latin typeface="Arial"/>
                <a:ea typeface="Arial"/>
                <a:cs typeface="Arial"/>
              </a:defRPr>
            </a:lvl9pPr>
          </a:lstStyle>
          <a:p xmlns:a="http://schemas.openxmlformats.org/drawingml/2006/main">
            <a:pPr algn="r">
              <a:defRPr sz="900" b="1">
                <a:solidFill>
                  <a:srgbClr val="263648"/>
                </a:solidFill>
                <a:latin typeface="Arial"/>
                <a:ea typeface="Arial"/>
                <a:cs typeface="Arial"/>
              </a:defRPr>
            </a:pPr>
            <a:r>
              <a:rPr sz="900" b="1">
                <a:solidFill>
                  <a:srgbClr val="263648"/>
                </a:solidFill>
                <a:latin typeface="Arial"/>
                <a:ea typeface="Arial"/>
                <a:cs typeface="Arial"/>
              </a:rPr>
              <a:t>-0.003</a:t>
            </a:r>
          </a:p>
        </p:txBody>
      </p:sp>
      <p:sp>
        <p:nvSpPr>
          <p:cNvPr id="56" name="">
            <a:extLst xmlns:a="http://schemas.openxmlformats.org/drawingml/2006/main">
              <a:ext uri="{FF2B5EF4-FFF2-40B4-BE49-F238E27FC236}">
                <a16:creationId xmlns:a16="http://schemas.microsoft.com/office/drawing/2014/main" id="{56242213-E660-4480-ADEC-3E4B00B09D59}"/>
              </a:ext>
            </a:extLst>
          </p:cNvPr>
          <p:cNvSpPr>
            <a:spLocks xmlns:a="http://schemas.openxmlformats.org/drawingml/2006/main" noGrp="1"/>
          </p:cNvSpPr>
          <p:nvPr/>
        </p:nvSpPr>
        <p:spPr>
          <a:xfrm xmlns:a="http://schemas.openxmlformats.org/drawingml/2006/main">
            <a:off x="4572000" y="6191250"/>
            <a:ext cx="657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125" b="1">
                <a:solidFill>
                  <a:srgbClr val="17324D"/>
                </a:solidFill>
                <a:latin typeface="Arial"/>
                <a:ea typeface="Arial"/>
                <a:cs typeface="Arial"/>
              </a:defRPr>
            </a:defPPr>
            <a:lvl1pPr algn="ctr">
              <a:defRPr sz="1125" b="1">
                <a:solidFill>
                  <a:srgbClr val="17324D"/>
                </a:solidFill>
                <a:latin typeface="Arial"/>
                <a:ea typeface="Arial"/>
                <a:cs typeface="Arial"/>
              </a:defRPr>
            </a:lvl1pPr>
            <a:lvl2pPr algn="ctr">
              <a:defRPr sz="1125" b="1">
                <a:solidFill>
                  <a:srgbClr val="17324D"/>
                </a:solidFill>
                <a:latin typeface="Arial"/>
                <a:ea typeface="Arial"/>
                <a:cs typeface="Arial"/>
              </a:defRPr>
            </a:lvl2pPr>
            <a:lvl3pPr algn="ctr">
              <a:defRPr sz="1125" b="1">
                <a:solidFill>
                  <a:srgbClr val="17324D"/>
                </a:solidFill>
                <a:latin typeface="Arial"/>
                <a:ea typeface="Arial"/>
                <a:cs typeface="Arial"/>
              </a:defRPr>
            </a:lvl3pPr>
            <a:lvl4pPr algn="ctr">
              <a:defRPr sz="1125" b="1">
                <a:solidFill>
                  <a:srgbClr val="17324D"/>
                </a:solidFill>
                <a:latin typeface="Arial"/>
                <a:ea typeface="Arial"/>
                <a:cs typeface="Arial"/>
              </a:defRPr>
            </a:lvl4pPr>
            <a:lvl5pPr algn="ctr">
              <a:defRPr sz="1125" b="1">
                <a:solidFill>
                  <a:srgbClr val="17324D"/>
                </a:solidFill>
                <a:latin typeface="Arial"/>
                <a:ea typeface="Arial"/>
                <a:cs typeface="Arial"/>
              </a:defRPr>
            </a:lvl5pPr>
            <a:lvl6pPr algn="ctr">
              <a:defRPr sz="1125" b="1">
                <a:solidFill>
                  <a:srgbClr val="17324D"/>
                </a:solidFill>
                <a:latin typeface="Arial"/>
                <a:ea typeface="Arial"/>
                <a:cs typeface="Arial"/>
              </a:defRPr>
            </a:lvl6pPr>
            <a:lvl7pPr algn="ctr">
              <a:defRPr sz="1125" b="1">
                <a:solidFill>
                  <a:srgbClr val="17324D"/>
                </a:solidFill>
                <a:latin typeface="Arial"/>
                <a:ea typeface="Arial"/>
                <a:cs typeface="Arial"/>
              </a:defRPr>
            </a:lvl7pPr>
            <a:lvl8pPr algn="ctr">
              <a:defRPr sz="1125" b="1">
                <a:solidFill>
                  <a:srgbClr val="17324D"/>
                </a:solidFill>
                <a:latin typeface="Arial"/>
                <a:ea typeface="Arial"/>
                <a:cs typeface="Arial"/>
              </a:defRPr>
            </a:lvl8pPr>
            <a:lvl9pPr algn="ctr">
              <a:defRPr sz="1125" b="1">
                <a:solidFill>
                  <a:srgbClr val="17324D"/>
                </a:solidFill>
                <a:latin typeface="Arial"/>
                <a:ea typeface="Arial"/>
                <a:cs typeface="Arial"/>
              </a:defRPr>
            </a:lvl9pPr>
          </a:lstStyle>
          <a:p xmlns:a="http://schemas.openxmlformats.org/drawingml/2006/main">
            <a:pPr algn="ctr">
              <a:defRPr sz="1125" b="1">
                <a:solidFill>
                  <a:srgbClr val="17324D"/>
                </a:solidFill>
                <a:latin typeface="Arial"/>
                <a:ea typeface="Arial"/>
                <a:cs typeface="Arial"/>
              </a:defRPr>
            </a:pPr>
            <a:r>
              <a:rPr sz="1125" b="1">
                <a:solidFill>
                  <a:srgbClr val="17324D"/>
                </a:solidFill>
                <a:latin typeface="Arial"/>
                <a:ea typeface="Arial"/>
                <a:cs typeface="Arial"/>
              </a:rPr>
              <a:t>Base + feature contributions = 0.473 raw rank score</a:t>
            </a:r>
          </a:p>
        </p:txBody>
      </p:sp>
      <p:sp>
        <p:nvSpPr>
          <p:cNvPr id="57" name="">
            <a:extLst xmlns:a="http://schemas.openxmlformats.org/drawingml/2006/main">
              <a:ext uri="{FF2B5EF4-FFF2-40B4-BE49-F238E27FC236}">
                <a16:creationId xmlns:a16="http://schemas.microsoft.com/office/drawing/2014/main" id="{27AC37FE-3B56-4B4E-972C-1D56BE6C1E27}"/>
              </a:ext>
            </a:extLst>
          </p:cNvPr>
          <p:cNvSpPr>
            <a:spLocks xmlns:a="http://schemas.openxmlformats.org/drawingml/2006/main" noGrp="1"/>
          </p:cNvSpPr>
          <p:nvPr/>
        </p:nvSpPr>
        <p:spPr>
          <a:xfrm xmlns:a="http://schemas.openxmlformats.org/drawingml/2006/main">
            <a:off x="685800" y="5953125"/>
            <a:ext cx="10715625" cy="381000"/>
          </a:xfrm>
          <a:prstGeom xmlns:a="http://schemas.openxmlformats.org/drawingml/2006/main" prst="roundRect">
            <a:avLst>
              <a:gd name="adj" fmla="val 20000"/>
            </a:avLst>
          </a:prstGeom>
          <a:solidFill xmlns:a="http://schemas.openxmlformats.org/drawingml/2006/main">
            <a:srgbClr val="FFF1DF"/>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8EDE5DD5-700C-4085-AFAF-7B83ACF4C3D2}"/>
              </a:ext>
            </a:extLst>
          </p:cNvPr>
          <p:cNvSpPr>
            <a:spLocks xmlns:a="http://schemas.openxmlformats.org/drawingml/2006/main" noGrp="1"/>
          </p:cNvSpPr>
          <p:nvPr/>
        </p:nvSpPr>
        <p:spPr>
          <a:xfrm xmlns:a="http://schemas.openxmlformats.org/drawingml/2006/main">
            <a:off x="819150" y="6038850"/>
            <a:ext cx="10429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A65A00"/>
                </a:solidFill>
                <a:latin typeface="Arial"/>
                <a:ea typeface="Arial"/>
                <a:cs typeface="Arial"/>
              </a:defRPr>
            </a:defPPr>
            <a:lvl1pPr>
              <a:defRPr sz="1125" b="1">
                <a:solidFill>
                  <a:srgbClr val="A65A00"/>
                </a:solidFill>
                <a:latin typeface="Arial"/>
                <a:ea typeface="Arial"/>
                <a:cs typeface="Arial"/>
              </a:defRPr>
            </a:lvl1pPr>
            <a:lvl2pPr>
              <a:defRPr sz="1125" b="1">
                <a:solidFill>
                  <a:srgbClr val="A65A00"/>
                </a:solidFill>
                <a:latin typeface="Arial"/>
                <a:ea typeface="Arial"/>
                <a:cs typeface="Arial"/>
              </a:defRPr>
            </a:lvl2pPr>
            <a:lvl3pPr>
              <a:defRPr sz="1125" b="1">
                <a:solidFill>
                  <a:srgbClr val="A65A00"/>
                </a:solidFill>
                <a:latin typeface="Arial"/>
                <a:ea typeface="Arial"/>
                <a:cs typeface="Arial"/>
              </a:defRPr>
            </a:lvl3pPr>
            <a:lvl4pPr>
              <a:defRPr sz="1125" b="1">
                <a:solidFill>
                  <a:srgbClr val="A65A00"/>
                </a:solidFill>
                <a:latin typeface="Arial"/>
                <a:ea typeface="Arial"/>
                <a:cs typeface="Arial"/>
              </a:defRPr>
            </a:lvl4pPr>
            <a:lvl5pPr>
              <a:defRPr sz="1125" b="1">
                <a:solidFill>
                  <a:srgbClr val="A65A00"/>
                </a:solidFill>
                <a:latin typeface="Arial"/>
                <a:ea typeface="Arial"/>
                <a:cs typeface="Arial"/>
              </a:defRPr>
            </a:lvl5pPr>
            <a:lvl6pPr>
              <a:defRPr sz="1125" b="1">
                <a:solidFill>
                  <a:srgbClr val="A65A00"/>
                </a:solidFill>
                <a:latin typeface="Arial"/>
                <a:ea typeface="Arial"/>
                <a:cs typeface="Arial"/>
              </a:defRPr>
            </a:lvl6pPr>
            <a:lvl7pPr>
              <a:defRPr sz="1125" b="1">
                <a:solidFill>
                  <a:srgbClr val="A65A00"/>
                </a:solidFill>
                <a:latin typeface="Arial"/>
                <a:ea typeface="Arial"/>
                <a:cs typeface="Arial"/>
              </a:defRPr>
            </a:lvl7pPr>
            <a:lvl8pPr>
              <a:defRPr sz="1125" b="1">
                <a:solidFill>
                  <a:srgbClr val="A65A00"/>
                </a:solidFill>
                <a:latin typeface="Arial"/>
                <a:ea typeface="Arial"/>
                <a:cs typeface="Arial"/>
              </a:defRPr>
            </a:lvl8pPr>
            <a:lvl9pPr>
              <a:defRPr sz="1125" b="1">
                <a:solidFill>
                  <a:srgbClr val="A65A00"/>
                </a:solidFill>
                <a:latin typeface="Arial"/>
                <a:ea typeface="Arial"/>
                <a:cs typeface="Arial"/>
              </a:defRPr>
            </a:lvl9pPr>
          </a:lstStyle>
          <a:p xmlns:a="http://schemas.openxmlformats.org/drawingml/2006/main">
            <a:pPr>
              <a:defRPr sz="1125" b="1">
                <a:solidFill>
                  <a:srgbClr val="A65A00"/>
                </a:solidFill>
                <a:latin typeface="Arial"/>
                <a:ea typeface="Arial"/>
                <a:cs typeface="Arial"/>
              </a:defRPr>
            </a:pPr>
            <a:r>
              <a:rPr sz="1125" b="1">
                <a:solidFill>
                  <a:srgbClr val="A65A00"/>
                </a:solidFill>
                <a:latin typeface="Arial"/>
                <a:ea typeface="Arial"/>
                <a:cs typeface="Arial"/>
              </a:rPr>
              <a:t>Measured outcome: 1.0088× speedup, correctness passed, +65 LUT4, 61.82 MHz. It misses the +64 LUT4 cap by one.</a:t>
            </a:r>
          </a:p>
        </p:txBody>
      </p:sp>
    </p:spTree>
    <p:extLst>
      <p:ext uri="{BB962C8B-B14F-4D97-AF65-F5344CB8AC3E}">
        <p14:creationId xmlns:p14="http://schemas.microsoft.com/office/powerpoint/2010/main" val="520745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DABAA95-32F4-46E9-ABEC-305E1190D11D}"/>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Matched-budget comparison with merit</a:t>
            </a:r>
          </a:p>
        </p:txBody>
      </p:sp>
      <p:sp>
        <p:nvSpPr>
          <p:cNvPr id="2" name="">
            <a:extLst xmlns:a="http://schemas.openxmlformats.org/drawingml/2006/main">
              <a:ext uri="{FF2B5EF4-FFF2-40B4-BE49-F238E27FC236}">
                <a16:creationId xmlns:a16="http://schemas.microsoft.com/office/drawing/2014/main" id="{112F1019-EB86-4E12-A05D-8D36018CF2D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B4E5DDA8-8A33-4FB5-A297-0A4FBCD01C3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F73A92DC-6BB6-44A8-9417-8F363A2DBD62}"/>
              </a:ext>
            </a:extLst>
          </p:cNvPr>
          <p:cNvGraphicFramePr/>
          <p:nvPr/>
        </p:nvGraphicFramePr>
        <p:xfrm>
          <a:off xmlns:a="http://schemas.openxmlformats.org/drawingml/2006/main" x="381000" y="1381125"/>
          <a:ext xmlns:a="http://schemas.openxmlformats.org/drawingml/2006/main" cx="6667500" cy="4095750"/>
        </p:xfrm>
        <a:graphic xmlns:a="http://schemas.openxmlformats.org/drawingml/2006/main">
          <a:graphicData uri="http://schemas.openxmlformats.org/drawingml/2006/chart">
            <c:chart xmlns:r="http://schemas.openxmlformats.org/officeDocument/2006/relationships" xmlns:c="http://schemas.openxmlformats.org/drawingml/2006/chart" r:id="Rb31b6256aca545da"/>
          </a:graphicData>
        </a:graphic>
      </p:graphicFrame>
      <p:sp>
        <p:nvSpPr>
          <p:cNvPr id="5" name="">
            <a:extLst xmlns:a="http://schemas.openxmlformats.org/drawingml/2006/main">
              <a:ext uri="{FF2B5EF4-FFF2-40B4-BE49-F238E27FC236}">
                <a16:creationId xmlns:a16="http://schemas.microsoft.com/office/drawing/2014/main" id="{106BAA0F-7509-452B-BF9E-E768D2F6CC60}"/>
              </a:ext>
            </a:extLst>
          </p:cNvPr>
          <p:cNvSpPr>
            <a:spLocks xmlns:a="http://schemas.openxmlformats.org/drawingml/2006/main" noGrp="1"/>
          </p:cNvSpPr>
          <p:nvPr/>
        </p:nvSpPr>
        <p:spPr>
          <a:xfrm xmlns:a="http://schemas.openxmlformats.org/drawingml/2006/main">
            <a:off x="7381875" y="14859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17324D"/>
                </a:solidFill>
                <a:latin typeface="Arial"/>
                <a:ea typeface="Arial"/>
                <a:cs typeface="Arial"/>
              </a:defRPr>
            </a:defPPr>
            <a:lvl1pPr>
              <a:defRPr sz="1650" b="1">
                <a:solidFill>
                  <a:srgbClr val="17324D"/>
                </a:solidFill>
                <a:latin typeface="Arial"/>
                <a:ea typeface="Arial"/>
                <a:cs typeface="Arial"/>
              </a:defRPr>
            </a:lvl1pPr>
            <a:lvl2pPr>
              <a:defRPr sz="1650" b="1">
                <a:solidFill>
                  <a:srgbClr val="17324D"/>
                </a:solidFill>
                <a:latin typeface="Arial"/>
                <a:ea typeface="Arial"/>
                <a:cs typeface="Arial"/>
              </a:defRPr>
            </a:lvl2pPr>
            <a:lvl3pPr>
              <a:defRPr sz="1650" b="1">
                <a:solidFill>
                  <a:srgbClr val="17324D"/>
                </a:solidFill>
                <a:latin typeface="Arial"/>
                <a:ea typeface="Arial"/>
                <a:cs typeface="Arial"/>
              </a:defRPr>
            </a:lvl3pPr>
            <a:lvl4pPr>
              <a:defRPr sz="1650" b="1">
                <a:solidFill>
                  <a:srgbClr val="17324D"/>
                </a:solidFill>
                <a:latin typeface="Arial"/>
                <a:ea typeface="Arial"/>
                <a:cs typeface="Arial"/>
              </a:defRPr>
            </a:lvl4pPr>
            <a:lvl5pPr>
              <a:defRPr sz="1650" b="1">
                <a:solidFill>
                  <a:srgbClr val="17324D"/>
                </a:solidFill>
                <a:latin typeface="Arial"/>
                <a:ea typeface="Arial"/>
                <a:cs typeface="Arial"/>
              </a:defRPr>
            </a:lvl5pPr>
            <a:lvl6pPr>
              <a:defRPr sz="1650" b="1">
                <a:solidFill>
                  <a:srgbClr val="17324D"/>
                </a:solidFill>
                <a:latin typeface="Arial"/>
                <a:ea typeface="Arial"/>
                <a:cs typeface="Arial"/>
              </a:defRPr>
            </a:lvl6pPr>
            <a:lvl7pPr>
              <a:defRPr sz="1650" b="1">
                <a:solidFill>
                  <a:srgbClr val="17324D"/>
                </a:solidFill>
                <a:latin typeface="Arial"/>
                <a:ea typeface="Arial"/>
                <a:cs typeface="Arial"/>
              </a:defRPr>
            </a:lvl7pPr>
            <a:lvl8pPr>
              <a:defRPr sz="1650" b="1">
                <a:solidFill>
                  <a:srgbClr val="17324D"/>
                </a:solidFill>
                <a:latin typeface="Arial"/>
                <a:ea typeface="Arial"/>
                <a:cs typeface="Arial"/>
              </a:defRPr>
            </a:lvl8pPr>
            <a:lvl9pPr>
              <a:defRPr sz="1650" b="1">
                <a:solidFill>
                  <a:srgbClr val="17324D"/>
                </a:solidFill>
                <a:latin typeface="Arial"/>
                <a:ea typeface="Arial"/>
                <a:cs typeface="Arial"/>
              </a:defRPr>
            </a:lvl9pPr>
          </a:lstStyle>
          <a:p xmlns:a="http://schemas.openxmlformats.org/drawingml/2006/main">
            <a:pPr>
              <a:defRPr sz="1650" b="1">
                <a:solidFill>
                  <a:srgbClr val="17324D"/>
                </a:solidFill>
                <a:latin typeface="Arial"/>
                <a:ea typeface="Arial"/>
                <a:cs typeface="Arial"/>
              </a:defRPr>
            </a:pPr>
            <a:r>
              <a:rPr sz="1650" b="1">
                <a:solidFill>
                  <a:srgbClr val="17324D"/>
                </a:solidFill>
                <a:latin typeface="Arial"/>
                <a:ea typeface="Arial"/>
                <a:cs typeface="Arial"/>
              </a:rPr>
              <a:t>Paired difference</a:t>
            </a:r>
          </a:p>
        </p:txBody>
      </p:sp>
      <p:sp>
        <p:nvSpPr>
          <p:cNvPr id="6" name="">
            <a:extLst xmlns:a="http://schemas.openxmlformats.org/drawingml/2006/main">
              <a:ext uri="{FF2B5EF4-FFF2-40B4-BE49-F238E27FC236}">
                <a16:creationId xmlns:a16="http://schemas.microsoft.com/office/drawing/2014/main" id="{C00E8F55-B982-44C7-928E-27C3968744F0}"/>
              </a:ext>
            </a:extLst>
          </p:cNvPr>
          <p:cNvSpPr>
            <a:spLocks xmlns:a="http://schemas.openxmlformats.org/drawingml/2006/main" noGrp="1"/>
          </p:cNvSpPr>
          <p:nvPr/>
        </p:nvSpPr>
        <p:spPr>
          <a:xfrm xmlns:a="http://schemas.openxmlformats.org/drawingml/2006/main">
            <a:off x="7381875" y="1819275"/>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a:solidFill>
                  <a:srgbClr val="607286"/>
                </a:solidFill>
                <a:latin typeface="Arial"/>
                <a:ea typeface="Arial"/>
                <a:cs typeface="Arial"/>
              </a:defRPr>
            </a:defPPr>
            <a:lvl1pPr>
              <a:defRPr sz="1125">
                <a:solidFill>
                  <a:srgbClr val="607286"/>
                </a:solidFill>
                <a:latin typeface="Arial"/>
                <a:ea typeface="Arial"/>
                <a:cs typeface="Arial"/>
              </a:defRPr>
            </a:lvl1pPr>
            <a:lvl2pPr>
              <a:defRPr sz="1125">
                <a:solidFill>
                  <a:srgbClr val="607286"/>
                </a:solidFill>
                <a:latin typeface="Arial"/>
                <a:ea typeface="Arial"/>
                <a:cs typeface="Arial"/>
              </a:defRPr>
            </a:lvl2pPr>
            <a:lvl3pPr>
              <a:defRPr sz="1125">
                <a:solidFill>
                  <a:srgbClr val="607286"/>
                </a:solidFill>
                <a:latin typeface="Arial"/>
                <a:ea typeface="Arial"/>
                <a:cs typeface="Arial"/>
              </a:defRPr>
            </a:lvl3pPr>
            <a:lvl4pPr>
              <a:defRPr sz="1125">
                <a:solidFill>
                  <a:srgbClr val="607286"/>
                </a:solidFill>
                <a:latin typeface="Arial"/>
                <a:ea typeface="Arial"/>
                <a:cs typeface="Arial"/>
              </a:defRPr>
            </a:lvl4pPr>
            <a:lvl5pPr>
              <a:defRPr sz="1125">
                <a:solidFill>
                  <a:srgbClr val="607286"/>
                </a:solidFill>
                <a:latin typeface="Arial"/>
                <a:ea typeface="Arial"/>
                <a:cs typeface="Arial"/>
              </a:defRPr>
            </a:lvl5pPr>
            <a:lvl6pPr>
              <a:defRPr sz="1125">
                <a:solidFill>
                  <a:srgbClr val="607286"/>
                </a:solidFill>
                <a:latin typeface="Arial"/>
                <a:ea typeface="Arial"/>
                <a:cs typeface="Arial"/>
              </a:defRPr>
            </a:lvl6pPr>
            <a:lvl7pPr>
              <a:defRPr sz="1125">
                <a:solidFill>
                  <a:srgbClr val="607286"/>
                </a:solidFill>
                <a:latin typeface="Arial"/>
                <a:ea typeface="Arial"/>
                <a:cs typeface="Arial"/>
              </a:defRPr>
            </a:lvl7pPr>
            <a:lvl8pPr>
              <a:defRPr sz="1125">
                <a:solidFill>
                  <a:srgbClr val="607286"/>
                </a:solidFill>
                <a:latin typeface="Arial"/>
                <a:ea typeface="Arial"/>
                <a:cs typeface="Arial"/>
              </a:defRPr>
            </a:lvl8pPr>
            <a:lvl9pPr>
              <a:defRPr sz="1125">
                <a:solidFill>
                  <a:srgbClr val="607286"/>
                </a:solidFill>
                <a:latin typeface="Arial"/>
                <a:ea typeface="Arial"/>
                <a:cs typeface="Arial"/>
              </a:defRPr>
            </a:lvl9pPr>
          </a:lstStyle>
          <a:p xmlns:a="http://schemas.openxmlformats.org/drawingml/2006/main">
            <a:pPr>
              <a:defRPr sz="1125">
                <a:solidFill>
                  <a:srgbClr val="607286"/>
                </a:solidFill>
                <a:latin typeface="Arial"/>
                <a:ea typeface="Arial"/>
                <a:cs typeface="Arial"/>
              </a:defRPr>
            </a:pPr>
            <a:r>
              <a:rPr sz="1125">
                <a:solidFill>
                  <a:srgbClr val="607286"/>
                </a:solidFill>
                <a:latin typeface="Arial"/>
                <a:ea typeface="Arial"/>
                <a:cs typeface="Arial"/>
              </a:rPr>
              <a:t>Merit regret minus XGB regret; positive favors XGB.</a:t>
            </a:r>
          </a:p>
        </p:txBody>
      </p:sp>
      <p:graphicFrame>
        <p:nvGraphicFramePr>
          <p:cNvPr id="7" name="">
            <a:extLst xmlns:a="http://schemas.openxmlformats.org/drawingml/2006/main">
              <a:ext uri="{FF2B5EF4-FFF2-40B4-BE49-F238E27FC236}">
                <a16:creationId xmlns:a16="http://schemas.microsoft.com/office/drawing/2014/main" id="{43C0E0CA-1918-4B5B-910C-4ED788315C8F}"/>
              </a:ext>
            </a:extLst>
          </p:cNvPr>
          <p:cNvGraphicFramePr/>
          <p:nvPr/>
        </p:nvGraphicFramePr>
        <p:xfrm>
          <a:off xmlns:a="http://schemas.openxmlformats.org/drawingml/2006/main" x="7334250" y="2381250"/>
          <a:ext xmlns:a="http://schemas.openxmlformats.org/drawingml/2006/main" cx="4238625" cy="2133600"/>
        </p:xfrm>
        <a:graphic xmlns:a="http://schemas.openxmlformats.org/drawingml/2006/main">
          <a:graphicData uri="http://schemas.openxmlformats.org/drawingml/2006/table">
            <a:tbl>
              <a:tblPr firstRow="0" bandRow="0"/>
              <a:tblGrid>
                <a:gridCol w="666750"/>
                <a:gridCol w="838200"/>
                <a:gridCol w="857250"/>
                <a:gridCol w="1876425"/>
              </a:tblGrid>
              <a:tr h="533400">
                <a:tc>
                  <a:txBody>
                    <a:bodyPr/>
                    <a:lstStyle/>
                    <a:p>
                      <a:r>
                        <a:rPr sz="1050" b="1">
                          <a:solidFill>
                            <a:srgbClr val="FFFFFF"/>
                          </a:solidFill>
                          <a:latin typeface="Arial"/>
                          <a:ea typeface="Arial"/>
                          <a:cs typeface="Arial"/>
                        </a:rPr>
                        <a:t>Budget</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050" b="1">
                          <a:solidFill>
                            <a:srgbClr val="FFFFFF"/>
                          </a:solidFill>
                          <a:latin typeface="Arial"/>
                          <a:ea typeface="Arial"/>
                          <a:cs typeface="Arial"/>
                        </a:rPr>
                        <a:t>Merit</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050" b="1">
                          <a:solidFill>
                            <a:srgbClr val="FFFFFF"/>
                          </a:solidFill>
                          <a:latin typeface="Arial"/>
                          <a:ea typeface="Arial"/>
                          <a:cs typeface="Arial"/>
                        </a:rPr>
                        <a:t>XGB ranker</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050" b="1">
                          <a:solidFill>
                            <a:srgbClr val="FFFFFF"/>
                          </a:solidFill>
                          <a:latin typeface="Arial"/>
                          <a:ea typeface="Arial"/>
                          <a:cs typeface="Arial"/>
                        </a:rPr>
                        <a:t>Difference (95% CI)</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33400">
                <a:tc>
                  <a:txBody>
                    <a:bodyPr/>
                    <a:lstStyle/>
                    <a:p>
                      <a:r>
                        <a:rPr sz="975" b="0">
                          <a:solidFill>
                            <a:srgbClr val="263648"/>
                          </a:solidFill>
                          <a:latin typeface="Arial"/>
                          <a:ea typeface="Arial"/>
                          <a:cs typeface="Arial"/>
                        </a:rPr>
                        <a:t>1</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975" b="0">
                          <a:solidFill>
                            <a:srgbClr val="263648"/>
                          </a:solidFill>
                          <a:latin typeface="Arial"/>
                          <a:ea typeface="Arial"/>
                          <a:cs typeface="Arial"/>
                        </a:rPr>
                        <a:t>1.132%</a:t>
                      </a:r>
                    </a:p>
                  </a:txBody>
                  <a:tcPr marL="91440" marR="91440" marT="45720" marB="45720">
                    <a:lnR w="9525">
                      <a:solidFill>
                        <a:srgbClr val="D9E1E8"/>
                      </a:solidFill>
                      <a:prstDash val="solid"/>
                    </a:lnR>
                    <a:lnB w="9525">
                      <a:solidFill>
                        <a:srgbClr val="D9E1E8"/>
                      </a:solidFill>
                      <a:prstDash val="solid"/>
                    </a:lnB>
                    <a:solidFill>
                      <a:srgbClr val="FFFFFF"/>
                    </a:solidFill>
                  </a:tcPr>
                </a:tc>
                <a:tc>
                  <a:txBody>
                    <a:bodyPr/>
                    <a:lstStyle/>
                    <a:p>
                      <a:r>
                        <a:rPr sz="975" b="0">
                          <a:solidFill>
                            <a:srgbClr val="263648"/>
                          </a:solidFill>
                          <a:latin typeface="Arial"/>
                          <a:ea typeface="Arial"/>
                          <a:cs typeface="Arial"/>
                        </a:rPr>
                        <a:t>0.842%</a:t>
                      </a:r>
                    </a:p>
                  </a:txBody>
                  <a:tcPr marL="91440" marR="91440" marT="45720" marB="45720">
                    <a:lnR w="9525">
                      <a:solidFill>
                        <a:srgbClr val="D9E1E8"/>
                      </a:solidFill>
                      <a:prstDash val="solid"/>
                    </a:lnR>
                    <a:lnB w="9525">
                      <a:solidFill>
                        <a:srgbClr val="D9E1E8"/>
                      </a:solidFill>
                      <a:prstDash val="solid"/>
                    </a:lnB>
                    <a:solidFill>
                      <a:srgbClr val="FFFFFF"/>
                    </a:solidFill>
                  </a:tcPr>
                </a:tc>
                <a:tc>
                  <a:txBody>
                    <a:bodyPr/>
                    <a:lstStyle/>
                    <a:p>
                      <a:r>
                        <a:rPr sz="975" b="0">
                          <a:solidFill>
                            <a:srgbClr val="263648"/>
                          </a:solidFill>
                          <a:latin typeface="Arial"/>
                          <a:ea typeface="Arial"/>
                          <a:cs typeface="Arial"/>
                        </a:rPr>
                        <a:t>+0.290 pp</a:t>
                      </a:r>
                    </a:p>
                    <a:p>
                      <a:r>
                        <a:rPr sz="975" b="0">
                          <a:solidFill>
                            <a:srgbClr val="263648"/>
                          </a:solidFill>
                          <a:latin typeface="Arial"/>
                          <a:ea typeface="Arial"/>
                          <a:cs typeface="Arial"/>
                        </a:rPr>
                        <a:t>[−0.065, +0.849]</a:t>
                      </a:r>
                    </a:p>
                  </a:txBody>
                  <a:tcPr marL="91440" marR="91440" marT="45720" marB="45720">
                    <a:lnR w="9525">
                      <a:solidFill>
                        <a:srgbClr val="D9E1E8"/>
                      </a:solidFill>
                      <a:prstDash val="solid"/>
                    </a:lnR>
                    <a:lnB w="9525">
                      <a:solidFill>
                        <a:srgbClr val="D9E1E8"/>
                      </a:solidFill>
                      <a:prstDash val="solid"/>
                    </a:lnB>
                    <a:solidFill>
                      <a:srgbClr val="FFFFFF"/>
                    </a:solidFill>
                  </a:tcPr>
                </a:tc>
              </a:tr>
              <a:tr h="533400">
                <a:tc>
                  <a:txBody>
                    <a:bodyPr/>
                    <a:lstStyle/>
                    <a:p>
                      <a:r>
                        <a:rPr sz="975" b="0">
                          <a:solidFill>
                            <a:srgbClr val="263648"/>
                          </a:solidFill>
                          <a:latin typeface="Arial"/>
                          <a:ea typeface="Arial"/>
                          <a:cs typeface="Arial"/>
                        </a:rPr>
                        <a:t>2</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975" b="0">
                          <a:solidFill>
                            <a:srgbClr val="263648"/>
                          </a:solidFill>
                          <a:latin typeface="Arial"/>
                          <a:ea typeface="Arial"/>
                          <a:cs typeface="Arial"/>
                        </a:rPr>
                        <a:t>0.465%</a:t>
                      </a:r>
                    </a:p>
                  </a:txBody>
                  <a:tcPr marL="91440" marR="91440" marT="45720" marB="45720">
                    <a:lnR w="9525">
                      <a:solidFill>
                        <a:srgbClr val="D9E1E8"/>
                      </a:solidFill>
                      <a:prstDash val="solid"/>
                    </a:lnR>
                    <a:lnB w="9525">
                      <a:solidFill>
                        <a:srgbClr val="D9E1E8"/>
                      </a:solidFill>
                      <a:prstDash val="solid"/>
                    </a:lnB>
                    <a:solidFill>
                      <a:srgbClr val="F4F7FA"/>
                    </a:solidFill>
                  </a:tcPr>
                </a:tc>
                <a:tc>
                  <a:txBody>
                    <a:bodyPr/>
                    <a:lstStyle/>
                    <a:p>
                      <a:r>
                        <a:rPr sz="975" b="0">
                          <a:solidFill>
                            <a:srgbClr val="263648"/>
                          </a:solidFill>
                          <a:latin typeface="Arial"/>
                          <a:ea typeface="Arial"/>
                          <a:cs typeface="Arial"/>
                        </a:rPr>
                        <a:t>0.439%</a:t>
                      </a:r>
                    </a:p>
                  </a:txBody>
                  <a:tcPr marL="91440" marR="91440" marT="45720" marB="45720">
                    <a:lnR w="9525">
                      <a:solidFill>
                        <a:srgbClr val="D9E1E8"/>
                      </a:solidFill>
                      <a:prstDash val="solid"/>
                    </a:lnR>
                    <a:lnB w="9525">
                      <a:solidFill>
                        <a:srgbClr val="D9E1E8"/>
                      </a:solidFill>
                      <a:prstDash val="solid"/>
                    </a:lnB>
                    <a:solidFill>
                      <a:srgbClr val="F4F7FA"/>
                    </a:solidFill>
                  </a:tcPr>
                </a:tc>
                <a:tc>
                  <a:txBody>
                    <a:bodyPr/>
                    <a:lstStyle/>
                    <a:p>
                      <a:r>
                        <a:rPr sz="975" b="0">
                          <a:solidFill>
                            <a:srgbClr val="263648"/>
                          </a:solidFill>
                          <a:latin typeface="Arial"/>
                          <a:ea typeface="Arial"/>
                          <a:cs typeface="Arial"/>
                        </a:rPr>
                        <a:t>+0.027 pp</a:t>
                      </a:r>
                    </a:p>
                    <a:p>
                      <a:r>
                        <a:rPr sz="975" b="0">
                          <a:solidFill>
                            <a:srgbClr val="263648"/>
                          </a:solidFill>
                          <a:latin typeface="Arial"/>
                          <a:ea typeface="Arial"/>
                          <a:cs typeface="Arial"/>
                        </a:rPr>
                        <a:t>[−0.097, +0.177]</a:t>
                      </a:r>
                    </a:p>
                  </a:txBody>
                  <a:tcPr marL="91440" marR="91440" marT="45720" marB="45720">
                    <a:lnR w="9525">
                      <a:solidFill>
                        <a:srgbClr val="D9E1E8"/>
                      </a:solidFill>
                      <a:prstDash val="solid"/>
                    </a:lnR>
                    <a:lnB w="9525">
                      <a:solidFill>
                        <a:srgbClr val="D9E1E8"/>
                      </a:solidFill>
                      <a:prstDash val="solid"/>
                    </a:lnB>
                    <a:solidFill>
                      <a:srgbClr val="F4F7FA"/>
                    </a:solidFill>
                  </a:tcPr>
                </a:tc>
              </a:tr>
              <a:tr h="533400">
                <a:tc>
                  <a:txBody>
                    <a:bodyPr/>
                    <a:lstStyle/>
                    <a:p>
                      <a:r>
                        <a:rPr sz="975" b="0">
                          <a:solidFill>
                            <a:srgbClr val="263648"/>
                          </a:solidFill>
                          <a:latin typeface="Arial"/>
                          <a:ea typeface="Arial"/>
                          <a:cs typeface="Arial"/>
                        </a:rPr>
                        <a:t>3</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975" b="0">
                          <a:solidFill>
                            <a:srgbClr val="263648"/>
                          </a:solidFill>
                          <a:latin typeface="Arial"/>
                          <a:ea typeface="Arial"/>
                          <a:cs typeface="Arial"/>
                        </a:rPr>
                        <a:t>0.015%</a:t>
                      </a:r>
                    </a:p>
                  </a:txBody>
                  <a:tcPr marL="91440" marR="91440" marT="45720" marB="45720">
                    <a:lnR w="9525">
                      <a:solidFill>
                        <a:srgbClr val="D9E1E8"/>
                      </a:solidFill>
                      <a:prstDash val="solid"/>
                    </a:lnR>
                    <a:lnB w="9525">
                      <a:solidFill>
                        <a:srgbClr val="D9E1E8"/>
                      </a:solidFill>
                      <a:prstDash val="solid"/>
                    </a:lnB>
                    <a:solidFill>
                      <a:srgbClr val="FFFFFF"/>
                    </a:solidFill>
                  </a:tcPr>
                </a:tc>
                <a:tc>
                  <a:txBody>
                    <a:bodyPr/>
                    <a:lstStyle/>
                    <a:p>
                      <a:r>
                        <a:rPr sz="975" b="0">
                          <a:solidFill>
                            <a:srgbClr val="263648"/>
                          </a:solidFill>
                          <a:latin typeface="Arial"/>
                          <a:ea typeface="Arial"/>
                          <a:cs typeface="Arial"/>
                        </a:rPr>
                        <a:t>0.070%</a:t>
                      </a:r>
                    </a:p>
                  </a:txBody>
                  <a:tcPr marL="91440" marR="91440" marT="45720" marB="45720">
                    <a:lnR w="9525">
                      <a:solidFill>
                        <a:srgbClr val="D9E1E8"/>
                      </a:solidFill>
                      <a:prstDash val="solid"/>
                    </a:lnR>
                    <a:lnB w="9525">
                      <a:solidFill>
                        <a:srgbClr val="D9E1E8"/>
                      </a:solidFill>
                      <a:prstDash val="solid"/>
                    </a:lnB>
                    <a:solidFill>
                      <a:srgbClr val="FFFFFF"/>
                    </a:solidFill>
                  </a:tcPr>
                </a:tc>
                <a:tc>
                  <a:txBody>
                    <a:bodyPr/>
                    <a:lstStyle/>
                    <a:p>
                      <a:r>
                        <a:rPr sz="975" b="0">
                          <a:solidFill>
                            <a:srgbClr val="263648"/>
                          </a:solidFill>
                          <a:latin typeface="Arial"/>
                          <a:ea typeface="Arial"/>
                          <a:cs typeface="Arial"/>
                        </a:rPr>
                        <a:t>−0.056 pp</a:t>
                      </a:r>
                    </a:p>
                    <a:p>
                      <a:r>
                        <a:rPr sz="975" b="0">
                          <a:solidFill>
                            <a:srgbClr val="263648"/>
                          </a:solidFill>
                          <a:latin typeface="Arial"/>
                          <a:ea typeface="Arial"/>
                          <a:cs typeface="Arial"/>
                        </a:rPr>
                        <a:t>[−0.167, 0.000]</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BC10244E-4557-4A98-83F4-D05AE0DF59E2}"/>
              </a:ext>
            </a:extLst>
          </p:cNvPr>
          <p:cNvSpPr>
            <a:spLocks xmlns:a="http://schemas.openxmlformats.org/drawingml/2006/main" noGrp="1"/>
          </p:cNvSpPr>
          <p:nvPr/>
        </p:nvSpPr>
        <p:spPr>
          <a:xfrm xmlns:a="http://schemas.openxmlformats.org/drawingml/2006/main">
            <a:off x="7381875" y="4781550"/>
            <a:ext cx="4048125"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263648"/>
                </a:solidFill>
                <a:latin typeface="Arial"/>
                <a:ea typeface="Arial"/>
                <a:cs typeface="Arial"/>
              </a:defRPr>
            </a:defPPr>
            <a:lvl1pPr>
              <a:defRPr sz="1425" b="1">
                <a:solidFill>
                  <a:srgbClr val="263648"/>
                </a:solidFill>
                <a:latin typeface="Arial"/>
                <a:ea typeface="Arial"/>
                <a:cs typeface="Arial"/>
              </a:defRPr>
            </a:lvl1pPr>
            <a:lvl2pPr>
              <a:defRPr sz="1425" b="1">
                <a:solidFill>
                  <a:srgbClr val="263648"/>
                </a:solidFill>
                <a:latin typeface="Arial"/>
                <a:ea typeface="Arial"/>
                <a:cs typeface="Arial"/>
              </a:defRPr>
            </a:lvl2pPr>
            <a:lvl3pPr>
              <a:defRPr sz="1425" b="1">
                <a:solidFill>
                  <a:srgbClr val="263648"/>
                </a:solidFill>
                <a:latin typeface="Arial"/>
                <a:ea typeface="Arial"/>
                <a:cs typeface="Arial"/>
              </a:defRPr>
            </a:lvl3pPr>
            <a:lvl4pPr>
              <a:defRPr sz="1425" b="1">
                <a:solidFill>
                  <a:srgbClr val="263648"/>
                </a:solidFill>
                <a:latin typeface="Arial"/>
                <a:ea typeface="Arial"/>
                <a:cs typeface="Arial"/>
              </a:defRPr>
            </a:lvl4pPr>
            <a:lvl5pPr>
              <a:defRPr sz="1425" b="1">
                <a:solidFill>
                  <a:srgbClr val="263648"/>
                </a:solidFill>
                <a:latin typeface="Arial"/>
                <a:ea typeface="Arial"/>
                <a:cs typeface="Arial"/>
              </a:defRPr>
            </a:lvl5pPr>
            <a:lvl6pPr>
              <a:defRPr sz="1425" b="1">
                <a:solidFill>
                  <a:srgbClr val="263648"/>
                </a:solidFill>
                <a:latin typeface="Arial"/>
                <a:ea typeface="Arial"/>
                <a:cs typeface="Arial"/>
              </a:defRPr>
            </a:lvl6pPr>
            <a:lvl7pPr>
              <a:defRPr sz="1425" b="1">
                <a:solidFill>
                  <a:srgbClr val="263648"/>
                </a:solidFill>
                <a:latin typeface="Arial"/>
                <a:ea typeface="Arial"/>
                <a:cs typeface="Arial"/>
              </a:defRPr>
            </a:lvl7pPr>
            <a:lvl8pPr>
              <a:defRPr sz="1425" b="1">
                <a:solidFill>
                  <a:srgbClr val="263648"/>
                </a:solidFill>
                <a:latin typeface="Arial"/>
                <a:ea typeface="Arial"/>
                <a:cs typeface="Arial"/>
              </a:defRPr>
            </a:lvl8pPr>
            <a:lvl9pPr>
              <a:defRPr sz="1425" b="1">
                <a:solidFill>
                  <a:srgbClr val="263648"/>
                </a:solidFill>
                <a:latin typeface="Arial"/>
                <a:ea typeface="Arial"/>
                <a:cs typeface="Arial"/>
              </a:defRPr>
            </a:lvl9pPr>
          </a:lstStyle>
          <a:p xmlns:a="http://schemas.openxmlformats.org/drawingml/2006/main">
            <a:pPr>
              <a:defRPr sz="1425" b="1">
                <a:solidFill>
                  <a:srgbClr val="263648"/>
                </a:solidFill>
                <a:latin typeface="Arial"/>
                <a:ea typeface="Arial"/>
                <a:cs typeface="Arial"/>
              </a:defRPr>
            </a:pPr>
            <a:r>
              <a:rPr sz="1425" b="1">
                <a:solidFill>
                  <a:srgbClr val="263648"/>
                </a:solidFill>
                <a:latin typeface="Arial"/>
                <a:ea typeface="Arial"/>
                <a:cs typeface="Arial"/>
              </a:rPr>
              <a:t>The point estimate favors XGB at budgets 1–2 and merit at 3. Intervals do not establish an ML win.</a:t>
            </a:r>
          </a:p>
        </p:txBody>
      </p:sp>
      <p:sp>
        <p:nvSpPr>
          <p:cNvPr id="9" name="">
            <a:extLst xmlns:a="http://schemas.openxmlformats.org/drawingml/2006/main">
              <a:ext uri="{FF2B5EF4-FFF2-40B4-BE49-F238E27FC236}">
                <a16:creationId xmlns:a16="http://schemas.microsoft.com/office/drawing/2014/main" id="{4E71B0F0-8399-4E9A-AC2F-ECF3CD185E4B}"/>
              </a:ext>
            </a:extLst>
          </p:cNvPr>
          <p:cNvSpPr>
            <a:spLocks xmlns:a="http://schemas.openxmlformats.org/drawingml/2006/main" noGrp="1"/>
          </p:cNvSpPr>
          <p:nvPr/>
        </p:nvSpPr>
        <p:spPr>
          <a:xfrm xmlns:a="http://schemas.openxmlformats.org/drawingml/2006/main">
            <a:off x="685800" y="5734050"/>
            <a:ext cx="10715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a:solidFill>
                  <a:srgbClr val="607286"/>
                </a:solidFill>
                <a:latin typeface="Arial"/>
                <a:ea typeface="Arial"/>
                <a:cs typeface="Arial"/>
              </a:defRPr>
            </a:defPPr>
            <a:lvl1pPr>
              <a:defRPr sz="1125">
                <a:solidFill>
                  <a:srgbClr val="607286"/>
                </a:solidFill>
                <a:latin typeface="Arial"/>
                <a:ea typeface="Arial"/>
                <a:cs typeface="Arial"/>
              </a:defRPr>
            </a:lvl1pPr>
            <a:lvl2pPr>
              <a:defRPr sz="1125">
                <a:solidFill>
                  <a:srgbClr val="607286"/>
                </a:solidFill>
                <a:latin typeface="Arial"/>
                <a:ea typeface="Arial"/>
                <a:cs typeface="Arial"/>
              </a:defRPr>
            </a:lvl2pPr>
            <a:lvl3pPr>
              <a:defRPr sz="1125">
                <a:solidFill>
                  <a:srgbClr val="607286"/>
                </a:solidFill>
                <a:latin typeface="Arial"/>
                <a:ea typeface="Arial"/>
                <a:cs typeface="Arial"/>
              </a:defRPr>
            </a:lvl3pPr>
            <a:lvl4pPr>
              <a:defRPr sz="1125">
                <a:solidFill>
                  <a:srgbClr val="607286"/>
                </a:solidFill>
                <a:latin typeface="Arial"/>
                <a:ea typeface="Arial"/>
                <a:cs typeface="Arial"/>
              </a:defRPr>
            </a:lvl4pPr>
            <a:lvl5pPr>
              <a:defRPr sz="1125">
                <a:solidFill>
                  <a:srgbClr val="607286"/>
                </a:solidFill>
                <a:latin typeface="Arial"/>
                <a:ea typeface="Arial"/>
                <a:cs typeface="Arial"/>
              </a:defRPr>
            </a:lvl5pPr>
            <a:lvl6pPr>
              <a:defRPr sz="1125">
                <a:solidFill>
                  <a:srgbClr val="607286"/>
                </a:solidFill>
                <a:latin typeface="Arial"/>
                <a:ea typeface="Arial"/>
                <a:cs typeface="Arial"/>
              </a:defRPr>
            </a:lvl6pPr>
            <a:lvl7pPr>
              <a:defRPr sz="1125">
                <a:solidFill>
                  <a:srgbClr val="607286"/>
                </a:solidFill>
                <a:latin typeface="Arial"/>
                <a:ea typeface="Arial"/>
                <a:cs typeface="Arial"/>
              </a:defRPr>
            </a:lvl7pPr>
            <a:lvl8pPr>
              <a:defRPr sz="1125">
                <a:solidFill>
                  <a:srgbClr val="607286"/>
                </a:solidFill>
                <a:latin typeface="Arial"/>
                <a:ea typeface="Arial"/>
                <a:cs typeface="Arial"/>
              </a:defRPr>
            </a:lvl8pPr>
            <a:lvl9pPr>
              <a:defRPr sz="1125">
                <a:solidFill>
                  <a:srgbClr val="607286"/>
                </a:solidFill>
                <a:latin typeface="Arial"/>
                <a:ea typeface="Arial"/>
                <a:cs typeface="Arial"/>
              </a:defRPr>
            </a:lvl9pPr>
          </a:lstStyle>
          <a:p xmlns:a="http://schemas.openxmlformats.org/drawingml/2006/main">
            <a:pPr>
              <a:defRPr sz="1125">
                <a:solidFill>
                  <a:srgbClr val="607286"/>
                </a:solidFill>
                <a:latin typeface="Arial"/>
                <a:ea typeface="Arial"/>
                <a:cs typeface="Arial"/>
              </a:defRPr>
            </a:pPr>
            <a:r>
              <a:rPr sz="1125">
                <a:solidFill>
                  <a:srgbClr val="607286"/>
                </a:solidFill>
                <a:latin typeface="Arial"/>
                <a:ea typeface="Arial"/>
                <a:cs typeface="Arial"/>
              </a:rPr>
              <a:t>2,925 policy-budget replays: 13 selectors × 5 seeds × 3 budgets × 15 contexts; no new hardware runs. 12 complete oracles; 2 censored.</a:t>
            </a:r>
          </a:p>
        </p:txBody>
      </p:sp>
    </p:spTree>
    <p:extLst>
      <p:ext uri="{BB962C8B-B14F-4D97-AF65-F5344CB8AC3E}">
        <p14:creationId xmlns:p14="http://schemas.microsoft.com/office/powerpoint/2010/main" val="11567859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EF427AA-2A55-4001-95A7-A150E29BB92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AI methods and the agentic loop</a:t>
            </a:r>
          </a:p>
        </p:txBody>
      </p:sp>
      <p:sp>
        <p:nvSpPr>
          <p:cNvPr id="2" name="">
            <a:extLst xmlns:a="http://schemas.openxmlformats.org/drawingml/2006/main">
              <a:ext uri="{FF2B5EF4-FFF2-40B4-BE49-F238E27FC236}">
                <a16:creationId xmlns:a16="http://schemas.microsoft.com/office/drawing/2014/main" id="{EA39B807-10AE-40D6-8293-C398C554531D}"/>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BC7F37AD-5FF6-4562-AE36-35D5DFA2E25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8</a:t>
            </a:r>
          </a:p>
        </p:txBody>
      </p:sp>
      <p:sp>
        <p:nvSpPr>
          <p:cNvPr id="4" name="">
            <a:extLst xmlns:a="http://schemas.openxmlformats.org/drawingml/2006/main">
              <a:ext uri="{FF2B5EF4-FFF2-40B4-BE49-F238E27FC236}">
                <a16:creationId xmlns:a16="http://schemas.microsoft.com/office/drawing/2014/main" id="{670EBF07-88C6-42BE-B534-7D14198303D4}"/>
              </a:ext>
            </a:extLst>
          </p:cNvPr>
          <p:cNvSpPr>
            <a:spLocks xmlns:a="http://schemas.openxmlformats.org/drawingml/2006/main" noGrp="1"/>
          </p:cNvSpPr>
          <p:nvPr/>
        </p:nvSpPr>
        <p:spPr>
          <a:xfrm xmlns:a="http://schemas.openxmlformats.org/drawingml/2006/main">
            <a:off x="685800" y="12573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63648"/>
                </a:solidFill>
                <a:latin typeface="Arial"/>
                <a:ea typeface="Arial"/>
                <a:cs typeface="Arial"/>
              </a:defRPr>
            </a:defPPr>
            <a:lvl1pPr>
              <a:defRPr sz="1725" b="1">
                <a:solidFill>
                  <a:srgbClr val="263648"/>
                </a:solidFill>
                <a:latin typeface="Arial"/>
                <a:ea typeface="Arial"/>
                <a:cs typeface="Arial"/>
              </a:defRPr>
            </a:lvl1pPr>
            <a:lvl2pPr>
              <a:defRPr sz="1725" b="1">
                <a:solidFill>
                  <a:srgbClr val="263648"/>
                </a:solidFill>
                <a:latin typeface="Arial"/>
                <a:ea typeface="Arial"/>
                <a:cs typeface="Arial"/>
              </a:defRPr>
            </a:lvl2pPr>
            <a:lvl3pPr>
              <a:defRPr sz="1725" b="1">
                <a:solidFill>
                  <a:srgbClr val="263648"/>
                </a:solidFill>
                <a:latin typeface="Arial"/>
                <a:ea typeface="Arial"/>
                <a:cs typeface="Arial"/>
              </a:defRPr>
            </a:lvl3pPr>
            <a:lvl4pPr>
              <a:defRPr sz="1725" b="1">
                <a:solidFill>
                  <a:srgbClr val="263648"/>
                </a:solidFill>
                <a:latin typeface="Arial"/>
                <a:ea typeface="Arial"/>
                <a:cs typeface="Arial"/>
              </a:defRPr>
            </a:lvl4pPr>
            <a:lvl5pPr>
              <a:defRPr sz="1725" b="1">
                <a:solidFill>
                  <a:srgbClr val="263648"/>
                </a:solidFill>
                <a:latin typeface="Arial"/>
                <a:ea typeface="Arial"/>
                <a:cs typeface="Arial"/>
              </a:defRPr>
            </a:lvl5pPr>
            <a:lvl6pPr>
              <a:defRPr sz="1725" b="1">
                <a:solidFill>
                  <a:srgbClr val="263648"/>
                </a:solidFill>
                <a:latin typeface="Arial"/>
                <a:ea typeface="Arial"/>
                <a:cs typeface="Arial"/>
              </a:defRPr>
            </a:lvl6pPr>
            <a:lvl7pPr>
              <a:defRPr sz="1725" b="1">
                <a:solidFill>
                  <a:srgbClr val="263648"/>
                </a:solidFill>
                <a:latin typeface="Arial"/>
                <a:ea typeface="Arial"/>
                <a:cs typeface="Arial"/>
              </a:defRPr>
            </a:lvl7pPr>
            <a:lvl8pPr>
              <a:defRPr sz="1725" b="1">
                <a:solidFill>
                  <a:srgbClr val="263648"/>
                </a:solidFill>
                <a:latin typeface="Arial"/>
                <a:ea typeface="Arial"/>
                <a:cs typeface="Arial"/>
              </a:defRPr>
            </a:lvl8pPr>
            <a:lvl9pPr>
              <a:defRPr sz="1725" b="1">
                <a:solidFill>
                  <a:srgbClr val="263648"/>
                </a:solidFill>
                <a:latin typeface="Arial"/>
                <a:ea typeface="Arial"/>
                <a:cs typeface="Arial"/>
              </a:defRPr>
            </a:lvl9pPr>
          </a:lstStyle>
          <a:p xmlns:a="http://schemas.openxmlformats.org/drawingml/2006/main">
            <a:pPr>
              <a:defRPr sz="1725" b="1">
                <a:solidFill>
                  <a:srgbClr val="263648"/>
                </a:solidFill>
                <a:latin typeface="Arial"/>
                <a:ea typeface="Arial"/>
                <a:cs typeface="Arial"/>
              </a:defRPr>
            </a:pPr>
            <a:r>
              <a:rPr sz="1725" b="1">
                <a:solidFill>
                  <a:srgbClr val="263648"/>
                </a:solidFill>
                <a:latin typeface="Arial"/>
                <a:ea typeface="Arial"/>
                <a:cs typeface="Arial"/>
              </a:rPr>
              <a:t>The sequential loop has been implemented and used in measured selection experiments.</a:t>
            </a:r>
          </a:p>
        </p:txBody>
      </p:sp>
      <p:sp>
        <p:nvSpPr>
          <p:cNvPr id="5" name="">
            <a:extLst xmlns:a="http://schemas.openxmlformats.org/drawingml/2006/main">
              <a:ext uri="{FF2B5EF4-FFF2-40B4-BE49-F238E27FC236}">
                <a16:creationId xmlns:a16="http://schemas.microsoft.com/office/drawing/2014/main" id="{484F7088-7FFD-4FD3-9505-B3D887A0461F}"/>
              </a:ext>
            </a:extLst>
          </p:cNvPr>
          <p:cNvSpPr>
            <a:spLocks xmlns:a="http://schemas.openxmlformats.org/drawingml/2006/main" noGrp="1"/>
          </p:cNvSpPr>
          <p:nvPr/>
        </p:nvSpPr>
        <p:spPr>
          <a:xfrm xmlns:a="http://schemas.openxmlformats.org/drawingml/2006/main">
            <a:off x="857250" y="2057400"/>
            <a:ext cx="2190750" cy="1028700"/>
          </a:xfrm>
          <a:prstGeom xmlns:a="http://schemas.openxmlformats.org/drawingml/2006/main" prst="roundRect">
            <a:avLst>
              <a:gd name="adj" fmla="val 7407"/>
            </a:avLst>
          </a:prstGeom>
          <a:solidFill xmlns:a="http://schemas.openxmlformats.org/drawingml/2006/main">
            <a:srgbClr val="F4F7FA"/>
          </a:solidFill>
          <a:ln xmlns:a="http://schemas.openxmlformats.org/drawingml/2006/main" w="9525">
            <a:solidFill>
              <a:srgbClr val="D9E1E8"/>
            </a:solidFill>
            <a:prstDash val="solid"/>
          </a:ln>
        </p:spPr>
      </p:sp>
      <p:sp>
        <p:nvSpPr>
          <p:cNvPr id="6" name="">
            <a:extLst xmlns:a="http://schemas.openxmlformats.org/drawingml/2006/main">
              <a:ext uri="{FF2B5EF4-FFF2-40B4-BE49-F238E27FC236}">
                <a16:creationId xmlns:a16="http://schemas.microsoft.com/office/drawing/2014/main" id="{8BE991CD-AC4B-4C7A-BCB3-E5EB0556306E}"/>
              </a:ext>
            </a:extLst>
          </p:cNvPr>
          <p:cNvSpPr>
            <a:spLocks xmlns:a="http://schemas.openxmlformats.org/drawingml/2006/main" noGrp="1"/>
          </p:cNvSpPr>
          <p:nvPr/>
        </p:nvSpPr>
        <p:spPr>
          <a:xfrm xmlns:a="http://schemas.openxmlformats.org/drawingml/2006/main">
            <a:off x="1009650" y="2219325"/>
            <a:ext cx="18859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2878A8"/>
                </a:solidFill>
                <a:latin typeface="Arial"/>
                <a:ea typeface="Arial"/>
                <a:cs typeface="Arial"/>
              </a:defRPr>
            </a:defPPr>
            <a:lvl1pPr algn="ctr">
              <a:defRPr sz="1650" b="1">
                <a:solidFill>
                  <a:srgbClr val="2878A8"/>
                </a:solidFill>
                <a:latin typeface="Arial"/>
                <a:ea typeface="Arial"/>
                <a:cs typeface="Arial"/>
              </a:defRPr>
            </a:lvl1pPr>
            <a:lvl2pPr algn="ctr">
              <a:defRPr sz="1650" b="1">
                <a:solidFill>
                  <a:srgbClr val="2878A8"/>
                </a:solidFill>
                <a:latin typeface="Arial"/>
                <a:ea typeface="Arial"/>
                <a:cs typeface="Arial"/>
              </a:defRPr>
            </a:lvl2pPr>
            <a:lvl3pPr algn="ctr">
              <a:defRPr sz="1650" b="1">
                <a:solidFill>
                  <a:srgbClr val="2878A8"/>
                </a:solidFill>
                <a:latin typeface="Arial"/>
                <a:ea typeface="Arial"/>
                <a:cs typeface="Arial"/>
              </a:defRPr>
            </a:lvl3pPr>
            <a:lvl4pPr algn="ctr">
              <a:defRPr sz="1650" b="1">
                <a:solidFill>
                  <a:srgbClr val="2878A8"/>
                </a:solidFill>
                <a:latin typeface="Arial"/>
                <a:ea typeface="Arial"/>
                <a:cs typeface="Arial"/>
              </a:defRPr>
            </a:lvl4pPr>
            <a:lvl5pPr algn="ctr">
              <a:defRPr sz="1650" b="1">
                <a:solidFill>
                  <a:srgbClr val="2878A8"/>
                </a:solidFill>
                <a:latin typeface="Arial"/>
                <a:ea typeface="Arial"/>
                <a:cs typeface="Arial"/>
              </a:defRPr>
            </a:lvl5pPr>
            <a:lvl6pPr algn="ctr">
              <a:defRPr sz="1650" b="1">
                <a:solidFill>
                  <a:srgbClr val="2878A8"/>
                </a:solidFill>
                <a:latin typeface="Arial"/>
                <a:ea typeface="Arial"/>
                <a:cs typeface="Arial"/>
              </a:defRPr>
            </a:lvl6pPr>
            <a:lvl7pPr algn="ctr">
              <a:defRPr sz="1650" b="1">
                <a:solidFill>
                  <a:srgbClr val="2878A8"/>
                </a:solidFill>
                <a:latin typeface="Arial"/>
                <a:ea typeface="Arial"/>
                <a:cs typeface="Arial"/>
              </a:defRPr>
            </a:lvl7pPr>
            <a:lvl8pPr algn="ctr">
              <a:defRPr sz="1650" b="1">
                <a:solidFill>
                  <a:srgbClr val="2878A8"/>
                </a:solidFill>
                <a:latin typeface="Arial"/>
                <a:ea typeface="Arial"/>
                <a:cs typeface="Arial"/>
              </a:defRPr>
            </a:lvl8pPr>
            <a:lvl9pPr algn="ctr">
              <a:defRPr sz="1650" b="1">
                <a:solidFill>
                  <a:srgbClr val="2878A8"/>
                </a:solidFill>
                <a:latin typeface="Arial"/>
                <a:ea typeface="Arial"/>
                <a:cs typeface="Arial"/>
              </a:defRPr>
            </a:lvl9pPr>
          </a:lstStyle>
          <a:p xmlns:a="http://schemas.openxmlformats.org/drawingml/2006/main">
            <a:pPr algn="ctr">
              <a:defRPr sz="1650" b="1">
                <a:solidFill>
                  <a:srgbClr val="2878A8"/>
                </a:solidFill>
                <a:latin typeface="Arial"/>
                <a:ea typeface="Arial"/>
                <a:cs typeface="Arial"/>
              </a:defRPr>
            </a:pPr>
            <a:r>
              <a:rPr sz="1650" b="1">
                <a:solidFill>
                  <a:srgbClr val="2878A8"/>
                </a:solidFill>
                <a:latin typeface="Arial"/>
                <a:ea typeface="Arial"/>
                <a:cs typeface="Arial"/>
              </a:rPr>
              <a:t>Predict</a:t>
            </a:r>
          </a:p>
        </p:txBody>
      </p:sp>
      <p:sp>
        <p:nvSpPr>
          <p:cNvPr id="7" name="">
            <a:extLst xmlns:a="http://schemas.openxmlformats.org/drawingml/2006/main">
              <a:ext uri="{FF2B5EF4-FFF2-40B4-BE49-F238E27FC236}">
                <a16:creationId xmlns:a16="http://schemas.microsoft.com/office/drawing/2014/main" id="{A0CD915D-8FEA-46D4-83B3-A0575F527ABF}"/>
              </a:ext>
            </a:extLst>
          </p:cNvPr>
          <p:cNvSpPr>
            <a:spLocks xmlns:a="http://schemas.openxmlformats.org/drawingml/2006/main" noGrp="1"/>
          </p:cNvSpPr>
          <p:nvPr/>
        </p:nvSpPr>
        <p:spPr>
          <a:xfrm xmlns:a="http://schemas.openxmlformats.org/drawingml/2006/main">
            <a:off x="990600" y="25527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125">
                <a:solidFill>
                  <a:srgbClr val="263648"/>
                </a:solidFill>
                <a:latin typeface="Arial"/>
                <a:ea typeface="Arial"/>
                <a:cs typeface="Arial"/>
              </a:defRPr>
            </a:defPPr>
            <a:lvl1pPr algn="ctr">
              <a:defRPr sz="1125">
                <a:solidFill>
                  <a:srgbClr val="263648"/>
                </a:solidFill>
                <a:latin typeface="Arial"/>
                <a:ea typeface="Arial"/>
                <a:cs typeface="Arial"/>
              </a:defRPr>
            </a:lvl1pPr>
            <a:lvl2pPr algn="ctr">
              <a:defRPr sz="1125">
                <a:solidFill>
                  <a:srgbClr val="263648"/>
                </a:solidFill>
                <a:latin typeface="Arial"/>
                <a:ea typeface="Arial"/>
                <a:cs typeface="Arial"/>
              </a:defRPr>
            </a:lvl2pPr>
            <a:lvl3pPr algn="ctr">
              <a:defRPr sz="1125">
                <a:solidFill>
                  <a:srgbClr val="263648"/>
                </a:solidFill>
                <a:latin typeface="Arial"/>
                <a:ea typeface="Arial"/>
                <a:cs typeface="Arial"/>
              </a:defRPr>
            </a:lvl3pPr>
            <a:lvl4pPr algn="ctr">
              <a:defRPr sz="1125">
                <a:solidFill>
                  <a:srgbClr val="263648"/>
                </a:solidFill>
                <a:latin typeface="Arial"/>
                <a:ea typeface="Arial"/>
                <a:cs typeface="Arial"/>
              </a:defRPr>
            </a:lvl4pPr>
            <a:lvl5pPr algn="ctr">
              <a:defRPr sz="1125">
                <a:solidFill>
                  <a:srgbClr val="263648"/>
                </a:solidFill>
                <a:latin typeface="Arial"/>
                <a:ea typeface="Arial"/>
                <a:cs typeface="Arial"/>
              </a:defRPr>
            </a:lvl5pPr>
            <a:lvl6pPr algn="ctr">
              <a:defRPr sz="1125">
                <a:solidFill>
                  <a:srgbClr val="263648"/>
                </a:solidFill>
                <a:latin typeface="Arial"/>
                <a:ea typeface="Arial"/>
                <a:cs typeface="Arial"/>
              </a:defRPr>
            </a:lvl6pPr>
            <a:lvl7pPr algn="ctr">
              <a:defRPr sz="1125">
                <a:solidFill>
                  <a:srgbClr val="263648"/>
                </a:solidFill>
                <a:latin typeface="Arial"/>
                <a:ea typeface="Arial"/>
                <a:cs typeface="Arial"/>
              </a:defRPr>
            </a:lvl7pPr>
            <a:lvl8pPr algn="ctr">
              <a:defRPr sz="1125">
                <a:solidFill>
                  <a:srgbClr val="263648"/>
                </a:solidFill>
                <a:latin typeface="Arial"/>
                <a:ea typeface="Arial"/>
                <a:cs typeface="Arial"/>
              </a:defRPr>
            </a:lvl8pPr>
            <a:lvl9pPr algn="ctr">
              <a:defRPr sz="1125">
                <a:solidFill>
                  <a:srgbClr val="263648"/>
                </a:solidFill>
                <a:latin typeface="Arial"/>
                <a:ea typeface="Arial"/>
                <a:cs typeface="Arial"/>
              </a:defRPr>
            </a:lvl9pPr>
          </a:lstStyle>
          <a:p xmlns:a="http://schemas.openxmlformats.org/drawingml/2006/main">
            <a:pPr algn="ctr">
              <a:defRPr sz="1125">
                <a:solidFill>
                  <a:srgbClr val="263648"/>
                </a:solidFill>
                <a:latin typeface="Arial"/>
                <a:ea typeface="Arial"/>
                <a:cs typeface="Arial"/>
              </a:defRPr>
            </a:pPr>
            <a:r>
              <a:rPr sz="1125">
                <a:solidFill>
                  <a:srgbClr val="263648"/>
                </a:solidFill>
                <a:latin typeface="Arial"/>
                <a:ea typeface="Arial"/>
                <a:cs typeface="Arial"/>
              </a:rPr>
              <a:t>Rank remaining</a:t>
            </a:r>
          </a:p>
          <a:p xmlns:a="http://schemas.openxmlformats.org/drawingml/2006/main">
            <a:pPr algn="ctr">
              <a:defRPr sz="1125">
                <a:solidFill>
                  <a:srgbClr val="263648"/>
                </a:solidFill>
                <a:latin typeface="Arial"/>
                <a:ea typeface="Arial"/>
                <a:cs typeface="Arial"/>
              </a:defRPr>
            </a:pPr>
            <a:r>
              <a:rPr sz="1125">
                <a:solidFill>
                  <a:srgbClr val="263648"/>
                </a:solidFill>
                <a:latin typeface="Arial"/>
                <a:ea typeface="Arial"/>
                <a:cs typeface="Arial"/>
              </a:rPr>
              <a:t>candidates</a:t>
            </a:r>
          </a:p>
        </p:txBody>
      </p:sp>
      <p:sp>
        <p:nvSpPr>
          <p:cNvPr id="8" name="">
            <a:extLst xmlns:a="http://schemas.openxmlformats.org/drawingml/2006/main">
              <a:ext uri="{FF2B5EF4-FFF2-40B4-BE49-F238E27FC236}">
                <a16:creationId xmlns:a16="http://schemas.microsoft.com/office/drawing/2014/main" id="{35B273AC-74F2-42EC-AB55-17BAA6B09C56}"/>
              </a:ext>
            </a:extLst>
          </p:cNvPr>
          <p:cNvSpPr>
            <a:spLocks xmlns:a="http://schemas.openxmlformats.org/drawingml/2006/main" noGrp="1"/>
          </p:cNvSpPr>
          <p:nvPr/>
        </p:nvSpPr>
        <p:spPr>
          <a:xfrm xmlns:a="http://schemas.openxmlformats.org/drawingml/2006/main">
            <a:off x="3162300" y="2447925"/>
            <a:ext cx="438150" cy="219075"/>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907BF9B-E5A4-41EE-B2BE-1E39AAADF33F}"/>
              </a:ext>
            </a:extLst>
          </p:cNvPr>
          <p:cNvSpPr>
            <a:spLocks xmlns:a="http://schemas.openxmlformats.org/drawingml/2006/main" noGrp="1"/>
          </p:cNvSpPr>
          <p:nvPr/>
        </p:nvSpPr>
        <p:spPr>
          <a:xfrm xmlns:a="http://schemas.openxmlformats.org/drawingml/2006/main">
            <a:off x="3714750" y="2057400"/>
            <a:ext cx="2190750" cy="1028700"/>
          </a:xfrm>
          <a:prstGeom xmlns:a="http://schemas.openxmlformats.org/drawingml/2006/main" prst="roundRect">
            <a:avLst>
              <a:gd name="adj" fmla="val 7407"/>
            </a:avLst>
          </a:prstGeom>
          <a:solidFill xmlns:a="http://schemas.openxmlformats.org/drawingml/2006/main">
            <a:srgbClr val="F4F7FA"/>
          </a:solidFill>
          <a:ln xmlns:a="http://schemas.openxmlformats.org/drawingml/2006/main" w="9525">
            <a:solidFill>
              <a:srgbClr val="D9E1E8"/>
            </a:solidFill>
            <a:prstDash val="solid"/>
          </a:ln>
        </p:spPr>
      </p:sp>
      <p:sp>
        <p:nvSpPr>
          <p:cNvPr id="10" name="">
            <a:extLst xmlns:a="http://schemas.openxmlformats.org/drawingml/2006/main">
              <a:ext uri="{FF2B5EF4-FFF2-40B4-BE49-F238E27FC236}">
                <a16:creationId xmlns:a16="http://schemas.microsoft.com/office/drawing/2014/main" id="{775D51EA-2A0A-4F64-B83F-54A94A1CE91B}"/>
              </a:ext>
            </a:extLst>
          </p:cNvPr>
          <p:cNvSpPr>
            <a:spLocks xmlns:a="http://schemas.openxmlformats.org/drawingml/2006/main" noGrp="1"/>
          </p:cNvSpPr>
          <p:nvPr/>
        </p:nvSpPr>
        <p:spPr>
          <a:xfrm xmlns:a="http://schemas.openxmlformats.org/drawingml/2006/main">
            <a:off x="3867150" y="2219325"/>
            <a:ext cx="18859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2878A8"/>
                </a:solidFill>
                <a:latin typeface="Arial"/>
                <a:ea typeface="Arial"/>
                <a:cs typeface="Arial"/>
              </a:defRPr>
            </a:defPPr>
            <a:lvl1pPr algn="ctr">
              <a:defRPr sz="1650" b="1">
                <a:solidFill>
                  <a:srgbClr val="2878A8"/>
                </a:solidFill>
                <a:latin typeface="Arial"/>
                <a:ea typeface="Arial"/>
                <a:cs typeface="Arial"/>
              </a:defRPr>
            </a:lvl1pPr>
            <a:lvl2pPr algn="ctr">
              <a:defRPr sz="1650" b="1">
                <a:solidFill>
                  <a:srgbClr val="2878A8"/>
                </a:solidFill>
                <a:latin typeface="Arial"/>
                <a:ea typeface="Arial"/>
                <a:cs typeface="Arial"/>
              </a:defRPr>
            </a:lvl2pPr>
            <a:lvl3pPr algn="ctr">
              <a:defRPr sz="1650" b="1">
                <a:solidFill>
                  <a:srgbClr val="2878A8"/>
                </a:solidFill>
                <a:latin typeface="Arial"/>
                <a:ea typeface="Arial"/>
                <a:cs typeface="Arial"/>
              </a:defRPr>
            </a:lvl3pPr>
            <a:lvl4pPr algn="ctr">
              <a:defRPr sz="1650" b="1">
                <a:solidFill>
                  <a:srgbClr val="2878A8"/>
                </a:solidFill>
                <a:latin typeface="Arial"/>
                <a:ea typeface="Arial"/>
                <a:cs typeface="Arial"/>
              </a:defRPr>
            </a:lvl4pPr>
            <a:lvl5pPr algn="ctr">
              <a:defRPr sz="1650" b="1">
                <a:solidFill>
                  <a:srgbClr val="2878A8"/>
                </a:solidFill>
                <a:latin typeface="Arial"/>
                <a:ea typeface="Arial"/>
                <a:cs typeface="Arial"/>
              </a:defRPr>
            </a:lvl5pPr>
            <a:lvl6pPr algn="ctr">
              <a:defRPr sz="1650" b="1">
                <a:solidFill>
                  <a:srgbClr val="2878A8"/>
                </a:solidFill>
                <a:latin typeface="Arial"/>
                <a:ea typeface="Arial"/>
                <a:cs typeface="Arial"/>
              </a:defRPr>
            </a:lvl6pPr>
            <a:lvl7pPr algn="ctr">
              <a:defRPr sz="1650" b="1">
                <a:solidFill>
                  <a:srgbClr val="2878A8"/>
                </a:solidFill>
                <a:latin typeface="Arial"/>
                <a:ea typeface="Arial"/>
                <a:cs typeface="Arial"/>
              </a:defRPr>
            </a:lvl7pPr>
            <a:lvl8pPr algn="ctr">
              <a:defRPr sz="1650" b="1">
                <a:solidFill>
                  <a:srgbClr val="2878A8"/>
                </a:solidFill>
                <a:latin typeface="Arial"/>
                <a:ea typeface="Arial"/>
                <a:cs typeface="Arial"/>
              </a:defRPr>
            </a:lvl8pPr>
            <a:lvl9pPr algn="ctr">
              <a:defRPr sz="1650" b="1">
                <a:solidFill>
                  <a:srgbClr val="2878A8"/>
                </a:solidFill>
                <a:latin typeface="Arial"/>
                <a:ea typeface="Arial"/>
                <a:cs typeface="Arial"/>
              </a:defRPr>
            </a:lvl9pPr>
          </a:lstStyle>
          <a:p xmlns:a="http://schemas.openxmlformats.org/drawingml/2006/main">
            <a:pPr algn="ctr">
              <a:defRPr sz="1650" b="1">
                <a:solidFill>
                  <a:srgbClr val="2878A8"/>
                </a:solidFill>
                <a:latin typeface="Arial"/>
                <a:ea typeface="Arial"/>
                <a:cs typeface="Arial"/>
              </a:defRPr>
            </a:pPr>
            <a:r>
              <a:rPr sz="1650" b="1">
                <a:solidFill>
                  <a:srgbClr val="2878A8"/>
                </a:solidFill>
                <a:latin typeface="Arial"/>
                <a:ea typeface="Arial"/>
                <a:cs typeface="Arial"/>
              </a:rPr>
              <a:t>Choose</a:t>
            </a:r>
          </a:p>
        </p:txBody>
      </p:sp>
      <p:sp>
        <p:nvSpPr>
          <p:cNvPr id="11" name="">
            <a:extLst xmlns:a="http://schemas.openxmlformats.org/drawingml/2006/main">
              <a:ext uri="{FF2B5EF4-FFF2-40B4-BE49-F238E27FC236}">
                <a16:creationId xmlns:a16="http://schemas.microsoft.com/office/drawing/2014/main" id="{A9007C47-7162-442E-BAA7-A9D3B5C05FF3}"/>
              </a:ext>
            </a:extLst>
          </p:cNvPr>
          <p:cNvSpPr>
            <a:spLocks xmlns:a="http://schemas.openxmlformats.org/drawingml/2006/main" noGrp="1"/>
          </p:cNvSpPr>
          <p:nvPr/>
        </p:nvSpPr>
        <p:spPr>
          <a:xfrm xmlns:a="http://schemas.openxmlformats.org/drawingml/2006/main">
            <a:off x="3848100" y="25527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125">
                <a:solidFill>
                  <a:srgbClr val="263648"/>
                </a:solidFill>
                <a:latin typeface="Arial"/>
                <a:ea typeface="Arial"/>
                <a:cs typeface="Arial"/>
              </a:defRPr>
            </a:defPPr>
            <a:lvl1pPr algn="ctr">
              <a:defRPr sz="1125">
                <a:solidFill>
                  <a:srgbClr val="263648"/>
                </a:solidFill>
                <a:latin typeface="Arial"/>
                <a:ea typeface="Arial"/>
                <a:cs typeface="Arial"/>
              </a:defRPr>
            </a:lvl1pPr>
            <a:lvl2pPr algn="ctr">
              <a:defRPr sz="1125">
                <a:solidFill>
                  <a:srgbClr val="263648"/>
                </a:solidFill>
                <a:latin typeface="Arial"/>
                <a:ea typeface="Arial"/>
                <a:cs typeface="Arial"/>
              </a:defRPr>
            </a:lvl2pPr>
            <a:lvl3pPr algn="ctr">
              <a:defRPr sz="1125">
                <a:solidFill>
                  <a:srgbClr val="263648"/>
                </a:solidFill>
                <a:latin typeface="Arial"/>
                <a:ea typeface="Arial"/>
                <a:cs typeface="Arial"/>
              </a:defRPr>
            </a:lvl3pPr>
            <a:lvl4pPr algn="ctr">
              <a:defRPr sz="1125">
                <a:solidFill>
                  <a:srgbClr val="263648"/>
                </a:solidFill>
                <a:latin typeface="Arial"/>
                <a:ea typeface="Arial"/>
                <a:cs typeface="Arial"/>
              </a:defRPr>
            </a:lvl4pPr>
            <a:lvl5pPr algn="ctr">
              <a:defRPr sz="1125">
                <a:solidFill>
                  <a:srgbClr val="263648"/>
                </a:solidFill>
                <a:latin typeface="Arial"/>
                <a:ea typeface="Arial"/>
                <a:cs typeface="Arial"/>
              </a:defRPr>
            </a:lvl5pPr>
            <a:lvl6pPr algn="ctr">
              <a:defRPr sz="1125">
                <a:solidFill>
                  <a:srgbClr val="263648"/>
                </a:solidFill>
                <a:latin typeface="Arial"/>
                <a:ea typeface="Arial"/>
                <a:cs typeface="Arial"/>
              </a:defRPr>
            </a:lvl6pPr>
            <a:lvl7pPr algn="ctr">
              <a:defRPr sz="1125">
                <a:solidFill>
                  <a:srgbClr val="263648"/>
                </a:solidFill>
                <a:latin typeface="Arial"/>
                <a:ea typeface="Arial"/>
                <a:cs typeface="Arial"/>
              </a:defRPr>
            </a:lvl7pPr>
            <a:lvl8pPr algn="ctr">
              <a:defRPr sz="1125">
                <a:solidFill>
                  <a:srgbClr val="263648"/>
                </a:solidFill>
                <a:latin typeface="Arial"/>
                <a:ea typeface="Arial"/>
                <a:cs typeface="Arial"/>
              </a:defRPr>
            </a:lvl8pPr>
            <a:lvl9pPr algn="ctr">
              <a:defRPr sz="1125">
                <a:solidFill>
                  <a:srgbClr val="263648"/>
                </a:solidFill>
                <a:latin typeface="Arial"/>
                <a:ea typeface="Arial"/>
                <a:cs typeface="Arial"/>
              </a:defRPr>
            </a:lvl9pPr>
          </a:lstStyle>
          <a:p xmlns:a="http://schemas.openxmlformats.org/drawingml/2006/main">
            <a:pPr algn="ctr">
              <a:defRPr sz="1125">
                <a:solidFill>
                  <a:srgbClr val="263648"/>
                </a:solidFill>
                <a:latin typeface="Arial"/>
                <a:ea typeface="Arial"/>
                <a:cs typeface="Arial"/>
              </a:defRPr>
            </a:pPr>
            <a:r>
              <a:rPr sz="1125">
                <a:solidFill>
                  <a:srgbClr val="263648"/>
                </a:solidFill>
                <a:latin typeface="Arial"/>
                <a:ea typeface="Arial"/>
                <a:cs typeface="Arial"/>
              </a:rPr>
              <a:t>Spend one query</a:t>
            </a:r>
          </a:p>
          <a:p xmlns:a="http://schemas.openxmlformats.org/drawingml/2006/main">
            <a:pPr algn="ctr">
              <a:defRPr sz="1125">
                <a:solidFill>
                  <a:srgbClr val="263648"/>
                </a:solidFill>
                <a:latin typeface="Arial"/>
                <a:ea typeface="Arial"/>
                <a:cs typeface="Arial"/>
              </a:defRPr>
            </a:pPr>
            <a:r>
              <a:rPr sz="1125">
                <a:solidFill>
                  <a:srgbClr val="263648"/>
                </a:solidFill>
                <a:latin typeface="Arial"/>
                <a:ea typeface="Arial"/>
                <a:cs typeface="Arial"/>
              </a:rPr>
              <a:t>from the budget</a:t>
            </a:r>
          </a:p>
        </p:txBody>
      </p:sp>
      <p:sp>
        <p:nvSpPr>
          <p:cNvPr id="12" name="">
            <a:extLst xmlns:a="http://schemas.openxmlformats.org/drawingml/2006/main">
              <a:ext uri="{FF2B5EF4-FFF2-40B4-BE49-F238E27FC236}">
                <a16:creationId xmlns:a16="http://schemas.microsoft.com/office/drawing/2014/main" id="{5DCD235B-D4AD-4BAD-9E91-A5F7A8283B05}"/>
              </a:ext>
            </a:extLst>
          </p:cNvPr>
          <p:cNvSpPr>
            <a:spLocks xmlns:a="http://schemas.openxmlformats.org/drawingml/2006/main" noGrp="1"/>
          </p:cNvSpPr>
          <p:nvPr/>
        </p:nvSpPr>
        <p:spPr>
          <a:xfrm xmlns:a="http://schemas.openxmlformats.org/drawingml/2006/main">
            <a:off x="6019800" y="2447925"/>
            <a:ext cx="438150" cy="219075"/>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6308BF-B078-4897-9AF4-D65FFFE6A2AB}"/>
              </a:ext>
            </a:extLst>
          </p:cNvPr>
          <p:cNvSpPr>
            <a:spLocks xmlns:a="http://schemas.openxmlformats.org/drawingml/2006/main" noGrp="1"/>
          </p:cNvSpPr>
          <p:nvPr/>
        </p:nvSpPr>
        <p:spPr>
          <a:xfrm xmlns:a="http://schemas.openxmlformats.org/drawingml/2006/main">
            <a:off x="6572250" y="2057400"/>
            <a:ext cx="2190750" cy="1028700"/>
          </a:xfrm>
          <a:prstGeom xmlns:a="http://schemas.openxmlformats.org/drawingml/2006/main" prst="roundRect">
            <a:avLst>
              <a:gd name="adj" fmla="val 7407"/>
            </a:avLst>
          </a:prstGeom>
          <a:solidFill xmlns:a="http://schemas.openxmlformats.org/drawingml/2006/main">
            <a:srgbClr val="F4F7FA"/>
          </a:solidFill>
          <a:ln xmlns:a="http://schemas.openxmlformats.org/drawingml/2006/main" w="9525">
            <a:solidFill>
              <a:srgbClr val="D9E1E8"/>
            </a:solidFill>
            <a:prstDash val="solid"/>
          </a:ln>
        </p:spPr>
      </p:sp>
      <p:sp>
        <p:nvSpPr>
          <p:cNvPr id="14" name="">
            <a:extLst xmlns:a="http://schemas.openxmlformats.org/drawingml/2006/main">
              <a:ext uri="{FF2B5EF4-FFF2-40B4-BE49-F238E27FC236}">
                <a16:creationId xmlns:a16="http://schemas.microsoft.com/office/drawing/2014/main" id="{8F6E0002-A5A3-4332-918A-BC425D2D22AC}"/>
              </a:ext>
            </a:extLst>
          </p:cNvPr>
          <p:cNvSpPr>
            <a:spLocks xmlns:a="http://schemas.openxmlformats.org/drawingml/2006/main" noGrp="1"/>
          </p:cNvSpPr>
          <p:nvPr/>
        </p:nvSpPr>
        <p:spPr>
          <a:xfrm xmlns:a="http://schemas.openxmlformats.org/drawingml/2006/main">
            <a:off x="6724650" y="2219325"/>
            <a:ext cx="18859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2878A8"/>
                </a:solidFill>
                <a:latin typeface="Arial"/>
                <a:ea typeface="Arial"/>
                <a:cs typeface="Arial"/>
              </a:defRPr>
            </a:defPPr>
            <a:lvl1pPr algn="ctr">
              <a:defRPr sz="1650" b="1">
                <a:solidFill>
                  <a:srgbClr val="2878A8"/>
                </a:solidFill>
                <a:latin typeface="Arial"/>
                <a:ea typeface="Arial"/>
                <a:cs typeface="Arial"/>
              </a:defRPr>
            </a:lvl1pPr>
            <a:lvl2pPr algn="ctr">
              <a:defRPr sz="1650" b="1">
                <a:solidFill>
                  <a:srgbClr val="2878A8"/>
                </a:solidFill>
                <a:latin typeface="Arial"/>
                <a:ea typeface="Arial"/>
                <a:cs typeface="Arial"/>
              </a:defRPr>
            </a:lvl2pPr>
            <a:lvl3pPr algn="ctr">
              <a:defRPr sz="1650" b="1">
                <a:solidFill>
                  <a:srgbClr val="2878A8"/>
                </a:solidFill>
                <a:latin typeface="Arial"/>
                <a:ea typeface="Arial"/>
                <a:cs typeface="Arial"/>
              </a:defRPr>
            </a:lvl3pPr>
            <a:lvl4pPr algn="ctr">
              <a:defRPr sz="1650" b="1">
                <a:solidFill>
                  <a:srgbClr val="2878A8"/>
                </a:solidFill>
                <a:latin typeface="Arial"/>
                <a:ea typeface="Arial"/>
                <a:cs typeface="Arial"/>
              </a:defRPr>
            </a:lvl4pPr>
            <a:lvl5pPr algn="ctr">
              <a:defRPr sz="1650" b="1">
                <a:solidFill>
                  <a:srgbClr val="2878A8"/>
                </a:solidFill>
                <a:latin typeface="Arial"/>
                <a:ea typeface="Arial"/>
                <a:cs typeface="Arial"/>
              </a:defRPr>
            </a:lvl5pPr>
            <a:lvl6pPr algn="ctr">
              <a:defRPr sz="1650" b="1">
                <a:solidFill>
                  <a:srgbClr val="2878A8"/>
                </a:solidFill>
                <a:latin typeface="Arial"/>
                <a:ea typeface="Arial"/>
                <a:cs typeface="Arial"/>
              </a:defRPr>
            </a:lvl6pPr>
            <a:lvl7pPr algn="ctr">
              <a:defRPr sz="1650" b="1">
                <a:solidFill>
                  <a:srgbClr val="2878A8"/>
                </a:solidFill>
                <a:latin typeface="Arial"/>
                <a:ea typeface="Arial"/>
                <a:cs typeface="Arial"/>
              </a:defRPr>
            </a:lvl7pPr>
            <a:lvl8pPr algn="ctr">
              <a:defRPr sz="1650" b="1">
                <a:solidFill>
                  <a:srgbClr val="2878A8"/>
                </a:solidFill>
                <a:latin typeface="Arial"/>
                <a:ea typeface="Arial"/>
                <a:cs typeface="Arial"/>
              </a:defRPr>
            </a:lvl8pPr>
            <a:lvl9pPr algn="ctr">
              <a:defRPr sz="1650" b="1">
                <a:solidFill>
                  <a:srgbClr val="2878A8"/>
                </a:solidFill>
                <a:latin typeface="Arial"/>
                <a:ea typeface="Arial"/>
                <a:cs typeface="Arial"/>
              </a:defRPr>
            </a:lvl9pPr>
          </a:lstStyle>
          <a:p xmlns:a="http://schemas.openxmlformats.org/drawingml/2006/main">
            <a:pPr algn="ctr">
              <a:defRPr sz="1650" b="1">
                <a:solidFill>
                  <a:srgbClr val="2878A8"/>
                </a:solidFill>
                <a:latin typeface="Arial"/>
                <a:ea typeface="Arial"/>
                <a:cs typeface="Arial"/>
              </a:defRPr>
            </a:pPr>
            <a:r>
              <a:rPr sz="1650" b="1">
                <a:solidFill>
                  <a:srgbClr val="2878A8"/>
                </a:solidFill>
                <a:latin typeface="Arial"/>
                <a:ea typeface="Arial"/>
                <a:cs typeface="Arial"/>
              </a:rPr>
              <a:t>Measure</a:t>
            </a:r>
          </a:p>
        </p:txBody>
      </p:sp>
      <p:sp>
        <p:nvSpPr>
          <p:cNvPr id="15" name="">
            <a:extLst xmlns:a="http://schemas.openxmlformats.org/drawingml/2006/main">
              <a:ext uri="{FF2B5EF4-FFF2-40B4-BE49-F238E27FC236}">
                <a16:creationId xmlns:a16="http://schemas.microsoft.com/office/drawing/2014/main" id="{F0A1CC5D-281C-4A7C-83B6-5EFD241D7BEC}"/>
              </a:ext>
            </a:extLst>
          </p:cNvPr>
          <p:cNvSpPr>
            <a:spLocks xmlns:a="http://schemas.openxmlformats.org/drawingml/2006/main" noGrp="1"/>
          </p:cNvSpPr>
          <p:nvPr/>
        </p:nvSpPr>
        <p:spPr>
          <a:xfrm xmlns:a="http://schemas.openxmlformats.org/drawingml/2006/main">
            <a:off x="6705600" y="25527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125">
                <a:solidFill>
                  <a:srgbClr val="263648"/>
                </a:solidFill>
                <a:latin typeface="Arial"/>
                <a:ea typeface="Arial"/>
                <a:cs typeface="Arial"/>
              </a:defRPr>
            </a:defPPr>
            <a:lvl1pPr algn="ctr">
              <a:defRPr sz="1125">
                <a:solidFill>
                  <a:srgbClr val="263648"/>
                </a:solidFill>
                <a:latin typeface="Arial"/>
                <a:ea typeface="Arial"/>
                <a:cs typeface="Arial"/>
              </a:defRPr>
            </a:lvl1pPr>
            <a:lvl2pPr algn="ctr">
              <a:defRPr sz="1125">
                <a:solidFill>
                  <a:srgbClr val="263648"/>
                </a:solidFill>
                <a:latin typeface="Arial"/>
                <a:ea typeface="Arial"/>
                <a:cs typeface="Arial"/>
              </a:defRPr>
            </a:lvl2pPr>
            <a:lvl3pPr algn="ctr">
              <a:defRPr sz="1125">
                <a:solidFill>
                  <a:srgbClr val="263648"/>
                </a:solidFill>
                <a:latin typeface="Arial"/>
                <a:ea typeface="Arial"/>
                <a:cs typeface="Arial"/>
              </a:defRPr>
            </a:lvl3pPr>
            <a:lvl4pPr algn="ctr">
              <a:defRPr sz="1125">
                <a:solidFill>
                  <a:srgbClr val="263648"/>
                </a:solidFill>
                <a:latin typeface="Arial"/>
                <a:ea typeface="Arial"/>
                <a:cs typeface="Arial"/>
              </a:defRPr>
            </a:lvl4pPr>
            <a:lvl5pPr algn="ctr">
              <a:defRPr sz="1125">
                <a:solidFill>
                  <a:srgbClr val="263648"/>
                </a:solidFill>
                <a:latin typeface="Arial"/>
                <a:ea typeface="Arial"/>
                <a:cs typeface="Arial"/>
              </a:defRPr>
            </a:lvl5pPr>
            <a:lvl6pPr algn="ctr">
              <a:defRPr sz="1125">
                <a:solidFill>
                  <a:srgbClr val="263648"/>
                </a:solidFill>
                <a:latin typeface="Arial"/>
                <a:ea typeface="Arial"/>
                <a:cs typeface="Arial"/>
              </a:defRPr>
            </a:lvl6pPr>
            <a:lvl7pPr algn="ctr">
              <a:defRPr sz="1125">
                <a:solidFill>
                  <a:srgbClr val="263648"/>
                </a:solidFill>
                <a:latin typeface="Arial"/>
                <a:ea typeface="Arial"/>
                <a:cs typeface="Arial"/>
              </a:defRPr>
            </a:lvl7pPr>
            <a:lvl8pPr algn="ctr">
              <a:defRPr sz="1125">
                <a:solidFill>
                  <a:srgbClr val="263648"/>
                </a:solidFill>
                <a:latin typeface="Arial"/>
                <a:ea typeface="Arial"/>
                <a:cs typeface="Arial"/>
              </a:defRPr>
            </a:lvl8pPr>
            <a:lvl9pPr algn="ctr">
              <a:defRPr sz="1125">
                <a:solidFill>
                  <a:srgbClr val="263648"/>
                </a:solidFill>
                <a:latin typeface="Arial"/>
                <a:ea typeface="Arial"/>
                <a:cs typeface="Arial"/>
              </a:defRPr>
            </a:lvl9pPr>
          </a:lstStyle>
          <a:p xmlns:a="http://schemas.openxmlformats.org/drawingml/2006/main">
            <a:pPr algn="ctr">
              <a:defRPr sz="1125">
                <a:solidFill>
                  <a:srgbClr val="263648"/>
                </a:solidFill>
                <a:latin typeface="Arial"/>
                <a:ea typeface="Arial"/>
                <a:cs typeface="Arial"/>
              </a:defRPr>
            </a:pPr>
            <a:r>
              <a:rPr sz="1125">
                <a:solidFill>
                  <a:srgbClr val="263648"/>
                </a:solidFill>
                <a:latin typeface="Arial"/>
                <a:ea typeface="Arial"/>
                <a:cs typeface="Arial"/>
              </a:rPr>
              <a:t>Compile, execute,</a:t>
            </a:r>
          </a:p>
          <a:p xmlns:a="http://schemas.openxmlformats.org/drawingml/2006/main">
            <a:pPr algn="ctr">
              <a:defRPr sz="1125">
                <a:solidFill>
                  <a:srgbClr val="263648"/>
                </a:solidFill>
                <a:latin typeface="Arial"/>
                <a:ea typeface="Arial"/>
                <a:cs typeface="Arial"/>
              </a:defRPr>
            </a:pPr>
            <a:r>
              <a:rPr sz="1125">
                <a:solidFill>
                  <a:srgbClr val="263648"/>
                </a:solidFill>
                <a:latin typeface="Arial"/>
                <a:ea typeface="Arial"/>
                <a:cs typeface="Arial"/>
              </a:rPr>
              <a:t>verify, synthesize</a:t>
            </a:r>
          </a:p>
        </p:txBody>
      </p:sp>
      <p:sp>
        <p:nvSpPr>
          <p:cNvPr id="16" name="">
            <a:extLst xmlns:a="http://schemas.openxmlformats.org/drawingml/2006/main">
              <a:ext uri="{FF2B5EF4-FFF2-40B4-BE49-F238E27FC236}">
                <a16:creationId xmlns:a16="http://schemas.microsoft.com/office/drawing/2014/main" id="{23628081-F10D-4397-B7EF-19D02CE54377}"/>
              </a:ext>
            </a:extLst>
          </p:cNvPr>
          <p:cNvSpPr>
            <a:spLocks xmlns:a="http://schemas.openxmlformats.org/drawingml/2006/main" noGrp="1"/>
          </p:cNvSpPr>
          <p:nvPr/>
        </p:nvSpPr>
        <p:spPr>
          <a:xfrm xmlns:a="http://schemas.openxmlformats.org/drawingml/2006/main">
            <a:off x="8877300" y="2447925"/>
            <a:ext cx="438150" cy="219075"/>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44358C1-23BF-4E1D-984A-155FC52BF808}"/>
              </a:ext>
            </a:extLst>
          </p:cNvPr>
          <p:cNvSpPr>
            <a:spLocks xmlns:a="http://schemas.openxmlformats.org/drawingml/2006/main" noGrp="1"/>
          </p:cNvSpPr>
          <p:nvPr/>
        </p:nvSpPr>
        <p:spPr>
          <a:xfrm xmlns:a="http://schemas.openxmlformats.org/drawingml/2006/main">
            <a:off x="9429750" y="2057400"/>
            <a:ext cx="2190750" cy="1028700"/>
          </a:xfrm>
          <a:prstGeom xmlns:a="http://schemas.openxmlformats.org/drawingml/2006/main" prst="roundRect">
            <a:avLst>
              <a:gd name="adj" fmla="val 7407"/>
            </a:avLst>
          </a:prstGeom>
          <a:solidFill xmlns:a="http://schemas.openxmlformats.org/drawingml/2006/main">
            <a:srgbClr val="F4F7FA"/>
          </a:solidFill>
          <a:ln xmlns:a="http://schemas.openxmlformats.org/drawingml/2006/main" w="9525">
            <a:solidFill>
              <a:srgbClr val="D9E1E8"/>
            </a:solidFill>
            <a:prstDash val="solid"/>
          </a:ln>
        </p:spPr>
      </p:sp>
      <p:sp>
        <p:nvSpPr>
          <p:cNvPr id="18" name="">
            <a:extLst xmlns:a="http://schemas.openxmlformats.org/drawingml/2006/main">
              <a:ext uri="{FF2B5EF4-FFF2-40B4-BE49-F238E27FC236}">
                <a16:creationId xmlns:a16="http://schemas.microsoft.com/office/drawing/2014/main" id="{E9A67700-80B7-4066-9B6D-9197FDE0F943}"/>
              </a:ext>
            </a:extLst>
          </p:cNvPr>
          <p:cNvSpPr>
            <a:spLocks xmlns:a="http://schemas.openxmlformats.org/drawingml/2006/main" noGrp="1"/>
          </p:cNvSpPr>
          <p:nvPr/>
        </p:nvSpPr>
        <p:spPr>
          <a:xfrm xmlns:a="http://schemas.openxmlformats.org/drawingml/2006/main">
            <a:off x="9582150" y="2219325"/>
            <a:ext cx="18859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1">
                <a:solidFill>
                  <a:srgbClr val="2878A8"/>
                </a:solidFill>
                <a:latin typeface="Arial"/>
                <a:ea typeface="Arial"/>
                <a:cs typeface="Arial"/>
              </a:defRPr>
            </a:defPPr>
            <a:lvl1pPr algn="ctr">
              <a:defRPr sz="1650" b="1">
                <a:solidFill>
                  <a:srgbClr val="2878A8"/>
                </a:solidFill>
                <a:latin typeface="Arial"/>
                <a:ea typeface="Arial"/>
                <a:cs typeface="Arial"/>
              </a:defRPr>
            </a:lvl1pPr>
            <a:lvl2pPr algn="ctr">
              <a:defRPr sz="1650" b="1">
                <a:solidFill>
                  <a:srgbClr val="2878A8"/>
                </a:solidFill>
                <a:latin typeface="Arial"/>
                <a:ea typeface="Arial"/>
                <a:cs typeface="Arial"/>
              </a:defRPr>
            </a:lvl2pPr>
            <a:lvl3pPr algn="ctr">
              <a:defRPr sz="1650" b="1">
                <a:solidFill>
                  <a:srgbClr val="2878A8"/>
                </a:solidFill>
                <a:latin typeface="Arial"/>
                <a:ea typeface="Arial"/>
                <a:cs typeface="Arial"/>
              </a:defRPr>
            </a:lvl3pPr>
            <a:lvl4pPr algn="ctr">
              <a:defRPr sz="1650" b="1">
                <a:solidFill>
                  <a:srgbClr val="2878A8"/>
                </a:solidFill>
                <a:latin typeface="Arial"/>
                <a:ea typeface="Arial"/>
                <a:cs typeface="Arial"/>
              </a:defRPr>
            </a:lvl4pPr>
            <a:lvl5pPr algn="ctr">
              <a:defRPr sz="1650" b="1">
                <a:solidFill>
                  <a:srgbClr val="2878A8"/>
                </a:solidFill>
                <a:latin typeface="Arial"/>
                <a:ea typeface="Arial"/>
                <a:cs typeface="Arial"/>
              </a:defRPr>
            </a:lvl5pPr>
            <a:lvl6pPr algn="ctr">
              <a:defRPr sz="1650" b="1">
                <a:solidFill>
                  <a:srgbClr val="2878A8"/>
                </a:solidFill>
                <a:latin typeface="Arial"/>
                <a:ea typeface="Arial"/>
                <a:cs typeface="Arial"/>
              </a:defRPr>
            </a:lvl6pPr>
            <a:lvl7pPr algn="ctr">
              <a:defRPr sz="1650" b="1">
                <a:solidFill>
                  <a:srgbClr val="2878A8"/>
                </a:solidFill>
                <a:latin typeface="Arial"/>
                <a:ea typeface="Arial"/>
                <a:cs typeface="Arial"/>
              </a:defRPr>
            </a:lvl7pPr>
            <a:lvl8pPr algn="ctr">
              <a:defRPr sz="1650" b="1">
                <a:solidFill>
                  <a:srgbClr val="2878A8"/>
                </a:solidFill>
                <a:latin typeface="Arial"/>
                <a:ea typeface="Arial"/>
                <a:cs typeface="Arial"/>
              </a:defRPr>
            </a:lvl8pPr>
            <a:lvl9pPr algn="ctr">
              <a:defRPr sz="1650" b="1">
                <a:solidFill>
                  <a:srgbClr val="2878A8"/>
                </a:solidFill>
                <a:latin typeface="Arial"/>
                <a:ea typeface="Arial"/>
                <a:cs typeface="Arial"/>
              </a:defRPr>
            </a:lvl9pPr>
          </a:lstStyle>
          <a:p xmlns:a="http://schemas.openxmlformats.org/drawingml/2006/main">
            <a:pPr algn="ctr">
              <a:defRPr sz="1650" b="1">
                <a:solidFill>
                  <a:srgbClr val="2878A8"/>
                </a:solidFill>
                <a:latin typeface="Arial"/>
                <a:ea typeface="Arial"/>
                <a:cs typeface="Arial"/>
              </a:defRPr>
            </a:pPr>
            <a:r>
              <a:rPr sz="1650" b="1">
                <a:solidFill>
                  <a:srgbClr val="2878A8"/>
                </a:solidFill>
                <a:latin typeface="Arial"/>
                <a:ea typeface="Arial"/>
                <a:cs typeface="Arial"/>
              </a:rPr>
              <a:t>Update</a:t>
            </a:r>
          </a:p>
        </p:txBody>
      </p:sp>
      <p:sp>
        <p:nvSpPr>
          <p:cNvPr id="19" name="">
            <a:extLst xmlns:a="http://schemas.openxmlformats.org/drawingml/2006/main">
              <a:ext uri="{FF2B5EF4-FFF2-40B4-BE49-F238E27FC236}">
                <a16:creationId xmlns:a16="http://schemas.microsoft.com/office/drawing/2014/main" id="{8435CD86-D083-4BE1-A780-B22861AAAAF2}"/>
              </a:ext>
            </a:extLst>
          </p:cNvPr>
          <p:cNvSpPr>
            <a:spLocks xmlns:a="http://schemas.openxmlformats.org/drawingml/2006/main" noGrp="1"/>
          </p:cNvSpPr>
          <p:nvPr/>
        </p:nvSpPr>
        <p:spPr>
          <a:xfrm xmlns:a="http://schemas.openxmlformats.org/drawingml/2006/main">
            <a:off x="9563100" y="25527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125">
                <a:solidFill>
                  <a:srgbClr val="263648"/>
                </a:solidFill>
                <a:latin typeface="Arial"/>
                <a:ea typeface="Arial"/>
                <a:cs typeface="Arial"/>
              </a:defRPr>
            </a:defPPr>
            <a:lvl1pPr algn="ctr">
              <a:defRPr sz="1125">
                <a:solidFill>
                  <a:srgbClr val="263648"/>
                </a:solidFill>
                <a:latin typeface="Arial"/>
                <a:ea typeface="Arial"/>
                <a:cs typeface="Arial"/>
              </a:defRPr>
            </a:lvl1pPr>
            <a:lvl2pPr algn="ctr">
              <a:defRPr sz="1125">
                <a:solidFill>
                  <a:srgbClr val="263648"/>
                </a:solidFill>
                <a:latin typeface="Arial"/>
                <a:ea typeface="Arial"/>
                <a:cs typeface="Arial"/>
              </a:defRPr>
            </a:lvl2pPr>
            <a:lvl3pPr algn="ctr">
              <a:defRPr sz="1125">
                <a:solidFill>
                  <a:srgbClr val="263648"/>
                </a:solidFill>
                <a:latin typeface="Arial"/>
                <a:ea typeface="Arial"/>
                <a:cs typeface="Arial"/>
              </a:defRPr>
            </a:lvl3pPr>
            <a:lvl4pPr algn="ctr">
              <a:defRPr sz="1125">
                <a:solidFill>
                  <a:srgbClr val="263648"/>
                </a:solidFill>
                <a:latin typeface="Arial"/>
                <a:ea typeface="Arial"/>
                <a:cs typeface="Arial"/>
              </a:defRPr>
            </a:lvl4pPr>
            <a:lvl5pPr algn="ctr">
              <a:defRPr sz="1125">
                <a:solidFill>
                  <a:srgbClr val="263648"/>
                </a:solidFill>
                <a:latin typeface="Arial"/>
                <a:ea typeface="Arial"/>
                <a:cs typeface="Arial"/>
              </a:defRPr>
            </a:lvl5pPr>
            <a:lvl6pPr algn="ctr">
              <a:defRPr sz="1125">
                <a:solidFill>
                  <a:srgbClr val="263648"/>
                </a:solidFill>
                <a:latin typeface="Arial"/>
                <a:ea typeface="Arial"/>
                <a:cs typeface="Arial"/>
              </a:defRPr>
            </a:lvl6pPr>
            <a:lvl7pPr algn="ctr">
              <a:defRPr sz="1125">
                <a:solidFill>
                  <a:srgbClr val="263648"/>
                </a:solidFill>
                <a:latin typeface="Arial"/>
                <a:ea typeface="Arial"/>
                <a:cs typeface="Arial"/>
              </a:defRPr>
            </a:lvl7pPr>
            <a:lvl8pPr algn="ctr">
              <a:defRPr sz="1125">
                <a:solidFill>
                  <a:srgbClr val="263648"/>
                </a:solidFill>
                <a:latin typeface="Arial"/>
                <a:ea typeface="Arial"/>
                <a:cs typeface="Arial"/>
              </a:defRPr>
            </a:lvl8pPr>
            <a:lvl9pPr algn="ctr">
              <a:defRPr sz="1125">
                <a:solidFill>
                  <a:srgbClr val="263648"/>
                </a:solidFill>
                <a:latin typeface="Arial"/>
                <a:ea typeface="Arial"/>
                <a:cs typeface="Arial"/>
              </a:defRPr>
            </a:lvl9pPr>
          </a:lstStyle>
          <a:p xmlns:a="http://schemas.openxmlformats.org/drawingml/2006/main">
            <a:pPr algn="ctr">
              <a:defRPr sz="1125">
                <a:solidFill>
                  <a:srgbClr val="263648"/>
                </a:solidFill>
                <a:latin typeface="Arial"/>
                <a:ea typeface="Arial"/>
                <a:cs typeface="Arial"/>
              </a:defRPr>
            </a:pPr>
            <a:r>
              <a:rPr sz="1125">
                <a:solidFill>
                  <a:srgbClr val="263648"/>
                </a:solidFill>
                <a:latin typeface="Arial"/>
                <a:ea typeface="Arial"/>
                <a:cs typeface="Arial"/>
              </a:rPr>
              <a:t>Add paid result;</a:t>
            </a:r>
          </a:p>
          <a:p xmlns:a="http://schemas.openxmlformats.org/drawingml/2006/main">
            <a:pPr algn="ctr">
              <a:defRPr sz="1125">
                <a:solidFill>
                  <a:srgbClr val="263648"/>
                </a:solidFill>
                <a:latin typeface="Arial"/>
                <a:ea typeface="Arial"/>
                <a:cs typeface="Arial"/>
              </a:defRPr>
            </a:pPr>
            <a:r>
              <a:rPr sz="1125">
                <a:solidFill>
                  <a:srgbClr val="263648"/>
                </a:solidFill>
                <a:latin typeface="Arial"/>
                <a:ea typeface="Arial"/>
                <a:cs typeface="Arial"/>
              </a:rPr>
              <a:t>recompute next query</a:t>
            </a:r>
          </a:p>
        </p:txBody>
      </p:sp>
      <p:sp>
        <p:nvSpPr>
          <p:cNvPr id="20" name="">
            <a:extLst xmlns:a="http://schemas.openxmlformats.org/drawingml/2006/main">
              <a:ext uri="{FF2B5EF4-FFF2-40B4-BE49-F238E27FC236}">
                <a16:creationId xmlns:a16="http://schemas.microsoft.com/office/drawing/2014/main" id="{3341A6F0-3D1D-4226-9F95-C64F5756B26F}"/>
              </a:ext>
            </a:extLst>
          </p:cNvPr>
          <p:cNvSpPr>
            <a:spLocks xmlns:a="http://schemas.openxmlformats.org/drawingml/2006/main" noGrp="1"/>
          </p:cNvSpPr>
          <p:nvPr/>
        </p:nvSpPr>
        <p:spPr>
          <a:xfrm xmlns:a="http://schemas.openxmlformats.org/drawingml/2006/main">
            <a:off x="857250" y="3228975"/>
            <a:ext cx="1038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Repeat until the budget ends, then choose the best paid, correct, feasible result.</a:t>
            </a:r>
          </a:p>
        </p:txBody>
      </p:sp>
      <p:sp>
        <p:nvSpPr>
          <p:cNvPr id="21" name="">
            <a:extLst xmlns:a="http://schemas.openxmlformats.org/drawingml/2006/main">
              <a:ext uri="{FF2B5EF4-FFF2-40B4-BE49-F238E27FC236}">
                <a16:creationId xmlns:a16="http://schemas.microsoft.com/office/drawing/2014/main" id="{05DF5A73-7E5D-48D2-8C27-83E88B7B95DE}"/>
              </a:ext>
            </a:extLst>
          </p:cNvPr>
          <p:cNvSpPr>
            <a:spLocks xmlns:a="http://schemas.openxmlformats.org/drawingml/2006/main" noGrp="1"/>
          </p:cNvSpPr>
          <p:nvPr/>
        </p:nvSpPr>
        <p:spPr>
          <a:xfrm xmlns:a="http://schemas.openxmlformats.org/drawingml/2006/main">
            <a:off x="685800" y="3762375"/>
            <a:ext cx="1080135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22" name="">
            <a:extLst xmlns:a="http://schemas.openxmlformats.org/drawingml/2006/main">
              <a:ext uri="{FF2B5EF4-FFF2-40B4-BE49-F238E27FC236}">
                <a16:creationId xmlns:a16="http://schemas.microsoft.com/office/drawing/2014/main" id="{C34364A7-FFE3-44CD-878C-510F33E94D53}"/>
              </a:ext>
            </a:extLst>
          </p:cNvPr>
          <p:cNvSpPr>
            <a:spLocks xmlns:a="http://schemas.openxmlformats.org/drawingml/2006/main" noGrp="1"/>
          </p:cNvSpPr>
          <p:nvPr/>
        </p:nvSpPr>
        <p:spPr>
          <a:xfrm xmlns:a="http://schemas.openxmlformats.org/drawingml/2006/main">
            <a:off x="685800" y="40005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17324D"/>
                </a:solidFill>
                <a:latin typeface="Arial"/>
                <a:ea typeface="Arial"/>
                <a:cs typeface="Arial"/>
              </a:defRPr>
            </a:defPPr>
            <a:lvl1pPr>
              <a:defRPr sz="1575" b="1">
                <a:solidFill>
                  <a:srgbClr val="17324D"/>
                </a:solidFill>
                <a:latin typeface="Arial"/>
                <a:ea typeface="Arial"/>
                <a:cs typeface="Arial"/>
              </a:defRPr>
            </a:lvl1pPr>
            <a:lvl2pPr>
              <a:defRPr sz="1575" b="1">
                <a:solidFill>
                  <a:srgbClr val="17324D"/>
                </a:solidFill>
                <a:latin typeface="Arial"/>
                <a:ea typeface="Arial"/>
                <a:cs typeface="Arial"/>
              </a:defRPr>
            </a:lvl2pPr>
            <a:lvl3pPr>
              <a:defRPr sz="1575" b="1">
                <a:solidFill>
                  <a:srgbClr val="17324D"/>
                </a:solidFill>
                <a:latin typeface="Arial"/>
                <a:ea typeface="Arial"/>
                <a:cs typeface="Arial"/>
              </a:defRPr>
            </a:lvl3pPr>
            <a:lvl4pPr>
              <a:defRPr sz="1575" b="1">
                <a:solidFill>
                  <a:srgbClr val="17324D"/>
                </a:solidFill>
                <a:latin typeface="Arial"/>
                <a:ea typeface="Arial"/>
                <a:cs typeface="Arial"/>
              </a:defRPr>
            </a:lvl4pPr>
            <a:lvl5pPr>
              <a:defRPr sz="1575" b="1">
                <a:solidFill>
                  <a:srgbClr val="17324D"/>
                </a:solidFill>
                <a:latin typeface="Arial"/>
                <a:ea typeface="Arial"/>
                <a:cs typeface="Arial"/>
              </a:defRPr>
            </a:lvl5pPr>
            <a:lvl6pPr>
              <a:defRPr sz="1575" b="1">
                <a:solidFill>
                  <a:srgbClr val="17324D"/>
                </a:solidFill>
                <a:latin typeface="Arial"/>
                <a:ea typeface="Arial"/>
                <a:cs typeface="Arial"/>
              </a:defRPr>
            </a:lvl6pPr>
            <a:lvl7pPr>
              <a:defRPr sz="1575" b="1">
                <a:solidFill>
                  <a:srgbClr val="17324D"/>
                </a:solidFill>
                <a:latin typeface="Arial"/>
                <a:ea typeface="Arial"/>
                <a:cs typeface="Arial"/>
              </a:defRPr>
            </a:lvl7pPr>
            <a:lvl8pPr>
              <a:defRPr sz="1575" b="1">
                <a:solidFill>
                  <a:srgbClr val="17324D"/>
                </a:solidFill>
                <a:latin typeface="Arial"/>
                <a:ea typeface="Arial"/>
                <a:cs typeface="Arial"/>
              </a:defRPr>
            </a:lvl8pPr>
            <a:lvl9pPr>
              <a:defRPr sz="1575" b="1">
                <a:solidFill>
                  <a:srgbClr val="17324D"/>
                </a:solidFill>
                <a:latin typeface="Arial"/>
                <a:ea typeface="Arial"/>
                <a:cs typeface="Arial"/>
              </a:defRPr>
            </a:lvl9pPr>
          </a:lstStyle>
          <a:p xmlns:a="http://schemas.openxmlformats.org/drawingml/2006/main">
            <a:pPr>
              <a:defRPr sz="1575" b="1">
                <a:solidFill>
                  <a:srgbClr val="17324D"/>
                </a:solidFill>
                <a:latin typeface="Arial"/>
                <a:ea typeface="Arial"/>
                <a:cs typeface="Arial"/>
              </a:defRPr>
            </a:pPr>
            <a:r>
              <a:rPr sz="1575" b="1">
                <a:solidFill>
                  <a:srgbClr val="17324D"/>
                </a:solidFill>
                <a:latin typeface="Arial"/>
                <a:ea typeface="Arial"/>
                <a:cs typeface="Arial"/>
              </a:rPr>
              <a:t>What AI we used</a:t>
            </a:r>
          </a:p>
        </p:txBody>
      </p:sp>
      <p:sp>
        <p:nvSpPr>
          <p:cNvPr id="23" name="">
            <a:extLst xmlns:a="http://schemas.openxmlformats.org/drawingml/2006/main">
              <a:ext uri="{FF2B5EF4-FFF2-40B4-BE49-F238E27FC236}">
                <a16:creationId xmlns:a16="http://schemas.microsoft.com/office/drawing/2014/main" id="{F4714AB1-1E95-40E6-B8FD-A5540B92088D}"/>
              </a:ext>
            </a:extLst>
          </p:cNvPr>
          <p:cNvSpPr>
            <a:spLocks xmlns:a="http://schemas.openxmlformats.org/drawingml/2006/main" noGrp="1"/>
          </p:cNvSpPr>
          <p:nvPr/>
        </p:nvSpPr>
        <p:spPr>
          <a:xfrm xmlns:a="http://schemas.openxmlformats.org/drawingml/2006/main">
            <a:off x="685800" y="4352925"/>
            <a:ext cx="5095875"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a:solidFill>
                  <a:srgbClr val="263648"/>
                </a:solidFill>
                <a:latin typeface="Arial"/>
                <a:ea typeface="Arial"/>
                <a:cs typeface="Arial"/>
              </a:defRPr>
            </a:defPPr>
            <a:lvl1pPr>
              <a:defRPr sz="1350">
                <a:solidFill>
                  <a:srgbClr val="263648"/>
                </a:solidFill>
                <a:latin typeface="Arial"/>
                <a:ea typeface="Arial"/>
                <a:cs typeface="Arial"/>
              </a:defRPr>
            </a:lvl1pPr>
            <a:lvl2pPr>
              <a:defRPr sz="1350">
                <a:solidFill>
                  <a:srgbClr val="263648"/>
                </a:solidFill>
                <a:latin typeface="Arial"/>
                <a:ea typeface="Arial"/>
                <a:cs typeface="Arial"/>
              </a:defRPr>
            </a:lvl2pPr>
            <a:lvl3pPr>
              <a:defRPr sz="1350">
                <a:solidFill>
                  <a:srgbClr val="263648"/>
                </a:solidFill>
                <a:latin typeface="Arial"/>
                <a:ea typeface="Arial"/>
                <a:cs typeface="Arial"/>
              </a:defRPr>
            </a:lvl3pPr>
            <a:lvl4pPr>
              <a:defRPr sz="1350">
                <a:solidFill>
                  <a:srgbClr val="263648"/>
                </a:solidFill>
                <a:latin typeface="Arial"/>
                <a:ea typeface="Arial"/>
                <a:cs typeface="Arial"/>
              </a:defRPr>
            </a:lvl4pPr>
            <a:lvl5pPr>
              <a:defRPr sz="1350">
                <a:solidFill>
                  <a:srgbClr val="263648"/>
                </a:solidFill>
                <a:latin typeface="Arial"/>
                <a:ea typeface="Arial"/>
                <a:cs typeface="Arial"/>
              </a:defRPr>
            </a:lvl5pPr>
            <a:lvl6pPr>
              <a:defRPr sz="1350">
                <a:solidFill>
                  <a:srgbClr val="263648"/>
                </a:solidFill>
                <a:latin typeface="Arial"/>
                <a:ea typeface="Arial"/>
                <a:cs typeface="Arial"/>
              </a:defRPr>
            </a:lvl6pPr>
            <a:lvl7pPr>
              <a:defRPr sz="1350">
                <a:solidFill>
                  <a:srgbClr val="263648"/>
                </a:solidFill>
                <a:latin typeface="Arial"/>
                <a:ea typeface="Arial"/>
                <a:cs typeface="Arial"/>
              </a:defRPr>
            </a:lvl7pPr>
            <a:lvl8pPr>
              <a:defRPr sz="1350">
                <a:solidFill>
                  <a:srgbClr val="263648"/>
                </a:solidFill>
                <a:latin typeface="Arial"/>
                <a:ea typeface="Arial"/>
                <a:cs typeface="Arial"/>
              </a:defRPr>
            </a:lvl8pPr>
            <a:lvl9pPr>
              <a:defRPr sz="1350">
                <a:solidFill>
                  <a:srgbClr val="263648"/>
                </a:solidFill>
                <a:latin typeface="Arial"/>
                <a:ea typeface="Arial"/>
                <a:cs typeface="Arial"/>
              </a:defRPr>
            </a:lvl9pPr>
          </a:lstStyle>
          <a:p xmlns:a="http://schemas.openxmlformats.org/drawingml/2006/main">
            <a:pPr>
              <a:defRPr sz="1350">
                <a:solidFill>
                  <a:srgbClr val="263648"/>
                </a:solidFill>
                <a:latin typeface="Arial"/>
                <a:ea typeface="Arial"/>
                <a:cs typeface="Arial"/>
              </a:defRPr>
            </a:pPr>
            <a:r>
              <a:rPr sz="1350">
                <a:solidFill>
                  <a:srgbClr val="263648"/>
                </a:solidFill>
                <a:latin typeface="Arial"/>
                <a:ea typeface="Arial"/>
                <a:cs typeface="Arial"/>
              </a:rPr>
              <a:t>XGBoost regression, pairwise ranking, and feasibility models; Gaussian-process active learning; frequency, merit, timing-aware, and random controls.</a:t>
            </a:r>
          </a:p>
        </p:txBody>
      </p:sp>
      <p:sp>
        <p:nvSpPr>
          <p:cNvPr id="24" name="">
            <a:extLst xmlns:a="http://schemas.openxmlformats.org/drawingml/2006/main">
              <a:ext uri="{FF2B5EF4-FFF2-40B4-BE49-F238E27FC236}">
                <a16:creationId xmlns:a16="http://schemas.microsoft.com/office/drawing/2014/main" id="{A4A8E8CE-5CCF-49F4-8325-7996CF132BD8}"/>
              </a:ext>
            </a:extLst>
          </p:cNvPr>
          <p:cNvSpPr>
            <a:spLocks xmlns:a="http://schemas.openxmlformats.org/drawingml/2006/main" noGrp="1"/>
          </p:cNvSpPr>
          <p:nvPr/>
        </p:nvSpPr>
        <p:spPr>
          <a:xfrm xmlns:a="http://schemas.openxmlformats.org/drawingml/2006/main">
            <a:off x="6334125" y="40005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17324D"/>
                </a:solidFill>
                <a:latin typeface="Arial"/>
                <a:ea typeface="Arial"/>
                <a:cs typeface="Arial"/>
              </a:defRPr>
            </a:defPPr>
            <a:lvl1pPr>
              <a:defRPr sz="1575" b="1">
                <a:solidFill>
                  <a:srgbClr val="17324D"/>
                </a:solidFill>
                <a:latin typeface="Arial"/>
                <a:ea typeface="Arial"/>
                <a:cs typeface="Arial"/>
              </a:defRPr>
            </a:lvl1pPr>
            <a:lvl2pPr>
              <a:defRPr sz="1575" b="1">
                <a:solidFill>
                  <a:srgbClr val="17324D"/>
                </a:solidFill>
                <a:latin typeface="Arial"/>
                <a:ea typeface="Arial"/>
                <a:cs typeface="Arial"/>
              </a:defRPr>
            </a:lvl2pPr>
            <a:lvl3pPr>
              <a:defRPr sz="1575" b="1">
                <a:solidFill>
                  <a:srgbClr val="17324D"/>
                </a:solidFill>
                <a:latin typeface="Arial"/>
                <a:ea typeface="Arial"/>
                <a:cs typeface="Arial"/>
              </a:defRPr>
            </a:lvl3pPr>
            <a:lvl4pPr>
              <a:defRPr sz="1575" b="1">
                <a:solidFill>
                  <a:srgbClr val="17324D"/>
                </a:solidFill>
                <a:latin typeface="Arial"/>
                <a:ea typeface="Arial"/>
                <a:cs typeface="Arial"/>
              </a:defRPr>
            </a:lvl4pPr>
            <a:lvl5pPr>
              <a:defRPr sz="1575" b="1">
                <a:solidFill>
                  <a:srgbClr val="17324D"/>
                </a:solidFill>
                <a:latin typeface="Arial"/>
                <a:ea typeface="Arial"/>
                <a:cs typeface="Arial"/>
              </a:defRPr>
            </a:lvl5pPr>
            <a:lvl6pPr>
              <a:defRPr sz="1575" b="1">
                <a:solidFill>
                  <a:srgbClr val="17324D"/>
                </a:solidFill>
                <a:latin typeface="Arial"/>
                <a:ea typeface="Arial"/>
                <a:cs typeface="Arial"/>
              </a:defRPr>
            </a:lvl6pPr>
            <a:lvl7pPr>
              <a:defRPr sz="1575" b="1">
                <a:solidFill>
                  <a:srgbClr val="17324D"/>
                </a:solidFill>
                <a:latin typeface="Arial"/>
                <a:ea typeface="Arial"/>
                <a:cs typeface="Arial"/>
              </a:defRPr>
            </a:lvl7pPr>
            <a:lvl8pPr>
              <a:defRPr sz="1575" b="1">
                <a:solidFill>
                  <a:srgbClr val="17324D"/>
                </a:solidFill>
                <a:latin typeface="Arial"/>
                <a:ea typeface="Arial"/>
                <a:cs typeface="Arial"/>
              </a:defRPr>
            </a:lvl8pPr>
            <a:lvl9pPr>
              <a:defRPr sz="1575" b="1">
                <a:solidFill>
                  <a:srgbClr val="17324D"/>
                </a:solidFill>
                <a:latin typeface="Arial"/>
                <a:ea typeface="Arial"/>
                <a:cs typeface="Arial"/>
              </a:defRPr>
            </a:lvl9pPr>
          </a:lstStyle>
          <a:p xmlns:a="http://schemas.openxmlformats.org/drawingml/2006/main">
            <a:pPr>
              <a:defRPr sz="1575" b="1">
                <a:solidFill>
                  <a:srgbClr val="17324D"/>
                </a:solidFill>
                <a:latin typeface="Arial"/>
                <a:ea typeface="Arial"/>
                <a:cs typeface="Arial"/>
              </a:defRPr>
            </a:pPr>
            <a:r>
              <a:rPr sz="1575" b="1">
                <a:solidFill>
                  <a:srgbClr val="17324D"/>
                </a:solidFill>
                <a:latin typeface="Arial"/>
                <a:ea typeface="Arial"/>
                <a:cs typeface="Arial"/>
              </a:rPr>
              <a:t>LLM agent status</a:t>
            </a:r>
          </a:p>
        </p:txBody>
      </p:sp>
      <p:sp>
        <p:nvSpPr>
          <p:cNvPr id="25" name="">
            <a:extLst xmlns:a="http://schemas.openxmlformats.org/drawingml/2006/main">
              <a:ext uri="{FF2B5EF4-FFF2-40B4-BE49-F238E27FC236}">
                <a16:creationId xmlns:a16="http://schemas.microsoft.com/office/drawing/2014/main" id="{484CC8B1-3EEE-4961-BCC4-2DBA64BBD678}"/>
              </a:ext>
            </a:extLst>
          </p:cNvPr>
          <p:cNvSpPr>
            <a:spLocks xmlns:a="http://schemas.openxmlformats.org/drawingml/2006/main" noGrp="1"/>
          </p:cNvSpPr>
          <p:nvPr/>
        </p:nvSpPr>
        <p:spPr>
          <a:xfrm xmlns:a="http://schemas.openxmlformats.org/drawingml/2006/main">
            <a:off x="6334125" y="4352925"/>
            <a:ext cx="5143500"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a:solidFill>
                  <a:srgbClr val="263648"/>
                </a:solidFill>
                <a:latin typeface="Arial"/>
                <a:ea typeface="Arial"/>
                <a:cs typeface="Arial"/>
              </a:defRPr>
            </a:defPPr>
            <a:lvl1pPr>
              <a:defRPr sz="1275">
                <a:solidFill>
                  <a:srgbClr val="263648"/>
                </a:solidFill>
                <a:latin typeface="Arial"/>
                <a:ea typeface="Arial"/>
                <a:cs typeface="Arial"/>
              </a:defRPr>
            </a:lvl1pPr>
            <a:lvl2pPr>
              <a:defRPr sz="1275">
                <a:solidFill>
                  <a:srgbClr val="263648"/>
                </a:solidFill>
                <a:latin typeface="Arial"/>
                <a:ea typeface="Arial"/>
                <a:cs typeface="Arial"/>
              </a:defRPr>
            </a:lvl2pPr>
            <a:lvl3pPr>
              <a:defRPr sz="1275">
                <a:solidFill>
                  <a:srgbClr val="263648"/>
                </a:solidFill>
                <a:latin typeface="Arial"/>
                <a:ea typeface="Arial"/>
                <a:cs typeface="Arial"/>
              </a:defRPr>
            </a:lvl3pPr>
            <a:lvl4pPr>
              <a:defRPr sz="1275">
                <a:solidFill>
                  <a:srgbClr val="263648"/>
                </a:solidFill>
                <a:latin typeface="Arial"/>
                <a:ea typeface="Arial"/>
                <a:cs typeface="Arial"/>
              </a:defRPr>
            </a:lvl4pPr>
            <a:lvl5pPr>
              <a:defRPr sz="1275">
                <a:solidFill>
                  <a:srgbClr val="263648"/>
                </a:solidFill>
                <a:latin typeface="Arial"/>
                <a:ea typeface="Arial"/>
                <a:cs typeface="Arial"/>
              </a:defRPr>
            </a:lvl5pPr>
            <a:lvl6pPr>
              <a:defRPr sz="1275">
                <a:solidFill>
                  <a:srgbClr val="263648"/>
                </a:solidFill>
                <a:latin typeface="Arial"/>
                <a:ea typeface="Arial"/>
                <a:cs typeface="Arial"/>
              </a:defRPr>
            </a:lvl6pPr>
            <a:lvl7pPr>
              <a:defRPr sz="1275">
                <a:solidFill>
                  <a:srgbClr val="263648"/>
                </a:solidFill>
                <a:latin typeface="Arial"/>
                <a:ea typeface="Arial"/>
                <a:cs typeface="Arial"/>
              </a:defRPr>
            </a:lvl7pPr>
            <a:lvl8pPr>
              <a:defRPr sz="1275">
                <a:solidFill>
                  <a:srgbClr val="263648"/>
                </a:solidFill>
                <a:latin typeface="Arial"/>
                <a:ea typeface="Arial"/>
                <a:cs typeface="Arial"/>
              </a:defRPr>
            </a:lvl8pPr>
            <a:lvl9pPr>
              <a:defRPr sz="1275">
                <a:solidFill>
                  <a:srgbClr val="263648"/>
                </a:solidFill>
                <a:latin typeface="Arial"/>
                <a:ea typeface="Arial"/>
                <a:cs typeface="Arial"/>
              </a:defRPr>
            </a:lvl9pPr>
          </a:lstStyle>
          <a:p xmlns:a="http://schemas.openxmlformats.org/drawingml/2006/main">
            <a:pPr>
              <a:defRPr sz="1275">
                <a:solidFill>
                  <a:srgbClr val="263648"/>
                </a:solidFill>
                <a:latin typeface="Arial"/>
                <a:ea typeface="Arial"/>
                <a:cs typeface="Arial"/>
              </a:defRPr>
            </a:pPr>
            <a:r>
              <a:rPr sz="1275">
                <a:solidFill>
                  <a:srgbClr val="263648"/>
                </a:solidFill>
                <a:latin typeface="Arial"/>
                <a:ea typeface="Arial"/>
                <a:cs typeface="Arial"/>
              </a:rPr>
              <a:t>Four controlled tools are implemented. In a current-chat pilot, the LLM chose a verified EDN candidate at 1.000432×, +32 LUT4, and 71.12 MHz. One malformed ID consumed an attempt.</a:t>
            </a:r>
          </a:p>
        </p:txBody>
      </p:sp>
      <p:sp>
        <p:nvSpPr>
          <p:cNvPr id="26" name="">
            <a:extLst xmlns:a="http://schemas.openxmlformats.org/drawingml/2006/main">
              <a:ext uri="{FF2B5EF4-FFF2-40B4-BE49-F238E27FC236}">
                <a16:creationId xmlns:a16="http://schemas.microsoft.com/office/drawing/2014/main" id="{360F1D72-2B1B-4970-8B16-FD1852894BF6}"/>
              </a:ext>
            </a:extLst>
          </p:cNvPr>
          <p:cNvSpPr>
            <a:spLocks xmlns:a="http://schemas.openxmlformats.org/drawingml/2006/main" noGrp="1"/>
          </p:cNvSpPr>
          <p:nvPr/>
        </p:nvSpPr>
        <p:spPr>
          <a:xfrm xmlns:a="http://schemas.openxmlformats.org/drawingml/2006/main">
            <a:off x="6334125" y="54673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1">
                <a:solidFill>
                  <a:srgbClr val="A65A00"/>
                </a:solidFill>
                <a:latin typeface="Arial"/>
                <a:ea typeface="Arial"/>
                <a:cs typeface="Arial"/>
              </a:defRPr>
            </a:defPPr>
            <a:lvl1pPr>
              <a:defRPr sz="1125" b="1">
                <a:solidFill>
                  <a:srgbClr val="A65A00"/>
                </a:solidFill>
                <a:latin typeface="Arial"/>
                <a:ea typeface="Arial"/>
                <a:cs typeface="Arial"/>
              </a:defRPr>
            </a:lvl1pPr>
            <a:lvl2pPr>
              <a:defRPr sz="1125" b="1">
                <a:solidFill>
                  <a:srgbClr val="A65A00"/>
                </a:solidFill>
                <a:latin typeface="Arial"/>
                <a:ea typeface="Arial"/>
                <a:cs typeface="Arial"/>
              </a:defRPr>
            </a:lvl2pPr>
            <a:lvl3pPr>
              <a:defRPr sz="1125" b="1">
                <a:solidFill>
                  <a:srgbClr val="A65A00"/>
                </a:solidFill>
                <a:latin typeface="Arial"/>
                <a:ea typeface="Arial"/>
                <a:cs typeface="Arial"/>
              </a:defRPr>
            </a:lvl3pPr>
            <a:lvl4pPr>
              <a:defRPr sz="1125" b="1">
                <a:solidFill>
                  <a:srgbClr val="A65A00"/>
                </a:solidFill>
                <a:latin typeface="Arial"/>
                <a:ea typeface="Arial"/>
                <a:cs typeface="Arial"/>
              </a:defRPr>
            </a:lvl4pPr>
            <a:lvl5pPr>
              <a:defRPr sz="1125" b="1">
                <a:solidFill>
                  <a:srgbClr val="A65A00"/>
                </a:solidFill>
                <a:latin typeface="Arial"/>
                <a:ea typeface="Arial"/>
                <a:cs typeface="Arial"/>
              </a:defRPr>
            </a:lvl5pPr>
            <a:lvl6pPr>
              <a:defRPr sz="1125" b="1">
                <a:solidFill>
                  <a:srgbClr val="A65A00"/>
                </a:solidFill>
                <a:latin typeface="Arial"/>
                <a:ea typeface="Arial"/>
                <a:cs typeface="Arial"/>
              </a:defRPr>
            </a:lvl6pPr>
            <a:lvl7pPr>
              <a:defRPr sz="1125" b="1">
                <a:solidFill>
                  <a:srgbClr val="A65A00"/>
                </a:solidFill>
                <a:latin typeface="Arial"/>
                <a:ea typeface="Arial"/>
                <a:cs typeface="Arial"/>
              </a:defRPr>
            </a:lvl7pPr>
            <a:lvl8pPr>
              <a:defRPr sz="1125" b="1">
                <a:solidFill>
                  <a:srgbClr val="A65A00"/>
                </a:solidFill>
                <a:latin typeface="Arial"/>
                <a:ea typeface="Arial"/>
                <a:cs typeface="Arial"/>
              </a:defRPr>
            </a:lvl8pPr>
            <a:lvl9pPr>
              <a:defRPr sz="1125" b="1">
                <a:solidFill>
                  <a:srgbClr val="A65A00"/>
                </a:solidFill>
                <a:latin typeface="Arial"/>
                <a:ea typeface="Arial"/>
                <a:cs typeface="Arial"/>
              </a:defRPr>
            </a:lvl9pPr>
          </a:lstStyle>
          <a:p xmlns:a="http://schemas.openxmlformats.org/drawingml/2006/main">
            <a:pPr>
              <a:defRPr sz="1125" b="1">
                <a:solidFill>
                  <a:srgbClr val="A65A00"/>
                </a:solidFill>
                <a:latin typeface="Arial"/>
                <a:ea typeface="Arial"/>
                <a:cs typeface="Arial"/>
              </a:defRPr>
            </a:pPr>
            <a:r>
              <a:rPr sz="1125" b="1">
                <a:solidFill>
                  <a:srgbClr val="A65A00"/>
                </a:solidFill>
                <a:latin typeface="Arial"/>
                <a:ea typeface="Arial"/>
                <a:cs typeface="Arial"/>
              </a:rPr>
              <a:t>Consumed replay; zero new hardware jobs. Merit and XGBoost controls also reach the oracle. Model ID, tokens, and dynamic routing remain unavailable or untested.</a:t>
            </a:r>
          </a:p>
        </p:txBody>
      </p:sp>
    </p:spTree>
    <p:extLst>
      <p:ext uri="{BB962C8B-B14F-4D97-AF65-F5344CB8AC3E}">
        <p14:creationId xmlns:p14="http://schemas.microsoft.com/office/powerpoint/2010/main" val="213581549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F83B7C1-F239-4AA5-9866-B19F605EE28C}"/>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Project timeline and progress</a:t>
            </a:r>
          </a:p>
        </p:txBody>
      </p:sp>
      <p:sp>
        <p:nvSpPr>
          <p:cNvPr id="2" name="">
            <a:extLst xmlns:a="http://schemas.openxmlformats.org/drawingml/2006/main">
              <a:ext uri="{FF2B5EF4-FFF2-40B4-BE49-F238E27FC236}">
                <a16:creationId xmlns:a16="http://schemas.microsoft.com/office/drawing/2014/main" id="{C5E3E5B1-48E5-4938-99FE-33FA04320533}"/>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8AE8CBA3-4520-489F-A7D1-BDE72D5082C0}"/>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9</a:t>
            </a:r>
          </a:p>
        </p:txBody>
      </p:sp>
      <p:sp>
        <p:nvSpPr>
          <p:cNvPr id="4" name="">
            <a:extLst xmlns:a="http://schemas.openxmlformats.org/drawingml/2006/main">
              <a:ext uri="{FF2B5EF4-FFF2-40B4-BE49-F238E27FC236}">
                <a16:creationId xmlns:a16="http://schemas.microsoft.com/office/drawing/2014/main" id="{E39B8042-CF46-4BF0-95C3-0B0F9B451C21}"/>
              </a:ext>
            </a:extLst>
          </p:cNvPr>
          <p:cNvSpPr>
            <a:spLocks xmlns:a="http://schemas.openxmlformats.org/drawingml/2006/main" noGrp="1"/>
          </p:cNvSpPr>
          <p:nvPr/>
        </p:nvSpPr>
        <p:spPr>
          <a:xfrm xmlns:a="http://schemas.openxmlformats.org/drawingml/2006/main">
            <a:off x="685800" y="125730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a:solidFill>
                  <a:srgbClr val="607286"/>
                </a:solidFill>
                <a:latin typeface="Arial"/>
                <a:ea typeface="Arial"/>
                <a:cs typeface="Arial"/>
              </a:defRPr>
            </a:defPPr>
            <a:lvl1pPr>
              <a:defRPr sz="1275">
                <a:solidFill>
                  <a:srgbClr val="607286"/>
                </a:solidFill>
                <a:latin typeface="Arial"/>
                <a:ea typeface="Arial"/>
                <a:cs typeface="Arial"/>
              </a:defRPr>
            </a:lvl1pPr>
            <a:lvl2pPr>
              <a:defRPr sz="1275">
                <a:solidFill>
                  <a:srgbClr val="607286"/>
                </a:solidFill>
                <a:latin typeface="Arial"/>
                <a:ea typeface="Arial"/>
                <a:cs typeface="Arial"/>
              </a:defRPr>
            </a:lvl2pPr>
            <a:lvl3pPr>
              <a:defRPr sz="1275">
                <a:solidFill>
                  <a:srgbClr val="607286"/>
                </a:solidFill>
                <a:latin typeface="Arial"/>
                <a:ea typeface="Arial"/>
                <a:cs typeface="Arial"/>
              </a:defRPr>
            </a:lvl3pPr>
            <a:lvl4pPr>
              <a:defRPr sz="1275">
                <a:solidFill>
                  <a:srgbClr val="607286"/>
                </a:solidFill>
                <a:latin typeface="Arial"/>
                <a:ea typeface="Arial"/>
                <a:cs typeface="Arial"/>
              </a:defRPr>
            </a:lvl4pPr>
            <a:lvl5pPr>
              <a:defRPr sz="1275">
                <a:solidFill>
                  <a:srgbClr val="607286"/>
                </a:solidFill>
                <a:latin typeface="Arial"/>
                <a:ea typeface="Arial"/>
                <a:cs typeface="Arial"/>
              </a:defRPr>
            </a:lvl5pPr>
            <a:lvl6pPr>
              <a:defRPr sz="1275">
                <a:solidFill>
                  <a:srgbClr val="607286"/>
                </a:solidFill>
                <a:latin typeface="Arial"/>
                <a:ea typeface="Arial"/>
                <a:cs typeface="Arial"/>
              </a:defRPr>
            </a:lvl6pPr>
            <a:lvl7pPr>
              <a:defRPr sz="1275">
                <a:solidFill>
                  <a:srgbClr val="607286"/>
                </a:solidFill>
                <a:latin typeface="Arial"/>
                <a:ea typeface="Arial"/>
                <a:cs typeface="Arial"/>
              </a:defRPr>
            </a:lvl7pPr>
            <a:lvl8pPr>
              <a:defRPr sz="1275">
                <a:solidFill>
                  <a:srgbClr val="607286"/>
                </a:solidFill>
                <a:latin typeface="Arial"/>
                <a:ea typeface="Arial"/>
                <a:cs typeface="Arial"/>
              </a:defRPr>
            </a:lvl8pPr>
            <a:lvl9pPr>
              <a:defRPr sz="1275">
                <a:solidFill>
                  <a:srgbClr val="607286"/>
                </a:solidFill>
                <a:latin typeface="Arial"/>
                <a:ea typeface="Arial"/>
                <a:cs typeface="Arial"/>
              </a:defRPr>
            </a:lvl9pPr>
          </a:lstStyle>
          <a:p xmlns:a="http://schemas.openxmlformats.org/drawingml/2006/main">
            <a:pPr>
              <a:defRPr sz="1275">
                <a:solidFill>
                  <a:srgbClr val="607286"/>
                </a:solidFill>
                <a:latin typeface="Arial"/>
                <a:ea typeface="Arial"/>
                <a:cs typeface="Arial"/>
              </a:defRPr>
            </a:pPr>
            <a:r>
              <a:rPr sz="1275">
                <a:solidFill>
                  <a:srgbClr val="607286"/>
                </a:solidFill>
                <a:latin typeface="Arial"/>
                <a:ea typeface="Arial"/>
                <a:cs typeface="Arial"/>
              </a:rPr>
              <a:t>Milestones below come from dated experiment records and Git history.</a:t>
            </a:r>
          </a:p>
        </p:txBody>
      </p:sp>
      <p:sp>
        <p:nvSpPr>
          <p:cNvPr id="5" name="">
            <a:extLst xmlns:a="http://schemas.openxmlformats.org/drawingml/2006/main">
              <a:ext uri="{FF2B5EF4-FFF2-40B4-BE49-F238E27FC236}">
                <a16:creationId xmlns:a16="http://schemas.microsoft.com/office/drawing/2014/main" id="{D783F9C2-39BB-49E3-807E-9F15B6070D56}"/>
              </a:ext>
            </a:extLst>
          </p:cNvPr>
          <p:cNvSpPr>
            <a:spLocks xmlns:a="http://schemas.openxmlformats.org/drawingml/2006/main" noGrp="1"/>
          </p:cNvSpPr>
          <p:nvPr/>
        </p:nvSpPr>
        <p:spPr>
          <a:xfrm xmlns:a="http://schemas.openxmlformats.org/drawingml/2006/main">
            <a:off x="1190625" y="3114675"/>
            <a:ext cx="9763125" cy="0"/>
          </a:xfrm>
          <a:prstGeom xmlns:a="http://schemas.openxmlformats.org/drawingml/2006/main" prst="line">
            <a:avLst/>
          </a:prstGeom>
          <a:noFill xmlns:a="http://schemas.openxmlformats.org/drawingml/2006/main"/>
          <a:ln xmlns:a="http://schemas.openxmlformats.org/drawingml/2006/main" w="38100">
            <a:solidFill>
              <a:srgbClr val="D9E1E8"/>
            </a:solidFill>
            <a:prstDash val="solid"/>
          </a:ln>
        </p:spPr>
      </p:sp>
      <p:sp>
        <p:nvSpPr>
          <p:cNvPr id="6" name="">
            <a:extLst xmlns:a="http://schemas.openxmlformats.org/drawingml/2006/main">
              <a:ext uri="{FF2B5EF4-FFF2-40B4-BE49-F238E27FC236}">
                <a16:creationId xmlns:a16="http://schemas.microsoft.com/office/drawing/2014/main" id="{13D19F0F-A9B2-4FC2-A4AC-CDCA178A6D61}"/>
              </a:ext>
            </a:extLst>
          </p:cNvPr>
          <p:cNvSpPr>
            <a:spLocks xmlns:a="http://schemas.openxmlformats.org/drawingml/2006/main" noGrp="1"/>
          </p:cNvSpPr>
          <p:nvPr/>
        </p:nvSpPr>
        <p:spPr>
          <a:xfrm xmlns:a="http://schemas.openxmlformats.org/drawingml/2006/main">
            <a:off x="1276350" y="3009900"/>
            <a:ext cx="209550" cy="2095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854BDEC-AC30-4704-95A4-CDF21105579B}"/>
              </a:ext>
            </a:extLst>
          </p:cNvPr>
          <p:cNvSpPr>
            <a:spLocks xmlns:a="http://schemas.openxmlformats.org/drawingml/2006/main" noGrp="1"/>
          </p:cNvSpPr>
          <p:nvPr/>
        </p:nvSpPr>
        <p:spPr>
          <a:xfrm xmlns:a="http://schemas.openxmlformats.org/drawingml/2006/main">
            <a:off x="809625" y="2476500"/>
            <a:ext cx="1762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050" b="1">
                <a:solidFill>
                  <a:srgbClr val="2878A8"/>
                </a:solidFill>
                <a:latin typeface="Arial"/>
                <a:ea typeface="Arial"/>
                <a:cs typeface="Arial"/>
              </a:defRPr>
            </a:defPPr>
            <a:lvl1pPr algn="l">
              <a:defRPr sz="1050" b="1">
                <a:solidFill>
                  <a:srgbClr val="2878A8"/>
                </a:solidFill>
                <a:latin typeface="Arial"/>
                <a:ea typeface="Arial"/>
                <a:cs typeface="Arial"/>
              </a:defRPr>
            </a:lvl1pPr>
            <a:lvl2pPr algn="l">
              <a:defRPr sz="1050" b="1">
                <a:solidFill>
                  <a:srgbClr val="2878A8"/>
                </a:solidFill>
                <a:latin typeface="Arial"/>
                <a:ea typeface="Arial"/>
                <a:cs typeface="Arial"/>
              </a:defRPr>
            </a:lvl2pPr>
            <a:lvl3pPr algn="l">
              <a:defRPr sz="1050" b="1">
                <a:solidFill>
                  <a:srgbClr val="2878A8"/>
                </a:solidFill>
                <a:latin typeface="Arial"/>
                <a:ea typeface="Arial"/>
                <a:cs typeface="Arial"/>
              </a:defRPr>
            </a:lvl3pPr>
            <a:lvl4pPr algn="l">
              <a:defRPr sz="1050" b="1">
                <a:solidFill>
                  <a:srgbClr val="2878A8"/>
                </a:solidFill>
                <a:latin typeface="Arial"/>
                <a:ea typeface="Arial"/>
                <a:cs typeface="Arial"/>
              </a:defRPr>
            </a:lvl4pPr>
            <a:lvl5pPr algn="l">
              <a:defRPr sz="1050" b="1">
                <a:solidFill>
                  <a:srgbClr val="2878A8"/>
                </a:solidFill>
                <a:latin typeface="Arial"/>
                <a:ea typeface="Arial"/>
                <a:cs typeface="Arial"/>
              </a:defRPr>
            </a:lvl5pPr>
            <a:lvl6pPr algn="l">
              <a:defRPr sz="1050" b="1">
                <a:solidFill>
                  <a:srgbClr val="2878A8"/>
                </a:solidFill>
                <a:latin typeface="Arial"/>
                <a:ea typeface="Arial"/>
                <a:cs typeface="Arial"/>
              </a:defRPr>
            </a:lvl6pPr>
            <a:lvl7pPr algn="l">
              <a:defRPr sz="1050" b="1">
                <a:solidFill>
                  <a:srgbClr val="2878A8"/>
                </a:solidFill>
                <a:latin typeface="Arial"/>
                <a:ea typeface="Arial"/>
                <a:cs typeface="Arial"/>
              </a:defRPr>
            </a:lvl7pPr>
            <a:lvl8pPr algn="l">
              <a:defRPr sz="1050" b="1">
                <a:solidFill>
                  <a:srgbClr val="2878A8"/>
                </a:solidFill>
                <a:latin typeface="Arial"/>
                <a:ea typeface="Arial"/>
                <a:cs typeface="Arial"/>
              </a:defRPr>
            </a:lvl8pPr>
            <a:lvl9pPr algn="l">
              <a:defRPr sz="1050" b="1">
                <a:solidFill>
                  <a:srgbClr val="2878A8"/>
                </a:solidFill>
                <a:latin typeface="Arial"/>
                <a:ea typeface="Arial"/>
                <a:cs typeface="Arial"/>
              </a:defRPr>
            </a:lvl9pPr>
          </a:lstStyle>
          <a:p xmlns:a="http://schemas.openxmlformats.org/drawingml/2006/main">
            <a:pPr algn="l">
              <a:defRPr sz="1050" b="1">
                <a:solidFill>
                  <a:srgbClr val="2878A8"/>
                </a:solidFill>
                <a:latin typeface="Arial"/>
                <a:ea typeface="Arial"/>
                <a:cs typeface="Arial"/>
              </a:defRPr>
            </a:pPr>
            <a:r>
              <a:rPr sz="1050" b="1">
                <a:solidFill>
                  <a:srgbClr val="2878A8"/>
                </a:solidFill>
                <a:latin typeface="Arial"/>
                <a:ea typeface="Arial"/>
                <a:cs typeface="Arial"/>
              </a:rPr>
              <a:t>OCT 19–21</a:t>
            </a:r>
          </a:p>
        </p:txBody>
      </p:sp>
      <p:sp>
        <p:nvSpPr>
          <p:cNvPr id="8" name="">
            <a:extLst xmlns:a="http://schemas.openxmlformats.org/drawingml/2006/main">
              <a:ext uri="{FF2B5EF4-FFF2-40B4-BE49-F238E27FC236}">
                <a16:creationId xmlns:a16="http://schemas.microsoft.com/office/drawing/2014/main" id="{7EA2DFC3-E93D-4454-AC1C-67400D6FC972}"/>
              </a:ext>
            </a:extLst>
          </p:cNvPr>
          <p:cNvSpPr>
            <a:spLocks xmlns:a="http://schemas.openxmlformats.org/drawingml/2006/main" noGrp="1"/>
          </p:cNvSpPr>
          <p:nvPr/>
        </p:nvSpPr>
        <p:spPr>
          <a:xfrm xmlns:a="http://schemas.openxmlformats.org/drawingml/2006/main">
            <a:off x="809625" y="35052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275" b="1">
                <a:solidFill>
                  <a:srgbClr val="17324D"/>
                </a:solidFill>
                <a:latin typeface="Arial"/>
                <a:ea typeface="Arial"/>
                <a:cs typeface="Arial"/>
              </a:defRPr>
            </a:defPPr>
            <a:lvl1pPr algn="l">
              <a:defRPr sz="1275" b="1">
                <a:solidFill>
                  <a:srgbClr val="17324D"/>
                </a:solidFill>
                <a:latin typeface="Arial"/>
                <a:ea typeface="Arial"/>
                <a:cs typeface="Arial"/>
              </a:defRPr>
            </a:lvl1pPr>
            <a:lvl2pPr algn="l">
              <a:defRPr sz="1275" b="1">
                <a:solidFill>
                  <a:srgbClr val="17324D"/>
                </a:solidFill>
                <a:latin typeface="Arial"/>
                <a:ea typeface="Arial"/>
                <a:cs typeface="Arial"/>
              </a:defRPr>
            </a:lvl2pPr>
            <a:lvl3pPr algn="l">
              <a:defRPr sz="1275" b="1">
                <a:solidFill>
                  <a:srgbClr val="17324D"/>
                </a:solidFill>
                <a:latin typeface="Arial"/>
                <a:ea typeface="Arial"/>
                <a:cs typeface="Arial"/>
              </a:defRPr>
            </a:lvl3pPr>
            <a:lvl4pPr algn="l">
              <a:defRPr sz="1275" b="1">
                <a:solidFill>
                  <a:srgbClr val="17324D"/>
                </a:solidFill>
                <a:latin typeface="Arial"/>
                <a:ea typeface="Arial"/>
                <a:cs typeface="Arial"/>
              </a:defRPr>
            </a:lvl4pPr>
            <a:lvl5pPr algn="l">
              <a:defRPr sz="1275" b="1">
                <a:solidFill>
                  <a:srgbClr val="17324D"/>
                </a:solidFill>
                <a:latin typeface="Arial"/>
                <a:ea typeface="Arial"/>
                <a:cs typeface="Arial"/>
              </a:defRPr>
            </a:lvl5pPr>
            <a:lvl6pPr algn="l">
              <a:defRPr sz="1275" b="1">
                <a:solidFill>
                  <a:srgbClr val="17324D"/>
                </a:solidFill>
                <a:latin typeface="Arial"/>
                <a:ea typeface="Arial"/>
                <a:cs typeface="Arial"/>
              </a:defRPr>
            </a:lvl6pPr>
            <a:lvl7pPr algn="l">
              <a:defRPr sz="1275" b="1">
                <a:solidFill>
                  <a:srgbClr val="17324D"/>
                </a:solidFill>
                <a:latin typeface="Arial"/>
                <a:ea typeface="Arial"/>
                <a:cs typeface="Arial"/>
              </a:defRPr>
            </a:lvl7pPr>
            <a:lvl8pPr algn="l">
              <a:defRPr sz="1275" b="1">
                <a:solidFill>
                  <a:srgbClr val="17324D"/>
                </a:solidFill>
                <a:latin typeface="Arial"/>
                <a:ea typeface="Arial"/>
                <a:cs typeface="Arial"/>
              </a:defRPr>
            </a:lvl8pPr>
            <a:lvl9pPr algn="l">
              <a:defRPr sz="1275" b="1">
                <a:solidFill>
                  <a:srgbClr val="17324D"/>
                </a:solidFill>
                <a:latin typeface="Arial"/>
                <a:ea typeface="Arial"/>
                <a:cs typeface="Arial"/>
              </a:defRPr>
            </a:lvl9pPr>
          </a:lstStyle>
          <a:p xmlns:a="http://schemas.openxmlformats.org/drawingml/2006/main">
            <a:pPr algn="l">
              <a:defRPr sz="1275" b="1">
                <a:solidFill>
                  <a:srgbClr val="17324D"/>
                </a:solidFill>
                <a:latin typeface="Arial"/>
                <a:ea typeface="Arial"/>
                <a:cs typeface="Arial"/>
              </a:defRPr>
            </a:pPr>
            <a:r>
              <a:rPr sz="1275" b="1">
                <a:solidFill>
                  <a:srgbClr val="17324D"/>
                </a:solidFill>
                <a:latin typeface="Arial"/>
                <a:ea typeface="Arial"/>
                <a:cs typeface="Arial"/>
              </a:rPr>
              <a:t>CRC32 + aha-mont64</a:t>
            </a:r>
          </a:p>
        </p:txBody>
      </p:sp>
      <p:sp>
        <p:nvSpPr>
          <p:cNvPr id="9" name="">
            <a:extLst xmlns:a="http://schemas.openxmlformats.org/drawingml/2006/main">
              <a:ext uri="{FF2B5EF4-FFF2-40B4-BE49-F238E27FC236}">
                <a16:creationId xmlns:a16="http://schemas.microsoft.com/office/drawing/2014/main" id="{E6BD6F40-47CE-4B82-9477-A81F4CB5A6D0}"/>
              </a:ext>
            </a:extLst>
          </p:cNvPr>
          <p:cNvSpPr>
            <a:spLocks xmlns:a="http://schemas.openxmlformats.org/drawingml/2006/main" noGrp="1"/>
          </p:cNvSpPr>
          <p:nvPr/>
        </p:nvSpPr>
        <p:spPr>
          <a:xfrm xmlns:a="http://schemas.openxmlformats.org/drawingml/2006/main">
            <a:off x="809625" y="3800475"/>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975">
                <a:solidFill>
                  <a:srgbClr val="263648"/>
                </a:solidFill>
                <a:latin typeface="Arial"/>
                <a:ea typeface="Arial"/>
                <a:cs typeface="Arial"/>
              </a:defRPr>
            </a:defPPr>
            <a:lvl1pPr algn="l">
              <a:defRPr sz="975">
                <a:solidFill>
                  <a:srgbClr val="263648"/>
                </a:solidFill>
                <a:latin typeface="Arial"/>
                <a:ea typeface="Arial"/>
                <a:cs typeface="Arial"/>
              </a:defRPr>
            </a:lvl1pPr>
            <a:lvl2pPr algn="l">
              <a:defRPr sz="975">
                <a:solidFill>
                  <a:srgbClr val="263648"/>
                </a:solidFill>
                <a:latin typeface="Arial"/>
                <a:ea typeface="Arial"/>
                <a:cs typeface="Arial"/>
              </a:defRPr>
            </a:lvl2pPr>
            <a:lvl3pPr algn="l">
              <a:defRPr sz="975">
                <a:solidFill>
                  <a:srgbClr val="263648"/>
                </a:solidFill>
                <a:latin typeface="Arial"/>
                <a:ea typeface="Arial"/>
                <a:cs typeface="Arial"/>
              </a:defRPr>
            </a:lvl3pPr>
            <a:lvl4pPr algn="l">
              <a:defRPr sz="975">
                <a:solidFill>
                  <a:srgbClr val="263648"/>
                </a:solidFill>
                <a:latin typeface="Arial"/>
                <a:ea typeface="Arial"/>
                <a:cs typeface="Arial"/>
              </a:defRPr>
            </a:lvl4pPr>
            <a:lvl5pPr algn="l">
              <a:defRPr sz="975">
                <a:solidFill>
                  <a:srgbClr val="263648"/>
                </a:solidFill>
                <a:latin typeface="Arial"/>
                <a:ea typeface="Arial"/>
                <a:cs typeface="Arial"/>
              </a:defRPr>
            </a:lvl5pPr>
            <a:lvl6pPr algn="l">
              <a:defRPr sz="975">
                <a:solidFill>
                  <a:srgbClr val="263648"/>
                </a:solidFill>
                <a:latin typeface="Arial"/>
                <a:ea typeface="Arial"/>
                <a:cs typeface="Arial"/>
              </a:defRPr>
            </a:lvl6pPr>
            <a:lvl7pPr algn="l">
              <a:defRPr sz="975">
                <a:solidFill>
                  <a:srgbClr val="263648"/>
                </a:solidFill>
                <a:latin typeface="Arial"/>
                <a:ea typeface="Arial"/>
                <a:cs typeface="Arial"/>
              </a:defRPr>
            </a:lvl7pPr>
            <a:lvl8pPr algn="l">
              <a:defRPr sz="975">
                <a:solidFill>
                  <a:srgbClr val="263648"/>
                </a:solidFill>
                <a:latin typeface="Arial"/>
                <a:ea typeface="Arial"/>
                <a:cs typeface="Arial"/>
              </a:defRPr>
            </a:lvl8pPr>
            <a:lvl9pPr algn="l">
              <a:defRPr sz="975">
                <a:solidFill>
                  <a:srgbClr val="263648"/>
                </a:solidFill>
                <a:latin typeface="Arial"/>
                <a:ea typeface="Arial"/>
                <a:cs typeface="Arial"/>
              </a:defRPr>
            </a:lvl9pPr>
          </a:lstStyle>
          <a:p xmlns:a="http://schemas.openxmlformats.org/drawingml/2006/main">
            <a:pPr algn="l">
              <a:defRPr sz="975">
                <a:solidFill>
                  <a:srgbClr val="263648"/>
                </a:solidFill>
                <a:latin typeface="Arial"/>
                <a:ea typeface="Arial"/>
                <a:cs typeface="Arial"/>
              </a:defRPr>
            </a:pPr>
            <a:r>
              <a:rPr sz="975">
                <a:solidFill>
                  <a:srgbClr val="263648"/>
                </a:solidFill>
                <a:latin typeface="Arial"/>
                <a:ea typeface="Arial"/>
                <a:cs typeface="Arial"/>
              </a:rPr>
              <a:t>Automatic RV32I pipeline; aha best: 1.0941×, +42 LUT4</a:t>
            </a:r>
          </a:p>
        </p:txBody>
      </p:sp>
      <p:sp>
        <p:nvSpPr>
          <p:cNvPr id="10" name="">
            <a:extLst xmlns:a="http://schemas.openxmlformats.org/drawingml/2006/main">
              <a:ext uri="{FF2B5EF4-FFF2-40B4-BE49-F238E27FC236}">
                <a16:creationId xmlns:a16="http://schemas.microsoft.com/office/drawing/2014/main" id="{902F692F-2E19-4D61-8F0D-C811D540FD20}"/>
              </a:ext>
            </a:extLst>
          </p:cNvPr>
          <p:cNvSpPr>
            <a:spLocks xmlns:a="http://schemas.openxmlformats.org/drawingml/2006/main" noGrp="1"/>
          </p:cNvSpPr>
          <p:nvPr/>
        </p:nvSpPr>
        <p:spPr>
          <a:xfrm xmlns:a="http://schemas.openxmlformats.org/drawingml/2006/main">
            <a:off x="3609975" y="3009900"/>
            <a:ext cx="209550" cy="209550"/>
          </a:xfrm>
          <a:prstGeom xmlns:a="http://schemas.openxmlformats.org/drawingml/2006/main" prst="ellipse">
            <a:avLst/>
          </a:prstGeom>
          <a:solidFill xmlns:a="http://schemas.openxmlformats.org/drawingml/2006/main">
            <a:srgbClr val="18856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818F7B6-D309-4FF9-872F-FAC940A9AE3C}"/>
              </a:ext>
            </a:extLst>
          </p:cNvPr>
          <p:cNvSpPr>
            <a:spLocks xmlns:a="http://schemas.openxmlformats.org/drawingml/2006/main" noGrp="1"/>
          </p:cNvSpPr>
          <p:nvPr/>
        </p:nvSpPr>
        <p:spPr>
          <a:xfrm xmlns:a="http://schemas.openxmlformats.org/drawingml/2006/main">
            <a:off x="3143250" y="2476500"/>
            <a:ext cx="1762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050" b="1">
                <a:solidFill>
                  <a:srgbClr val="18856B"/>
                </a:solidFill>
                <a:latin typeface="Arial"/>
                <a:ea typeface="Arial"/>
                <a:cs typeface="Arial"/>
              </a:defRPr>
            </a:defPPr>
            <a:lvl1pPr algn="ctr">
              <a:defRPr sz="1050" b="1">
                <a:solidFill>
                  <a:srgbClr val="18856B"/>
                </a:solidFill>
                <a:latin typeface="Arial"/>
                <a:ea typeface="Arial"/>
                <a:cs typeface="Arial"/>
              </a:defRPr>
            </a:lvl1pPr>
            <a:lvl2pPr algn="ctr">
              <a:defRPr sz="1050" b="1">
                <a:solidFill>
                  <a:srgbClr val="18856B"/>
                </a:solidFill>
                <a:latin typeface="Arial"/>
                <a:ea typeface="Arial"/>
                <a:cs typeface="Arial"/>
              </a:defRPr>
            </a:lvl2pPr>
            <a:lvl3pPr algn="ctr">
              <a:defRPr sz="1050" b="1">
                <a:solidFill>
                  <a:srgbClr val="18856B"/>
                </a:solidFill>
                <a:latin typeface="Arial"/>
                <a:ea typeface="Arial"/>
                <a:cs typeface="Arial"/>
              </a:defRPr>
            </a:lvl3pPr>
            <a:lvl4pPr algn="ctr">
              <a:defRPr sz="1050" b="1">
                <a:solidFill>
                  <a:srgbClr val="18856B"/>
                </a:solidFill>
                <a:latin typeface="Arial"/>
                <a:ea typeface="Arial"/>
                <a:cs typeface="Arial"/>
              </a:defRPr>
            </a:lvl4pPr>
            <a:lvl5pPr algn="ctr">
              <a:defRPr sz="1050" b="1">
                <a:solidFill>
                  <a:srgbClr val="18856B"/>
                </a:solidFill>
                <a:latin typeface="Arial"/>
                <a:ea typeface="Arial"/>
                <a:cs typeface="Arial"/>
              </a:defRPr>
            </a:lvl5pPr>
            <a:lvl6pPr algn="ctr">
              <a:defRPr sz="1050" b="1">
                <a:solidFill>
                  <a:srgbClr val="18856B"/>
                </a:solidFill>
                <a:latin typeface="Arial"/>
                <a:ea typeface="Arial"/>
                <a:cs typeface="Arial"/>
              </a:defRPr>
            </a:lvl6pPr>
            <a:lvl7pPr algn="ctr">
              <a:defRPr sz="1050" b="1">
                <a:solidFill>
                  <a:srgbClr val="18856B"/>
                </a:solidFill>
                <a:latin typeface="Arial"/>
                <a:ea typeface="Arial"/>
                <a:cs typeface="Arial"/>
              </a:defRPr>
            </a:lvl7pPr>
            <a:lvl8pPr algn="ctr">
              <a:defRPr sz="1050" b="1">
                <a:solidFill>
                  <a:srgbClr val="18856B"/>
                </a:solidFill>
                <a:latin typeface="Arial"/>
                <a:ea typeface="Arial"/>
                <a:cs typeface="Arial"/>
              </a:defRPr>
            </a:lvl8pPr>
            <a:lvl9pPr algn="ctr">
              <a:defRPr sz="1050" b="1">
                <a:solidFill>
                  <a:srgbClr val="18856B"/>
                </a:solidFill>
                <a:latin typeface="Arial"/>
                <a:ea typeface="Arial"/>
                <a:cs typeface="Arial"/>
              </a:defRPr>
            </a:lvl9pPr>
          </a:lstStyle>
          <a:p xmlns:a="http://schemas.openxmlformats.org/drawingml/2006/main">
            <a:pPr algn="ctr">
              <a:defRPr sz="1050" b="1">
                <a:solidFill>
                  <a:srgbClr val="18856B"/>
                </a:solidFill>
                <a:latin typeface="Arial"/>
                <a:ea typeface="Arial"/>
                <a:cs typeface="Arial"/>
              </a:defRPr>
            </a:pPr>
            <a:r>
              <a:rPr sz="1050" b="1">
                <a:solidFill>
                  <a:srgbClr val="18856B"/>
                </a:solidFill>
                <a:latin typeface="Arial"/>
                <a:ea typeface="Arial"/>
                <a:cs typeface="Arial"/>
              </a:rPr>
              <a:t>OCT 22</a:t>
            </a:r>
          </a:p>
        </p:txBody>
      </p:sp>
      <p:sp>
        <p:nvSpPr>
          <p:cNvPr id="12" name="">
            <a:extLst xmlns:a="http://schemas.openxmlformats.org/drawingml/2006/main">
              <a:ext uri="{FF2B5EF4-FFF2-40B4-BE49-F238E27FC236}">
                <a16:creationId xmlns:a16="http://schemas.microsoft.com/office/drawing/2014/main" id="{585624CA-CABA-42E4-B63A-E326B465A6D2}"/>
              </a:ext>
            </a:extLst>
          </p:cNvPr>
          <p:cNvSpPr>
            <a:spLocks xmlns:a="http://schemas.openxmlformats.org/drawingml/2006/main" noGrp="1"/>
          </p:cNvSpPr>
          <p:nvPr/>
        </p:nvSpPr>
        <p:spPr>
          <a:xfrm xmlns:a="http://schemas.openxmlformats.org/drawingml/2006/main">
            <a:off x="3143250" y="4143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275" b="1">
                <a:solidFill>
                  <a:srgbClr val="17324D"/>
                </a:solidFill>
                <a:latin typeface="Arial"/>
                <a:ea typeface="Arial"/>
                <a:cs typeface="Arial"/>
              </a:defRPr>
            </a:defPPr>
            <a:lvl1pPr algn="ctr">
              <a:defRPr sz="1275" b="1">
                <a:solidFill>
                  <a:srgbClr val="17324D"/>
                </a:solidFill>
                <a:latin typeface="Arial"/>
                <a:ea typeface="Arial"/>
                <a:cs typeface="Arial"/>
              </a:defRPr>
            </a:lvl1pPr>
            <a:lvl2pPr algn="ctr">
              <a:defRPr sz="1275" b="1">
                <a:solidFill>
                  <a:srgbClr val="17324D"/>
                </a:solidFill>
                <a:latin typeface="Arial"/>
                <a:ea typeface="Arial"/>
                <a:cs typeface="Arial"/>
              </a:defRPr>
            </a:lvl2pPr>
            <a:lvl3pPr algn="ctr">
              <a:defRPr sz="1275" b="1">
                <a:solidFill>
                  <a:srgbClr val="17324D"/>
                </a:solidFill>
                <a:latin typeface="Arial"/>
                <a:ea typeface="Arial"/>
                <a:cs typeface="Arial"/>
              </a:defRPr>
            </a:lvl3pPr>
            <a:lvl4pPr algn="ctr">
              <a:defRPr sz="1275" b="1">
                <a:solidFill>
                  <a:srgbClr val="17324D"/>
                </a:solidFill>
                <a:latin typeface="Arial"/>
                <a:ea typeface="Arial"/>
                <a:cs typeface="Arial"/>
              </a:defRPr>
            </a:lvl4pPr>
            <a:lvl5pPr algn="ctr">
              <a:defRPr sz="1275" b="1">
                <a:solidFill>
                  <a:srgbClr val="17324D"/>
                </a:solidFill>
                <a:latin typeface="Arial"/>
                <a:ea typeface="Arial"/>
                <a:cs typeface="Arial"/>
              </a:defRPr>
            </a:lvl5pPr>
            <a:lvl6pPr algn="ctr">
              <a:defRPr sz="1275" b="1">
                <a:solidFill>
                  <a:srgbClr val="17324D"/>
                </a:solidFill>
                <a:latin typeface="Arial"/>
                <a:ea typeface="Arial"/>
                <a:cs typeface="Arial"/>
              </a:defRPr>
            </a:lvl6pPr>
            <a:lvl7pPr algn="ctr">
              <a:defRPr sz="1275" b="1">
                <a:solidFill>
                  <a:srgbClr val="17324D"/>
                </a:solidFill>
                <a:latin typeface="Arial"/>
                <a:ea typeface="Arial"/>
                <a:cs typeface="Arial"/>
              </a:defRPr>
            </a:lvl7pPr>
            <a:lvl8pPr algn="ctr">
              <a:defRPr sz="1275" b="1">
                <a:solidFill>
                  <a:srgbClr val="17324D"/>
                </a:solidFill>
                <a:latin typeface="Arial"/>
                <a:ea typeface="Arial"/>
                <a:cs typeface="Arial"/>
              </a:defRPr>
            </a:lvl8pPr>
            <a:lvl9pPr algn="ctr">
              <a:defRPr sz="1275" b="1">
                <a:solidFill>
                  <a:srgbClr val="17324D"/>
                </a:solidFill>
                <a:latin typeface="Arial"/>
                <a:ea typeface="Arial"/>
                <a:cs typeface="Arial"/>
              </a:defRPr>
            </a:lvl9pPr>
          </a:lstStyle>
          <a:p xmlns:a="http://schemas.openxmlformats.org/drawingml/2006/main">
            <a:pPr algn="ctr">
              <a:defRPr sz="1275" b="1">
                <a:solidFill>
                  <a:srgbClr val="17324D"/>
                </a:solidFill>
                <a:latin typeface="Arial"/>
                <a:ea typeface="Arial"/>
                <a:cs typeface="Arial"/>
              </a:defRPr>
            </a:pPr>
            <a:r>
              <a:rPr sz="1275" b="1">
                <a:solidFill>
                  <a:srgbClr val="17324D"/>
                </a:solidFill>
                <a:latin typeface="Arial"/>
                <a:ea typeface="Arial"/>
                <a:cs typeface="Arial"/>
              </a:rPr>
              <a:t>Heuristic challenge</a:t>
            </a:r>
          </a:p>
        </p:txBody>
      </p:sp>
      <p:sp>
        <p:nvSpPr>
          <p:cNvPr id="13" name="">
            <a:extLst xmlns:a="http://schemas.openxmlformats.org/drawingml/2006/main">
              <a:ext uri="{FF2B5EF4-FFF2-40B4-BE49-F238E27FC236}">
                <a16:creationId xmlns:a16="http://schemas.microsoft.com/office/drawing/2014/main" id="{2BF20CEB-205A-4A66-9C9E-8AF8857BF5B7}"/>
              </a:ext>
            </a:extLst>
          </p:cNvPr>
          <p:cNvSpPr>
            <a:spLocks xmlns:a="http://schemas.openxmlformats.org/drawingml/2006/main" noGrp="1"/>
          </p:cNvSpPr>
          <p:nvPr/>
        </p:nvSpPr>
        <p:spPr>
          <a:xfrm xmlns:a="http://schemas.openxmlformats.org/drawingml/2006/main">
            <a:off x="3143250" y="4438650"/>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975">
                <a:solidFill>
                  <a:srgbClr val="263648"/>
                </a:solidFill>
                <a:latin typeface="Arial"/>
                <a:ea typeface="Arial"/>
                <a:cs typeface="Arial"/>
              </a:defRPr>
            </a:defPPr>
            <a:lvl1pPr algn="ctr">
              <a:defRPr sz="975">
                <a:solidFill>
                  <a:srgbClr val="263648"/>
                </a:solidFill>
                <a:latin typeface="Arial"/>
                <a:ea typeface="Arial"/>
                <a:cs typeface="Arial"/>
              </a:defRPr>
            </a:lvl1pPr>
            <a:lvl2pPr algn="ctr">
              <a:defRPr sz="975">
                <a:solidFill>
                  <a:srgbClr val="263648"/>
                </a:solidFill>
                <a:latin typeface="Arial"/>
                <a:ea typeface="Arial"/>
                <a:cs typeface="Arial"/>
              </a:defRPr>
            </a:lvl2pPr>
            <a:lvl3pPr algn="ctr">
              <a:defRPr sz="975">
                <a:solidFill>
                  <a:srgbClr val="263648"/>
                </a:solidFill>
                <a:latin typeface="Arial"/>
                <a:ea typeface="Arial"/>
                <a:cs typeface="Arial"/>
              </a:defRPr>
            </a:lvl3pPr>
            <a:lvl4pPr algn="ctr">
              <a:defRPr sz="975">
                <a:solidFill>
                  <a:srgbClr val="263648"/>
                </a:solidFill>
                <a:latin typeface="Arial"/>
                <a:ea typeface="Arial"/>
                <a:cs typeface="Arial"/>
              </a:defRPr>
            </a:lvl4pPr>
            <a:lvl5pPr algn="ctr">
              <a:defRPr sz="975">
                <a:solidFill>
                  <a:srgbClr val="263648"/>
                </a:solidFill>
                <a:latin typeface="Arial"/>
                <a:ea typeface="Arial"/>
                <a:cs typeface="Arial"/>
              </a:defRPr>
            </a:lvl5pPr>
            <a:lvl6pPr algn="ctr">
              <a:defRPr sz="975">
                <a:solidFill>
                  <a:srgbClr val="263648"/>
                </a:solidFill>
                <a:latin typeface="Arial"/>
                <a:ea typeface="Arial"/>
                <a:cs typeface="Arial"/>
              </a:defRPr>
            </a:lvl6pPr>
            <a:lvl7pPr algn="ctr">
              <a:defRPr sz="975">
                <a:solidFill>
                  <a:srgbClr val="263648"/>
                </a:solidFill>
                <a:latin typeface="Arial"/>
                <a:ea typeface="Arial"/>
                <a:cs typeface="Arial"/>
              </a:defRPr>
            </a:lvl7pPr>
            <a:lvl8pPr algn="ctr">
              <a:defRPr sz="975">
                <a:solidFill>
                  <a:srgbClr val="263648"/>
                </a:solidFill>
                <a:latin typeface="Arial"/>
                <a:ea typeface="Arial"/>
                <a:cs typeface="Arial"/>
              </a:defRPr>
            </a:lvl8pPr>
            <a:lvl9pPr algn="ctr">
              <a:defRPr sz="975">
                <a:solidFill>
                  <a:srgbClr val="263648"/>
                </a:solidFill>
                <a:latin typeface="Arial"/>
                <a:ea typeface="Arial"/>
                <a:cs typeface="Arial"/>
              </a:defRPr>
            </a:lvl9pPr>
          </a:lstStyle>
          <a:p xmlns:a="http://schemas.openxmlformats.org/drawingml/2006/main">
            <a:pPr algn="ctr">
              <a:defRPr sz="975">
                <a:solidFill>
                  <a:srgbClr val="263648"/>
                </a:solidFill>
                <a:latin typeface="Arial"/>
                <a:ea typeface="Arial"/>
                <a:cs typeface="Arial"/>
              </a:defRPr>
            </a:pPr>
            <a:r>
              <a:rPr sz="975">
                <a:solidFill>
                  <a:srgbClr val="263648"/>
                </a:solidFill>
                <a:latin typeface="Arial"/>
                <a:ea typeface="Arial"/>
                <a:cs typeface="Arial"/>
              </a:rPr>
              <a:t>Fresh bitcount results preserve a merit/cost-heuristic win</a:t>
            </a:r>
          </a:p>
        </p:txBody>
      </p:sp>
      <p:sp>
        <p:nvSpPr>
          <p:cNvPr id="14" name="">
            <a:extLst xmlns:a="http://schemas.openxmlformats.org/drawingml/2006/main">
              <a:ext uri="{FF2B5EF4-FFF2-40B4-BE49-F238E27FC236}">
                <a16:creationId xmlns:a16="http://schemas.microsoft.com/office/drawing/2014/main" id="{F21DFF39-C950-41EF-A468-B6C61FA03FDE}"/>
              </a:ext>
            </a:extLst>
          </p:cNvPr>
          <p:cNvSpPr>
            <a:spLocks xmlns:a="http://schemas.openxmlformats.org/drawingml/2006/main" noGrp="1"/>
          </p:cNvSpPr>
          <p:nvPr/>
        </p:nvSpPr>
        <p:spPr>
          <a:xfrm xmlns:a="http://schemas.openxmlformats.org/drawingml/2006/main">
            <a:off x="5943600" y="3009900"/>
            <a:ext cx="209550" cy="2095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E10DE56-9695-4758-B3FC-15F54592C941}"/>
              </a:ext>
            </a:extLst>
          </p:cNvPr>
          <p:cNvSpPr>
            <a:spLocks xmlns:a="http://schemas.openxmlformats.org/drawingml/2006/main" noGrp="1"/>
          </p:cNvSpPr>
          <p:nvPr/>
        </p:nvSpPr>
        <p:spPr>
          <a:xfrm xmlns:a="http://schemas.openxmlformats.org/drawingml/2006/main">
            <a:off x="5476875" y="2476500"/>
            <a:ext cx="1762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050" b="1">
                <a:solidFill>
                  <a:srgbClr val="2878A8"/>
                </a:solidFill>
                <a:latin typeface="Arial"/>
                <a:ea typeface="Arial"/>
                <a:cs typeface="Arial"/>
              </a:defRPr>
            </a:defPPr>
            <a:lvl1pPr algn="ctr">
              <a:defRPr sz="1050" b="1">
                <a:solidFill>
                  <a:srgbClr val="2878A8"/>
                </a:solidFill>
                <a:latin typeface="Arial"/>
                <a:ea typeface="Arial"/>
                <a:cs typeface="Arial"/>
              </a:defRPr>
            </a:lvl1pPr>
            <a:lvl2pPr algn="ctr">
              <a:defRPr sz="1050" b="1">
                <a:solidFill>
                  <a:srgbClr val="2878A8"/>
                </a:solidFill>
                <a:latin typeface="Arial"/>
                <a:ea typeface="Arial"/>
                <a:cs typeface="Arial"/>
              </a:defRPr>
            </a:lvl2pPr>
            <a:lvl3pPr algn="ctr">
              <a:defRPr sz="1050" b="1">
                <a:solidFill>
                  <a:srgbClr val="2878A8"/>
                </a:solidFill>
                <a:latin typeface="Arial"/>
                <a:ea typeface="Arial"/>
                <a:cs typeface="Arial"/>
              </a:defRPr>
            </a:lvl3pPr>
            <a:lvl4pPr algn="ctr">
              <a:defRPr sz="1050" b="1">
                <a:solidFill>
                  <a:srgbClr val="2878A8"/>
                </a:solidFill>
                <a:latin typeface="Arial"/>
                <a:ea typeface="Arial"/>
                <a:cs typeface="Arial"/>
              </a:defRPr>
            </a:lvl4pPr>
            <a:lvl5pPr algn="ctr">
              <a:defRPr sz="1050" b="1">
                <a:solidFill>
                  <a:srgbClr val="2878A8"/>
                </a:solidFill>
                <a:latin typeface="Arial"/>
                <a:ea typeface="Arial"/>
                <a:cs typeface="Arial"/>
              </a:defRPr>
            </a:lvl5pPr>
            <a:lvl6pPr algn="ctr">
              <a:defRPr sz="1050" b="1">
                <a:solidFill>
                  <a:srgbClr val="2878A8"/>
                </a:solidFill>
                <a:latin typeface="Arial"/>
                <a:ea typeface="Arial"/>
                <a:cs typeface="Arial"/>
              </a:defRPr>
            </a:lvl6pPr>
            <a:lvl7pPr algn="ctr">
              <a:defRPr sz="1050" b="1">
                <a:solidFill>
                  <a:srgbClr val="2878A8"/>
                </a:solidFill>
                <a:latin typeface="Arial"/>
                <a:ea typeface="Arial"/>
                <a:cs typeface="Arial"/>
              </a:defRPr>
            </a:lvl7pPr>
            <a:lvl8pPr algn="ctr">
              <a:defRPr sz="1050" b="1">
                <a:solidFill>
                  <a:srgbClr val="2878A8"/>
                </a:solidFill>
                <a:latin typeface="Arial"/>
                <a:ea typeface="Arial"/>
                <a:cs typeface="Arial"/>
              </a:defRPr>
            </a:lvl8pPr>
            <a:lvl9pPr algn="ctr">
              <a:defRPr sz="1050" b="1">
                <a:solidFill>
                  <a:srgbClr val="2878A8"/>
                </a:solidFill>
                <a:latin typeface="Arial"/>
                <a:ea typeface="Arial"/>
                <a:cs typeface="Arial"/>
              </a:defRPr>
            </a:lvl9pPr>
          </a:lstStyle>
          <a:p xmlns:a="http://schemas.openxmlformats.org/drawingml/2006/main">
            <a:pPr algn="ctr">
              <a:defRPr sz="1050" b="1">
                <a:solidFill>
                  <a:srgbClr val="2878A8"/>
                </a:solidFill>
                <a:latin typeface="Arial"/>
                <a:ea typeface="Arial"/>
                <a:cs typeface="Arial"/>
              </a:defRPr>
            </a:pPr>
            <a:r>
              <a:rPr sz="1050" b="1">
                <a:solidFill>
                  <a:srgbClr val="2878A8"/>
                </a:solidFill>
                <a:latin typeface="Arial"/>
                <a:ea typeface="Arial"/>
                <a:cs typeface="Arial"/>
              </a:rPr>
              <a:t>OCT 25</a:t>
            </a:r>
          </a:p>
        </p:txBody>
      </p:sp>
      <p:sp>
        <p:nvSpPr>
          <p:cNvPr id="16" name="">
            <a:extLst xmlns:a="http://schemas.openxmlformats.org/drawingml/2006/main">
              <a:ext uri="{FF2B5EF4-FFF2-40B4-BE49-F238E27FC236}">
                <a16:creationId xmlns:a16="http://schemas.microsoft.com/office/drawing/2014/main" id="{89756186-4993-46DD-8327-920C510FE4BF}"/>
              </a:ext>
            </a:extLst>
          </p:cNvPr>
          <p:cNvSpPr>
            <a:spLocks xmlns:a="http://schemas.openxmlformats.org/drawingml/2006/main" noGrp="1"/>
          </p:cNvSpPr>
          <p:nvPr/>
        </p:nvSpPr>
        <p:spPr>
          <a:xfrm xmlns:a="http://schemas.openxmlformats.org/drawingml/2006/main">
            <a:off x="5476875" y="35052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275" b="1">
                <a:solidFill>
                  <a:srgbClr val="17324D"/>
                </a:solidFill>
                <a:latin typeface="Arial"/>
                <a:ea typeface="Arial"/>
                <a:cs typeface="Arial"/>
              </a:defRPr>
            </a:defPPr>
            <a:lvl1pPr algn="ctr">
              <a:defRPr sz="1275" b="1">
                <a:solidFill>
                  <a:srgbClr val="17324D"/>
                </a:solidFill>
                <a:latin typeface="Arial"/>
                <a:ea typeface="Arial"/>
                <a:cs typeface="Arial"/>
              </a:defRPr>
            </a:lvl1pPr>
            <a:lvl2pPr algn="ctr">
              <a:defRPr sz="1275" b="1">
                <a:solidFill>
                  <a:srgbClr val="17324D"/>
                </a:solidFill>
                <a:latin typeface="Arial"/>
                <a:ea typeface="Arial"/>
                <a:cs typeface="Arial"/>
              </a:defRPr>
            </a:lvl2pPr>
            <a:lvl3pPr algn="ctr">
              <a:defRPr sz="1275" b="1">
                <a:solidFill>
                  <a:srgbClr val="17324D"/>
                </a:solidFill>
                <a:latin typeface="Arial"/>
                <a:ea typeface="Arial"/>
                <a:cs typeface="Arial"/>
              </a:defRPr>
            </a:lvl3pPr>
            <a:lvl4pPr algn="ctr">
              <a:defRPr sz="1275" b="1">
                <a:solidFill>
                  <a:srgbClr val="17324D"/>
                </a:solidFill>
                <a:latin typeface="Arial"/>
                <a:ea typeface="Arial"/>
                <a:cs typeface="Arial"/>
              </a:defRPr>
            </a:lvl4pPr>
            <a:lvl5pPr algn="ctr">
              <a:defRPr sz="1275" b="1">
                <a:solidFill>
                  <a:srgbClr val="17324D"/>
                </a:solidFill>
                <a:latin typeface="Arial"/>
                <a:ea typeface="Arial"/>
                <a:cs typeface="Arial"/>
              </a:defRPr>
            </a:lvl5pPr>
            <a:lvl6pPr algn="ctr">
              <a:defRPr sz="1275" b="1">
                <a:solidFill>
                  <a:srgbClr val="17324D"/>
                </a:solidFill>
                <a:latin typeface="Arial"/>
                <a:ea typeface="Arial"/>
                <a:cs typeface="Arial"/>
              </a:defRPr>
            </a:lvl6pPr>
            <a:lvl7pPr algn="ctr">
              <a:defRPr sz="1275" b="1">
                <a:solidFill>
                  <a:srgbClr val="17324D"/>
                </a:solidFill>
                <a:latin typeface="Arial"/>
                <a:ea typeface="Arial"/>
                <a:cs typeface="Arial"/>
              </a:defRPr>
            </a:lvl7pPr>
            <a:lvl8pPr algn="ctr">
              <a:defRPr sz="1275" b="1">
                <a:solidFill>
                  <a:srgbClr val="17324D"/>
                </a:solidFill>
                <a:latin typeface="Arial"/>
                <a:ea typeface="Arial"/>
                <a:cs typeface="Arial"/>
              </a:defRPr>
            </a:lvl8pPr>
            <a:lvl9pPr algn="ctr">
              <a:defRPr sz="1275" b="1">
                <a:solidFill>
                  <a:srgbClr val="17324D"/>
                </a:solidFill>
                <a:latin typeface="Arial"/>
                <a:ea typeface="Arial"/>
                <a:cs typeface="Arial"/>
              </a:defRPr>
            </a:lvl9pPr>
          </a:lstStyle>
          <a:p xmlns:a="http://schemas.openxmlformats.org/drawingml/2006/main">
            <a:pPr algn="ctr">
              <a:defRPr sz="1275" b="1">
                <a:solidFill>
                  <a:srgbClr val="17324D"/>
                </a:solidFill>
                <a:latin typeface="Arial"/>
                <a:ea typeface="Arial"/>
                <a:cs typeface="Arial"/>
              </a:defRPr>
            </a:pPr>
            <a:r>
              <a:rPr sz="1275" b="1">
                <a:solidFill>
                  <a:srgbClr val="17324D"/>
                </a:solidFill>
                <a:latin typeface="Arial"/>
                <a:ea typeface="Arial"/>
                <a:cs typeface="Arial"/>
              </a:rPr>
              <a:t>Agent interface</a:t>
            </a:r>
          </a:p>
        </p:txBody>
      </p:sp>
      <p:sp>
        <p:nvSpPr>
          <p:cNvPr id="17" name="">
            <a:extLst xmlns:a="http://schemas.openxmlformats.org/drawingml/2006/main">
              <a:ext uri="{FF2B5EF4-FFF2-40B4-BE49-F238E27FC236}">
                <a16:creationId xmlns:a16="http://schemas.microsoft.com/office/drawing/2014/main" id="{80904EC3-ED43-4127-8FE7-9E99CE3AEFC1}"/>
              </a:ext>
            </a:extLst>
          </p:cNvPr>
          <p:cNvSpPr>
            <a:spLocks xmlns:a="http://schemas.openxmlformats.org/drawingml/2006/main" noGrp="1"/>
          </p:cNvSpPr>
          <p:nvPr/>
        </p:nvSpPr>
        <p:spPr>
          <a:xfrm xmlns:a="http://schemas.openxmlformats.org/drawingml/2006/main">
            <a:off x="5476875" y="3800475"/>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975">
                <a:solidFill>
                  <a:srgbClr val="263648"/>
                </a:solidFill>
                <a:latin typeface="Arial"/>
                <a:ea typeface="Arial"/>
                <a:cs typeface="Arial"/>
              </a:defRPr>
            </a:defPPr>
            <a:lvl1pPr algn="ctr">
              <a:defRPr sz="975">
                <a:solidFill>
                  <a:srgbClr val="263648"/>
                </a:solidFill>
                <a:latin typeface="Arial"/>
                <a:ea typeface="Arial"/>
                <a:cs typeface="Arial"/>
              </a:defRPr>
            </a:lvl1pPr>
            <a:lvl2pPr algn="ctr">
              <a:defRPr sz="975">
                <a:solidFill>
                  <a:srgbClr val="263648"/>
                </a:solidFill>
                <a:latin typeface="Arial"/>
                <a:ea typeface="Arial"/>
                <a:cs typeface="Arial"/>
              </a:defRPr>
            </a:lvl2pPr>
            <a:lvl3pPr algn="ctr">
              <a:defRPr sz="975">
                <a:solidFill>
                  <a:srgbClr val="263648"/>
                </a:solidFill>
                <a:latin typeface="Arial"/>
                <a:ea typeface="Arial"/>
                <a:cs typeface="Arial"/>
              </a:defRPr>
            </a:lvl3pPr>
            <a:lvl4pPr algn="ctr">
              <a:defRPr sz="975">
                <a:solidFill>
                  <a:srgbClr val="263648"/>
                </a:solidFill>
                <a:latin typeface="Arial"/>
                <a:ea typeface="Arial"/>
                <a:cs typeface="Arial"/>
              </a:defRPr>
            </a:lvl4pPr>
            <a:lvl5pPr algn="ctr">
              <a:defRPr sz="975">
                <a:solidFill>
                  <a:srgbClr val="263648"/>
                </a:solidFill>
                <a:latin typeface="Arial"/>
                <a:ea typeface="Arial"/>
                <a:cs typeface="Arial"/>
              </a:defRPr>
            </a:lvl5pPr>
            <a:lvl6pPr algn="ctr">
              <a:defRPr sz="975">
                <a:solidFill>
                  <a:srgbClr val="263648"/>
                </a:solidFill>
                <a:latin typeface="Arial"/>
                <a:ea typeface="Arial"/>
                <a:cs typeface="Arial"/>
              </a:defRPr>
            </a:lvl6pPr>
            <a:lvl7pPr algn="ctr">
              <a:defRPr sz="975">
                <a:solidFill>
                  <a:srgbClr val="263648"/>
                </a:solidFill>
                <a:latin typeface="Arial"/>
                <a:ea typeface="Arial"/>
                <a:cs typeface="Arial"/>
              </a:defRPr>
            </a:lvl7pPr>
            <a:lvl8pPr algn="ctr">
              <a:defRPr sz="975">
                <a:solidFill>
                  <a:srgbClr val="263648"/>
                </a:solidFill>
                <a:latin typeface="Arial"/>
                <a:ea typeface="Arial"/>
                <a:cs typeface="Arial"/>
              </a:defRPr>
            </a:lvl8pPr>
            <a:lvl9pPr algn="ctr">
              <a:defRPr sz="975">
                <a:solidFill>
                  <a:srgbClr val="263648"/>
                </a:solidFill>
                <a:latin typeface="Arial"/>
                <a:ea typeface="Arial"/>
                <a:cs typeface="Arial"/>
              </a:defRPr>
            </a:lvl9pPr>
          </a:lstStyle>
          <a:p xmlns:a="http://schemas.openxmlformats.org/drawingml/2006/main">
            <a:pPr algn="ctr">
              <a:defRPr sz="975">
                <a:solidFill>
                  <a:srgbClr val="263648"/>
                </a:solidFill>
                <a:latin typeface="Arial"/>
                <a:ea typeface="Arial"/>
                <a:cs typeface="Arial"/>
              </a:defRPr>
            </a:pPr>
            <a:r>
              <a:rPr sz="975">
                <a:solidFill>
                  <a:srgbClr val="263648"/>
                </a:solidFill>
                <a:latin typeface="Arial"/>
                <a:ea typeface="Arial"/>
                <a:cs typeface="Arial"/>
              </a:rPr>
              <a:t>Four-tool bounded LLM host/provider and policy controls</a:t>
            </a:r>
          </a:p>
        </p:txBody>
      </p:sp>
      <p:sp>
        <p:nvSpPr>
          <p:cNvPr id="18" name="">
            <a:extLst xmlns:a="http://schemas.openxmlformats.org/drawingml/2006/main">
              <a:ext uri="{FF2B5EF4-FFF2-40B4-BE49-F238E27FC236}">
                <a16:creationId xmlns:a16="http://schemas.microsoft.com/office/drawing/2014/main" id="{6DA68924-6888-4132-93CE-0E45DA35E31E}"/>
              </a:ext>
            </a:extLst>
          </p:cNvPr>
          <p:cNvSpPr>
            <a:spLocks xmlns:a="http://schemas.openxmlformats.org/drawingml/2006/main" noGrp="1"/>
          </p:cNvSpPr>
          <p:nvPr/>
        </p:nvSpPr>
        <p:spPr>
          <a:xfrm xmlns:a="http://schemas.openxmlformats.org/drawingml/2006/main">
            <a:off x="8277225" y="3009900"/>
            <a:ext cx="209550" cy="209550"/>
          </a:xfrm>
          <a:prstGeom xmlns:a="http://schemas.openxmlformats.org/drawingml/2006/main" prst="ellipse">
            <a:avLst/>
          </a:prstGeom>
          <a:solidFill xmlns:a="http://schemas.openxmlformats.org/drawingml/2006/main">
            <a:srgbClr val="18856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99F9D23-10B5-4B29-8BC8-5DF1A5E43D4A}"/>
              </a:ext>
            </a:extLst>
          </p:cNvPr>
          <p:cNvSpPr>
            <a:spLocks xmlns:a="http://schemas.openxmlformats.org/drawingml/2006/main" noGrp="1"/>
          </p:cNvSpPr>
          <p:nvPr/>
        </p:nvSpPr>
        <p:spPr>
          <a:xfrm xmlns:a="http://schemas.openxmlformats.org/drawingml/2006/main">
            <a:off x="7810500" y="2476500"/>
            <a:ext cx="1762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050" b="1">
                <a:solidFill>
                  <a:srgbClr val="18856B"/>
                </a:solidFill>
                <a:latin typeface="Arial"/>
                <a:ea typeface="Arial"/>
                <a:cs typeface="Arial"/>
              </a:defRPr>
            </a:defPPr>
            <a:lvl1pPr algn="ctr">
              <a:defRPr sz="1050" b="1">
                <a:solidFill>
                  <a:srgbClr val="18856B"/>
                </a:solidFill>
                <a:latin typeface="Arial"/>
                <a:ea typeface="Arial"/>
                <a:cs typeface="Arial"/>
              </a:defRPr>
            </a:lvl1pPr>
            <a:lvl2pPr algn="ctr">
              <a:defRPr sz="1050" b="1">
                <a:solidFill>
                  <a:srgbClr val="18856B"/>
                </a:solidFill>
                <a:latin typeface="Arial"/>
                <a:ea typeface="Arial"/>
                <a:cs typeface="Arial"/>
              </a:defRPr>
            </a:lvl2pPr>
            <a:lvl3pPr algn="ctr">
              <a:defRPr sz="1050" b="1">
                <a:solidFill>
                  <a:srgbClr val="18856B"/>
                </a:solidFill>
                <a:latin typeface="Arial"/>
                <a:ea typeface="Arial"/>
                <a:cs typeface="Arial"/>
              </a:defRPr>
            </a:lvl3pPr>
            <a:lvl4pPr algn="ctr">
              <a:defRPr sz="1050" b="1">
                <a:solidFill>
                  <a:srgbClr val="18856B"/>
                </a:solidFill>
                <a:latin typeface="Arial"/>
                <a:ea typeface="Arial"/>
                <a:cs typeface="Arial"/>
              </a:defRPr>
            </a:lvl4pPr>
            <a:lvl5pPr algn="ctr">
              <a:defRPr sz="1050" b="1">
                <a:solidFill>
                  <a:srgbClr val="18856B"/>
                </a:solidFill>
                <a:latin typeface="Arial"/>
                <a:ea typeface="Arial"/>
                <a:cs typeface="Arial"/>
              </a:defRPr>
            </a:lvl5pPr>
            <a:lvl6pPr algn="ctr">
              <a:defRPr sz="1050" b="1">
                <a:solidFill>
                  <a:srgbClr val="18856B"/>
                </a:solidFill>
                <a:latin typeface="Arial"/>
                <a:ea typeface="Arial"/>
                <a:cs typeface="Arial"/>
              </a:defRPr>
            </a:lvl6pPr>
            <a:lvl7pPr algn="ctr">
              <a:defRPr sz="1050" b="1">
                <a:solidFill>
                  <a:srgbClr val="18856B"/>
                </a:solidFill>
                <a:latin typeface="Arial"/>
                <a:ea typeface="Arial"/>
                <a:cs typeface="Arial"/>
              </a:defRPr>
            </a:lvl7pPr>
            <a:lvl8pPr algn="ctr">
              <a:defRPr sz="1050" b="1">
                <a:solidFill>
                  <a:srgbClr val="18856B"/>
                </a:solidFill>
                <a:latin typeface="Arial"/>
                <a:ea typeface="Arial"/>
                <a:cs typeface="Arial"/>
              </a:defRPr>
            </a:lvl8pPr>
            <a:lvl9pPr algn="ctr">
              <a:defRPr sz="1050" b="1">
                <a:solidFill>
                  <a:srgbClr val="18856B"/>
                </a:solidFill>
                <a:latin typeface="Arial"/>
                <a:ea typeface="Arial"/>
                <a:cs typeface="Arial"/>
              </a:defRPr>
            </a:lvl9pPr>
          </a:lstStyle>
          <a:p xmlns:a="http://schemas.openxmlformats.org/drawingml/2006/main">
            <a:pPr algn="ctr">
              <a:defRPr sz="1050" b="1">
                <a:solidFill>
                  <a:srgbClr val="18856B"/>
                </a:solidFill>
                <a:latin typeface="Arial"/>
                <a:ea typeface="Arial"/>
                <a:cs typeface="Arial"/>
              </a:defRPr>
            </a:pPr>
            <a:r>
              <a:rPr sz="1050" b="1">
                <a:solidFill>
                  <a:srgbClr val="18856B"/>
                </a:solidFill>
                <a:latin typeface="Arial"/>
                <a:ea typeface="Arial"/>
                <a:cs typeface="Arial"/>
              </a:rPr>
              <a:t>OCT 26</a:t>
            </a:r>
          </a:p>
        </p:txBody>
      </p:sp>
      <p:sp>
        <p:nvSpPr>
          <p:cNvPr id="20" name="">
            <a:extLst xmlns:a="http://schemas.openxmlformats.org/drawingml/2006/main">
              <a:ext uri="{FF2B5EF4-FFF2-40B4-BE49-F238E27FC236}">
                <a16:creationId xmlns:a16="http://schemas.microsoft.com/office/drawing/2014/main" id="{45CAFC1C-62C5-47FC-BBE3-90308BF9BDEF}"/>
              </a:ext>
            </a:extLst>
          </p:cNvPr>
          <p:cNvSpPr>
            <a:spLocks xmlns:a="http://schemas.openxmlformats.org/drawingml/2006/main" noGrp="1"/>
          </p:cNvSpPr>
          <p:nvPr/>
        </p:nvSpPr>
        <p:spPr>
          <a:xfrm xmlns:a="http://schemas.openxmlformats.org/drawingml/2006/main">
            <a:off x="7810500" y="4143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275" b="1">
                <a:solidFill>
                  <a:srgbClr val="17324D"/>
                </a:solidFill>
                <a:latin typeface="Arial"/>
                <a:ea typeface="Arial"/>
                <a:cs typeface="Arial"/>
              </a:defRPr>
            </a:defPPr>
            <a:lvl1pPr algn="ctr">
              <a:defRPr sz="1275" b="1">
                <a:solidFill>
                  <a:srgbClr val="17324D"/>
                </a:solidFill>
                <a:latin typeface="Arial"/>
                <a:ea typeface="Arial"/>
                <a:cs typeface="Arial"/>
              </a:defRPr>
            </a:lvl1pPr>
            <a:lvl2pPr algn="ctr">
              <a:defRPr sz="1275" b="1">
                <a:solidFill>
                  <a:srgbClr val="17324D"/>
                </a:solidFill>
                <a:latin typeface="Arial"/>
                <a:ea typeface="Arial"/>
                <a:cs typeface="Arial"/>
              </a:defRPr>
            </a:lvl2pPr>
            <a:lvl3pPr algn="ctr">
              <a:defRPr sz="1275" b="1">
                <a:solidFill>
                  <a:srgbClr val="17324D"/>
                </a:solidFill>
                <a:latin typeface="Arial"/>
                <a:ea typeface="Arial"/>
                <a:cs typeface="Arial"/>
              </a:defRPr>
            </a:lvl3pPr>
            <a:lvl4pPr algn="ctr">
              <a:defRPr sz="1275" b="1">
                <a:solidFill>
                  <a:srgbClr val="17324D"/>
                </a:solidFill>
                <a:latin typeface="Arial"/>
                <a:ea typeface="Arial"/>
                <a:cs typeface="Arial"/>
              </a:defRPr>
            </a:lvl4pPr>
            <a:lvl5pPr algn="ctr">
              <a:defRPr sz="1275" b="1">
                <a:solidFill>
                  <a:srgbClr val="17324D"/>
                </a:solidFill>
                <a:latin typeface="Arial"/>
                <a:ea typeface="Arial"/>
                <a:cs typeface="Arial"/>
              </a:defRPr>
            </a:lvl5pPr>
            <a:lvl6pPr algn="ctr">
              <a:defRPr sz="1275" b="1">
                <a:solidFill>
                  <a:srgbClr val="17324D"/>
                </a:solidFill>
                <a:latin typeface="Arial"/>
                <a:ea typeface="Arial"/>
                <a:cs typeface="Arial"/>
              </a:defRPr>
            </a:lvl6pPr>
            <a:lvl7pPr algn="ctr">
              <a:defRPr sz="1275" b="1">
                <a:solidFill>
                  <a:srgbClr val="17324D"/>
                </a:solidFill>
                <a:latin typeface="Arial"/>
                <a:ea typeface="Arial"/>
                <a:cs typeface="Arial"/>
              </a:defRPr>
            </a:lvl7pPr>
            <a:lvl8pPr algn="ctr">
              <a:defRPr sz="1275" b="1">
                <a:solidFill>
                  <a:srgbClr val="17324D"/>
                </a:solidFill>
                <a:latin typeface="Arial"/>
                <a:ea typeface="Arial"/>
                <a:cs typeface="Arial"/>
              </a:defRPr>
            </a:lvl8pPr>
            <a:lvl9pPr algn="ctr">
              <a:defRPr sz="1275" b="1">
                <a:solidFill>
                  <a:srgbClr val="17324D"/>
                </a:solidFill>
                <a:latin typeface="Arial"/>
                <a:ea typeface="Arial"/>
                <a:cs typeface="Arial"/>
              </a:defRPr>
            </a:lvl9pPr>
          </a:lstStyle>
          <a:p xmlns:a="http://schemas.openxmlformats.org/drawingml/2006/main">
            <a:pPr algn="ctr">
              <a:defRPr sz="1275" b="1">
                <a:solidFill>
                  <a:srgbClr val="17324D"/>
                </a:solidFill>
                <a:latin typeface="Arial"/>
                <a:ea typeface="Arial"/>
                <a:cs typeface="Arial"/>
              </a:defRPr>
            </a:pPr>
            <a:r>
              <a:rPr sz="1275" b="1">
                <a:solidFill>
                  <a:srgbClr val="17324D"/>
                </a:solidFill>
                <a:latin typeface="Arial"/>
                <a:ea typeface="Arial"/>
                <a:cs typeface="Arial"/>
              </a:rPr>
              <a:t>Lift selection</a:t>
            </a:r>
          </a:p>
        </p:txBody>
      </p:sp>
      <p:sp>
        <p:nvSpPr>
          <p:cNvPr id="21" name="">
            <a:extLst xmlns:a="http://schemas.openxmlformats.org/drawingml/2006/main">
              <a:ext uri="{FF2B5EF4-FFF2-40B4-BE49-F238E27FC236}">
                <a16:creationId xmlns:a16="http://schemas.microsoft.com/office/drawing/2014/main" id="{BDE60A0C-1ACB-4D6E-B562-8F203BE96D0F}"/>
              </a:ext>
            </a:extLst>
          </p:cNvPr>
          <p:cNvSpPr>
            <a:spLocks xmlns:a="http://schemas.openxmlformats.org/drawingml/2006/main" noGrp="1"/>
          </p:cNvSpPr>
          <p:nvPr/>
        </p:nvSpPr>
        <p:spPr>
          <a:xfrm xmlns:a="http://schemas.openxmlformats.org/drawingml/2006/main">
            <a:off x="7810500" y="4438650"/>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975">
                <a:solidFill>
                  <a:srgbClr val="263648"/>
                </a:solidFill>
                <a:latin typeface="Arial"/>
                <a:ea typeface="Arial"/>
                <a:cs typeface="Arial"/>
              </a:defRPr>
            </a:defPPr>
            <a:lvl1pPr algn="ctr">
              <a:defRPr sz="975">
                <a:solidFill>
                  <a:srgbClr val="263648"/>
                </a:solidFill>
                <a:latin typeface="Arial"/>
                <a:ea typeface="Arial"/>
                <a:cs typeface="Arial"/>
              </a:defRPr>
            </a:lvl1pPr>
            <a:lvl2pPr algn="ctr">
              <a:defRPr sz="975">
                <a:solidFill>
                  <a:srgbClr val="263648"/>
                </a:solidFill>
                <a:latin typeface="Arial"/>
                <a:ea typeface="Arial"/>
                <a:cs typeface="Arial"/>
              </a:defRPr>
            </a:lvl2pPr>
            <a:lvl3pPr algn="ctr">
              <a:defRPr sz="975">
                <a:solidFill>
                  <a:srgbClr val="263648"/>
                </a:solidFill>
                <a:latin typeface="Arial"/>
                <a:ea typeface="Arial"/>
                <a:cs typeface="Arial"/>
              </a:defRPr>
            </a:lvl3pPr>
            <a:lvl4pPr algn="ctr">
              <a:defRPr sz="975">
                <a:solidFill>
                  <a:srgbClr val="263648"/>
                </a:solidFill>
                <a:latin typeface="Arial"/>
                <a:ea typeface="Arial"/>
                <a:cs typeface="Arial"/>
              </a:defRPr>
            </a:lvl4pPr>
            <a:lvl5pPr algn="ctr">
              <a:defRPr sz="975">
                <a:solidFill>
                  <a:srgbClr val="263648"/>
                </a:solidFill>
                <a:latin typeface="Arial"/>
                <a:ea typeface="Arial"/>
                <a:cs typeface="Arial"/>
              </a:defRPr>
            </a:lvl5pPr>
            <a:lvl6pPr algn="ctr">
              <a:defRPr sz="975">
                <a:solidFill>
                  <a:srgbClr val="263648"/>
                </a:solidFill>
                <a:latin typeface="Arial"/>
                <a:ea typeface="Arial"/>
                <a:cs typeface="Arial"/>
              </a:defRPr>
            </a:lvl6pPr>
            <a:lvl7pPr algn="ctr">
              <a:defRPr sz="975">
                <a:solidFill>
                  <a:srgbClr val="263648"/>
                </a:solidFill>
                <a:latin typeface="Arial"/>
                <a:ea typeface="Arial"/>
                <a:cs typeface="Arial"/>
              </a:defRPr>
            </a:lvl7pPr>
            <a:lvl8pPr algn="ctr">
              <a:defRPr sz="975">
                <a:solidFill>
                  <a:srgbClr val="263648"/>
                </a:solidFill>
                <a:latin typeface="Arial"/>
                <a:ea typeface="Arial"/>
                <a:cs typeface="Arial"/>
              </a:defRPr>
            </a:lvl8pPr>
            <a:lvl9pPr algn="ctr">
              <a:defRPr sz="975">
                <a:solidFill>
                  <a:srgbClr val="263648"/>
                </a:solidFill>
                <a:latin typeface="Arial"/>
                <a:ea typeface="Arial"/>
                <a:cs typeface="Arial"/>
              </a:defRPr>
            </a:lvl9pPr>
          </a:lstStyle>
          <a:p xmlns:a="http://schemas.openxmlformats.org/drawingml/2006/main">
            <a:pPr algn="ctr">
              <a:defRPr sz="975">
                <a:solidFill>
                  <a:srgbClr val="263648"/>
                </a:solidFill>
                <a:latin typeface="Arial"/>
                <a:ea typeface="Arial"/>
                <a:cs typeface="Arial"/>
              </a:defRPr>
            </a:pPr>
            <a:r>
              <a:rPr sz="975">
                <a:solidFill>
                  <a:srgbClr val="263648"/>
                </a:solidFill>
                <a:latin typeface="Arial"/>
                <a:ea typeface="Arial"/>
                <a:cs typeface="Arial"/>
              </a:rPr>
              <a:t>12 new candidates measured; 17 policies compared by replay</a:t>
            </a:r>
          </a:p>
        </p:txBody>
      </p:sp>
      <p:sp>
        <p:nvSpPr>
          <p:cNvPr id="22" name="">
            <a:extLst xmlns:a="http://schemas.openxmlformats.org/drawingml/2006/main">
              <a:ext uri="{FF2B5EF4-FFF2-40B4-BE49-F238E27FC236}">
                <a16:creationId xmlns:a16="http://schemas.microsoft.com/office/drawing/2014/main" id="{A2E63F51-9679-4502-9B92-CEFB589045EF}"/>
              </a:ext>
            </a:extLst>
          </p:cNvPr>
          <p:cNvSpPr>
            <a:spLocks xmlns:a="http://schemas.openxmlformats.org/drawingml/2006/main" noGrp="1"/>
          </p:cNvSpPr>
          <p:nvPr/>
        </p:nvSpPr>
        <p:spPr>
          <a:xfrm xmlns:a="http://schemas.openxmlformats.org/drawingml/2006/main">
            <a:off x="10563225" y="3009900"/>
            <a:ext cx="209550" cy="2095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E15F734-CF2C-40AF-BA17-D052FD7EC519}"/>
              </a:ext>
            </a:extLst>
          </p:cNvPr>
          <p:cNvSpPr>
            <a:spLocks xmlns:a="http://schemas.openxmlformats.org/drawingml/2006/main" noGrp="1"/>
          </p:cNvSpPr>
          <p:nvPr/>
        </p:nvSpPr>
        <p:spPr>
          <a:xfrm xmlns:a="http://schemas.openxmlformats.org/drawingml/2006/main">
            <a:off x="8915400" y="2476500"/>
            <a:ext cx="1762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1050" b="1">
                <a:solidFill>
                  <a:srgbClr val="2878A8"/>
                </a:solidFill>
                <a:latin typeface="Arial"/>
                <a:ea typeface="Arial"/>
                <a:cs typeface="Arial"/>
              </a:defRPr>
            </a:defPPr>
            <a:lvl1pPr algn="r">
              <a:defRPr sz="1050" b="1">
                <a:solidFill>
                  <a:srgbClr val="2878A8"/>
                </a:solidFill>
                <a:latin typeface="Arial"/>
                <a:ea typeface="Arial"/>
                <a:cs typeface="Arial"/>
              </a:defRPr>
            </a:lvl1pPr>
            <a:lvl2pPr algn="r">
              <a:defRPr sz="1050" b="1">
                <a:solidFill>
                  <a:srgbClr val="2878A8"/>
                </a:solidFill>
                <a:latin typeface="Arial"/>
                <a:ea typeface="Arial"/>
                <a:cs typeface="Arial"/>
              </a:defRPr>
            </a:lvl2pPr>
            <a:lvl3pPr algn="r">
              <a:defRPr sz="1050" b="1">
                <a:solidFill>
                  <a:srgbClr val="2878A8"/>
                </a:solidFill>
                <a:latin typeface="Arial"/>
                <a:ea typeface="Arial"/>
                <a:cs typeface="Arial"/>
              </a:defRPr>
            </a:lvl3pPr>
            <a:lvl4pPr algn="r">
              <a:defRPr sz="1050" b="1">
                <a:solidFill>
                  <a:srgbClr val="2878A8"/>
                </a:solidFill>
                <a:latin typeface="Arial"/>
                <a:ea typeface="Arial"/>
                <a:cs typeface="Arial"/>
              </a:defRPr>
            </a:lvl4pPr>
            <a:lvl5pPr algn="r">
              <a:defRPr sz="1050" b="1">
                <a:solidFill>
                  <a:srgbClr val="2878A8"/>
                </a:solidFill>
                <a:latin typeface="Arial"/>
                <a:ea typeface="Arial"/>
                <a:cs typeface="Arial"/>
              </a:defRPr>
            </a:lvl5pPr>
            <a:lvl6pPr algn="r">
              <a:defRPr sz="1050" b="1">
                <a:solidFill>
                  <a:srgbClr val="2878A8"/>
                </a:solidFill>
                <a:latin typeface="Arial"/>
                <a:ea typeface="Arial"/>
                <a:cs typeface="Arial"/>
              </a:defRPr>
            </a:lvl6pPr>
            <a:lvl7pPr algn="r">
              <a:defRPr sz="1050" b="1">
                <a:solidFill>
                  <a:srgbClr val="2878A8"/>
                </a:solidFill>
                <a:latin typeface="Arial"/>
                <a:ea typeface="Arial"/>
                <a:cs typeface="Arial"/>
              </a:defRPr>
            </a:lvl7pPr>
            <a:lvl8pPr algn="r">
              <a:defRPr sz="1050" b="1">
                <a:solidFill>
                  <a:srgbClr val="2878A8"/>
                </a:solidFill>
                <a:latin typeface="Arial"/>
                <a:ea typeface="Arial"/>
                <a:cs typeface="Arial"/>
              </a:defRPr>
            </a:lvl8pPr>
            <a:lvl9pPr algn="r">
              <a:defRPr sz="1050" b="1">
                <a:solidFill>
                  <a:srgbClr val="2878A8"/>
                </a:solidFill>
                <a:latin typeface="Arial"/>
                <a:ea typeface="Arial"/>
                <a:cs typeface="Arial"/>
              </a:defRPr>
            </a:lvl9pPr>
          </a:lstStyle>
          <a:p xmlns:a="http://schemas.openxmlformats.org/drawingml/2006/main">
            <a:pPr algn="r">
              <a:defRPr sz="1050" b="1">
                <a:solidFill>
                  <a:srgbClr val="2878A8"/>
                </a:solidFill>
                <a:latin typeface="Arial"/>
                <a:ea typeface="Arial"/>
                <a:cs typeface="Arial"/>
              </a:defRPr>
            </a:pPr>
            <a:r>
              <a:rPr sz="1050" b="1">
                <a:solidFill>
                  <a:srgbClr val="2878A8"/>
                </a:solidFill>
                <a:latin typeface="Arial"/>
                <a:ea typeface="Arial"/>
                <a:cs typeface="Arial"/>
              </a:rPr>
              <a:t>OCT 27</a:t>
            </a:r>
          </a:p>
        </p:txBody>
      </p:sp>
      <p:sp>
        <p:nvSpPr>
          <p:cNvPr id="24" name="">
            <a:extLst xmlns:a="http://schemas.openxmlformats.org/drawingml/2006/main">
              <a:ext uri="{FF2B5EF4-FFF2-40B4-BE49-F238E27FC236}">
                <a16:creationId xmlns:a16="http://schemas.microsoft.com/office/drawing/2014/main" id="{BEF8E625-5759-4A3D-B71B-3CC8EFAF0CB4}"/>
              </a:ext>
            </a:extLst>
          </p:cNvPr>
          <p:cNvSpPr>
            <a:spLocks xmlns:a="http://schemas.openxmlformats.org/drawingml/2006/main" noGrp="1"/>
          </p:cNvSpPr>
          <p:nvPr/>
        </p:nvSpPr>
        <p:spPr>
          <a:xfrm xmlns:a="http://schemas.openxmlformats.org/drawingml/2006/main">
            <a:off x="8915400" y="35052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1275" b="1">
                <a:solidFill>
                  <a:srgbClr val="17324D"/>
                </a:solidFill>
                <a:latin typeface="Arial"/>
                <a:ea typeface="Arial"/>
                <a:cs typeface="Arial"/>
              </a:defRPr>
            </a:defPPr>
            <a:lvl1pPr algn="r">
              <a:defRPr sz="1275" b="1">
                <a:solidFill>
                  <a:srgbClr val="17324D"/>
                </a:solidFill>
                <a:latin typeface="Arial"/>
                <a:ea typeface="Arial"/>
                <a:cs typeface="Arial"/>
              </a:defRPr>
            </a:lvl1pPr>
            <a:lvl2pPr algn="r">
              <a:defRPr sz="1275" b="1">
                <a:solidFill>
                  <a:srgbClr val="17324D"/>
                </a:solidFill>
                <a:latin typeface="Arial"/>
                <a:ea typeface="Arial"/>
                <a:cs typeface="Arial"/>
              </a:defRPr>
            </a:lvl2pPr>
            <a:lvl3pPr algn="r">
              <a:defRPr sz="1275" b="1">
                <a:solidFill>
                  <a:srgbClr val="17324D"/>
                </a:solidFill>
                <a:latin typeface="Arial"/>
                <a:ea typeface="Arial"/>
                <a:cs typeface="Arial"/>
              </a:defRPr>
            </a:lvl3pPr>
            <a:lvl4pPr algn="r">
              <a:defRPr sz="1275" b="1">
                <a:solidFill>
                  <a:srgbClr val="17324D"/>
                </a:solidFill>
                <a:latin typeface="Arial"/>
                <a:ea typeface="Arial"/>
                <a:cs typeface="Arial"/>
              </a:defRPr>
            </a:lvl4pPr>
            <a:lvl5pPr algn="r">
              <a:defRPr sz="1275" b="1">
                <a:solidFill>
                  <a:srgbClr val="17324D"/>
                </a:solidFill>
                <a:latin typeface="Arial"/>
                <a:ea typeface="Arial"/>
                <a:cs typeface="Arial"/>
              </a:defRPr>
            </a:lvl5pPr>
            <a:lvl6pPr algn="r">
              <a:defRPr sz="1275" b="1">
                <a:solidFill>
                  <a:srgbClr val="17324D"/>
                </a:solidFill>
                <a:latin typeface="Arial"/>
                <a:ea typeface="Arial"/>
                <a:cs typeface="Arial"/>
              </a:defRPr>
            </a:lvl6pPr>
            <a:lvl7pPr algn="r">
              <a:defRPr sz="1275" b="1">
                <a:solidFill>
                  <a:srgbClr val="17324D"/>
                </a:solidFill>
                <a:latin typeface="Arial"/>
                <a:ea typeface="Arial"/>
                <a:cs typeface="Arial"/>
              </a:defRPr>
            </a:lvl7pPr>
            <a:lvl8pPr algn="r">
              <a:defRPr sz="1275" b="1">
                <a:solidFill>
                  <a:srgbClr val="17324D"/>
                </a:solidFill>
                <a:latin typeface="Arial"/>
                <a:ea typeface="Arial"/>
                <a:cs typeface="Arial"/>
              </a:defRPr>
            </a:lvl8pPr>
            <a:lvl9pPr algn="r">
              <a:defRPr sz="1275" b="1">
                <a:solidFill>
                  <a:srgbClr val="17324D"/>
                </a:solidFill>
                <a:latin typeface="Arial"/>
                <a:ea typeface="Arial"/>
                <a:cs typeface="Arial"/>
              </a:defRPr>
            </a:lvl9pPr>
          </a:lstStyle>
          <a:p xmlns:a="http://schemas.openxmlformats.org/drawingml/2006/main">
            <a:pPr algn="r">
              <a:defRPr sz="1275" b="1">
                <a:solidFill>
                  <a:srgbClr val="17324D"/>
                </a:solidFill>
                <a:latin typeface="Arial"/>
                <a:ea typeface="Arial"/>
                <a:cs typeface="Arial"/>
              </a:defRPr>
            </a:pPr>
            <a:r>
              <a:rPr sz="1275" b="1">
                <a:solidFill>
                  <a:srgbClr val="17324D"/>
                </a:solidFill>
                <a:latin typeface="Arial"/>
                <a:ea typeface="Arial"/>
                <a:cs typeface="Arial"/>
              </a:rPr>
              <a:t>Scorecard + chat pilot</a:t>
            </a:r>
          </a:p>
        </p:txBody>
      </p:sp>
      <p:sp>
        <p:nvSpPr>
          <p:cNvPr id="25" name="">
            <a:extLst xmlns:a="http://schemas.openxmlformats.org/drawingml/2006/main">
              <a:ext uri="{FF2B5EF4-FFF2-40B4-BE49-F238E27FC236}">
                <a16:creationId xmlns:a16="http://schemas.microsoft.com/office/drawing/2014/main" id="{39F18715-0FDF-46C8-A529-6AECF0FEED90}"/>
              </a:ext>
            </a:extLst>
          </p:cNvPr>
          <p:cNvSpPr>
            <a:spLocks xmlns:a="http://schemas.openxmlformats.org/drawingml/2006/main" noGrp="1"/>
          </p:cNvSpPr>
          <p:nvPr/>
        </p:nvSpPr>
        <p:spPr>
          <a:xfrm xmlns:a="http://schemas.openxmlformats.org/drawingml/2006/main">
            <a:off x="8915400" y="3800475"/>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r">
              <a:defRPr sz="975">
                <a:solidFill>
                  <a:srgbClr val="263648"/>
                </a:solidFill>
                <a:latin typeface="Arial"/>
                <a:ea typeface="Arial"/>
                <a:cs typeface="Arial"/>
              </a:defRPr>
            </a:defPPr>
            <a:lvl1pPr algn="r">
              <a:defRPr sz="975">
                <a:solidFill>
                  <a:srgbClr val="263648"/>
                </a:solidFill>
                <a:latin typeface="Arial"/>
                <a:ea typeface="Arial"/>
                <a:cs typeface="Arial"/>
              </a:defRPr>
            </a:lvl1pPr>
            <a:lvl2pPr algn="r">
              <a:defRPr sz="975">
                <a:solidFill>
                  <a:srgbClr val="263648"/>
                </a:solidFill>
                <a:latin typeface="Arial"/>
                <a:ea typeface="Arial"/>
                <a:cs typeface="Arial"/>
              </a:defRPr>
            </a:lvl2pPr>
            <a:lvl3pPr algn="r">
              <a:defRPr sz="975">
                <a:solidFill>
                  <a:srgbClr val="263648"/>
                </a:solidFill>
                <a:latin typeface="Arial"/>
                <a:ea typeface="Arial"/>
                <a:cs typeface="Arial"/>
              </a:defRPr>
            </a:lvl3pPr>
            <a:lvl4pPr algn="r">
              <a:defRPr sz="975">
                <a:solidFill>
                  <a:srgbClr val="263648"/>
                </a:solidFill>
                <a:latin typeface="Arial"/>
                <a:ea typeface="Arial"/>
                <a:cs typeface="Arial"/>
              </a:defRPr>
            </a:lvl4pPr>
            <a:lvl5pPr algn="r">
              <a:defRPr sz="975">
                <a:solidFill>
                  <a:srgbClr val="263648"/>
                </a:solidFill>
                <a:latin typeface="Arial"/>
                <a:ea typeface="Arial"/>
                <a:cs typeface="Arial"/>
              </a:defRPr>
            </a:lvl5pPr>
            <a:lvl6pPr algn="r">
              <a:defRPr sz="975">
                <a:solidFill>
                  <a:srgbClr val="263648"/>
                </a:solidFill>
                <a:latin typeface="Arial"/>
                <a:ea typeface="Arial"/>
                <a:cs typeface="Arial"/>
              </a:defRPr>
            </a:lvl6pPr>
            <a:lvl7pPr algn="r">
              <a:defRPr sz="975">
                <a:solidFill>
                  <a:srgbClr val="263648"/>
                </a:solidFill>
                <a:latin typeface="Arial"/>
                <a:ea typeface="Arial"/>
                <a:cs typeface="Arial"/>
              </a:defRPr>
            </a:lvl7pPr>
            <a:lvl8pPr algn="r">
              <a:defRPr sz="975">
                <a:solidFill>
                  <a:srgbClr val="263648"/>
                </a:solidFill>
                <a:latin typeface="Arial"/>
                <a:ea typeface="Arial"/>
                <a:cs typeface="Arial"/>
              </a:defRPr>
            </a:lvl8pPr>
            <a:lvl9pPr algn="r">
              <a:defRPr sz="975">
                <a:solidFill>
                  <a:srgbClr val="263648"/>
                </a:solidFill>
                <a:latin typeface="Arial"/>
                <a:ea typeface="Arial"/>
                <a:cs typeface="Arial"/>
              </a:defRPr>
            </a:lvl9pPr>
          </a:lstStyle>
          <a:p xmlns:a="http://schemas.openxmlformats.org/drawingml/2006/main">
            <a:pPr algn="r">
              <a:defRPr sz="975">
                <a:solidFill>
                  <a:srgbClr val="263648"/>
                </a:solidFill>
                <a:latin typeface="Arial"/>
                <a:ea typeface="Arial"/>
                <a:cs typeface="Arial"/>
              </a:defRPr>
            </a:pPr>
            <a:r>
              <a:rPr sz="975">
                <a:solidFill>
                  <a:srgbClr val="263648"/>
                </a:solidFill>
                <a:latin typeface="Arial"/>
                <a:ea typeface="Arial"/>
                <a:cs typeface="Arial"/>
              </a:rPr>
              <a:t>122 labels, explainability; current chat matches EDN pool oracle</a:t>
            </a:r>
          </a:p>
        </p:txBody>
      </p:sp>
      <p:sp>
        <p:nvSpPr>
          <p:cNvPr id="26" name="">
            <a:extLst xmlns:a="http://schemas.openxmlformats.org/drawingml/2006/main">
              <a:ext uri="{FF2B5EF4-FFF2-40B4-BE49-F238E27FC236}">
                <a16:creationId xmlns:a16="http://schemas.microsoft.com/office/drawing/2014/main" id="{A6124DA3-B35D-4885-A911-61FCA3AF147E}"/>
              </a:ext>
            </a:extLst>
          </p:cNvPr>
          <p:cNvSpPr>
            <a:spLocks xmlns:a="http://schemas.openxmlformats.org/drawingml/2006/main" noGrp="1"/>
          </p:cNvSpPr>
          <p:nvPr/>
        </p:nvSpPr>
        <p:spPr>
          <a:xfrm xmlns:a="http://schemas.openxmlformats.org/drawingml/2006/main">
            <a:off x="685800" y="5391150"/>
            <a:ext cx="10744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263648"/>
                </a:solidFill>
                <a:latin typeface="Arial"/>
                <a:ea typeface="Arial"/>
                <a:cs typeface="Arial"/>
              </a:defRPr>
            </a:defPPr>
            <a:lvl1pPr>
              <a:defRPr sz="1425" b="1">
                <a:solidFill>
                  <a:srgbClr val="263648"/>
                </a:solidFill>
                <a:latin typeface="Arial"/>
                <a:ea typeface="Arial"/>
                <a:cs typeface="Arial"/>
              </a:defRPr>
            </a:lvl1pPr>
            <a:lvl2pPr>
              <a:defRPr sz="1425" b="1">
                <a:solidFill>
                  <a:srgbClr val="263648"/>
                </a:solidFill>
                <a:latin typeface="Arial"/>
                <a:ea typeface="Arial"/>
                <a:cs typeface="Arial"/>
              </a:defRPr>
            </a:lvl2pPr>
            <a:lvl3pPr>
              <a:defRPr sz="1425" b="1">
                <a:solidFill>
                  <a:srgbClr val="263648"/>
                </a:solidFill>
                <a:latin typeface="Arial"/>
                <a:ea typeface="Arial"/>
                <a:cs typeface="Arial"/>
              </a:defRPr>
            </a:lvl3pPr>
            <a:lvl4pPr>
              <a:defRPr sz="1425" b="1">
                <a:solidFill>
                  <a:srgbClr val="263648"/>
                </a:solidFill>
                <a:latin typeface="Arial"/>
                <a:ea typeface="Arial"/>
                <a:cs typeface="Arial"/>
              </a:defRPr>
            </a:lvl4pPr>
            <a:lvl5pPr>
              <a:defRPr sz="1425" b="1">
                <a:solidFill>
                  <a:srgbClr val="263648"/>
                </a:solidFill>
                <a:latin typeface="Arial"/>
                <a:ea typeface="Arial"/>
                <a:cs typeface="Arial"/>
              </a:defRPr>
            </a:lvl5pPr>
            <a:lvl6pPr>
              <a:defRPr sz="1425" b="1">
                <a:solidFill>
                  <a:srgbClr val="263648"/>
                </a:solidFill>
                <a:latin typeface="Arial"/>
                <a:ea typeface="Arial"/>
                <a:cs typeface="Arial"/>
              </a:defRPr>
            </a:lvl6pPr>
            <a:lvl7pPr>
              <a:defRPr sz="1425" b="1">
                <a:solidFill>
                  <a:srgbClr val="263648"/>
                </a:solidFill>
                <a:latin typeface="Arial"/>
                <a:ea typeface="Arial"/>
                <a:cs typeface="Arial"/>
              </a:defRPr>
            </a:lvl7pPr>
            <a:lvl8pPr>
              <a:defRPr sz="1425" b="1">
                <a:solidFill>
                  <a:srgbClr val="263648"/>
                </a:solidFill>
                <a:latin typeface="Arial"/>
                <a:ea typeface="Arial"/>
                <a:cs typeface="Arial"/>
              </a:defRPr>
            </a:lvl8pPr>
            <a:lvl9pPr>
              <a:defRPr sz="1425" b="1">
                <a:solidFill>
                  <a:srgbClr val="263648"/>
                </a:solidFill>
                <a:latin typeface="Arial"/>
                <a:ea typeface="Arial"/>
                <a:cs typeface="Arial"/>
              </a:defRPr>
            </a:lvl9pPr>
          </a:lstStyle>
          <a:p xmlns:a="http://schemas.openxmlformats.org/drawingml/2006/main">
            <a:pPr>
              <a:defRPr sz="1425" b="1">
                <a:solidFill>
                  <a:srgbClr val="263648"/>
                </a:solidFill>
                <a:latin typeface="Arial"/>
                <a:ea typeface="Arial"/>
                <a:cs typeface="Arial"/>
              </a:defRPr>
            </a:pPr>
            <a:r>
              <a:rPr sz="1425" b="1">
                <a:solidFill>
                  <a:srgbClr val="263648"/>
                </a:solidFill>
                <a:latin typeface="Arial"/>
                <a:ea typeface="Arial"/>
                <a:cs typeface="Arial"/>
              </a:rPr>
              <a:t>Current status: exploratory chat-model pilot is complete; matched multi-run LLM evaluation and joint-instruction validation remain ahead.</a:t>
            </a:r>
          </a:p>
        </p:txBody>
      </p:sp>
    </p:spTree>
    <p:extLst>
      <p:ext uri="{BB962C8B-B14F-4D97-AF65-F5344CB8AC3E}">
        <p14:creationId xmlns:p14="http://schemas.microsoft.com/office/powerpoint/2010/main" val="55141842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E043FD4-F06A-4B98-BA79-8062988ADC0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What the evidence supports and what comes next</a:t>
            </a:r>
          </a:p>
        </p:txBody>
      </p:sp>
      <p:sp>
        <p:nvSpPr>
          <p:cNvPr id="2" name="">
            <a:extLst xmlns:a="http://schemas.openxmlformats.org/drawingml/2006/main">
              <a:ext uri="{FF2B5EF4-FFF2-40B4-BE49-F238E27FC236}">
                <a16:creationId xmlns:a16="http://schemas.microsoft.com/office/drawing/2014/main" id="{9E6B5BB8-5A05-44E0-8A2A-E3AC2680E0F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66437939-B31B-452A-9F9F-BAFD530964C1}"/>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10</a:t>
            </a:r>
          </a:p>
        </p:txBody>
      </p:sp>
      <p:sp>
        <p:nvSpPr>
          <p:cNvPr id="4" name="">
            <a:extLst xmlns:a="http://schemas.openxmlformats.org/drawingml/2006/main">
              <a:ext uri="{FF2B5EF4-FFF2-40B4-BE49-F238E27FC236}">
                <a16:creationId xmlns:a16="http://schemas.microsoft.com/office/drawing/2014/main" id="{3E17DDA5-6FFA-42A3-863C-7310DE9530F2}"/>
              </a:ext>
            </a:extLst>
          </p:cNvPr>
          <p:cNvSpPr>
            <a:spLocks xmlns:a="http://schemas.openxmlformats.org/drawingml/2006/main" noGrp="1"/>
          </p:cNvSpPr>
          <p:nvPr/>
        </p:nvSpPr>
        <p:spPr>
          <a:xfrm xmlns:a="http://schemas.openxmlformats.org/drawingml/2006/main">
            <a:off x="685800" y="1381125"/>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17324D"/>
                </a:solidFill>
                <a:latin typeface="Arial"/>
                <a:ea typeface="Arial"/>
                <a:cs typeface="Arial"/>
              </a:defRPr>
            </a:defPPr>
            <a:lvl1pPr>
              <a:defRPr sz="1725" b="1">
                <a:solidFill>
                  <a:srgbClr val="17324D"/>
                </a:solidFill>
                <a:latin typeface="Arial"/>
                <a:ea typeface="Arial"/>
                <a:cs typeface="Arial"/>
              </a:defRPr>
            </a:lvl1pPr>
            <a:lvl2pPr>
              <a:defRPr sz="1725" b="1">
                <a:solidFill>
                  <a:srgbClr val="17324D"/>
                </a:solidFill>
                <a:latin typeface="Arial"/>
                <a:ea typeface="Arial"/>
                <a:cs typeface="Arial"/>
              </a:defRPr>
            </a:lvl2pPr>
            <a:lvl3pPr>
              <a:defRPr sz="1725" b="1">
                <a:solidFill>
                  <a:srgbClr val="17324D"/>
                </a:solidFill>
                <a:latin typeface="Arial"/>
                <a:ea typeface="Arial"/>
                <a:cs typeface="Arial"/>
              </a:defRPr>
            </a:lvl3pPr>
            <a:lvl4pPr>
              <a:defRPr sz="1725" b="1">
                <a:solidFill>
                  <a:srgbClr val="17324D"/>
                </a:solidFill>
                <a:latin typeface="Arial"/>
                <a:ea typeface="Arial"/>
                <a:cs typeface="Arial"/>
              </a:defRPr>
            </a:lvl4pPr>
            <a:lvl5pPr>
              <a:defRPr sz="1725" b="1">
                <a:solidFill>
                  <a:srgbClr val="17324D"/>
                </a:solidFill>
                <a:latin typeface="Arial"/>
                <a:ea typeface="Arial"/>
                <a:cs typeface="Arial"/>
              </a:defRPr>
            </a:lvl5pPr>
            <a:lvl6pPr>
              <a:defRPr sz="1725" b="1">
                <a:solidFill>
                  <a:srgbClr val="17324D"/>
                </a:solidFill>
                <a:latin typeface="Arial"/>
                <a:ea typeface="Arial"/>
                <a:cs typeface="Arial"/>
              </a:defRPr>
            </a:lvl6pPr>
            <a:lvl7pPr>
              <a:defRPr sz="1725" b="1">
                <a:solidFill>
                  <a:srgbClr val="17324D"/>
                </a:solidFill>
                <a:latin typeface="Arial"/>
                <a:ea typeface="Arial"/>
                <a:cs typeface="Arial"/>
              </a:defRPr>
            </a:lvl7pPr>
            <a:lvl8pPr>
              <a:defRPr sz="1725" b="1">
                <a:solidFill>
                  <a:srgbClr val="17324D"/>
                </a:solidFill>
                <a:latin typeface="Arial"/>
                <a:ea typeface="Arial"/>
                <a:cs typeface="Arial"/>
              </a:defRPr>
            </a:lvl8pPr>
            <a:lvl9pPr>
              <a:defRPr sz="1725" b="1">
                <a:solidFill>
                  <a:srgbClr val="17324D"/>
                </a:solidFill>
                <a:latin typeface="Arial"/>
                <a:ea typeface="Arial"/>
                <a:cs typeface="Arial"/>
              </a:defRPr>
            </a:lvl9pPr>
          </a:lstStyle>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Supported now</a:t>
            </a:r>
          </a:p>
        </p:txBody>
      </p:sp>
      <p:sp>
        <p:nvSpPr>
          <p:cNvPr id="5" name="">
            <a:extLst xmlns:a="http://schemas.openxmlformats.org/drawingml/2006/main">
              <a:ext uri="{FF2B5EF4-FFF2-40B4-BE49-F238E27FC236}">
                <a16:creationId xmlns:a16="http://schemas.microsoft.com/office/drawing/2014/main" id="{989B1A8D-F519-48E6-9C6C-D1B198FFDEE5}"/>
              </a:ext>
            </a:extLst>
          </p:cNvPr>
          <p:cNvSpPr>
            <a:spLocks xmlns:a="http://schemas.openxmlformats.org/drawingml/2006/main" noGrp="1"/>
          </p:cNvSpPr>
          <p:nvPr/>
        </p:nvSpPr>
        <p:spPr>
          <a:xfrm xmlns:a="http://schemas.openxmlformats.org/drawingml/2006/main">
            <a:off x="685800" y="1838325"/>
            <a:ext cx="5048250" cy="2428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a:solidFill>
                  <a:srgbClr val="263648"/>
                </a:solidFill>
                <a:latin typeface="Arial"/>
                <a:ea typeface="Arial"/>
                <a:cs typeface="Arial"/>
              </a:defRPr>
            </a:defPPr>
            <a:lvl1pPr>
              <a:defRPr sz="1425">
                <a:solidFill>
                  <a:srgbClr val="263648"/>
                </a:solidFill>
                <a:latin typeface="Arial"/>
                <a:ea typeface="Arial"/>
                <a:cs typeface="Arial"/>
              </a:defRPr>
            </a:lvl1pPr>
            <a:lvl2pPr>
              <a:defRPr sz="1425">
                <a:solidFill>
                  <a:srgbClr val="263648"/>
                </a:solidFill>
                <a:latin typeface="Arial"/>
                <a:ea typeface="Arial"/>
                <a:cs typeface="Arial"/>
              </a:defRPr>
            </a:lvl2pPr>
            <a:lvl3pPr>
              <a:defRPr sz="1425">
                <a:solidFill>
                  <a:srgbClr val="263648"/>
                </a:solidFill>
                <a:latin typeface="Arial"/>
                <a:ea typeface="Arial"/>
                <a:cs typeface="Arial"/>
              </a:defRPr>
            </a:lvl3pPr>
            <a:lvl4pPr>
              <a:defRPr sz="1425">
                <a:solidFill>
                  <a:srgbClr val="263648"/>
                </a:solidFill>
                <a:latin typeface="Arial"/>
                <a:ea typeface="Arial"/>
                <a:cs typeface="Arial"/>
              </a:defRPr>
            </a:lvl4pPr>
            <a:lvl5pPr>
              <a:defRPr sz="1425">
                <a:solidFill>
                  <a:srgbClr val="263648"/>
                </a:solidFill>
                <a:latin typeface="Arial"/>
                <a:ea typeface="Arial"/>
                <a:cs typeface="Arial"/>
              </a:defRPr>
            </a:lvl5pPr>
            <a:lvl6pPr>
              <a:defRPr sz="1425">
                <a:solidFill>
                  <a:srgbClr val="263648"/>
                </a:solidFill>
                <a:latin typeface="Arial"/>
                <a:ea typeface="Arial"/>
                <a:cs typeface="Arial"/>
              </a:defRPr>
            </a:lvl6pPr>
            <a:lvl7pPr>
              <a:defRPr sz="1425">
                <a:solidFill>
                  <a:srgbClr val="263648"/>
                </a:solidFill>
                <a:latin typeface="Arial"/>
                <a:ea typeface="Arial"/>
                <a:cs typeface="Arial"/>
              </a:defRPr>
            </a:lvl7pPr>
            <a:lvl8pPr>
              <a:defRPr sz="1425">
                <a:solidFill>
                  <a:srgbClr val="263648"/>
                </a:solidFill>
                <a:latin typeface="Arial"/>
                <a:ea typeface="Arial"/>
                <a:cs typeface="Arial"/>
              </a:defRPr>
            </a:lvl8pPr>
            <a:lvl9pPr>
              <a:defRPr sz="1425">
                <a:solidFill>
                  <a:srgbClr val="263648"/>
                </a:solidFill>
                <a:latin typeface="Arial"/>
                <a:ea typeface="Arial"/>
                <a:cs typeface="Arial"/>
              </a:defRPr>
            </a:lvl9pPr>
          </a:lstStyle>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 Merit remains the operational fallback.</a:t>
            </a:r>
          </a:p>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 Pairwise XGB has small point-estimate gains at budgets 1 and 2, then loses at 3.</a:t>
            </a:r>
          </a:p>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 122 measured labels match the calibrated latency estimate exactly.</a:t>
            </a:r>
          </a:p>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 The ranker is driven mainly by trace-derived savings features.</a:t>
            </a:r>
          </a:p>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 The latest cross-workload comparison is retrospective, not confirmatory.</a:t>
            </a:r>
          </a:p>
        </p:txBody>
      </p:sp>
      <p:sp>
        <p:nvSpPr>
          <p:cNvPr id="6" name="">
            <a:extLst xmlns:a="http://schemas.openxmlformats.org/drawingml/2006/main">
              <a:ext uri="{FF2B5EF4-FFF2-40B4-BE49-F238E27FC236}">
                <a16:creationId xmlns:a16="http://schemas.microsoft.com/office/drawing/2014/main" id="{80DB6EFE-C0BA-416B-ACB2-CBA93C24176B}"/>
              </a:ext>
            </a:extLst>
          </p:cNvPr>
          <p:cNvSpPr>
            <a:spLocks xmlns:a="http://schemas.openxmlformats.org/drawingml/2006/main" noGrp="1"/>
          </p:cNvSpPr>
          <p:nvPr/>
        </p:nvSpPr>
        <p:spPr>
          <a:xfrm xmlns:a="http://schemas.openxmlformats.org/drawingml/2006/main">
            <a:off x="6076950" y="1381125"/>
            <a:ext cx="0" cy="4048125"/>
          </a:xfrm>
          <a:prstGeom xmlns:a="http://schemas.openxmlformats.org/drawingml/2006/main" prst="line">
            <a:avLst/>
          </a:prstGeom>
          <a:noFill xmlns:a="http://schemas.openxmlformats.org/drawingml/2006/main"/>
          <a:ln xmlns:a="http://schemas.openxmlformats.org/drawingml/2006/main" w="14288">
            <a:solidFill>
              <a:srgbClr val="D9E1E8"/>
            </a:solidFill>
            <a:prstDash val="solid"/>
          </a:ln>
        </p:spPr>
      </p:sp>
      <p:sp>
        <p:nvSpPr>
          <p:cNvPr id="7" name="">
            <a:extLst xmlns:a="http://schemas.openxmlformats.org/drawingml/2006/main">
              <a:ext uri="{FF2B5EF4-FFF2-40B4-BE49-F238E27FC236}">
                <a16:creationId xmlns:a16="http://schemas.microsoft.com/office/drawing/2014/main" id="{EA0892D3-EFDE-4EF9-92E6-517BAED01F59}"/>
              </a:ext>
            </a:extLst>
          </p:cNvPr>
          <p:cNvSpPr>
            <a:spLocks xmlns:a="http://schemas.openxmlformats.org/drawingml/2006/main" noGrp="1"/>
          </p:cNvSpPr>
          <p:nvPr/>
        </p:nvSpPr>
        <p:spPr>
          <a:xfrm xmlns:a="http://schemas.openxmlformats.org/drawingml/2006/main">
            <a:off x="6572250" y="1381125"/>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17324D"/>
                </a:solidFill>
                <a:latin typeface="Arial"/>
                <a:ea typeface="Arial"/>
                <a:cs typeface="Arial"/>
              </a:defRPr>
            </a:defPPr>
            <a:lvl1pPr>
              <a:defRPr sz="1725" b="1">
                <a:solidFill>
                  <a:srgbClr val="17324D"/>
                </a:solidFill>
                <a:latin typeface="Arial"/>
                <a:ea typeface="Arial"/>
                <a:cs typeface="Arial"/>
              </a:defRPr>
            </a:lvl1pPr>
            <a:lvl2pPr>
              <a:defRPr sz="1725" b="1">
                <a:solidFill>
                  <a:srgbClr val="17324D"/>
                </a:solidFill>
                <a:latin typeface="Arial"/>
                <a:ea typeface="Arial"/>
                <a:cs typeface="Arial"/>
              </a:defRPr>
            </a:lvl2pPr>
            <a:lvl3pPr>
              <a:defRPr sz="1725" b="1">
                <a:solidFill>
                  <a:srgbClr val="17324D"/>
                </a:solidFill>
                <a:latin typeface="Arial"/>
                <a:ea typeface="Arial"/>
                <a:cs typeface="Arial"/>
              </a:defRPr>
            </a:lvl3pPr>
            <a:lvl4pPr>
              <a:defRPr sz="1725" b="1">
                <a:solidFill>
                  <a:srgbClr val="17324D"/>
                </a:solidFill>
                <a:latin typeface="Arial"/>
                <a:ea typeface="Arial"/>
                <a:cs typeface="Arial"/>
              </a:defRPr>
            </a:lvl4pPr>
            <a:lvl5pPr>
              <a:defRPr sz="1725" b="1">
                <a:solidFill>
                  <a:srgbClr val="17324D"/>
                </a:solidFill>
                <a:latin typeface="Arial"/>
                <a:ea typeface="Arial"/>
                <a:cs typeface="Arial"/>
              </a:defRPr>
            </a:lvl5pPr>
            <a:lvl6pPr>
              <a:defRPr sz="1725" b="1">
                <a:solidFill>
                  <a:srgbClr val="17324D"/>
                </a:solidFill>
                <a:latin typeface="Arial"/>
                <a:ea typeface="Arial"/>
                <a:cs typeface="Arial"/>
              </a:defRPr>
            </a:lvl6pPr>
            <a:lvl7pPr>
              <a:defRPr sz="1725" b="1">
                <a:solidFill>
                  <a:srgbClr val="17324D"/>
                </a:solidFill>
                <a:latin typeface="Arial"/>
                <a:ea typeface="Arial"/>
                <a:cs typeface="Arial"/>
              </a:defRPr>
            </a:lvl7pPr>
            <a:lvl8pPr>
              <a:defRPr sz="1725" b="1">
                <a:solidFill>
                  <a:srgbClr val="17324D"/>
                </a:solidFill>
                <a:latin typeface="Arial"/>
                <a:ea typeface="Arial"/>
                <a:cs typeface="Arial"/>
              </a:defRPr>
            </a:lvl8pPr>
            <a:lvl9pPr>
              <a:defRPr sz="1725" b="1">
                <a:solidFill>
                  <a:srgbClr val="17324D"/>
                </a:solidFill>
                <a:latin typeface="Arial"/>
                <a:ea typeface="Arial"/>
                <a:cs typeface="Arial"/>
              </a:defRPr>
            </a:lvl9pPr>
          </a:lstStyle>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Next research milestone</a:t>
            </a:r>
          </a:p>
        </p:txBody>
      </p:sp>
      <p:sp>
        <p:nvSpPr>
          <p:cNvPr id="8" name="">
            <a:extLst xmlns:a="http://schemas.openxmlformats.org/drawingml/2006/main">
              <a:ext uri="{FF2B5EF4-FFF2-40B4-BE49-F238E27FC236}">
                <a16:creationId xmlns:a16="http://schemas.microsoft.com/office/drawing/2014/main" id="{0B04EEBB-4898-4A76-9C7E-EAFBA346022E}"/>
              </a:ext>
            </a:extLst>
          </p:cNvPr>
          <p:cNvSpPr>
            <a:spLocks xmlns:a="http://schemas.openxmlformats.org/drawingml/2006/main" noGrp="1"/>
          </p:cNvSpPr>
          <p:nvPr/>
        </p:nvSpPr>
        <p:spPr>
          <a:xfrm xmlns:a="http://schemas.openxmlformats.org/drawingml/2006/main">
            <a:off x="6572250" y="1838325"/>
            <a:ext cx="47625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a:solidFill>
                  <a:srgbClr val="263648"/>
                </a:solidFill>
                <a:latin typeface="Arial"/>
                <a:ea typeface="Arial"/>
                <a:cs typeface="Arial"/>
              </a:defRPr>
            </a:defPPr>
            <a:lvl1pPr>
              <a:defRPr sz="1425">
                <a:solidFill>
                  <a:srgbClr val="263648"/>
                </a:solidFill>
                <a:latin typeface="Arial"/>
                <a:ea typeface="Arial"/>
                <a:cs typeface="Arial"/>
              </a:defRPr>
            </a:lvl1pPr>
            <a:lvl2pPr>
              <a:defRPr sz="1425">
                <a:solidFill>
                  <a:srgbClr val="263648"/>
                </a:solidFill>
                <a:latin typeface="Arial"/>
                <a:ea typeface="Arial"/>
                <a:cs typeface="Arial"/>
              </a:defRPr>
            </a:lvl2pPr>
            <a:lvl3pPr>
              <a:defRPr sz="1425">
                <a:solidFill>
                  <a:srgbClr val="263648"/>
                </a:solidFill>
                <a:latin typeface="Arial"/>
                <a:ea typeface="Arial"/>
                <a:cs typeface="Arial"/>
              </a:defRPr>
            </a:lvl3pPr>
            <a:lvl4pPr>
              <a:defRPr sz="1425">
                <a:solidFill>
                  <a:srgbClr val="263648"/>
                </a:solidFill>
                <a:latin typeface="Arial"/>
                <a:ea typeface="Arial"/>
                <a:cs typeface="Arial"/>
              </a:defRPr>
            </a:lvl4pPr>
            <a:lvl5pPr>
              <a:defRPr sz="1425">
                <a:solidFill>
                  <a:srgbClr val="263648"/>
                </a:solidFill>
                <a:latin typeface="Arial"/>
                <a:ea typeface="Arial"/>
                <a:cs typeface="Arial"/>
              </a:defRPr>
            </a:lvl5pPr>
            <a:lvl6pPr>
              <a:defRPr sz="1425">
                <a:solidFill>
                  <a:srgbClr val="263648"/>
                </a:solidFill>
                <a:latin typeface="Arial"/>
                <a:ea typeface="Arial"/>
                <a:cs typeface="Arial"/>
              </a:defRPr>
            </a:lvl6pPr>
            <a:lvl7pPr>
              <a:defRPr sz="1425">
                <a:solidFill>
                  <a:srgbClr val="263648"/>
                </a:solidFill>
                <a:latin typeface="Arial"/>
                <a:ea typeface="Arial"/>
                <a:cs typeface="Arial"/>
              </a:defRPr>
            </a:lvl7pPr>
            <a:lvl8pPr>
              <a:defRPr sz="1425">
                <a:solidFill>
                  <a:srgbClr val="263648"/>
                </a:solidFill>
                <a:latin typeface="Arial"/>
                <a:ea typeface="Arial"/>
                <a:cs typeface="Arial"/>
              </a:defRPr>
            </a:lvl8pPr>
            <a:lvl9pPr>
              <a:defRPr sz="1425">
                <a:solidFill>
                  <a:srgbClr val="263648"/>
                </a:solidFill>
                <a:latin typeface="Arial"/>
                <a:ea typeface="Arial"/>
                <a:cs typeface="Arial"/>
              </a:defRPr>
            </a:lvl9pPr>
          </a:lstStyle>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Freeze merit, frequency, random, and pairwise ranker before a fresh workload.</a:t>
            </a:r>
          </a:p>
          <a:p xmlns:a="http://schemas.openxmlformats.org/drawingml/2006/main">
            <a:r>
              <a:t/>
            </a:r>
          </a:p>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Measure the same candidate budget and actual evaluation time.</a:t>
            </a:r>
          </a:p>
          <a:p xmlns:a="http://schemas.openxmlformats.org/drawingml/2006/main">
            <a:r>
              <a:t/>
            </a:r>
          </a:p>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Test calibrated uncertainty and active selection.</a:t>
            </a:r>
          </a:p>
          <a:p xmlns:a="http://schemas.openxmlformats.org/drawingml/2006/main">
            <a:r>
              <a:t/>
            </a:r>
          </a:p>
          <a:p xmlns:a="http://schemas.openxmlformats.org/drawingml/2006/main">
            <a:pPr>
              <a:defRPr sz="1425">
                <a:solidFill>
                  <a:srgbClr val="263648"/>
                </a:solidFill>
                <a:latin typeface="Arial"/>
                <a:ea typeface="Arial"/>
                <a:cs typeface="Arial"/>
              </a:defRPr>
            </a:pPr>
            <a:r>
              <a:rPr sz="1425">
                <a:solidFill>
                  <a:srgbClr val="263648"/>
                </a:solidFill>
                <a:latin typeface="Arial"/>
                <a:ea typeface="Arial"/>
                <a:cs typeface="Arial"/>
              </a:rPr>
              <a:t>Then select one to three instructions as a joint set, remeasure the modified program, and compare a live LLM agent with non-agent controls.</a:t>
            </a:r>
          </a:p>
        </p:txBody>
      </p:sp>
      <p:sp>
        <p:nvSpPr>
          <p:cNvPr id="9" name="">
            <a:extLst xmlns:a="http://schemas.openxmlformats.org/drawingml/2006/main">
              <a:ext uri="{FF2B5EF4-FFF2-40B4-BE49-F238E27FC236}">
                <a16:creationId xmlns:a16="http://schemas.microsoft.com/office/drawing/2014/main" id="{458205E7-115E-42A4-981A-FE09B884EBE7}"/>
              </a:ext>
            </a:extLst>
          </p:cNvPr>
          <p:cNvSpPr>
            <a:spLocks xmlns:a="http://schemas.openxmlformats.org/drawingml/2006/main" noGrp="1"/>
          </p:cNvSpPr>
          <p:nvPr/>
        </p:nvSpPr>
        <p:spPr>
          <a:xfrm xmlns:a="http://schemas.openxmlformats.org/drawingml/2006/main">
            <a:off x="685800" y="5562600"/>
            <a:ext cx="10744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878A8"/>
                </a:solidFill>
                <a:latin typeface="Arial"/>
                <a:ea typeface="Arial"/>
                <a:cs typeface="Arial"/>
              </a:defRPr>
            </a:defPPr>
            <a:lvl1pPr>
              <a:defRPr sz="1350" b="1">
                <a:solidFill>
                  <a:srgbClr val="2878A8"/>
                </a:solidFill>
                <a:latin typeface="Arial"/>
                <a:ea typeface="Arial"/>
                <a:cs typeface="Arial"/>
              </a:defRPr>
            </a:lvl1pPr>
            <a:lvl2pPr>
              <a:defRPr sz="1350" b="1">
                <a:solidFill>
                  <a:srgbClr val="2878A8"/>
                </a:solidFill>
                <a:latin typeface="Arial"/>
                <a:ea typeface="Arial"/>
                <a:cs typeface="Arial"/>
              </a:defRPr>
            </a:lvl2pPr>
            <a:lvl3pPr>
              <a:defRPr sz="1350" b="1">
                <a:solidFill>
                  <a:srgbClr val="2878A8"/>
                </a:solidFill>
                <a:latin typeface="Arial"/>
                <a:ea typeface="Arial"/>
                <a:cs typeface="Arial"/>
              </a:defRPr>
            </a:lvl3pPr>
            <a:lvl4pPr>
              <a:defRPr sz="1350" b="1">
                <a:solidFill>
                  <a:srgbClr val="2878A8"/>
                </a:solidFill>
                <a:latin typeface="Arial"/>
                <a:ea typeface="Arial"/>
                <a:cs typeface="Arial"/>
              </a:defRPr>
            </a:lvl4pPr>
            <a:lvl5pPr>
              <a:defRPr sz="1350" b="1">
                <a:solidFill>
                  <a:srgbClr val="2878A8"/>
                </a:solidFill>
                <a:latin typeface="Arial"/>
                <a:ea typeface="Arial"/>
                <a:cs typeface="Arial"/>
              </a:defRPr>
            </a:lvl5pPr>
            <a:lvl6pPr>
              <a:defRPr sz="1350" b="1">
                <a:solidFill>
                  <a:srgbClr val="2878A8"/>
                </a:solidFill>
                <a:latin typeface="Arial"/>
                <a:ea typeface="Arial"/>
                <a:cs typeface="Arial"/>
              </a:defRPr>
            </a:lvl6pPr>
            <a:lvl7pPr>
              <a:defRPr sz="1350" b="1">
                <a:solidFill>
                  <a:srgbClr val="2878A8"/>
                </a:solidFill>
                <a:latin typeface="Arial"/>
                <a:ea typeface="Arial"/>
                <a:cs typeface="Arial"/>
              </a:defRPr>
            </a:lvl7pPr>
            <a:lvl8pPr>
              <a:defRPr sz="1350" b="1">
                <a:solidFill>
                  <a:srgbClr val="2878A8"/>
                </a:solidFill>
                <a:latin typeface="Arial"/>
                <a:ea typeface="Arial"/>
                <a:cs typeface="Arial"/>
              </a:defRPr>
            </a:lvl8pPr>
            <a:lvl9pPr>
              <a:defRPr sz="1350" b="1">
                <a:solidFill>
                  <a:srgbClr val="2878A8"/>
                </a:solidFill>
                <a:latin typeface="Arial"/>
                <a:ea typeface="Arial"/>
                <a:cs typeface="Arial"/>
              </a:defRPr>
            </a:lvl9pPr>
          </a:lstStyle>
          <a:p xmlns:a="http://schemas.openxmlformats.org/drawingml/2006/main">
            <a:pPr>
              <a:defRPr sz="1350" b="1">
                <a:solidFill>
                  <a:srgbClr val="2878A8"/>
                </a:solidFill>
                <a:latin typeface="Arial"/>
                <a:ea typeface="Arial"/>
                <a:cs typeface="Arial"/>
              </a:defRPr>
            </a:pPr>
            <a:r>
              <a:rPr sz="1350" b="1">
                <a:solidFill>
                  <a:srgbClr val="2878A8"/>
                </a:solidFill>
                <a:latin typeface="Arial"/>
                <a:ea typeface="Arial"/>
                <a:cs typeface="Arial"/>
              </a:rPr>
              <a:t>The result may still favor a heuristic; a reproducible negative ML result is scientifically useful.</a:t>
            </a:r>
          </a:p>
        </p:txBody>
      </p:sp>
    </p:spTree>
    <p:extLst>
      <p:ext uri="{BB962C8B-B14F-4D97-AF65-F5344CB8AC3E}">
        <p14:creationId xmlns:p14="http://schemas.microsoft.com/office/powerpoint/2010/main" val="178079601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43A3FC-2C9F-48B1-BD98-A016914CE90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Team contribution matrix</a:t>
            </a:r>
          </a:p>
        </p:txBody>
      </p:sp>
      <p:sp>
        <p:nvSpPr>
          <p:cNvPr id="2" name="">
            <a:extLst xmlns:a="http://schemas.openxmlformats.org/drawingml/2006/main">
              <a:ext uri="{FF2B5EF4-FFF2-40B4-BE49-F238E27FC236}">
                <a16:creationId xmlns:a16="http://schemas.microsoft.com/office/drawing/2014/main" id="{DDF15DED-371A-4F69-8D3D-1D22ED389E2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0A9240F-842A-4DEE-B7D4-72625F6233ED}"/>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r>
              <a:rPr sz="900">
                <a:solidFill>
                  <a:srgbClr val="607286"/>
                </a:solidFill>
                <a:latin typeface="Arial"/>
              </a:rPr>
              <a:t>ISAForge  /  ECE 4803                                    11</a:t>
            </a:r>
          </a:p>
        </p:txBody>
      </p:sp>
      <p:sp>
        <p:nvSpPr>
          <p:cNvPr id="4" name="">
            <a:extLst xmlns:a="http://schemas.openxmlformats.org/drawingml/2006/main">
              <a:ext uri="{FF2B5EF4-FFF2-40B4-BE49-F238E27FC236}">
                <a16:creationId xmlns:a16="http://schemas.microsoft.com/office/drawing/2014/main" id="{CB450E0A-88CB-49BD-85F7-43466FEB7E39}"/>
              </a:ext>
            </a:extLst>
          </p:cNvPr>
          <p:cNvSpPr>
            <a:spLocks xmlns:a="http://schemas.openxmlformats.org/drawingml/2006/main" noGrp="1"/>
          </p:cNvSpPr>
          <p:nvPr/>
        </p:nvSpPr>
        <p:spPr>
          <a:xfrm xmlns:a="http://schemas.openxmlformats.org/drawingml/2006/main">
            <a:off x="685800" y="1257300"/>
            <a:ext cx="10744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a:solidFill>
                  <a:srgbClr val="607286"/>
                </a:solidFill>
                <a:latin typeface="Arial"/>
                <a:ea typeface="Arial"/>
                <a:cs typeface="Arial"/>
              </a:defRPr>
            </a:defPPr>
            <a:lvl1pPr>
              <a:defRPr sz="1200">
                <a:solidFill>
                  <a:srgbClr val="607286"/>
                </a:solidFill>
                <a:latin typeface="Arial"/>
                <a:ea typeface="Arial"/>
                <a:cs typeface="Arial"/>
              </a:defRPr>
            </a:lvl1pPr>
            <a:lvl2pPr>
              <a:defRPr sz="1200">
                <a:solidFill>
                  <a:srgbClr val="607286"/>
                </a:solidFill>
                <a:latin typeface="Arial"/>
                <a:ea typeface="Arial"/>
                <a:cs typeface="Arial"/>
              </a:defRPr>
            </a:lvl2pPr>
            <a:lvl3pPr>
              <a:defRPr sz="1200">
                <a:solidFill>
                  <a:srgbClr val="607286"/>
                </a:solidFill>
                <a:latin typeface="Arial"/>
                <a:ea typeface="Arial"/>
                <a:cs typeface="Arial"/>
              </a:defRPr>
            </a:lvl3pPr>
            <a:lvl4pPr>
              <a:defRPr sz="1200">
                <a:solidFill>
                  <a:srgbClr val="607286"/>
                </a:solidFill>
                <a:latin typeface="Arial"/>
                <a:ea typeface="Arial"/>
                <a:cs typeface="Arial"/>
              </a:defRPr>
            </a:lvl4pPr>
            <a:lvl5pPr>
              <a:defRPr sz="1200">
                <a:solidFill>
                  <a:srgbClr val="607286"/>
                </a:solidFill>
                <a:latin typeface="Arial"/>
                <a:ea typeface="Arial"/>
                <a:cs typeface="Arial"/>
              </a:defRPr>
            </a:lvl5pPr>
            <a:lvl6pPr>
              <a:defRPr sz="1200">
                <a:solidFill>
                  <a:srgbClr val="607286"/>
                </a:solidFill>
                <a:latin typeface="Arial"/>
                <a:ea typeface="Arial"/>
                <a:cs typeface="Arial"/>
              </a:defRPr>
            </a:lvl6pPr>
            <a:lvl7pPr>
              <a:defRPr sz="1200">
                <a:solidFill>
                  <a:srgbClr val="607286"/>
                </a:solidFill>
                <a:latin typeface="Arial"/>
                <a:ea typeface="Arial"/>
                <a:cs typeface="Arial"/>
              </a:defRPr>
            </a:lvl7pPr>
            <a:lvl8pPr>
              <a:defRPr sz="1200">
                <a:solidFill>
                  <a:srgbClr val="607286"/>
                </a:solidFill>
                <a:latin typeface="Arial"/>
                <a:ea typeface="Arial"/>
                <a:cs typeface="Arial"/>
              </a:defRPr>
            </a:lvl8pPr>
            <a:lvl9pPr>
              <a:defRPr sz="1200">
                <a:solidFill>
                  <a:srgbClr val="607286"/>
                </a:solidFill>
                <a:latin typeface="Arial"/>
                <a:ea typeface="Arial"/>
                <a:cs typeface="Arial"/>
              </a:defRPr>
            </a:lvl9pPr>
          </a:lstStyle>
          <a:p xmlns:a="http://schemas.openxmlformats.org/drawingml/2006/main">
            <a:pPr>
              <a:defRPr sz="1200">
                <a:solidFill>
                  <a:srgbClr val="607286"/>
                </a:solidFill>
                <a:latin typeface="Arial"/>
                <a:ea typeface="Arial"/>
                <a:cs typeface="Arial"/>
              </a:defRPr>
            </a:pPr>
            <a:r>
              <a:rPr sz="1200">
                <a:solidFill>
                  <a:srgbClr val="607286"/>
                </a:solidFill>
                <a:latin typeface="Arial"/>
                <a:ea typeface="Arial"/>
                <a:cs typeface="Arial"/>
              </a:rPr>
              <a:t>Names and exact shares are left for team confirmation. Git author aliases may refer to the same person.</a:t>
            </a:r>
          </a:p>
        </p:txBody>
      </p:sp>
      <p:graphicFrame>
        <p:nvGraphicFramePr>
          <p:cNvPr id="5" name="">
            <a:extLst xmlns:a="http://schemas.openxmlformats.org/drawingml/2006/main">
              <a:ext uri="{FF2B5EF4-FFF2-40B4-BE49-F238E27FC236}">
                <a16:creationId xmlns:a16="http://schemas.microsoft.com/office/drawing/2014/main" id="{ECE4D4AC-6159-436C-A291-6E7793EE15FE}"/>
              </a:ext>
            </a:extLst>
          </p:cNvPr>
          <p:cNvGraphicFramePr/>
          <p:nvPr/>
        </p:nvGraphicFramePr>
        <p:xfrm>
          <a:off xmlns:a="http://schemas.openxmlformats.org/drawingml/2006/main" x="666750" y="1847850"/>
          <a:ext xmlns:a="http://schemas.openxmlformats.org/drawingml/2006/main" cx="10858500" cy="3143250"/>
        </p:xfrm>
        <a:graphic xmlns:a="http://schemas.openxmlformats.org/drawingml/2006/main">
          <a:graphicData uri="http://schemas.openxmlformats.org/drawingml/2006/table">
            <a:tbl>
              <a:tblPr firstRow="0" bandRow="0"/>
              <a:tblGrid>
                <a:gridCol w="1809750"/>
                <a:gridCol w="3429000"/>
                <a:gridCol w="3333750"/>
                <a:gridCol w="2286000"/>
              </a:tblGrid>
              <a:tr h="785813">
                <a:tc>
                  <a:txBody>
                    <a:bodyPr/>
                    <a:lstStyle/>
                    <a:p>
                      <a:r>
                        <a:rPr sz="1200" b="1">
                          <a:solidFill>
                            <a:srgbClr val="FFFFFF"/>
                          </a:solidFill>
                          <a:latin typeface="Arial"/>
                          <a:ea typeface="Arial"/>
                          <a:cs typeface="Arial"/>
                        </a:rPr>
                        <a:t>Member name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200" b="1">
                          <a:solidFill>
                            <a:srgbClr val="FFFFFF"/>
                          </a:solidFill>
                          <a:latin typeface="Arial"/>
                          <a:ea typeface="Arial"/>
                          <a:cs typeface="Arial"/>
                        </a:rPr>
                        <a:t>Git evidence in recent history</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200" b="1">
                          <a:solidFill>
                            <a:srgbClr val="FFFFFF"/>
                          </a:solidFill>
                          <a:latin typeface="Arial"/>
                          <a:ea typeface="Arial"/>
                          <a:cs typeface="Arial"/>
                        </a:rPr>
                        <a:t>Proposal role (planned; verify actual work)</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200" b="1">
                          <a:solidFill>
                            <a:srgbClr val="FFFFFF"/>
                          </a:solidFill>
                          <a:latin typeface="Arial"/>
                          <a:ea typeface="Arial"/>
                          <a:cs typeface="Arial"/>
                        </a:rPr>
                        <a:t>Before upload</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785813">
                <a:tc>
                  <a:txBody>
                    <a:bodyPr/>
                    <a:lstStyle/>
                    <a:p>
                      <a:r>
                        <a:rPr sz="1125" b="0">
                          <a:solidFill>
                            <a:srgbClr val="263648"/>
                          </a:solidFill>
                          <a:latin typeface="Arial"/>
                          <a:ea typeface="Arial"/>
                          <a:cs typeface="Arial"/>
                        </a:rPr>
                        <a:t>Name to confirm</a:t>
                      </a:r>
                    </a:p>
                    <a:p>
                      <a:r>
                        <a:rPr sz="1125" b="0">
                          <a:solidFill>
                            <a:srgbClr val="263648"/>
                          </a:solidFill>
                          <a:latin typeface="Arial"/>
                          <a:ea typeface="Arial"/>
                          <a:cs typeface="Arial"/>
                        </a:rPr>
                        <a:t>Git: jason rivera</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125" b="0">
                          <a:solidFill>
                            <a:srgbClr val="263648"/>
                          </a:solidFill>
                          <a:latin typeface="Arial"/>
                          <a:ea typeface="Arial"/>
                          <a:cs typeface="Arial"/>
                        </a:rPr>
                        <a:t>Commits cover model work, active selection, bounded agent, evaluation, corpus, and reports.</a:t>
                      </a:r>
                    </a:p>
                  </a:txBody>
                  <a:tcPr marL="91440" marR="91440" marT="45720" marB="45720">
                    <a:lnR w="9525">
                      <a:solidFill>
                        <a:srgbClr val="D9E1E8"/>
                      </a:solidFill>
                      <a:prstDash val="solid"/>
                    </a:lnR>
                    <a:lnB w="9525">
                      <a:solidFill>
                        <a:srgbClr val="D9E1E8"/>
                      </a:solidFill>
                      <a:prstDash val="solid"/>
                    </a:lnB>
                    <a:solidFill>
                      <a:srgbClr val="FFFFFF"/>
                    </a:solidFill>
                  </a:tcPr>
                </a:tc>
                <a:tc>
                  <a:txBody>
                    <a:bodyPr/>
                    <a:lstStyle/>
                    <a:p>
                      <a:r>
                        <a:rPr sz="1125" b="0">
                          <a:solidFill>
                            <a:srgbClr val="263648"/>
                          </a:solidFill>
                          <a:latin typeface="Arial"/>
                          <a:ea typeface="Arial"/>
                          <a:cs typeface="Arial"/>
                        </a:rPr>
                        <a:t>Predictor, active learning, selection agent.</a:t>
                      </a:r>
                    </a:p>
                  </a:txBody>
                  <a:tcPr marL="91440" marR="91440" marT="45720" marB="45720">
                    <a:lnR w="9525">
                      <a:solidFill>
                        <a:srgbClr val="D9E1E8"/>
                      </a:solidFill>
                      <a:prstDash val="solid"/>
                    </a:lnR>
                    <a:lnB w="9525">
                      <a:solidFill>
                        <a:srgbClr val="D9E1E8"/>
                      </a:solidFill>
                      <a:prstDash val="solid"/>
                    </a:lnB>
                    <a:solidFill>
                      <a:srgbClr val="FFFFFF"/>
                    </a:solidFill>
                  </a:tcPr>
                </a:tc>
                <a:tc>
                  <a:txBody>
                    <a:bodyPr/>
                    <a:lstStyle/>
                    <a:p>
                      <a:r>
                        <a:rPr sz="1125" b="0">
                          <a:solidFill>
                            <a:srgbClr val="263648"/>
                          </a:solidFill>
                          <a:latin typeface="Arial"/>
                          <a:ea typeface="Arial"/>
                          <a:cs typeface="Arial"/>
                        </a:rPr>
                        <a:t>Confirm contribution share</a:t>
                      </a:r>
                    </a:p>
                  </a:txBody>
                  <a:tcPr marL="91440" marR="91440" marT="45720" marB="45720">
                    <a:lnR w="9525">
                      <a:solidFill>
                        <a:srgbClr val="D9E1E8"/>
                      </a:solidFill>
                      <a:prstDash val="solid"/>
                    </a:lnR>
                    <a:lnB w="9525">
                      <a:solidFill>
                        <a:srgbClr val="D9E1E8"/>
                      </a:solidFill>
                      <a:prstDash val="solid"/>
                    </a:lnB>
                    <a:solidFill>
                      <a:srgbClr val="FFFFFF"/>
                    </a:solidFill>
                  </a:tcPr>
                </a:tc>
              </a:tr>
              <a:tr h="785813">
                <a:tc>
                  <a:txBody>
                    <a:bodyPr/>
                    <a:lstStyle/>
                    <a:p>
                      <a:r>
                        <a:rPr sz="1125" b="0">
                          <a:solidFill>
                            <a:srgbClr val="263648"/>
                          </a:solidFill>
                          <a:latin typeface="Arial"/>
                          <a:ea typeface="Arial"/>
                          <a:cs typeface="Arial"/>
                        </a:rPr>
                        <a:t>Name to confirm</a:t>
                      </a:r>
                    </a:p>
                    <a:p>
                      <a:r>
                        <a:rPr sz="1125" b="0">
                          <a:solidFill>
                            <a:srgbClr val="263648"/>
                          </a:solidFill>
                          <a:latin typeface="Arial"/>
                          <a:ea typeface="Arial"/>
                          <a:cs typeface="Arial"/>
                        </a:rPr>
                        <a:t>Git: Matsuki, Yuuto Tyler / YM5563</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125" b="0">
                          <a:solidFill>
                            <a:srgbClr val="263648"/>
                          </a:solidFill>
                          <a:latin typeface="Arial"/>
                          <a:ea typeface="Arial"/>
                          <a:cs typeface="Arial"/>
                        </a:rPr>
                        <a:t>Commits cover selection engine, budget/oracle baselines, hardware probes, and project data notes.</a:t>
                      </a:r>
                    </a:p>
                  </a:txBody>
                  <a:tcPr marL="91440" marR="91440" marT="45720" marB="45720">
                    <a:lnR w="9525">
                      <a:solidFill>
                        <a:srgbClr val="D9E1E8"/>
                      </a:solidFill>
                      <a:prstDash val="solid"/>
                    </a:lnR>
                    <a:lnB w="9525">
                      <a:solidFill>
                        <a:srgbClr val="D9E1E8"/>
                      </a:solidFill>
                      <a:prstDash val="solid"/>
                    </a:lnB>
                    <a:solidFill>
                      <a:srgbClr val="F4F7FA"/>
                    </a:solidFill>
                  </a:tcPr>
                </a:tc>
                <a:tc>
                  <a:txBody>
                    <a:bodyPr/>
                    <a:lstStyle/>
                    <a:p>
                      <a:r>
                        <a:rPr sz="1125" b="0">
                          <a:solidFill>
                            <a:srgbClr val="263648"/>
                          </a:solidFill>
                          <a:latin typeface="Arial"/>
                          <a:ea typeface="Arial"/>
                          <a:cs typeface="Arial"/>
                        </a:rPr>
                        <a:t>Synthesis and hardware.</a:t>
                      </a:r>
                    </a:p>
                  </a:txBody>
                  <a:tcPr marL="91440" marR="91440" marT="45720" marB="45720">
                    <a:lnR w="9525">
                      <a:solidFill>
                        <a:srgbClr val="D9E1E8"/>
                      </a:solidFill>
                      <a:prstDash val="solid"/>
                    </a:lnR>
                    <a:lnB w="9525">
                      <a:solidFill>
                        <a:srgbClr val="D9E1E8"/>
                      </a:solidFill>
                      <a:prstDash val="solid"/>
                    </a:lnB>
                    <a:solidFill>
                      <a:srgbClr val="F4F7FA"/>
                    </a:solidFill>
                  </a:tcPr>
                </a:tc>
                <a:tc>
                  <a:txBody>
                    <a:bodyPr/>
                    <a:lstStyle/>
                    <a:p>
                      <a:r>
                        <a:rPr sz="1125" b="0">
                          <a:solidFill>
                            <a:srgbClr val="263648"/>
                          </a:solidFill>
                          <a:latin typeface="Arial"/>
                          <a:ea typeface="Arial"/>
                          <a:cs typeface="Arial"/>
                        </a:rPr>
                        <a:t>Confirm author mapping and share</a:t>
                      </a:r>
                    </a:p>
                  </a:txBody>
                  <a:tcPr marL="91440" marR="91440" marT="45720" marB="45720">
                    <a:lnR w="9525">
                      <a:solidFill>
                        <a:srgbClr val="D9E1E8"/>
                      </a:solidFill>
                      <a:prstDash val="solid"/>
                    </a:lnR>
                    <a:lnB w="9525">
                      <a:solidFill>
                        <a:srgbClr val="D9E1E8"/>
                      </a:solidFill>
                      <a:prstDash val="solid"/>
                    </a:lnB>
                    <a:solidFill>
                      <a:srgbClr val="F4F7FA"/>
                    </a:solidFill>
                  </a:tcPr>
                </a:tc>
              </a:tr>
              <a:tr h="785813">
                <a:tc>
                  <a:txBody>
                    <a:bodyPr/>
                    <a:lstStyle/>
                    <a:p>
                      <a:r>
                        <a:rPr sz="1125" b="0">
                          <a:solidFill>
                            <a:srgbClr val="263648"/>
                          </a:solidFill>
                          <a:latin typeface="Arial"/>
                          <a:ea typeface="Arial"/>
                          <a:cs typeface="Arial"/>
                        </a:rPr>
                        <a:t>Name to confirm</a:t>
                      </a:r>
                    </a:p>
                    <a:p>
                      <a:r>
                        <a:rPr sz="1125" b="0">
                          <a:solidFill>
                            <a:srgbClr val="263648"/>
                          </a:solidFill>
                          <a:latin typeface="Arial"/>
                          <a:ea typeface="Arial"/>
                          <a:cs typeface="Arial"/>
                        </a:rPr>
                        <a:t>No distinct Git author located</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125" b="0">
                          <a:solidFill>
                            <a:srgbClr val="263648"/>
                          </a:solidFill>
                          <a:latin typeface="Arial"/>
                          <a:ea typeface="Arial"/>
                          <a:cs typeface="Arial"/>
                        </a:rPr>
                        <a:t>Recent Git history does not isolate this work by a named author; absence of commits does not prove absence of contribution.</a:t>
                      </a:r>
                    </a:p>
                  </a:txBody>
                  <a:tcPr marL="91440" marR="91440" marT="45720" marB="45720">
                    <a:lnR w="9525">
                      <a:solidFill>
                        <a:srgbClr val="D9E1E8"/>
                      </a:solidFill>
                      <a:prstDash val="solid"/>
                    </a:lnR>
                    <a:lnB w="9525">
                      <a:solidFill>
                        <a:srgbClr val="D9E1E8"/>
                      </a:solidFill>
                      <a:prstDash val="solid"/>
                    </a:lnB>
                    <a:solidFill>
                      <a:srgbClr val="FFFFFF"/>
                    </a:solidFill>
                  </a:tcPr>
                </a:tc>
                <a:tc>
                  <a:txBody>
                    <a:bodyPr/>
                    <a:lstStyle/>
                    <a:p>
                      <a:r>
                        <a:rPr sz="1125" b="0">
                          <a:solidFill>
                            <a:srgbClr val="263648"/>
                          </a:solidFill>
                          <a:latin typeface="Arial"/>
                          <a:ea typeface="Arial"/>
                          <a:cs typeface="Arial"/>
                        </a:rPr>
                        <a:t>Toolchain, tracing, extraction, instruction integration, measurement tools.</a:t>
                      </a:r>
                    </a:p>
                  </a:txBody>
                  <a:tcPr marL="91440" marR="91440" marT="45720" marB="45720">
                    <a:lnR w="9525">
                      <a:solidFill>
                        <a:srgbClr val="D9E1E8"/>
                      </a:solidFill>
                      <a:prstDash val="solid"/>
                    </a:lnR>
                    <a:lnB w="9525">
                      <a:solidFill>
                        <a:srgbClr val="D9E1E8"/>
                      </a:solidFill>
                      <a:prstDash val="solid"/>
                    </a:lnB>
                    <a:solidFill>
                      <a:srgbClr val="FFFFFF"/>
                    </a:solidFill>
                  </a:tcPr>
                </a:tc>
                <a:tc>
                  <a:txBody>
                    <a:bodyPr/>
                    <a:lstStyle/>
                    <a:p>
                      <a:r>
                        <a:rPr sz="1125" b="0">
                          <a:solidFill>
                            <a:srgbClr val="263648"/>
                          </a:solidFill>
                          <a:latin typeface="Arial"/>
                          <a:ea typeface="Arial"/>
                          <a:cs typeface="Arial"/>
                        </a:rPr>
                        <a:t>Confirm name, work, and share</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91C5BB0-8058-4A8B-A9B0-52AA0FEDF7E4}"/>
              </a:ext>
            </a:extLst>
          </p:cNvPr>
          <p:cNvSpPr>
            <a:spLocks xmlns:a="http://schemas.openxmlformats.org/drawingml/2006/main" noGrp="1"/>
          </p:cNvSpPr>
          <p:nvPr/>
        </p:nvSpPr>
        <p:spPr>
          <a:xfrm xmlns:a="http://schemas.openxmlformats.org/drawingml/2006/main">
            <a:off x="685800" y="53149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a:solidFill>
                  <a:srgbClr val="263648"/>
                </a:solidFill>
                <a:latin typeface="Arial"/>
                <a:ea typeface="Arial"/>
                <a:cs typeface="Arial"/>
              </a:defRPr>
            </a:defPPr>
            <a:lvl1pPr>
              <a:defRPr sz="1275">
                <a:solidFill>
                  <a:srgbClr val="263648"/>
                </a:solidFill>
                <a:latin typeface="Arial"/>
                <a:ea typeface="Arial"/>
                <a:cs typeface="Arial"/>
              </a:defRPr>
            </a:lvl1pPr>
            <a:lvl2pPr>
              <a:defRPr sz="1275">
                <a:solidFill>
                  <a:srgbClr val="263648"/>
                </a:solidFill>
                <a:latin typeface="Arial"/>
                <a:ea typeface="Arial"/>
                <a:cs typeface="Arial"/>
              </a:defRPr>
            </a:lvl2pPr>
            <a:lvl3pPr>
              <a:defRPr sz="1275">
                <a:solidFill>
                  <a:srgbClr val="263648"/>
                </a:solidFill>
                <a:latin typeface="Arial"/>
                <a:ea typeface="Arial"/>
                <a:cs typeface="Arial"/>
              </a:defRPr>
            </a:lvl3pPr>
            <a:lvl4pPr>
              <a:defRPr sz="1275">
                <a:solidFill>
                  <a:srgbClr val="263648"/>
                </a:solidFill>
                <a:latin typeface="Arial"/>
                <a:ea typeface="Arial"/>
                <a:cs typeface="Arial"/>
              </a:defRPr>
            </a:lvl4pPr>
            <a:lvl5pPr>
              <a:defRPr sz="1275">
                <a:solidFill>
                  <a:srgbClr val="263648"/>
                </a:solidFill>
                <a:latin typeface="Arial"/>
                <a:ea typeface="Arial"/>
                <a:cs typeface="Arial"/>
              </a:defRPr>
            </a:lvl5pPr>
            <a:lvl6pPr>
              <a:defRPr sz="1275">
                <a:solidFill>
                  <a:srgbClr val="263648"/>
                </a:solidFill>
                <a:latin typeface="Arial"/>
                <a:ea typeface="Arial"/>
                <a:cs typeface="Arial"/>
              </a:defRPr>
            </a:lvl6pPr>
            <a:lvl7pPr>
              <a:defRPr sz="1275">
                <a:solidFill>
                  <a:srgbClr val="263648"/>
                </a:solidFill>
                <a:latin typeface="Arial"/>
                <a:ea typeface="Arial"/>
                <a:cs typeface="Arial"/>
              </a:defRPr>
            </a:lvl7pPr>
            <a:lvl8pPr>
              <a:defRPr sz="1275">
                <a:solidFill>
                  <a:srgbClr val="263648"/>
                </a:solidFill>
                <a:latin typeface="Arial"/>
                <a:ea typeface="Arial"/>
                <a:cs typeface="Arial"/>
              </a:defRPr>
            </a:lvl8pPr>
            <a:lvl9pPr>
              <a:defRPr sz="1275">
                <a:solidFill>
                  <a:srgbClr val="263648"/>
                </a:solidFill>
                <a:latin typeface="Arial"/>
                <a:ea typeface="Arial"/>
                <a:cs typeface="Arial"/>
              </a:defRPr>
            </a:lvl9pPr>
          </a:lstStyle>
          <a:p xmlns:a="http://schemas.openxmlformats.org/drawingml/2006/main">
            <a:pPr>
              <a:defRPr sz="1275">
                <a:solidFill>
                  <a:srgbClr val="263648"/>
                </a:solidFill>
                <a:latin typeface="Arial"/>
                <a:ea typeface="Arial"/>
                <a:cs typeface="Arial"/>
              </a:defRPr>
            </a:pPr>
            <a:r>
              <a:rPr sz="1275">
                <a:solidFill>
                  <a:srgbClr val="263648"/>
                </a:solidFill>
                <a:latin typeface="Arial"/>
                <a:ea typeface="Arial"/>
                <a:cs typeface="Arial"/>
              </a:rPr>
              <a:t>The original proposal lists Sooraj Tharumia, Jason Rivera-Hernandez, and Yuuto Matsuki. Please verify names, aliases, and actual contributions before Canvas submission.</a:t>
            </a:r>
          </a:p>
        </p:txBody>
      </p:sp>
    </p:spTree>
    <p:extLst>
      <p:ext uri="{BB962C8B-B14F-4D97-AF65-F5344CB8AC3E}">
        <p14:creationId xmlns:p14="http://schemas.microsoft.com/office/powerpoint/2010/main" val="9134484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2026-10-27T15:58:07.2090000Z</dcterms:created>
  <dcterms:modified xsi:type="dcterms:W3CDTF">2026-10-27T15:58:07.2090000Z</dcterms:modified>
</coreProperties>
</file>