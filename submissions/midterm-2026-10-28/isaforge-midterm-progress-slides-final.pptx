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c85072a4b07495e" /><Relationship Type="http://schemas.openxmlformats.org/officeDocument/2006/relationships/extended-properties" Target="/docProps/app.xml" Id="Rad08714a12964841" /><Relationship Type="http://schemas.openxmlformats.org/officeDocument/2006/relationships/officeDocument" Target="/ppt/presentation.xml" Id="Rcc771cb18297444a" /></Relationships>
</file>

<file path=ppt/presentation.xml><?xml version="1.0" encoding="utf-8"?>
<p:presentation xmlns:p="http://schemas.openxmlformats.org/presentationml/2006/main">
  <p:sldMasterIdLst>
    <p:sldMasterId xmlns:r="http://schemas.openxmlformats.org/officeDocument/2006/relationships" id="2147483648" r:id="R1f42b87f858541ab"/>
  </p:sldMasterIdLst>
  <p:notesMasterIdLst>
    <p:notesMasterId xmlns:r="http://schemas.openxmlformats.org/officeDocument/2006/relationships" r:id="Rf5bcd90d174a4340"/>
  </p:notesMasterIdLst>
  <p:sldIdLst>
    <p:sldId xmlns:r="http://schemas.openxmlformats.org/officeDocument/2006/relationships" id="256" r:id="R5f379f32487c46ce"/>
    <p:sldId xmlns:r="http://schemas.openxmlformats.org/officeDocument/2006/relationships" id="257" r:id="R23d6a3f531684974"/>
    <p:sldId xmlns:r="http://schemas.openxmlformats.org/officeDocument/2006/relationships" id="258" r:id="R19a7c18fd230477b"/>
    <p:sldId xmlns:r="http://schemas.openxmlformats.org/officeDocument/2006/relationships" id="259" r:id="R8f2e8abb1cfa4d1a"/>
    <p:sldId xmlns:r="http://schemas.openxmlformats.org/officeDocument/2006/relationships" id="260" r:id="R3dcfd28e9d014167"/>
    <p:sldId xmlns:r="http://schemas.openxmlformats.org/officeDocument/2006/relationships" id="261" r:id="R1fa0472dd8b94087"/>
    <p:sldId xmlns:r="http://schemas.openxmlformats.org/officeDocument/2006/relationships" id="262" r:id="R8b6454466e764d3b"/>
    <p:sldId xmlns:r="http://schemas.openxmlformats.org/officeDocument/2006/relationships" id="263" r:id="R06a3c9f606b5467f"/>
    <p:sldId xmlns:r="http://schemas.openxmlformats.org/officeDocument/2006/relationships" id="264" r:id="R61bb36557def4795"/>
    <p:sldId xmlns:r="http://schemas.openxmlformats.org/officeDocument/2006/relationships" id="265" r:id="Rcb4b4c1450d04142"/>
    <p:sldId xmlns:r="http://schemas.openxmlformats.org/officeDocument/2006/relationships" id="266" r:id="R44f6c748708a449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099ca097714219" /><Relationship Type="http://schemas.openxmlformats.org/officeDocument/2006/relationships/slideMaster" Target="/ppt/slideMasters/slideMaster1.xml" Id="R1f42b87f858541ab" /><Relationship Type="http://schemas.openxmlformats.org/officeDocument/2006/relationships/notesMaster" Target="/ppt/notesMasters/notesMaster1.xml" Id="Rf5bcd90d174a4340" /><Relationship Type="http://schemas.openxmlformats.org/officeDocument/2006/relationships/presProps" Target="/ppt/presProps.xml" Id="R5f0b99fc53cc4915" /><Relationship Type="http://schemas.openxmlformats.org/officeDocument/2006/relationships/tableStyles" Target="/ppt/tableStyles.xml" Id="R5f9f849598fc4f57" /><Relationship Type="http://schemas.openxmlformats.org/officeDocument/2006/relationships/slide" Target="/ppt/slides/slide1.xml" Id="R5f379f32487c46ce" /><Relationship Type="http://schemas.openxmlformats.org/officeDocument/2006/relationships/slide" Target="/ppt/slides/slide2.xml" Id="R23d6a3f531684974" /><Relationship Type="http://schemas.openxmlformats.org/officeDocument/2006/relationships/slide" Target="/ppt/slides/slide3.xml" Id="R19a7c18fd230477b" /><Relationship Type="http://schemas.openxmlformats.org/officeDocument/2006/relationships/slide" Target="/ppt/slides/slide4.xml" Id="R8f2e8abb1cfa4d1a" /><Relationship Type="http://schemas.openxmlformats.org/officeDocument/2006/relationships/slide" Target="/ppt/slides/slide5.xml" Id="R3dcfd28e9d014167" /><Relationship Type="http://schemas.openxmlformats.org/officeDocument/2006/relationships/slide" Target="/ppt/slides/slide6.xml" Id="R1fa0472dd8b94087" /><Relationship Type="http://schemas.openxmlformats.org/officeDocument/2006/relationships/slide" Target="/ppt/slides/slide7.xml" Id="R8b6454466e764d3b" /><Relationship Type="http://schemas.openxmlformats.org/officeDocument/2006/relationships/slide" Target="/ppt/slides/slide8.xml" Id="R06a3c9f606b5467f" /><Relationship Type="http://schemas.openxmlformats.org/officeDocument/2006/relationships/slide" Target="/ppt/slides/slide9.xml" Id="R61bb36557def4795" /><Relationship Type="http://schemas.openxmlformats.org/officeDocument/2006/relationships/slide" Target="/ppt/slides/slide10.xml" Id="Rcb4b4c1450d04142" /><Relationship Type="http://schemas.openxmlformats.org/officeDocument/2006/relationships/slide" Target="/ppt/slides/slide11.xml" Id="R44f6c748708a449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227334a3380471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5b009955a304c2a" /><Relationship Type="http://schemas.openxmlformats.org/officeDocument/2006/relationships/notesMaster" Target="/ppt/notesMasters/notesMaster1.xml" Id="Rcd7b041d04e64b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5e1b5275294676" /><Relationship Type="http://schemas.openxmlformats.org/officeDocument/2006/relationships/notesMaster" Target="/ppt/notesMasters/notesMaster1.xml" Id="R9069c2ce363247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852ddc91a614a1e" /><Relationship Type="http://schemas.openxmlformats.org/officeDocument/2006/relationships/notesMaster" Target="/ppt/notesMasters/notesMaster1.xml" Id="Rc31c4c37391d4817" /></Relationships>
</file>

<file path=ppt/notesSlides/_rels/notesSlide4.xml.rels>&#65279;<?xml version="1.0" encoding="utf-8"?><Relationships xmlns="http://schemas.openxmlformats.org/package/2006/relationships"><Relationship Type="http://schemas.openxmlformats.org/officeDocument/2006/relationships/slide" Target="/ppt/slides/slide4.xml" Id="R8d8b9cfca9354137" /><Relationship Type="http://schemas.openxmlformats.org/officeDocument/2006/relationships/notesMaster" Target="/ppt/notesMasters/notesMaster1.xml" Id="R602b4852db1e47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85c86bac154bde" /><Relationship Type="http://schemas.openxmlformats.org/officeDocument/2006/relationships/notesMaster" Target="/ppt/notesMasters/notesMaster1.xml" Id="Ra49d19bfa9c04f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39fd07225340a7" /><Relationship Type="http://schemas.openxmlformats.org/officeDocument/2006/relationships/notesMaster" Target="/ppt/notesMasters/notesMaster1.xml" Id="R78c1173cb9bc40ef"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dd0b3f45e7464d" /><Relationship Type="http://schemas.openxmlformats.org/officeDocument/2006/relationships/notesMaster" Target="/ppt/notesMasters/notesMaster1.xml" Id="Rc604551b58644e3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d1cf7db71104c47" /><Relationship Type="http://schemas.openxmlformats.org/officeDocument/2006/relationships/notesMaster" Target="/ppt/notesMasters/notesMaster1.xml" Id="R8f2ebbf42988422c" /></Relationships>
</file>

<file path=ppt/notesSlides/_rels/notesSlide9.xml.rels>&#65279;<?xml version="1.0" encoding="utf-8"?><Relationships xmlns="http://schemas.openxmlformats.org/package/2006/relationships"><Relationship Type="http://schemas.openxmlformats.org/officeDocument/2006/relationships/slide" Target="/ppt/slides/slide9.xml" Id="R6b163641f30b4770" /><Relationship Type="http://schemas.openxmlformats.org/officeDocument/2006/relationships/notesMaster" Target="/ppt/notesMasters/notesMaster1.xml" Id="R43420c71d2bf4db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106ad29d09d4d49" /><Relationship Type="http://schemas.openxmlformats.org/officeDocument/2006/relationships/notesMaster" Target="/ppt/notesMasters/notesMaster1.xml" Id="R8006e2e5650b44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edd1afc4684ecd" /><Relationship Type="http://schemas.openxmlformats.org/officeDocument/2006/relationships/notesMaster" Target="/ppt/notesMasters/notesMaster1.xml" Id="R5bd35f78eaaa49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hardware-cost study grew from 301 to 713 distinct synthesized formulas across benchmark collections. Those isolated LUT labels are separate from the current whole-program dataset: 122 candidate-program measurements across fourteen workload groups, plus four charged failures: two candidate correctness failures and two censored evaluations. The chart shows its three benchmark suites.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study: initial 301 formulas, later three collections 1,098 program/formula rows and 713 distinct formulas from 17 candidate-bearing programs; isolated LUT4 labels, not processor cycles. The frozen original-301 model evaluated 331 novel final formulas: structural linear 23.154 LUT4 MAE versus original XGBoost 87.595. Later all-713 deployment refit lacks a fresh independent test. See results/2026-10-13-prospective/README.md and docs/methodology-history.md.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 Why few new workload labels: the fixed pool gate rejects countnegative (4 legal of 12 required), stringsearch (2), fannkuch-redux (2), and strstr (0). These are pre-measurement rejections, not missing or silently dropped data. The four charged failures are separate: EDN memory-guard violation at address 5956; UD self-check output flag zero; UD storage below 2 GiB; G.723 nextpnr route seed 3 exceeded 180 seconds. The last two are censored and have no performance/hardware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principal ranking model is XGBoost. Thirty-five features describe candidate structure, operations and execution opportunity. Measured speedup orders candidate pairs within each workload. Eighty depth-two trees learn a ranking score. We test on entire held-out workloads and exclude related formula families. The score is neither predicted speedup nor confidence. The contribution plot shows that estimated instruction savings strongly influences ranking, but attribution is not causal. Other predictor tools expose hardware estimates and uncertainty. Feasibility still requires measurement: one bitcount candidate passed correctness but exceeded its area cap by one LUT.</a:t>
            </a:r>
          </a:p>
          <a:p xmlns:a="http://schemas.openxmlformats.org/drawingml/2006/main">
            <a:r>
              <a:t/>
            </a:r>
          </a:p>
          <a:p xmlns:a="http://schemas.openxmlformats.org/drawingml/2006/main">
            <a:r>
              <a:t>SOURCES / Q&amp;A (not part of timed script)</a:t>
            </a:r>
          </a:p>
          <a:p xmlns:a="http://schemas.openxmlformats.org/drawingml/2006/main">
            <a:r>
              <a:t>XGBRanker: rank:pairwise,80 estimators,max_depth2,learning_rate0.05; isaforge/ranking.py and features.py.35 premeasurement features. Pair relevance derived from measured within-context speedup order with ties. Workload/family holdouts prevent using target labels. The ranker is frozen during selection; no LLM fine-tuning. Other selectable predictors include regression and hardware GP; GP uncertainty is not calibrated confidence. Explanations: results/2026-10-27-ranker-explainability/explanation.json and global_feature_contributions.csv. Chart normalized absolute additive tree contributions macro-averaged over14 held-out workloads: savings47.1035%, locations11.1%, size7.2663%, frequency5.4586%, other29.0716%. Bitcount top rank add(in0,andi(in1,15)),1.008782x,+65LUT4 versus+64 cap. Current successful cycle labels match calibrated processor latency; ranking is not established superior to the heuristic.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The LLM chooses which candidate to measure; XGBoost and heuristics score it. The host owns charging, correctness, and area/timing checks. In one archived SHA-256 pilot, hybrid memory reached the feasible design in two measurements; no retrieval took three and made three rejected finalization requests. The strongest heuristic needed one. Selector v2 exposes the host-computed incumbent, rejects stale final choices, and returns measured facts separately from the model note. The router now permits one stronger-model recovery after malformed output or a host incumbent correction. This recovery path has software tests, but we have not run a live v2 comparison.</a:t>
            </a:r>
          </a:p>
          <a:p xmlns:a="http://schemas.openxmlformats.org/drawingml/2006/main">
            <a:r>
              <a:t/>
            </a:r>
          </a:p>
          <a:p xmlns:a="http://schemas.openxmlformats.org/drawingml/2006/main">
            <a:r>
              <a:t>SOURCES / Q&amp;A (not part of timed script)</a:t>
            </a:r>
          </a:p>
          <a:p xmlns:a="http://schemas.openxmlformats.org/drawingml/2006/main">
            <a:r>
              <a:t>isaforge/agent_memory.py: fixed query over unattempted formulas; local TF-IDF/LSA hybrid, RRF k60, top3 source-linked history; not pretrained embeddings or general RAG. Both arms can access full history; retrieval changes ordering/emphasis. Four structured tools; host owns attempt charging and final acceptance. The ranker is not retrained; configured hardware GP can update on paid successes. The live Luna pilot is one archived-data trial per arm with cooperative file restrictions; hybrid used two queries/four turns, no retrieval three queries/nine turns, three rejected finalizations, and both reached 1.0213847x, +50 LUT4, 65.99353 MHz. The heuristic reached the same design in one query. Selector v2 names the incumbent, enforces it at finalize, and returns canonical measured fields separately from unverified agent_summary. Recovery router v2 escalates once after a malformed structured action or an explicit host incumbent correction, under the shared model-call cap; it does not retry measurement or transport failures. 84 focused tests pass; zero live v2 LLM calls or native jobs. No causal memory or superiority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Our four tools separate language-model proposals from trusted execution. List exposes legal candidates; predict returns model estimates; measure charges an attempt before evaluation; finalize accepts only the host-computed best paid, verified feasible improvement; baseline is allowed only when none exists. Invalid and repeated measurement attempts still cost budget. Observability connects each decision to its tool call, retrieved record and outcome. We version the protocol and source hashes, preserve failed actions, and export verified traces to SQLite. The router records whether an escalation followed malformed output or a host incumbent correction. These are working local LLMOps components. The live pilot has thirteen recorded model turns, but token usage and model-only latency are unavailable. Production deployment and automated restart remain future work.</a:t>
            </a:r>
          </a:p>
          <a:p xmlns:a="http://schemas.openxmlformats.org/drawingml/2006/main">
            <a:r>
              <a:t/>
            </a:r>
          </a:p>
          <a:p xmlns:a="http://schemas.openxmlformats.org/drawingml/2006/main">
            <a:r>
              <a:t>SOURCES / Q&amp;A (not part of timed script)</a:t>
            </a:r>
          </a:p>
          <a:p xmlns:a="http://schemas.openxmlformats.org/drawingml/2006/main">
            <a:r>
              <a:t>Tools: isaforge/selection_provider.py strict remote function schemas; isaforge/codex_chat_selector.py interactive JSON bridge. Host: bounded_selector.py. Measure reserves charge before lookup while budget remains. Invalid/repeated attempts count; repeats do not redispatch evaluator. Finalize accepts only the current host-computed best paid feasible improvement; null is allowed only with no improvement. Host returns canonical measured fields; the model text is an unverified agent_summary. Finite model/tool calls, incumbent fallback, fresh output paths; no restart/resume guarantee. Observability: export_agent_observability.py verifies manifest/protocol/ledger hashes and creates releases, episodes, decisions, model_calls, retrievals and tools tables. Raw ledgers authoritative. Live13 turns,4 retrievals; 3 rejected finalizations. Interactive elapsed time includes orchestration; tokens SQLNULL. Remote provider records tokens only if returned. LLMOps here is local versioning, reproducible evaluation and inspection, not production cloud operations. Selector v2 and recovery routing pass 84 focused tests; recovery routing has no live v2 comparison. A 10-policy/30-endpoint SHA256 control replay matches archived trajectories exactly, with zero LLM/native jobs. Retrieval fits are not new speedup model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A previous three-source blind campaign favored both GP policies over merit at three attempts, but a later bitcount test favored the latency-cost heuristic. Those mixed results do not establish a general advantage. The Ascon pilot has no matched controls.</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Earlier frozen three-source campaign: GP 1.602185% mean cycle reduction vs merit 1.144539% at B3; only three sources and cooperative replay, no total-cost win established. Later bitcount B3 latency-cost heuristic found 0.174118% improvement while both GP policies returned baseline. docs/blind-source-campaign.md; results/2026-10-22-bitcount-report/results.md.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Owner resumed a 10-hour evidence-driven improvement block on October 28; no new workload labels were produced in this checkpoint.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dda98be973454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5559cea14a64be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b334dbb27fb44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d4728b1b206403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90f3c875d4e4ce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528b46d15794d8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8589F6-52DA-47E3-ACD3-5765685235F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CB0E82D-8439-43CA-9B0C-363C0DB8CA0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77B2C04-8620-482D-ABBC-6B7335C5743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419E7E-74D7-4B78-A55A-EA4F1406AB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A36EFC5-B10A-442B-8A67-4B51913C3D3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53B9917-0994-4328-BD0D-8F9A83DFDB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5BF310D-24D6-4167-A3CB-1F88A90633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DB66F8-FDAC-4DD5-A2FB-A9A1A94DB67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7D22EE-6814-4001-965E-B825BBBFB7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946CF09-8FD2-4793-93AD-0CF1045E145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02a4a1888234418" /><Relationship Type="http://schemas.openxmlformats.org/officeDocument/2006/relationships/slideLayout" Target="/ppt/slideLayouts/slideLayout1.xml" Id="Rd6fc4cee12d24a3c" /><Relationship Type="http://schemas.openxmlformats.org/officeDocument/2006/relationships/slideLayout" Target="/ppt/slideLayouts/slideLayout2.xml" Id="R67a4aec8172349d3" /><Relationship Type="http://schemas.openxmlformats.org/officeDocument/2006/relationships/slideLayout" Target="/ppt/slideLayouts/slideLayout3.xml" Id="Ra5b94f3ca74a4869" /><Relationship Type="http://schemas.openxmlformats.org/officeDocument/2006/relationships/slideLayout" Target="/ppt/slideLayouts/slideLayout4.xml" Id="R0e2572e4926d4022" /><Relationship Type="http://schemas.openxmlformats.org/officeDocument/2006/relationships/slideLayout" Target="/ppt/slideLayouts/slideLayout5.xml" Id="R177a607d607542a1" /><Relationship Type="http://schemas.openxmlformats.org/officeDocument/2006/relationships/slideLayout" Target="/ppt/slideLayouts/slideLayout6.xml" Id="R3abf34b303a147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fc4cee12d24a3c"/>
    <p:sldLayoutId xmlns:r="http://schemas.openxmlformats.org/officeDocument/2006/relationships" id="2147483650" r:id="R67a4aec8172349d3"/>
    <p:sldLayoutId xmlns:r="http://schemas.openxmlformats.org/officeDocument/2006/relationships" id="2147483651" r:id="Ra5b94f3ca74a4869"/>
    <p:sldLayoutId xmlns:r="http://schemas.openxmlformats.org/officeDocument/2006/relationships" id="2147483652" r:id="R0e2572e4926d4022"/>
    <p:sldLayoutId xmlns:r="http://schemas.openxmlformats.org/officeDocument/2006/relationships" id="2147483653" r:id="R177a607d607542a1"/>
    <p:sldLayoutId xmlns:r="http://schemas.openxmlformats.org/officeDocument/2006/relationships" id="2147483654" r:id="R3abf34b303a147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752f1518b8f48ec" /><Relationship Type="http://schemas.openxmlformats.org/officeDocument/2006/relationships/notesSlide" Target="/ppt/notesSlides/notesSlide1.xml" Id="R386eb5ad643f4d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f704630e4c74f24" /><Relationship Type="http://schemas.openxmlformats.org/officeDocument/2006/relationships/notesSlide" Target="/ppt/notesSlides/notesSlide2.xml" Id="R0ea80a492a7a44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ebd85e3e2f04c85" /><Relationship Type="http://schemas.openxmlformats.org/officeDocument/2006/relationships/notesSlide" Target="/ppt/notesSlides/notesSlide3.xml" Id="R0ac746feba7642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bc2e21e9d8d4e4b" /><Relationship Type="http://schemas.openxmlformats.org/officeDocument/2006/relationships/notesSlide" Target="/ppt/notesSlides/notesSlide4.xml" Id="Rac7e1b95a60a4d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fa6e357f7454521" /><Relationship Type="http://schemas.openxmlformats.org/officeDocument/2006/relationships/chart" Target="/ppt/slides/charts/chart1.xml" Id="R0e0eea19c5aa42bd" /><Relationship Type="http://schemas.openxmlformats.org/officeDocument/2006/relationships/notesSlide" Target="/ppt/notesSlides/notesSlide5.xml" Id="R92b6266bc993416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65a94c071374950" /><Relationship Type="http://schemas.openxmlformats.org/officeDocument/2006/relationships/chart" Target="/ppt/slides/charts/chart2.xml" Id="R93f9a48d7d99408d" /><Relationship Type="http://schemas.openxmlformats.org/officeDocument/2006/relationships/notesSlide" Target="/ppt/notesSlides/notesSlide6.xml" Id="R661b0eaf4a0944c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0616fb9cbbf48fb" /><Relationship Type="http://schemas.openxmlformats.org/officeDocument/2006/relationships/notesSlide" Target="/ppt/notesSlides/notesSlide7.xml" Id="R3a0a116d0971414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a02fea5053e4545" /><Relationship Type="http://schemas.openxmlformats.org/officeDocument/2006/relationships/notesSlide" Target="/ppt/notesSlides/notesSlide8.xml" Id="R1431da93bc914d9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5ddd4714b02444a" /><Relationship Type="http://schemas.openxmlformats.org/officeDocument/2006/relationships/notesSlide" Target="/ppt/notesSlides/notesSlide9.xml" Id="R8907aacc68e3487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985aef3a7fd4dd0" /><Relationship Type="http://schemas.openxmlformats.org/officeDocument/2006/relationships/chart" Target="/ppt/slides/charts/chart3.xml" Id="Rb906a647000944f8" /><Relationship Type="http://schemas.openxmlformats.org/officeDocument/2006/relationships/notesSlide" Target="/ppt/notesSlides/notesSlide10.xml" Id="R7a21a4c0e068430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2b07afeccc14b01" /><Relationship Type="http://schemas.openxmlformats.org/officeDocument/2006/relationships/notesSlide" Target="/ppt/notesSlides/notesSlide11.xml" Id="R213ec80794444e9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6F0F5B-E92B-40BD-9EE0-DF6574ED011D}"/>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287B79C4-1156-46D3-ACDD-280F8308B547}"/>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306E147-C3D0-4FC9-BD08-AF28F3803598}"/>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EFB1C53D-E0FA-4FB8-9072-734474BAB250}"/>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5B58B7E2-C818-491D-B935-6D62640434FB}"/>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D93E4776-929E-4531-9468-AFD924A077CC}"/>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1F430FDF-557D-4231-8FFA-4D06FE714F02}"/>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139517269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6C58C9C-8380-4AFC-9D5A-62838D165B2B}"/>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A9D20C09-79DA-43CD-9405-99937E3B9B84}"/>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BC5AA38-DA3C-49F3-9034-A924C31BA43E}"/>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B6ECC990-ACEB-4072-AB4B-A0049173027B}"/>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283B1131-C811-427F-AF11-A2279C22D604}"/>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83B8EDE1-FDEF-40DC-9832-93C1E4257C20}"/>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5A99FE21-5CC8-4E52-8277-74A849F7B051}"/>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2BD6ECE7-BEDB-45F5-B447-3CA009E083D1}"/>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8A5AEFDF-7D2D-42C6-922C-A31812E15636}"/>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916D3FBE-A7F8-45EA-9300-2AB986C4D76F}"/>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2970E9CC-E5BD-430B-B940-19E4D9EFAE2D}"/>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432863A8-E251-4068-A8D4-B4717227038E}"/>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80D94ACF-A948-4B40-BF15-795453EACEBA}"/>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5D10F5F1-D0CB-46AC-9FFD-A3B52B2B54D5}"/>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1AA7CCF2-735F-4BE2-B48F-0EDF710BF476}"/>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1897E889-81A7-4CFE-9A66-6F1FB1A0AB69}"/>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379B058D-7B69-465A-9660-E5DA5C16F3EA}"/>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5FFA2269-0385-413C-9225-E7EDBB2021C2}"/>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D5B25544-8F9A-433F-9C4C-447763912780}"/>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165938966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54EF060-D746-4E17-948E-D28412290C6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C72A29BE-C1F3-4DB6-A346-FD0ACCB8E260}"/>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9699B17-CC1F-4A69-8458-F56CBBBB49F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F23EAA62-F892-405F-85D1-000B15228119}"/>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DE0472A1-36EA-4694-BDCE-B36D167F894C}"/>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22D8AE22-405A-4F2C-AB36-A07A19BA264D}"/>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7723C03-3AA0-4D2E-A3CC-8BB1240993E0}"/>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D8B50F4B-7AAA-4F97-B208-B8AFF82650AF}"/>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94F83EC6-E0B7-4C84-8E8F-3C1BE5D9F22A}"/>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FF76CE3-55D2-4BF1-B905-512039104A10}"/>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2109DD22-85D6-49D6-A4D0-6637C8FC7EC4}"/>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16AC54E6-A600-40B7-9827-BD170F06F4B6}"/>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821C4B1-A367-42B6-96E0-19156F8E3C1B}"/>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36FD6AEA-AFE1-44AD-8C23-80A9CD88714C}"/>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27327773-3398-435C-82A9-8B0FCBB06EE5}"/>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B16A2ED-3CAE-4B7A-98C2-EBACEC30F949}"/>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AC65861A-DE6F-4E4E-8CEF-E3F8305E6F7C}"/>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55BF77B2-C2A8-497E-B5FD-B965B1C91A58}"/>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16760098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F1399B4-7050-426C-A7F7-BD9634550186}"/>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DCF4ABF7-468D-47DF-9F98-C5E2CEC487B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E53C35A5-ECDB-4897-B823-4B46DB020E0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1161FB71-1AFB-4CFB-8220-809E5705DCB1}"/>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1B923395-3D8B-4E83-8D12-573EACAA261F}"/>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73598B81-F51E-4452-847A-47BF7E8ADFA6}"/>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53E97DF3-4B82-4E08-91DF-435735E2E3C6}"/>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DBA765C-0974-4FE6-8872-D2D214B9114D}"/>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04A42597-254D-4C6C-8131-E60B5F3E78B4}"/>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8E03143B-268E-4A94-8F9E-E635BA9A0A20}"/>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BF2E5407-C03D-4697-9614-C6207E67BA32}"/>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23F2CBA-6193-44A0-929D-A5DA1129698F}"/>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13C52A5C-C2C0-4200-9E98-FEA69F298FE3}"/>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52F8D332-673E-4695-B35A-4F71C003D74F}"/>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EC9C3CBA-841D-4AE0-93A2-E88CB0F11E53}"/>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8D85234-63F2-4AD2-B535-E4AA07698157}"/>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1919F2B2-312C-41BD-94B2-82F651055FFE}"/>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0A5BE7DB-E752-48E3-8FFE-BDD08804905B}"/>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D617E99D-0512-4B4E-ABF2-95D5B87525A0}"/>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E2092F32-1CE3-4B68-8B7E-83D5D30CF303}"/>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F69352AB-61FB-453C-9965-9E0CD18AAB9C}"/>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C7B202AB-8B6B-4540-8DD4-CF980F72B345}"/>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16462915-9C17-49BC-A1D3-D37B5540CC9E}"/>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B947418D-4085-4EA2-8174-830FB450687C}"/>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288361E2-F4B4-4CF3-820B-33C402D253D7}"/>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107179097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DBF78C6-AADB-4293-80AC-6B7F7FE4F3A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79D56314-892E-4B9A-B071-84F4FAFE89B5}"/>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871D5269-6054-4D22-A740-CA3E24F6D3DA}"/>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73D9DC31-FA18-46E2-892E-1E997B9A4645}"/>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0e0eea19c5aa42bd"/>
          </a:graphicData>
        </a:graphic>
      </p:graphicFrame>
      <p:sp>
        <p:nvSpPr>
          <p:cNvPr id="5" name="">
            <a:extLst xmlns:a="http://schemas.openxmlformats.org/drawingml/2006/main">
              <a:ext uri="{FF2B5EF4-FFF2-40B4-BE49-F238E27FC236}">
                <a16:creationId xmlns:a16="http://schemas.microsoft.com/office/drawing/2014/main" id="{9A06988B-92E5-4EE3-AB41-79DB130BFBAD}"/>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B27A4666-3F82-4109-890E-2F9F40DD77D0}"/>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65FC1404-8138-425E-ADD1-57932C50EF43}"/>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60D978B9-644C-4EAC-857E-A010EF3E3750}"/>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713 formulas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C23B20BE-8C37-4EF7-AEDE-F5105018354E}"/>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2755380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6641F2C-DA58-4D56-85ED-EB72CC75DE4E}"/>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model: training, predictions and explanation</a:t>
            </a:r>
          </a:p>
        </p:txBody>
      </p:sp>
      <p:sp>
        <p:nvSpPr>
          <p:cNvPr id="2" name="">
            <a:extLst xmlns:a="http://schemas.openxmlformats.org/drawingml/2006/main">
              <a:ext uri="{FF2B5EF4-FFF2-40B4-BE49-F238E27FC236}">
                <a16:creationId xmlns:a16="http://schemas.microsoft.com/office/drawing/2014/main" id="{BEDD52E5-851B-48F9-8A98-AAFE402C4519}"/>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C8DB924A-CF1C-44FB-BFB6-5308953F361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C8506A4D-4025-4BCB-9355-D7BF7F105835}"/>
              </a:ext>
            </a:extLst>
          </p:cNvPr>
          <p:cNvSpPr>
            <a:spLocks xmlns:a="http://schemas.openxmlformats.org/drawingml/2006/main" noGrp="1"/>
          </p:cNvSpPr>
          <p:nvPr/>
        </p:nvSpPr>
        <p:spPr>
          <a:xfrm xmlns:a="http://schemas.openxmlformats.org/drawingml/2006/main">
            <a:off x="685800" y="1400175"/>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INPUTS</a:t>
            </a:r>
          </a:p>
        </p:txBody>
      </p:sp>
      <p:sp>
        <p:nvSpPr>
          <p:cNvPr id="5" name="">
            <a:extLst xmlns:a="http://schemas.openxmlformats.org/drawingml/2006/main">
              <a:ext uri="{FF2B5EF4-FFF2-40B4-BE49-F238E27FC236}">
                <a16:creationId xmlns:a16="http://schemas.microsoft.com/office/drawing/2014/main" id="{90D2AD85-F1E7-49BC-8299-E3B522ADFB5C}"/>
              </a:ext>
            </a:extLst>
          </p:cNvPr>
          <p:cNvSpPr>
            <a:spLocks xmlns:a="http://schemas.openxmlformats.org/drawingml/2006/main" noGrp="1"/>
          </p:cNvSpPr>
          <p:nvPr/>
        </p:nvSpPr>
        <p:spPr>
          <a:xfrm xmlns:a="http://schemas.openxmlformats.org/drawingml/2006/main">
            <a:off x="685800" y="179070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35 features available before evaluation</a:t>
            </a:r>
          </a:p>
        </p:txBody>
      </p:sp>
      <p:sp>
        <p:nvSpPr>
          <p:cNvPr id="6" name="">
            <a:extLst xmlns:a="http://schemas.openxmlformats.org/drawingml/2006/main">
              <a:ext uri="{FF2B5EF4-FFF2-40B4-BE49-F238E27FC236}">
                <a16:creationId xmlns:a16="http://schemas.microsoft.com/office/drawing/2014/main" id="{9B86C8AF-87B9-4B37-81B6-12257A964043}"/>
              </a:ext>
            </a:extLst>
          </p:cNvPr>
          <p:cNvSpPr>
            <a:spLocks xmlns:a="http://schemas.openxmlformats.org/drawingml/2006/main" noGrp="1"/>
          </p:cNvSpPr>
          <p:nvPr/>
        </p:nvSpPr>
        <p:spPr>
          <a:xfrm xmlns:a="http://schemas.openxmlformats.org/drawingml/2006/main">
            <a:off x="685800" y="2266950"/>
            <a:ext cx="523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Operation mix and expression structure</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Execution frequency and estimated savings</a:t>
            </a:r>
          </a:p>
        </p:txBody>
      </p:sp>
      <p:sp>
        <p:nvSpPr>
          <p:cNvPr id="7" name="">
            <a:extLst xmlns:a="http://schemas.openxmlformats.org/drawingml/2006/main">
              <a:ext uri="{FF2B5EF4-FFF2-40B4-BE49-F238E27FC236}">
                <a16:creationId xmlns:a16="http://schemas.microsoft.com/office/drawing/2014/main" id="{B0372A49-BEB2-4337-9149-1B9BE789873D}"/>
              </a:ext>
            </a:extLst>
          </p:cNvPr>
          <p:cNvSpPr>
            <a:spLocks xmlns:a="http://schemas.openxmlformats.org/drawingml/2006/main" noGrp="1"/>
          </p:cNvSpPr>
          <p:nvPr/>
        </p:nvSpPr>
        <p:spPr>
          <a:xfrm xmlns:a="http://schemas.openxmlformats.org/drawingml/2006/main">
            <a:off x="685800" y="3171825"/>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TRAINING</a:t>
            </a:r>
          </a:p>
        </p:txBody>
      </p:sp>
      <p:sp>
        <p:nvSpPr>
          <p:cNvPr id="8" name="">
            <a:extLst xmlns:a="http://schemas.openxmlformats.org/drawingml/2006/main">
              <a:ext uri="{FF2B5EF4-FFF2-40B4-BE49-F238E27FC236}">
                <a16:creationId xmlns:a16="http://schemas.microsoft.com/office/drawing/2014/main" id="{08C26409-D84D-443E-9A7C-31137FC4B2F2}"/>
              </a:ext>
            </a:extLst>
          </p:cNvPr>
          <p:cNvSpPr>
            <a:spLocks xmlns:a="http://schemas.openxmlformats.org/drawingml/2006/main" noGrp="1"/>
          </p:cNvSpPr>
          <p:nvPr/>
        </p:nvSpPr>
        <p:spPr>
          <a:xfrm xmlns:a="http://schemas.openxmlformats.org/drawingml/2006/main">
            <a:off x="685800" y="3590925"/>
            <a:ext cx="5238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Measured speedup(A) &gt; speedup(B)</a:t>
            </a:r>
          </a:p>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Learn score(A) &gt; score(B)</a:t>
            </a:r>
          </a:p>
        </p:txBody>
      </p:sp>
      <p:sp>
        <p:nvSpPr>
          <p:cNvPr id="9" name="">
            <a:extLst xmlns:a="http://schemas.openxmlformats.org/drawingml/2006/main">
              <a:ext uri="{FF2B5EF4-FFF2-40B4-BE49-F238E27FC236}">
                <a16:creationId xmlns:a16="http://schemas.microsoft.com/office/drawing/2014/main" id="{78A1D7F0-51F7-4864-8094-E648CEFC5BA6}"/>
              </a:ext>
            </a:extLst>
          </p:cNvPr>
          <p:cNvSpPr>
            <a:spLocks xmlns:a="http://schemas.openxmlformats.org/drawingml/2006/main" noGrp="1"/>
          </p:cNvSpPr>
          <p:nvPr/>
        </p:nvSpPr>
        <p:spPr>
          <a:xfrm xmlns:a="http://schemas.openxmlformats.org/drawingml/2006/main">
            <a:off x="685800" y="45529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80 boosted trees   /   depth 2   /   rate 0.05</a:t>
            </a:r>
          </a:p>
        </p:txBody>
      </p:sp>
      <p:sp>
        <p:nvSpPr>
          <p:cNvPr id="10" name="">
            <a:extLst xmlns:a="http://schemas.openxmlformats.org/drawingml/2006/main">
              <a:ext uri="{FF2B5EF4-FFF2-40B4-BE49-F238E27FC236}">
                <a16:creationId xmlns:a16="http://schemas.microsoft.com/office/drawing/2014/main" id="{0768500C-4FEC-4FA5-9ECD-A8D42671E71D}"/>
              </a:ext>
            </a:extLst>
          </p:cNvPr>
          <p:cNvSpPr>
            <a:spLocks xmlns:a="http://schemas.openxmlformats.org/drawingml/2006/main" noGrp="1"/>
          </p:cNvSpPr>
          <p:nvPr/>
        </p:nvSpPr>
        <p:spPr>
          <a:xfrm xmlns:a="http://schemas.openxmlformats.org/drawingml/2006/main">
            <a:off x="685800" y="5095875"/>
            <a:ext cx="523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8856B"/>
                </a:solidFill>
                <a:latin typeface="Arial"/>
                <a:ea typeface="Arial"/>
                <a:cs typeface="Arial"/>
              </a:defRPr>
            </a:defPPr>
            <a:lvl1pPr>
              <a:defRPr sz="1875" b="1">
                <a:solidFill>
                  <a:srgbClr val="18856B"/>
                </a:solidFill>
                <a:latin typeface="Arial"/>
                <a:ea typeface="Arial"/>
                <a:cs typeface="Arial"/>
              </a:defRPr>
            </a:lvl1pPr>
            <a:lvl2pPr>
              <a:defRPr sz="1875" b="1">
                <a:solidFill>
                  <a:srgbClr val="18856B"/>
                </a:solidFill>
                <a:latin typeface="Arial"/>
                <a:ea typeface="Arial"/>
                <a:cs typeface="Arial"/>
              </a:defRPr>
            </a:lvl2pPr>
            <a:lvl3pPr>
              <a:defRPr sz="1875" b="1">
                <a:solidFill>
                  <a:srgbClr val="18856B"/>
                </a:solidFill>
                <a:latin typeface="Arial"/>
                <a:ea typeface="Arial"/>
                <a:cs typeface="Arial"/>
              </a:defRPr>
            </a:lvl3pPr>
            <a:lvl4pPr>
              <a:defRPr sz="1875" b="1">
                <a:solidFill>
                  <a:srgbClr val="18856B"/>
                </a:solidFill>
                <a:latin typeface="Arial"/>
                <a:ea typeface="Arial"/>
                <a:cs typeface="Arial"/>
              </a:defRPr>
            </a:lvl4pPr>
            <a:lvl5pPr>
              <a:defRPr sz="1875" b="1">
                <a:solidFill>
                  <a:srgbClr val="18856B"/>
                </a:solidFill>
                <a:latin typeface="Arial"/>
                <a:ea typeface="Arial"/>
                <a:cs typeface="Arial"/>
              </a:defRPr>
            </a:lvl5pPr>
            <a:lvl6pPr>
              <a:defRPr sz="1875" b="1">
                <a:solidFill>
                  <a:srgbClr val="18856B"/>
                </a:solidFill>
                <a:latin typeface="Arial"/>
                <a:ea typeface="Arial"/>
                <a:cs typeface="Arial"/>
              </a:defRPr>
            </a:lvl6pPr>
            <a:lvl7pPr>
              <a:defRPr sz="1875" b="1">
                <a:solidFill>
                  <a:srgbClr val="18856B"/>
                </a:solidFill>
                <a:latin typeface="Arial"/>
                <a:ea typeface="Arial"/>
                <a:cs typeface="Arial"/>
              </a:defRPr>
            </a:lvl7pPr>
            <a:lvl8pPr>
              <a:defRPr sz="1875" b="1">
                <a:solidFill>
                  <a:srgbClr val="18856B"/>
                </a:solidFill>
                <a:latin typeface="Arial"/>
                <a:ea typeface="Arial"/>
                <a:cs typeface="Arial"/>
              </a:defRPr>
            </a:lvl8pPr>
            <a:lvl9pPr>
              <a:defRPr sz="1875" b="1">
                <a:solidFill>
                  <a:srgbClr val="18856B"/>
                </a:solidFill>
                <a:latin typeface="Arial"/>
                <a:ea typeface="Arial"/>
                <a:cs typeface="Arial"/>
              </a:defRPr>
            </a:lvl9pPr>
          </a:lstStyle>
          <a:p xmlns:a="http://schemas.openxmlformats.org/drawingml/2006/main">
            <a:pPr>
              <a:defRPr sz="1875" b="1">
                <a:solidFill>
                  <a:srgbClr val="18856B"/>
                </a:solidFill>
                <a:latin typeface="Arial"/>
                <a:ea typeface="Arial"/>
                <a:cs typeface="Arial"/>
              </a:defRPr>
            </a:pPr>
            <a:r>
              <a:rPr sz="1875" b="1">
                <a:solidFill>
                  <a:srgbClr val="18856B"/>
                </a:solidFill>
                <a:latin typeface="Arial"/>
                <a:ea typeface="Arial"/>
                <a:cs typeface="Arial"/>
              </a:rPr>
              <a:t>Entire workload + related families held out</a:t>
            </a:r>
          </a:p>
        </p:txBody>
      </p:sp>
      <p:sp>
        <p:nvSpPr>
          <p:cNvPr id="11" name="">
            <a:extLst xmlns:a="http://schemas.openxmlformats.org/drawingml/2006/main">
              <a:ext uri="{FF2B5EF4-FFF2-40B4-BE49-F238E27FC236}">
                <a16:creationId xmlns:a16="http://schemas.microsoft.com/office/drawing/2014/main" id="{3F9C9CBD-2206-41CA-B560-D9EEEE46EBF8}"/>
              </a:ext>
            </a:extLst>
          </p:cNvPr>
          <p:cNvSpPr>
            <a:spLocks xmlns:a="http://schemas.openxmlformats.org/drawingml/2006/main" noGrp="1"/>
          </p:cNvSpPr>
          <p:nvPr/>
        </p:nvSpPr>
        <p:spPr>
          <a:xfrm xmlns:a="http://schemas.openxmlformats.org/drawingml/2006/main">
            <a:off x="6334125" y="1400175"/>
            <a:ext cx="514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WHAT DRIVES THE RANKING?</a:t>
            </a:r>
          </a:p>
        </p:txBody>
      </p:sp>
      <p:graphicFrame>
        <p:nvGraphicFramePr>
          <p:cNvPr id="12" name="Chart">
            <a:extLst xmlns:a="http://schemas.openxmlformats.org/drawingml/2006/main">
              <a:ext uri="{FF2B5EF4-FFF2-40B4-BE49-F238E27FC236}">
                <a16:creationId xmlns:a16="http://schemas.microsoft.com/office/drawing/2014/main" id="{7528D38E-12DB-48A6-91BF-9782F2F8D45A}"/>
              </a:ext>
            </a:extLst>
          </p:cNvPr>
          <p:cNvGraphicFramePr/>
          <p:nvPr/>
        </p:nvGraphicFramePr>
        <p:xfrm>
          <a:off xmlns:a="http://schemas.openxmlformats.org/drawingml/2006/main" x="6096000" y="1857375"/>
          <a:ext xmlns:a="http://schemas.openxmlformats.org/drawingml/2006/main" cx="5524500" cy="3095625"/>
        </p:xfrm>
        <a:graphic xmlns:a="http://schemas.openxmlformats.org/drawingml/2006/main">
          <a:graphicData uri="http://schemas.openxmlformats.org/drawingml/2006/chart">
            <c:chart xmlns:r="http://schemas.openxmlformats.org/officeDocument/2006/relationships" xmlns:c="http://schemas.openxmlformats.org/drawingml/2006/chart" r:id="R93f9a48d7d99408d"/>
          </a:graphicData>
        </a:graphic>
      </p:graphicFrame>
      <p:sp>
        <p:nvSpPr>
          <p:cNvPr id="13" name="">
            <a:extLst xmlns:a="http://schemas.openxmlformats.org/drawingml/2006/main">
              <a:ext uri="{FF2B5EF4-FFF2-40B4-BE49-F238E27FC236}">
                <a16:creationId xmlns:a16="http://schemas.microsoft.com/office/drawing/2014/main" id="{9B4097BA-F704-45F2-9721-43ADBA10CAC0}"/>
              </a:ext>
            </a:extLst>
          </p:cNvPr>
          <p:cNvSpPr>
            <a:spLocks xmlns:a="http://schemas.openxmlformats.org/drawingml/2006/main" noGrp="1"/>
          </p:cNvSpPr>
          <p:nvPr/>
        </p:nvSpPr>
        <p:spPr>
          <a:xfrm xmlns:a="http://schemas.openxmlformats.org/drawingml/2006/main">
            <a:off x="6334125" y="5172075"/>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Rank score ≠ speedup ≠ confidence</a:t>
            </a:r>
          </a:p>
        </p:txBody>
      </p:sp>
      <p:sp>
        <p:nvSpPr>
          <p:cNvPr id="14" name="">
            <a:extLst xmlns:a="http://schemas.openxmlformats.org/drawingml/2006/main">
              <a:ext uri="{FF2B5EF4-FFF2-40B4-BE49-F238E27FC236}">
                <a16:creationId xmlns:a16="http://schemas.microsoft.com/office/drawing/2014/main" id="{567BF669-D758-41EF-AE8B-4EDE521F21ED}"/>
              </a:ext>
            </a:extLst>
          </p:cNvPr>
          <p:cNvSpPr>
            <a:spLocks xmlns:a="http://schemas.openxmlformats.org/drawingml/2006/main" noGrp="1"/>
          </p:cNvSpPr>
          <p:nvPr/>
        </p:nvSpPr>
        <p:spPr>
          <a:xfrm xmlns:a="http://schemas.openxmlformats.org/drawingml/2006/main">
            <a:off x="6334125" y="5657850"/>
            <a:ext cx="514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A high rank can still violate the area budget.</a:t>
            </a:r>
          </a:p>
        </p:txBody>
      </p:sp>
    </p:spTree>
    <p:extLst>
      <p:ext uri="{BB962C8B-B14F-4D97-AF65-F5344CB8AC3E}">
        <p14:creationId xmlns:p14="http://schemas.microsoft.com/office/powerpoint/2010/main" val="116793682"/>
      </p:ext>
    </p:extLst>
  </p:cSld>
</p:sld>
</file>

<file path=ppt/slides/slide7.xml><?xml version="1.0" encoding="utf-8"?>
<p:sld xmlns:p="http://schemas.openxmlformats.org/presentationml/2006/main">
  <p:cSld>
    <p:bg>
      <p:bgPr>
        <a:solidFill xmlns:a="http://schemas.openxmlformats.org/drawingml/2006/main">
          <a:srgbClr val="0B1426"/>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4419C14-1B66-4740-81D1-DE6BA991A9B5}"/>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agent: decisions, memory and feedback</a:t>
            </a:r>
          </a:p>
        </p:txBody>
      </p:sp>
      <p:sp>
        <p:nvSpPr>
          <p:cNvPr id="2" name="">
            <a:extLst xmlns:a="http://schemas.openxmlformats.org/drawingml/2006/main">
              <a:ext uri="{FF2B5EF4-FFF2-40B4-BE49-F238E27FC236}">
                <a16:creationId xmlns:a16="http://schemas.microsoft.com/office/drawing/2014/main" id="{D78C6858-3A2A-4505-9821-F795B1FC8A32}"/>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C198870-3413-44C9-B00F-99BAE539164D}"/>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sp>
        <p:nvSpPr>
          <p:cNvPr id="4" name="">
            <a:extLst xmlns:a="http://schemas.openxmlformats.org/drawingml/2006/main">
              <a:ext uri="{FF2B5EF4-FFF2-40B4-BE49-F238E27FC236}">
                <a16:creationId xmlns:a16="http://schemas.microsoft.com/office/drawing/2014/main" id="{9864E847-04DD-4D88-8416-B8E92BDDE563}"/>
              </a:ext>
            </a:extLst>
          </p:cNvPr>
          <p:cNvSpPr>
            <a:spLocks xmlns:a="http://schemas.openxmlformats.org/drawingml/2006/main" noGrp="1"/>
          </p:cNvSpPr>
          <p:nvPr/>
        </p:nvSpPr>
        <p:spPr>
          <a:xfrm xmlns:a="http://schemas.openxmlformats.org/drawingml/2006/main">
            <a:off x="523875" y="285750"/>
            <a:ext cx="11144250" cy="828675"/>
          </a:xfrm>
          <a:prstGeom xmlns:a="http://schemas.openxmlformats.org/drawingml/2006/main" prst="rect">
            <a:avLst/>
          </a:prstGeom>
          <a:solidFill xmlns:a="http://schemas.openxmlformats.org/drawingml/2006/main">
            <a:srgbClr val="0B142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EE55345-F208-47FD-BEEE-8708D1ABD207}"/>
              </a:ext>
            </a:extLst>
          </p:cNvPr>
          <p:cNvSpPr>
            <a:spLocks xmlns:a="http://schemas.openxmlformats.org/drawingml/2006/main" noGrp="1"/>
          </p:cNvSpPr>
          <p:nvPr/>
        </p:nvSpPr>
        <p:spPr>
          <a:xfrm xmlns:a="http://schemas.openxmlformats.org/drawingml/2006/main">
            <a:off x="647700" y="409575"/>
            <a:ext cx="108966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EAF1FC"/>
                </a:solidFill>
                <a:latin typeface="Arial"/>
                <a:ea typeface="Arial"/>
                <a:cs typeface="Arial"/>
              </a:defRPr>
            </a:defPPr>
            <a:lvl1pPr>
              <a:defRPr sz="3000" b="1">
                <a:solidFill>
                  <a:srgbClr val="EAF1FC"/>
                </a:solidFill>
                <a:latin typeface="Arial"/>
                <a:ea typeface="Arial"/>
                <a:cs typeface="Arial"/>
              </a:defRPr>
            </a:lvl1pPr>
            <a:lvl2pPr>
              <a:defRPr sz="3000" b="1">
                <a:solidFill>
                  <a:srgbClr val="EAF1FC"/>
                </a:solidFill>
                <a:latin typeface="Arial"/>
                <a:ea typeface="Arial"/>
                <a:cs typeface="Arial"/>
              </a:defRPr>
            </a:lvl2pPr>
            <a:lvl3pPr>
              <a:defRPr sz="3000" b="1">
                <a:solidFill>
                  <a:srgbClr val="EAF1FC"/>
                </a:solidFill>
                <a:latin typeface="Arial"/>
                <a:ea typeface="Arial"/>
                <a:cs typeface="Arial"/>
              </a:defRPr>
            </a:lvl3pPr>
            <a:lvl4pPr>
              <a:defRPr sz="3000" b="1">
                <a:solidFill>
                  <a:srgbClr val="EAF1FC"/>
                </a:solidFill>
                <a:latin typeface="Arial"/>
                <a:ea typeface="Arial"/>
                <a:cs typeface="Arial"/>
              </a:defRPr>
            </a:lvl4pPr>
            <a:lvl5pPr>
              <a:defRPr sz="3000" b="1">
                <a:solidFill>
                  <a:srgbClr val="EAF1FC"/>
                </a:solidFill>
                <a:latin typeface="Arial"/>
                <a:ea typeface="Arial"/>
                <a:cs typeface="Arial"/>
              </a:defRPr>
            </a:lvl5pPr>
            <a:lvl6pPr>
              <a:defRPr sz="3000" b="1">
                <a:solidFill>
                  <a:srgbClr val="EAF1FC"/>
                </a:solidFill>
                <a:latin typeface="Arial"/>
                <a:ea typeface="Arial"/>
                <a:cs typeface="Arial"/>
              </a:defRPr>
            </a:lvl6pPr>
            <a:lvl7pPr>
              <a:defRPr sz="3000" b="1">
                <a:solidFill>
                  <a:srgbClr val="EAF1FC"/>
                </a:solidFill>
                <a:latin typeface="Arial"/>
                <a:ea typeface="Arial"/>
                <a:cs typeface="Arial"/>
              </a:defRPr>
            </a:lvl7pPr>
            <a:lvl8pPr>
              <a:defRPr sz="3000" b="1">
                <a:solidFill>
                  <a:srgbClr val="EAF1FC"/>
                </a:solidFill>
                <a:latin typeface="Arial"/>
                <a:ea typeface="Arial"/>
                <a:cs typeface="Arial"/>
              </a:defRPr>
            </a:lvl8pPr>
            <a:lvl9pPr>
              <a:defRPr sz="3000" b="1">
                <a:solidFill>
                  <a:srgbClr val="EAF1FC"/>
                </a:solidFill>
                <a:latin typeface="Arial"/>
                <a:ea typeface="Arial"/>
                <a:cs typeface="Arial"/>
              </a:defRPr>
            </a:lvl9pPr>
          </a:lstStyle>
          <a:p xmlns:a="http://schemas.openxmlformats.org/drawingml/2006/main">
            <a:pPr>
              <a:defRPr sz="3000" b="1">
                <a:solidFill>
                  <a:srgbClr val="EAF1FC"/>
                </a:solidFill>
                <a:latin typeface="Arial"/>
                <a:ea typeface="Arial"/>
                <a:cs typeface="Arial"/>
              </a:defRPr>
            </a:pPr>
            <a:r>
              <a:rPr sz="3000" b="1">
                <a:solidFill>
                  <a:srgbClr val="EAF1FC"/>
                </a:solidFill>
                <a:latin typeface="Arial"/>
                <a:ea typeface="Arial"/>
                <a:cs typeface="Arial"/>
              </a:rPr>
              <a:t>The agent: decisions, memory and feedback</a:t>
            </a:r>
          </a:p>
        </p:txBody>
      </p:sp>
      <p:sp>
        <p:nvSpPr>
          <p:cNvPr id="6" name="">
            <a:extLst xmlns:a="http://schemas.openxmlformats.org/drawingml/2006/main">
              <a:ext uri="{FF2B5EF4-FFF2-40B4-BE49-F238E27FC236}">
                <a16:creationId xmlns:a16="http://schemas.microsoft.com/office/drawing/2014/main" id="{944715FC-3A12-494A-AFEF-47EC3290FDED}"/>
              </a:ext>
            </a:extLst>
          </p:cNvPr>
          <p:cNvSpPr>
            <a:spLocks xmlns:a="http://schemas.openxmlformats.org/drawingml/2006/main" noGrp="1"/>
          </p:cNvSpPr>
          <p:nvPr/>
        </p:nvSpPr>
        <p:spPr>
          <a:xfrm xmlns:a="http://schemas.openxmlformats.org/drawingml/2006/main">
            <a:off x="64770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7" name="">
            <a:extLst xmlns:a="http://schemas.openxmlformats.org/drawingml/2006/main">
              <a:ext uri="{FF2B5EF4-FFF2-40B4-BE49-F238E27FC236}">
                <a16:creationId xmlns:a16="http://schemas.microsoft.com/office/drawing/2014/main" id="{9BEB23C8-AD61-4E8C-8571-A30D74777A25}"/>
              </a:ext>
            </a:extLst>
          </p:cNvPr>
          <p:cNvSpPr>
            <a:spLocks xmlns:a="http://schemas.openxmlformats.org/drawingml/2006/main" noGrp="1"/>
          </p:cNvSpPr>
          <p:nvPr/>
        </p:nvSpPr>
        <p:spPr>
          <a:xfrm xmlns:a="http://schemas.openxmlformats.org/drawingml/2006/main">
            <a:off x="78105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OBSERVE</a:t>
            </a:r>
          </a:p>
        </p:txBody>
      </p:sp>
      <p:sp>
        <p:nvSpPr>
          <p:cNvPr id="8" name="">
            <a:extLst xmlns:a="http://schemas.openxmlformats.org/drawingml/2006/main">
              <a:ext uri="{FF2B5EF4-FFF2-40B4-BE49-F238E27FC236}">
                <a16:creationId xmlns:a16="http://schemas.microsoft.com/office/drawing/2014/main" id="{0767E786-5066-43BF-A177-B473CB01D855}"/>
              </a:ext>
            </a:extLst>
          </p:cNvPr>
          <p:cNvSpPr>
            <a:spLocks xmlns:a="http://schemas.openxmlformats.org/drawingml/2006/main" noGrp="1"/>
          </p:cNvSpPr>
          <p:nvPr/>
        </p:nvSpPr>
        <p:spPr>
          <a:xfrm xmlns:a="http://schemas.openxmlformats.org/drawingml/2006/main">
            <a:off x="78105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Candidates + budget</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Paid observations</a:t>
            </a:r>
          </a:p>
        </p:txBody>
      </p:sp>
      <p:sp>
        <p:nvSpPr>
          <p:cNvPr id="9" name="">
            <a:extLst xmlns:a="http://schemas.openxmlformats.org/drawingml/2006/main">
              <a:ext uri="{FF2B5EF4-FFF2-40B4-BE49-F238E27FC236}">
                <a16:creationId xmlns:a16="http://schemas.microsoft.com/office/drawing/2014/main" id="{51940C17-A9E9-4AFA-9302-94674BD00632}"/>
              </a:ext>
            </a:extLst>
          </p:cNvPr>
          <p:cNvSpPr>
            <a:spLocks xmlns:a="http://schemas.openxmlformats.org/drawingml/2006/main" noGrp="1"/>
          </p:cNvSpPr>
          <p:nvPr/>
        </p:nvSpPr>
        <p:spPr>
          <a:xfrm xmlns:a="http://schemas.openxmlformats.org/drawingml/2006/main">
            <a:off x="317182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83378CB-4E60-4466-8523-4574F8605984}"/>
              </a:ext>
            </a:extLst>
          </p:cNvPr>
          <p:cNvSpPr>
            <a:spLocks xmlns:a="http://schemas.openxmlformats.org/drawingml/2006/main" noGrp="1"/>
          </p:cNvSpPr>
          <p:nvPr/>
        </p:nvSpPr>
        <p:spPr>
          <a:xfrm xmlns:a="http://schemas.openxmlformats.org/drawingml/2006/main">
            <a:off x="344805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1" name="">
            <a:extLst xmlns:a="http://schemas.openxmlformats.org/drawingml/2006/main">
              <a:ext uri="{FF2B5EF4-FFF2-40B4-BE49-F238E27FC236}">
                <a16:creationId xmlns:a16="http://schemas.microsoft.com/office/drawing/2014/main" id="{99836581-D866-49A4-BE95-B6FB28546C7A}"/>
              </a:ext>
            </a:extLst>
          </p:cNvPr>
          <p:cNvSpPr>
            <a:spLocks xmlns:a="http://schemas.openxmlformats.org/drawingml/2006/main" noGrp="1"/>
          </p:cNvSpPr>
          <p:nvPr/>
        </p:nvSpPr>
        <p:spPr>
          <a:xfrm xmlns:a="http://schemas.openxmlformats.org/drawingml/2006/main">
            <a:off x="358140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CONSULT</a:t>
            </a:r>
          </a:p>
        </p:txBody>
      </p:sp>
      <p:sp>
        <p:nvSpPr>
          <p:cNvPr id="12" name="">
            <a:extLst xmlns:a="http://schemas.openxmlformats.org/drawingml/2006/main">
              <a:ext uri="{FF2B5EF4-FFF2-40B4-BE49-F238E27FC236}">
                <a16:creationId xmlns:a16="http://schemas.microsoft.com/office/drawing/2014/main" id="{88F5BF3C-5327-44B7-8CD1-1E2E5E0E0FCA}"/>
              </a:ext>
            </a:extLst>
          </p:cNvPr>
          <p:cNvSpPr>
            <a:spLocks xmlns:a="http://schemas.openxmlformats.org/drawingml/2006/main" noGrp="1"/>
          </p:cNvSpPr>
          <p:nvPr/>
        </p:nvSpPr>
        <p:spPr>
          <a:xfrm xmlns:a="http://schemas.openxmlformats.org/drawingml/2006/main">
            <a:off x="358140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Query predictors</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Retrieve history</a:t>
            </a:r>
          </a:p>
        </p:txBody>
      </p:sp>
      <p:sp>
        <p:nvSpPr>
          <p:cNvPr id="13" name="">
            <a:extLst xmlns:a="http://schemas.openxmlformats.org/drawingml/2006/main">
              <a:ext uri="{FF2B5EF4-FFF2-40B4-BE49-F238E27FC236}">
                <a16:creationId xmlns:a16="http://schemas.microsoft.com/office/drawing/2014/main" id="{3AAC5161-7211-450F-B8A5-1B115D714AC4}"/>
              </a:ext>
            </a:extLst>
          </p:cNvPr>
          <p:cNvSpPr>
            <a:spLocks xmlns:a="http://schemas.openxmlformats.org/drawingml/2006/main" noGrp="1"/>
          </p:cNvSpPr>
          <p:nvPr/>
        </p:nvSpPr>
        <p:spPr>
          <a:xfrm xmlns:a="http://schemas.openxmlformats.org/drawingml/2006/main">
            <a:off x="597217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FA8C1D-52D7-40E2-9BC4-C33457D54DE1}"/>
              </a:ext>
            </a:extLst>
          </p:cNvPr>
          <p:cNvSpPr>
            <a:spLocks xmlns:a="http://schemas.openxmlformats.org/drawingml/2006/main" noGrp="1"/>
          </p:cNvSpPr>
          <p:nvPr/>
        </p:nvSpPr>
        <p:spPr>
          <a:xfrm xmlns:a="http://schemas.openxmlformats.org/drawingml/2006/main">
            <a:off x="624840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5" name="">
            <a:extLst xmlns:a="http://schemas.openxmlformats.org/drawingml/2006/main">
              <a:ext uri="{FF2B5EF4-FFF2-40B4-BE49-F238E27FC236}">
                <a16:creationId xmlns:a16="http://schemas.microsoft.com/office/drawing/2014/main" id="{8D352C47-CD36-438A-95EF-E54375E324AD}"/>
              </a:ext>
            </a:extLst>
          </p:cNvPr>
          <p:cNvSpPr>
            <a:spLocks xmlns:a="http://schemas.openxmlformats.org/drawingml/2006/main" noGrp="1"/>
          </p:cNvSpPr>
          <p:nvPr/>
        </p:nvSpPr>
        <p:spPr>
          <a:xfrm xmlns:a="http://schemas.openxmlformats.org/drawingml/2006/main">
            <a:off x="638175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DECIDE</a:t>
            </a:r>
          </a:p>
        </p:txBody>
      </p:sp>
      <p:sp>
        <p:nvSpPr>
          <p:cNvPr id="16" name="">
            <a:extLst xmlns:a="http://schemas.openxmlformats.org/drawingml/2006/main">
              <a:ext uri="{FF2B5EF4-FFF2-40B4-BE49-F238E27FC236}">
                <a16:creationId xmlns:a16="http://schemas.microsoft.com/office/drawing/2014/main" id="{64C62916-F448-4CF2-8036-AEEAD45B76D7}"/>
              </a:ext>
            </a:extLst>
          </p:cNvPr>
          <p:cNvSpPr>
            <a:spLocks xmlns:a="http://schemas.openxmlformats.org/drawingml/2006/main" noGrp="1"/>
          </p:cNvSpPr>
          <p:nvPr/>
        </p:nvSpPr>
        <p:spPr>
          <a:xfrm xmlns:a="http://schemas.openxmlformats.org/drawingml/2006/main">
            <a:off x="638175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Primary model</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Optional recovery</a:t>
            </a:r>
          </a:p>
        </p:txBody>
      </p:sp>
      <p:sp>
        <p:nvSpPr>
          <p:cNvPr id="17" name="">
            <a:extLst xmlns:a="http://schemas.openxmlformats.org/drawingml/2006/main">
              <a:ext uri="{FF2B5EF4-FFF2-40B4-BE49-F238E27FC236}">
                <a16:creationId xmlns:a16="http://schemas.microsoft.com/office/drawing/2014/main" id="{94D36DA3-BB38-46E5-A952-4A5FBB6E464C}"/>
              </a:ext>
            </a:extLst>
          </p:cNvPr>
          <p:cNvSpPr>
            <a:spLocks xmlns:a="http://schemas.openxmlformats.org/drawingml/2006/main" noGrp="1"/>
          </p:cNvSpPr>
          <p:nvPr/>
        </p:nvSpPr>
        <p:spPr>
          <a:xfrm xmlns:a="http://schemas.openxmlformats.org/drawingml/2006/main">
            <a:off x="877252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B699BEC-3802-4F69-9282-D0074C472C85}"/>
              </a:ext>
            </a:extLst>
          </p:cNvPr>
          <p:cNvSpPr>
            <a:spLocks xmlns:a="http://schemas.openxmlformats.org/drawingml/2006/main" noGrp="1"/>
          </p:cNvSpPr>
          <p:nvPr/>
        </p:nvSpPr>
        <p:spPr>
          <a:xfrm xmlns:a="http://schemas.openxmlformats.org/drawingml/2006/main">
            <a:off x="904875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9" name="">
            <a:extLst xmlns:a="http://schemas.openxmlformats.org/drawingml/2006/main">
              <a:ext uri="{FF2B5EF4-FFF2-40B4-BE49-F238E27FC236}">
                <a16:creationId xmlns:a16="http://schemas.microsoft.com/office/drawing/2014/main" id="{697BE19D-2841-465C-8811-C31614C337B6}"/>
              </a:ext>
            </a:extLst>
          </p:cNvPr>
          <p:cNvSpPr>
            <a:spLocks xmlns:a="http://schemas.openxmlformats.org/drawingml/2006/main" noGrp="1"/>
          </p:cNvSpPr>
          <p:nvPr/>
        </p:nvSpPr>
        <p:spPr>
          <a:xfrm xmlns:a="http://schemas.openxmlformats.org/drawingml/2006/main">
            <a:off x="918210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ACT + VERIFY</a:t>
            </a:r>
          </a:p>
        </p:txBody>
      </p:sp>
      <p:sp>
        <p:nvSpPr>
          <p:cNvPr id="20" name="">
            <a:extLst xmlns:a="http://schemas.openxmlformats.org/drawingml/2006/main">
              <a:ext uri="{FF2B5EF4-FFF2-40B4-BE49-F238E27FC236}">
                <a16:creationId xmlns:a16="http://schemas.microsoft.com/office/drawing/2014/main" id="{AD64094E-1B0E-4576-88EF-8875765688AA}"/>
              </a:ext>
            </a:extLst>
          </p:cNvPr>
          <p:cNvSpPr>
            <a:spLocks xmlns:a="http://schemas.openxmlformats.org/drawingml/2006/main" noGrp="1"/>
          </p:cNvSpPr>
          <p:nvPr/>
        </p:nvSpPr>
        <p:spPr>
          <a:xfrm xmlns:a="http://schemas.openxmlformats.org/drawingml/2006/main">
            <a:off x="918210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Host checks action</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Record outcome</a:t>
            </a:r>
          </a:p>
        </p:txBody>
      </p:sp>
      <p:sp>
        <p:nvSpPr>
          <p:cNvPr id="21" name="">
            <a:extLst xmlns:a="http://schemas.openxmlformats.org/drawingml/2006/main">
              <a:ext uri="{FF2B5EF4-FFF2-40B4-BE49-F238E27FC236}">
                <a16:creationId xmlns:a16="http://schemas.microsoft.com/office/drawing/2014/main" id="{009C02A0-4CEF-424D-AE89-E620DA0C61C5}"/>
              </a:ext>
            </a:extLst>
          </p:cNvPr>
          <p:cNvSpPr>
            <a:spLocks xmlns:a="http://schemas.openxmlformats.org/drawingml/2006/main" noGrp="1"/>
          </p:cNvSpPr>
          <p:nvPr/>
        </p:nvSpPr>
        <p:spPr>
          <a:xfrm xmlns:a="http://schemas.openxmlformats.org/drawingml/2006/main">
            <a:off x="10382250" y="2933700"/>
            <a:ext cx="0" cy="285750"/>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22" name="">
            <a:extLst xmlns:a="http://schemas.openxmlformats.org/drawingml/2006/main">
              <a:ext uri="{FF2B5EF4-FFF2-40B4-BE49-F238E27FC236}">
                <a16:creationId xmlns:a16="http://schemas.microsoft.com/office/drawing/2014/main" id="{0A11E4AB-A018-4255-8203-12A1D12189B9}"/>
              </a:ext>
            </a:extLst>
          </p:cNvPr>
          <p:cNvSpPr>
            <a:spLocks xmlns:a="http://schemas.openxmlformats.org/drawingml/2006/main" noGrp="1"/>
          </p:cNvSpPr>
          <p:nvPr/>
        </p:nvSpPr>
        <p:spPr>
          <a:xfrm xmlns:a="http://schemas.openxmlformats.org/drawingml/2006/main">
            <a:off x="1714500" y="3219450"/>
            <a:ext cx="8667750" cy="0"/>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23" name="">
            <a:extLst xmlns:a="http://schemas.openxmlformats.org/drawingml/2006/main">
              <a:ext uri="{FF2B5EF4-FFF2-40B4-BE49-F238E27FC236}">
                <a16:creationId xmlns:a16="http://schemas.microsoft.com/office/drawing/2014/main" id="{61815E64-2036-4875-9637-F58E79A4A15B}"/>
              </a:ext>
            </a:extLst>
          </p:cNvPr>
          <p:cNvSpPr>
            <a:spLocks xmlns:a="http://schemas.openxmlformats.org/drawingml/2006/main" noGrp="1"/>
          </p:cNvSpPr>
          <p:nvPr/>
        </p:nvSpPr>
        <p:spPr>
          <a:xfrm xmlns:a="http://schemas.openxmlformats.org/drawingml/2006/main">
            <a:off x="1638300" y="2943225"/>
            <a:ext cx="152400" cy="276225"/>
          </a:xfrm>
          <a:prstGeom xmlns:a="http://schemas.openxmlformats.org/drawingml/2006/main" prst="upArrow">
            <a:avLst/>
          </a:prstGeom>
          <a:solidFill xmlns:a="http://schemas.openxmlformats.org/drawingml/2006/main">
            <a:srgbClr val="66D9AB"/>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574F836-D2A6-4DDF-95EB-FF2558B68B3B}"/>
              </a:ext>
            </a:extLst>
          </p:cNvPr>
          <p:cNvSpPr>
            <a:spLocks xmlns:a="http://schemas.openxmlformats.org/drawingml/2006/main" noGrp="1"/>
          </p:cNvSpPr>
          <p:nvPr/>
        </p:nvSpPr>
        <p:spPr>
          <a:xfrm xmlns:a="http://schemas.openxmlformats.org/drawingml/2006/main">
            <a:off x="1143000" y="3362325"/>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66D9AB"/>
                </a:solidFill>
                <a:latin typeface="Arial"/>
                <a:ea typeface="Arial"/>
                <a:cs typeface="Arial"/>
              </a:defRPr>
            </a:defPPr>
            <a:lvl1pPr>
              <a:defRPr sz="1875" b="1">
                <a:solidFill>
                  <a:srgbClr val="66D9AB"/>
                </a:solidFill>
                <a:latin typeface="Arial"/>
                <a:ea typeface="Arial"/>
                <a:cs typeface="Arial"/>
              </a:defRPr>
            </a:lvl1pPr>
            <a:lvl2pPr>
              <a:defRPr sz="1875" b="1">
                <a:solidFill>
                  <a:srgbClr val="66D9AB"/>
                </a:solidFill>
                <a:latin typeface="Arial"/>
                <a:ea typeface="Arial"/>
                <a:cs typeface="Arial"/>
              </a:defRPr>
            </a:lvl2pPr>
            <a:lvl3pPr>
              <a:defRPr sz="1875" b="1">
                <a:solidFill>
                  <a:srgbClr val="66D9AB"/>
                </a:solidFill>
                <a:latin typeface="Arial"/>
                <a:ea typeface="Arial"/>
                <a:cs typeface="Arial"/>
              </a:defRPr>
            </a:lvl3pPr>
            <a:lvl4pPr>
              <a:defRPr sz="1875" b="1">
                <a:solidFill>
                  <a:srgbClr val="66D9AB"/>
                </a:solidFill>
                <a:latin typeface="Arial"/>
                <a:ea typeface="Arial"/>
                <a:cs typeface="Arial"/>
              </a:defRPr>
            </a:lvl4pPr>
            <a:lvl5pPr>
              <a:defRPr sz="1875" b="1">
                <a:solidFill>
                  <a:srgbClr val="66D9AB"/>
                </a:solidFill>
                <a:latin typeface="Arial"/>
                <a:ea typeface="Arial"/>
                <a:cs typeface="Arial"/>
              </a:defRPr>
            </a:lvl5pPr>
            <a:lvl6pPr>
              <a:defRPr sz="1875" b="1">
                <a:solidFill>
                  <a:srgbClr val="66D9AB"/>
                </a:solidFill>
                <a:latin typeface="Arial"/>
                <a:ea typeface="Arial"/>
                <a:cs typeface="Arial"/>
              </a:defRPr>
            </a:lvl6pPr>
            <a:lvl7pPr>
              <a:defRPr sz="1875" b="1">
                <a:solidFill>
                  <a:srgbClr val="66D9AB"/>
                </a:solidFill>
                <a:latin typeface="Arial"/>
                <a:ea typeface="Arial"/>
                <a:cs typeface="Arial"/>
              </a:defRPr>
            </a:lvl7pPr>
            <a:lvl8pPr>
              <a:defRPr sz="1875" b="1">
                <a:solidFill>
                  <a:srgbClr val="66D9AB"/>
                </a:solidFill>
                <a:latin typeface="Arial"/>
                <a:ea typeface="Arial"/>
                <a:cs typeface="Arial"/>
              </a:defRPr>
            </a:lvl8pPr>
            <a:lvl9pPr>
              <a:defRPr sz="1875" b="1">
                <a:solidFill>
                  <a:srgbClr val="66D9AB"/>
                </a:solidFill>
                <a:latin typeface="Arial"/>
                <a:ea typeface="Arial"/>
                <a:cs typeface="Arial"/>
              </a:defRPr>
            </a:lvl9pPr>
          </a:lstStyle>
          <a:p xmlns:a="http://schemas.openxmlformats.org/drawingml/2006/main">
            <a:pPr>
              <a:defRPr sz="1875" b="1">
                <a:solidFill>
                  <a:srgbClr val="66D9AB"/>
                </a:solidFill>
                <a:latin typeface="Arial"/>
                <a:ea typeface="Arial"/>
                <a:cs typeface="Arial"/>
              </a:defRPr>
            </a:pPr>
            <a:r>
              <a:rPr sz="1875" b="1">
                <a:solidFill>
                  <a:srgbClr val="66D9AB"/>
                </a:solidFill>
                <a:latin typeface="Arial"/>
                <a:ea typeface="Arial"/>
                <a:cs typeface="Arial"/>
              </a:rPr>
              <a:t>Repeat within budget; one stronger-model recovery follows invalid output or host incumbent correction.</a:t>
            </a:r>
          </a:p>
        </p:txBody>
      </p:sp>
      <p:sp>
        <p:nvSpPr>
          <p:cNvPr id="25" name="">
            <a:extLst xmlns:a="http://schemas.openxmlformats.org/drawingml/2006/main">
              <a:ext uri="{FF2B5EF4-FFF2-40B4-BE49-F238E27FC236}">
                <a16:creationId xmlns:a16="http://schemas.microsoft.com/office/drawing/2014/main" id="{63EA2031-87D4-41F6-9B5B-490060A8AEA0}"/>
              </a:ext>
            </a:extLst>
          </p:cNvPr>
          <p:cNvSpPr>
            <a:spLocks xmlns:a="http://schemas.openxmlformats.org/drawingml/2006/main" noGrp="1"/>
          </p:cNvSpPr>
          <p:nvPr/>
        </p:nvSpPr>
        <p:spPr>
          <a:xfrm xmlns:a="http://schemas.openxmlformats.org/drawingml/2006/main">
            <a:off x="685800" y="4010025"/>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6D9AB"/>
                </a:solidFill>
                <a:latin typeface="Arial"/>
                <a:ea typeface="Arial"/>
                <a:cs typeface="Arial"/>
              </a:defRPr>
            </a:defPPr>
            <a:lvl1pPr>
              <a:defRPr sz="1725" b="1">
                <a:solidFill>
                  <a:srgbClr val="66D9AB"/>
                </a:solidFill>
                <a:latin typeface="Arial"/>
                <a:ea typeface="Arial"/>
                <a:cs typeface="Arial"/>
              </a:defRPr>
            </a:lvl1pPr>
            <a:lvl2pPr>
              <a:defRPr sz="1725" b="1">
                <a:solidFill>
                  <a:srgbClr val="66D9AB"/>
                </a:solidFill>
                <a:latin typeface="Arial"/>
                <a:ea typeface="Arial"/>
                <a:cs typeface="Arial"/>
              </a:defRPr>
            </a:lvl2pPr>
            <a:lvl3pPr>
              <a:defRPr sz="1725" b="1">
                <a:solidFill>
                  <a:srgbClr val="66D9AB"/>
                </a:solidFill>
                <a:latin typeface="Arial"/>
                <a:ea typeface="Arial"/>
                <a:cs typeface="Arial"/>
              </a:defRPr>
            </a:lvl3pPr>
            <a:lvl4pPr>
              <a:defRPr sz="1725" b="1">
                <a:solidFill>
                  <a:srgbClr val="66D9AB"/>
                </a:solidFill>
                <a:latin typeface="Arial"/>
                <a:ea typeface="Arial"/>
                <a:cs typeface="Arial"/>
              </a:defRPr>
            </a:lvl4pPr>
            <a:lvl5pPr>
              <a:defRPr sz="1725" b="1">
                <a:solidFill>
                  <a:srgbClr val="66D9AB"/>
                </a:solidFill>
                <a:latin typeface="Arial"/>
                <a:ea typeface="Arial"/>
                <a:cs typeface="Arial"/>
              </a:defRPr>
            </a:lvl5pPr>
            <a:lvl6pPr>
              <a:defRPr sz="1725" b="1">
                <a:solidFill>
                  <a:srgbClr val="66D9AB"/>
                </a:solidFill>
                <a:latin typeface="Arial"/>
                <a:ea typeface="Arial"/>
                <a:cs typeface="Arial"/>
              </a:defRPr>
            </a:lvl6pPr>
            <a:lvl7pPr>
              <a:defRPr sz="1725" b="1">
                <a:solidFill>
                  <a:srgbClr val="66D9AB"/>
                </a:solidFill>
                <a:latin typeface="Arial"/>
                <a:ea typeface="Arial"/>
                <a:cs typeface="Arial"/>
              </a:defRPr>
            </a:lvl7pPr>
            <a:lvl8pPr>
              <a:defRPr sz="1725" b="1">
                <a:solidFill>
                  <a:srgbClr val="66D9AB"/>
                </a:solidFill>
                <a:latin typeface="Arial"/>
                <a:ea typeface="Arial"/>
                <a:cs typeface="Arial"/>
              </a:defRPr>
            </a:lvl8pPr>
            <a:lvl9pPr>
              <a:defRPr sz="1725" b="1">
                <a:solidFill>
                  <a:srgbClr val="66D9AB"/>
                </a:solidFill>
                <a:latin typeface="Arial"/>
                <a:ea typeface="Arial"/>
                <a:cs typeface="Arial"/>
              </a:defRPr>
            </a:lvl9pPr>
          </a:lstStyle>
          <a:p xmlns:a="http://schemas.openxmlformats.org/drawingml/2006/main">
            <a:pPr>
              <a:defRPr sz="1725" b="1">
                <a:solidFill>
                  <a:srgbClr val="66D9AB"/>
                </a:solidFill>
                <a:latin typeface="Arial"/>
                <a:ea typeface="Arial"/>
                <a:cs typeface="Arial"/>
              </a:defRPr>
            </a:pPr>
            <a:r>
              <a:rPr sz="1725" b="1">
                <a:solidFill>
                  <a:srgbClr val="66D9AB"/>
                </a:solidFill>
                <a:latin typeface="Arial"/>
                <a:ea typeface="Arial"/>
                <a:cs typeface="Arial"/>
              </a:rPr>
              <a:t>LIVE GPT-6 LUNA PILOT</a:t>
            </a:r>
          </a:p>
        </p:txBody>
      </p:sp>
      <p:sp>
        <p:nvSpPr>
          <p:cNvPr id="26" name="">
            <a:extLst xmlns:a="http://schemas.openxmlformats.org/drawingml/2006/main">
              <a:ext uri="{FF2B5EF4-FFF2-40B4-BE49-F238E27FC236}">
                <a16:creationId xmlns:a16="http://schemas.microsoft.com/office/drawing/2014/main" id="{E267A624-2EEF-416E-AF90-E89228EA333A}"/>
              </a:ext>
            </a:extLst>
          </p:cNvPr>
          <p:cNvSpPr>
            <a:spLocks xmlns:a="http://schemas.openxmlformats.org/drawingml/2006/main" noGrp="1"/>
          </p:cNvSpPr>
          <p:nvPr/>
        </p:nvSpPr>
        <p:spPr>
          <a:xfrm xmlns:a="http://schemas.openxmlformats.org/drawingml/2006/main">
            <a:off x="685800" y="45243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Without retrieval</a:t>
            </a:r>
          </a:p>
        </p:txBody>
      </p:sp>
      <p:sp>
        <p:nvSpPr>
          <p:cNvPr id="27" name="">
            <a:extLst xmlns:a="http://schemas.openxmlformats.org/drawingml/2006/main">
              <a:ext uri="{FF2B5EF4-FFF2-40B4-BE49-F238E27FC236}">
                <a16:creationId xmlns:a16="http://schemas.microsoft.com/office/drawing/2014/main" id="{138360D5-1BAC-4140-9E0B-10B904DADE45}"/>
              </a:ext>
            </a:extLst>
          </p:cNvPr>
          <p:cNvSpPr>
            <a:spLocks xmlns:a="http://schemas.openxmlformats.org/drawingml/2006/main" noGrp="1"/>
          </p:cNvSpPr>
          <p:nvPr/>
        </p:nvSpPr>
        <p:spPr>
          <a:xfrm xmlns:a="http://schemas.openxmlformats.org/drawingml/2006/main">
            <a:off x="685800" y="4962525"/>
            <a:ext cx="333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3 queries   /   9 turns</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3 rejected finalizations</a:t>
            </a:r>
          </a:p>
        </p:txBody>
      </p:sp>
      <p:sp>
        <p:nvSpPr>
          <p:cNvPr id="28" name="">
            <a:extLst xmlns:a="http://schemas.openxmlformats.org/drawingml/2006/main">
              <a:ext uri="{FF2B5EF4-FFF2-40B4-BE49-F238E27FC236}">
                <a16:creationId xmlns:a16="http://schemas.microsoft.com/office/drawing/2014/main" id="{6A1282AB-DE58-4843-80AE-F186452A2D7E}"/>
              </a:ext>
            </a:extLst>
          </p:cNvPr>
          <p:cNvSpPr>
            <a:spLocks xmlns:a="http://schemas.openxmlformats.org/drawingml/2006/main" noGrp="1"/>
          </p:cNvSpPr>
          <p:nvPr/>
        </p:nvSpPr>
        <p:spPr>
          <a:xfrm xmlns:a="http://schemas.openxmlformats.org/drawingml/2006/main">
            <a:off x="4410075" y="4524375"/>
            <a:ext cx="3381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With hybrid memory</a:t>
            </a:r>
          </a:p>
        </p:txBody>
      </p:sp>
      <p:sp>
        <p:nvSpPr>
          <p:cNvPr id="29" name="">
            <a:extLst xmlns:a="http://schemas.openxmlformats.org/drawingml/2006/main">
              <a:ext uri="{FF2B5EF4-FFF2-40B4-BE49-F238E27FC236}">
                <a16:creationId xmlns:a16="http://schemas.microsoft.com/office/drawing/2014/main" id="{5F8FF7CC-6407-48C3-9380-637B54C27832}"/>
              </a:ext>
            </a:extLst>
          </p:cNvPr>
          <p:cNvSpPr>
            <a:spLocks xmlns:a="http://schemas.openxmlformats.org/drawingml/2006/main" noGrp="1"/>
          </p:cNvSpPr>
          <p:nvPr/>
        </p:nvSpPr>
        <p:spPr>
          <a:xfrm xmlns:a="http://schemas.openxmlformats.org/drawingml/2006/main">
            <a:off x="4410075" y="4962525"/>
            <a:ext cx="333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2 queries   /   4 turns</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0 rejected finalizations</a:t>
            </a:r>
          </a:p>
        </p:txBody>
      </p:sp>
      <p:sp>
        <p:nvSpPr>
          <p:cNvPr id="30" name="">
            <a:extLst xmlns:a="http://schemas.openxmlformats.org/drawingml/2006/main">
              <a:ext uri="{FF2B5EF4-FFF2-40B4-BE49-F238E27FC236}">
                <a16:creationId xmlns:a16="http://schemas.microsoft.com/office/drawing/2014/main" id="{97714D7A-F445-45B7-98ED-7F6482B2605B}"/>
              </a:ext>
            </a:extLst>
          </p:cNvPr>
          <p:cNvSpPr>
            <a:spLocks xmlns:a="http://schemas.openxmlformats.org/drawingml/2006/main" noGrp="1"/>
          </p:cNvSpPr>
          <p:nvPr/>
        </p:nvSpPr>
        <p:spPr>
          <a:xfrm xmlns:a="http://schemas.openxmlformats.org/drawingml/2006/main">
            <a:off x="8334375" y="45243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Same verified result</a:t>
            </a:r>
          </a:p>
        </p:txBody>
      </p:sp>
      <p:sp>
        <p:nvSpPr>
          <p:cNvPr id="31" name="">
            <a:extLst xmlns:a="http://schemas.openxmlformats.org/drawingml/2006/main">
              <a:ext uri="{FF2B5EF4-FFF2-40B4-BE49-F238E27FC236}">
                <a16:creationId xmlns:a16="http://schemas.microsoft.com/office/drawing/2014/main" id="{548FA199-337C-4A49-B18C-5EA106F1EE65}"/>
              </a:ext>
            </a:extLst>
          </p:cNvPr>
          <p:cNvSpPr>
            <a:spLocks xmlns:a="http://schemas.openxmlformats.org/drawingml/2006/main" noGrp="1"/>
          </p:cNvSpPr>
          <p:nvPr/>
        </p:nvSpPr>
        <p:spPr>
          <a:xfrm xmlns:a="http://schemas.openxmlformats.org/drawingml/2006/main">
            <a:off x="8334375" y="4962525"/>
            <a:ext cx="3238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1.0214× speedup</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+50 LUT4, 65.99 MHz</a:t>
            </a:r>
          </a:p>
        </p:txBody>
      </p:sp>
      <p:sp>
        <p:nvSpPr>
          <p:cNvPr id="32" name="">
            <a:extLst xmlns:a="http://schemas.openxmlformats.org/drawingml/2006/main">
              <a:ext uri="{FF2B5EF4-FFF2-40B4-BE49-F238E27FC236}">
                <a16:creationId xmlns:a16="http://schemas.microsoft.com/office/drawing/2014/main" id="{145265F5-02AB-44EB-AB19-3751CEFDA724}"/>
              </a:ext>
            </a:extLst>
          </p:cNvPr>
          <p:cNvSpPr>
            <a:spLocks xmlns:a="http://schemas.openxmlformats.org/drawingml/2006/main" noGrp="1"/>
          </p:cNvSpPr>
          <p:nvPr/>
        </p:nvSpPr>
        <p:spPr>
          <a:xfrm xmlns:a="http://schemas.openxmlformats.org/drawingml/2006/main">
            <a:off x="685800" y="60198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FFC978"/>
                </a:solidFill>
                <a:latin typeface="Arial"/>
                <a:ea typeface="Arial"/>
                <a:cs typeface="Arial"/>
              </a:defRPr>
            </a:defPPr>
            <a:lvl1pPr>
              <a:defRPr sz="1650" b="1">
                <a:solidFill>
                  <a:srgbClr val="FFC978"/>
                </a:solidFill>
                <a:latin typeface="Arial"/>
                <a:ea typeface="Arial"/>
                <a:cs typeface="Arial"/>
              </a:defRPr>
            </a:lvl1pPr>
            <a:lvl2pPr>
              <a:defRPr sz="1650" b="1">
                <a:solidFill>
                  <a:srgbClr val="FFC978"/>
                </a:solidFill>
                <a:latin typeface="Arial"/>
                <a:ea typeface="Arial"/>
                <a:cs typeface="Arial"/>
              </a:defRPr>
            </a:lvl2pPr>
            <a:lvl3pPr>
              <a:defRPr sz="1650" b="1">
                <a:solidFill>
                  <a:srgbClr val="FFC978"/>
                </a:solidFill>
                <a:latin typeface="Arial"/>
                <a:ea typeface="Arial"/>
                <a:cs typeface="Arial"/>
              </a:defRPr>
            </a:lvl3pPr>
            <a:lvl4pPr>
              <a:defRPr sz="1650" b="1">
                <a:solidFill>
                  <a:srgbClr val="FFC978"/>
                </a:solidFill>
                <a:latin typeface="Arial"/>
                <a:ea typeface="Arial"/>
                <a:cs typeface="Arial"/>
              </a:defRPr>
            </a:lvl4pPr>
            <a:lvl5pPr>
              <a:defRPr sz="1650" b="1">
                <a:solidFill>
                  <a:srgbClr val="FFC978"/>
                </a:solidFill>
                <a:latin typeface="Arial"/>
                <a:ea typeface="Arial"/>
                <a:cs typeface="Arial"/>
              </a:defRPr>
            </a:lvl5pPr>
            <a:lvl6pPr>
              <a:defRPr sz="1650" b="1">
                <a:solidFill>
                  <a:srgbClr val="FFC978"/>
                </a:solidFill>
                <a:latin typeface="Arial"/>
                <a:ea typeface="Arial"/>
                <a:cs typeface="Arial"/>
              </a:defRPr>
            </a:lvl6pPr>
            <a:lvl7pPr>
              <a:defRPr sz="1650" b="1">
                <a:solidFill>
                  <a:srgbClr val="FFC978"/>
                </a:solidFill>
                <a:latin typeface="Arial"/>
                <a:ea typeface="Arial"/>
                <a:cs typeface="Arial"/>
              </a:defRPr>
            </a:lvl7pPr>
            <a:lvl8pPr>
              <a:defRPr sz="1650" b="1">
                <a:solidFill>
                  <a:srgbClr val="FFC978"/>
                </a:solidFill>
                <a:latin typeface="Arial"/>
                <a:ea typeface="Arial"/>
                <a:cs typeface="Arial"/>
              </a:defRPr>
            </a:lvl8pPr>
            <a:lvl9pPr>
              <a:defRPr sz="1650" b="1">
                <a:solidFill>
                  <a:srgbClr val="FFC978"/>
                </a:solidFill>
                <a:latin typeface="Arial"/>
                <a:ea typeface="Arial"/>
                <a:cs typeface="Arial"/>
              </a:defRPr>
            </a:lvl9pPr>
          </a:lstStyle>
          <a:p xmlns:a="http://schemas.openxmlformats.org/drawingml/2006/main">
            <a:pPr>
              <a:defRPr sz="1650" b="1">
                <a:solidFill>
                  <a:srgbClr val="FFC978"/>
                </a:solidFill>
                <a:latin typeface="Arial"/>
                <a:ea typeface="Arial"/>
                <a:cs typeface="Arial"/>
              </a:defRPr>
            </a:pPr>
            <a:r>
              <a:rPr sz="1650" b="1">
                <a:solidFill>
                  <a:srgbClr val="FFC978"/>
                </a:solidFill>
                <a:latin typeface="Arial"/>
                <a:ea typeface="Arial"/>
                <a:cs typeface="Arial"/>
              </a:rPr>
              <a:t>One archived trial per arm. Recovery is offline-tested; no live v2 LLM run. Heuristic: 1 query.</a:t>
            </a:r>
          </a:p>
        </p:txBody>
      </p:sp>
    </p:spTree>
    <p:extLst>
      <p:ext uri="{BB962C8B-B14F-4D97-AF65-F5344CB8AC3E}">
        <p14:creationId xmlns:p14="http://schemas.microsoft.com/office/powerpoint/2010/main" val="19814559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6BC54E8-CBCA-4269-9D40-4F261113727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Tools and observability: execution we can audit</a:t>
            </a:r>
          </a:p>
        </p:txBody>
      </p:sp>
      <p:sp>
        <p:nvSpPr>
          <p:cNvPr id="2" name="">
            <a:extLst xmlns:a="http://schemas.openxmlformats.org/drawingml/2006/main">
              <a:ext uri="{FF2B5EF4-FFF2-40B4-BE49-F238E27FC236}">
                <a16:creationId xmlns:a16="http://schemas.microsoft.com/office/drawing/2014/main" id="{EAB0EF57-5B47-4D82-A2BD-5377A48D9E3D}"/>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4211114C-53BA-4A6F-820C-54B127924255}"/>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746727D1-FE6F-43C8-9B79-B4D95B716E80}"/>
              </a:ext>
            </a:extLst>
          </p:cNvPr>
          <p:cNvSpPr>
            <a:spLocks xmlns:a="http://schemas.openxmlformats.org/drawingml/2006/main" noGrp="1"/>
          </p:cNvSpPr>
          <p:nvPr/>
        </p:nvSpPr>
        <p:spPr>
          <a:xfrm xmlns:a="http://schemas.openxmlformats.org/drawingml/2006/main">
            <a:off x="685800" y="138112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FUNCTION CALLING</a:t>
            </a:r>
          </a:p>
        </p:txBody>
      </p:sp>
      <p:sp>
        <p:nvSpPr>
          <p:cNvPr id="5" name="">
            <a:extLst xmlns:a="http://schemas.openxmlformats.org/drawingml/2006/main">
              <a:ext uri="{FF2B5EF4-FFF2-40B4-BE49-F238E27FC236}">
                <a16:creationId xmlns:a16="http://schemas.microsoft.com/office/drawing/2014/main" id="{09B5D634-E4FB-4856-A2ED-DDBCEB911E91}"/>
              </a:ext>
            </a:extLst>
          </p:cNvPr>
          <p:cNvSpPr>
            <a:spLocks xmlns:a="http://schemas.openxmlformats.org/drawingml/2006/main" noGrp="1"/>
          </p:cNvSpPr>
          <p:nvPr/>
        </p:nvSpPr>
        <p:spPr>
          <a:xfrm xmlns:a="http://schemas.openxmlformats.org/drawingml/2006/main">
            <a:off x="685800" y="1914525"/>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list_candidates</a:t>
            </a:r>
          </a:p>
        </p:txBody>
      </p:sp>
      <p:sp>
        <p:nvSpPr>
          <p:cNvPr id="6" name="">
            <a:extLst xmlns:a="http://schemas.openxmlformats.org/drawingml/2006/main">
              <a:ext uri="{FF2B5EF4-FFF2-40B4-BE49-F238E27FC236}">
                <a16:creationId xmlns:a16="http://schemas.microsoft.com/office/drawing/2014/main" id="{8438DBB0-6AB4-47E4-8475-8C0EB004C39C}"/>
              </a:ext>
            </a:extLst>
          </p:cNvPr>
          <p:cNvSpPr>
            <a:spLocks xmlns:a="http://schemas.openxmlformats.org/drawingml/2006/main" noGrp="1"/>
          </p:cNvSpPr>
          <p:nvPr/>
        </p:nvSpPr>
        <p:spPr>
          <a:xfrm xmlns:a="http://schemas.openxmlformats.org/drawingml/2006/main">
            <a:off x="685800" y="2276475"/>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Legal patterns and public constraints</a:t>
            </a:r>
          </a:p>
        </p:txBody>
      </p:sp>
      <p:sp>
        <p:nvSpPr>
          <p:cNvPr id="7" name="">
            <a:extLst xmlns:a="http://schemas.openxmlformats.org/drawingml/2006/main">
              <a:ext uri="{FF2B5EF4-FFF2-40B4-BE49-F238E27FC236}">
                <a16:creationId xmlns:a16="http://schemas.microsoft.com/office/drawing/2014/main" id="{6F274C51-AD2B-4707-8452-BB6EEF803DC6}"/>
              </a:ext>
            </a:extLst>
          </p:cNvPr>
          <p:cNvSpPr>
            <a:spLocks xmlns:a="http://schemas.openxmlformats.org/drawingml/2006/main" noGrp="1"/>
          </p:cNvSpPr>
          <p:nvPr/>
        </p:nvSpPr>
        <p:spPr>
          <a:xfrm xmlns:a="http://schemas.openxmlformats.org/drawingml/2006/main">
            <a:off x="685800" y="2667000"/>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65439DAF-E269-4176-BFD0-8AD4948129B0}"/>
              </a:ext>
            </a:extLst>
          </p:cNvPr>
          <p:cNvSpPr>
            <a:spLocks xmlns:a="http://schemas.openxmlformats.org/drawingml/2006/main" noGrp="1"/>
          </p:cNvSpPr>
          <p:nvPr/>
        </p:nvSpPr>
        <p:spPr>
          <a:xfrm xmlns:a="http://schemas.openxmlformats.org/drawingml/2006/main">
            <a:off x="685800" y="2762250"/>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predict</a:t>
            </a:r>
          </a:p>
        </p:txBody>
      </p:sp>
      <p:sp>
        <p:nvSpPr>
          <p:cNvPr id="9" name="">
            <a:extLst xmlns:a="http://schemas.openxmlformats.org/drawingml/2006/main">
              <a:ext uri="{FF2B5EF4-FFF2-40B4-BE49-F238E27FC236}">
                <a16:creationId xmlns:a16="http://schemas.microsoft.com/office/drawing/2014/main" id="{B250B03E-8F67-488E-B240-182647BC20AC}"/>
              </a:ext>
            </a:extLst>
          </p:cNvPr>
          <p:cNvSpPr>
            <a:spLocks xmlns:a="http://schemas.openxmlformats.org/drawingml/2006/main" noGrp="1"/>
          </p:cNvSpPr>
          <p:nvPr/>
        </p:nvSpPr>
        <p:spPr>
          <a:xfrm xmlns:a="http://schemas.openxmlformats.org/drawingml/2006/main">
            <a:off x="685800" y="3124200"/>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Rankings and hardware estimates</a:t>
            </a:r>
          </a:p>
        </p:txBody>
      </p:sp>
      <p:sp>
        <p:nvSpPr>
          <p:cNvPr id="10" name="">
            <a:extLst xmlns:a="http://schemas.openxmlformats.org/drawingml/2006/main">
              <a:ext uri="{FF2B5EF4-FFF2-40B4-BE49-F238E27FC236}">
                <a16:creationId xmlns:a16="http://schemas.microsoft.com/office/drawing/2014/main" id="{3FA95402-2087-4581-8CBA-B43E85672738}"/>
              </a:ext>
            </a:extLst>
          </p:cNvPr>
          <p:cNvSpPr>
            <a:spLocks xmlns:a="http://schemas.openxmlformats.org/drawingml/2006/main" noGrp="1"/>
          </p:cNvSpPr>
          <p:nvPr/>
        </p:nvSpPr>
        <p:spPr>
          <a:xfrm xmlns:a="http://schemas.openxmlformats.org/drawingml/2006/main">
            <a:off x="685800" y="3514725"/>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1" name="">
            <a:extLst xmlns:a="http://schemas.openxmlformats.org/drawingml/2006/main">
              <a:ext uri="{FF2B5EF4-FFF2-40B4-BE49-F238E27FC236}">
                <a16:creationId xmlns:a16="http://schemas.microsoft.com/office/drawing/2014/main" id="{F42F1EBC-6F0D-4100-B14F-8661C2761C8D}"/>
              </a:ext>
            </a:extLst>
          </p:cNvPr>
          <p:cNvSpPr>
            <a:spLocks xmlns:a="http://schemas.openxmlformats.org/drawingml/2006/main" noGrp="1"/>
          </p:cNvSpPr>
          <p:nvPr/>
        </p:nvSpPr>
        <p:spPr>
          <a:xfrm xmlns:a="http://schemas.openxmlformats.org/drawingml/2006/main">
            <a:off x="685800" y="3609975"/>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measure</a:t>
            </a:r>
          </a:p>
        </p:txBody>
      </p:sp>
      <p:sp>
        <p:nvSpPr>
          <p:cNvPr id="12" name="">
            <a:extLst xmlns:a="http://schemas.openxmlformats.org/drawingml/2006/main">
              <a:ext uri="{FF2B5EF4-FFF2-40B4-BE49-F238E27FC236}">
                <a16:creationId xmlns:a16="http://schemas.microsoft.com/office/drawing/2014/main" id="{58FB8208-ED8E-4AE0-AA44-1D3EA2AF7E0B}"/>
              </a:ext>
            </a:extLst>
          </p:cNvPr>
          <p:cNvSpPr>
            <a:spLocks xmlns:a="http://schemas.openxmlformats.org/drawingml/2006/main" noGrp="1"/>
          </p:cNvSpPr>
          <p:nvPr/>
        </p:nvSpPr>
        <p:spPr>
          <a:xfrm xmlns:a="http://schemas.openxmlformats.org/drawingml/2006/main">
            <a:off x="685800" y="3971925"/>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Charge attempt, return measured result</a:t>
            </a:r>
          </a:p>
        </p:txBody>
      </p:sp>
      <p:sp>
        <p:nvSpPr>
          <p:cNvPr id="13" name="">
            <a:extLst xmlns:a="http://schemas.openxmlformats.org/drawingml/2006/main">
              <a:ext uri="{FF2B5EF4-FFF2-40B4-BE49-F238E27FC236}">
                <a16:creationId xmlns:a16="http://schemas.microsoft.com/office/drawing/2014/main" id="{A413EAF3-6E1C-4FC6-A7D2-F5D3C48855D0}"/>
              </a:ext>
            </a:extLst>
          </p:cNvPr>
          <p:cNvSpPr>
            <a:spLocks xmlns:a="http://schemas.openxmlformats.org/drawingml/2006/main" noGrp="1"/>
          </p:cNvSpPr>
          <p:nvPr/>
        </p:nvSpPr>
        <p:spPr>
          <a:xfrm xmlns:a="http://schemas.openxmlformats.org/drawingml/2006/main">
            <a:off x="685800" y="4362450"/>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4" name="">
            <a:extLst xmlns:a="http://schemas.openxmlformats.org/drawingml/2006/main">
              <a:ext uri="{FF2B5EF4-FFF2-40B4-BE49-F238E27FC236}">
                <a16:creationId xmlns:a16="http://schemas.microsoft.com/office/drawing/2014/main" id="{D8A2040C-01F2-4C45-B3B0-B61DCA429AC8}"/>
              </a:ext>
            </a:extLst>
          </p:cNvPr>
          <p:cNvSpPr>
            <a:spLocks xmlns:a="http://schemas.openxmlformats.org/drawingml/2006/main" noGrp="1"/>
          </p:cNvSpPr>
          <p:nvPr/>
        </p:nvSpPr>
        <p:spPr>
          <a:xfrm xmlns:a="http://schemas.openxmlformats.org/drawingml/2006/main">
            <a:off x="685800" y="4457700"/>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finalize</a:t>
            </a:r>
          </a:p>
        </p:txBody>
      </p:sp>
      <p:sp>
        <p:nvSpPr>
          <p:cNvPr id="15" name="">
            <a:extLst xmlns:a="http://schemas.openxmlformats.org/drawingml/2006/main">
              <a:ext uri="{FF2B5EF4-FFF2-40B4-BE49-F238E27FC236}">
                <a16:creationId xmlns:a16="http://schemas.microsoft.com/office/drawing/2014/main" id="{D0C6E401-2871-4AAE-A904-B39AA099E898}"/>
              </a:ext>
            </a:extLst>
          </p:cNvPr>
          <p:cNvSpPr>
            <a:spLocks xmlns:a="http://schemas.openxmlformats.org/drawingml/2006/main" noGrp="1"/>
          </p:cNvSpPr>
          <p:nvPr/>
        </p:nvSpPr>
        <p:spPr>
          <a:xfrm xmlns:a="http://schemas.openxmlformats.org/drawingml/2006/main">
            <a:off x="685800" y="4819650"/>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Finalize the host-computed best measured feasible result</a:t>
            </a:r>
          </a:p>
        </p:txBody>
      </p:sp>
      <p:sp>
        <p:nvSpPr>
          <p:cNvPr id="16" name="">
            <a:extLst xmlns:a="http://schemas.openxmlformats.org/drawingml/2006/main">
              <a:ext uri="{FF2B5EF4-FFF2-40B4-BE49-F238E27FC236}">
                <a16:creationId xmlns:a16="http://schemas.microsoft.com/office/drawing/2014/main" id="{64D6456F-5C62-4E34-9728-9043BC23106B}"/>
              </a:ext>
            </a:extLst>
          </p:cNvPr>
          <p:cNvSpPr>
            <a:spLocks xmlns:a="http://schemas.openxmlformats.org/drawingml/2006/main" noGrp="1"/>
          </p:cNvSpPr>
          <p:nvPr/>
        </p:nvSpPr>
        <p:spPr>
          <a:xfrm xmlns:a="http://schemas.openxmlformats.org/drawingml/2006/main">
            <a:off x="6115050" y="1438275"/>
            <a:ext cx="0" cy="3971925"/>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82A263B3-CBB0-4BF3-A43C-74637CF7DF5F}"/>
              </a:ext>
            </a:extLst>
          </p:cNvPr>
          <p:cNvSpPr>
            <a:spLocks xmlns:a="http://schemas.openxmlformats.org/drawingml/2006/main" noGrp="1"/>
          </p:cNvSpPr>
          <p:nvPr/>
        </p:nvSpPr>
        <p:spPr>
          <a:xfrm xmlns:a="http://schemas.openxmlformats.org/drawingml/2006/main">
            <a:off x="6477000" y="1381125"/>
            <a:ext cx="514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OBSERVABILITY + LLMOPS</a:t>
            </a:r>
          </a:p>
        </p:txBody>
      </p:sp>
      <p:sp>
        <p:nvSpPr>
          <p:cNvPr id="18" name="">
            <a:extLst xmlns:a="http://schemas.openxmlformats.org/drawingml/2006/main">
              <a:ext uri="{FF2B5EF4-FFF2-40B4-BE49-F238E27FC236}">
                <a16:creationId xmlns:a16="http://schemas.microsoft.com/office/drawing/2014/main" id="{1CB01E83-EDC6-4FD8-9C6C-C795B5489FB6}"/>
              </a:ext>
            </a:extLst>
          </p:cNvPr>
          <p:cNvSpPr>
            <a:spLocks xmlns:a="http://schemas.openxmlformats.org/drawingml/2006/main" noGrp="1"/>
          </p:cNvSpPr>
          <p:nvPr/>
        </p:nvSpPr>
        <p:spPr>
          <a:xfrm xmlns:a="http://schemas.openxmlformats.org/drawingml/2006/main">
            <a:off x="6477000" y="19145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Versioned experiment identity</a:t>
            </a:r>
          </a:p>
        </p:txBody>
      </p:sp>
      <p:sp>
        <p:nvSpPr>
          <p:cNvPr id="19" name="">
            <a:extLst xmlns:a="http://schemas.openxmlformats.org/drawingml/2006/main">
              <a:ext uri="{FF2B5EF4-FFF2-40B4-BE49-F238E27FC236}">
                <a16:creationId xmlns:a16="http://schemas.microsoft.com/office/drawing/2014/main" id="{65C449AA-37B3-4C1C-BF31-80E3EFB381F1}"/>
              </a:ext>
            </a:extLst>
          </p:cNvPr>
          <p:cNvSpPr>
            <a:spLocks xmlns:a="http://schemas.openxmlformats.org/drawingml/2006/main" noGrp="1"/>
          </p:cNvSpPr>
          <p:nvPr/>
        </p:nvSpPr>
        <p:spPr>
          <a:xfrm xmlns:a="http://schemas.openxmlformats.org/drawingml/2006/main">
            <a:off x="6477000" y="23241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Model / prompt / code / data hashes</a:t>
            </a:r>
          </a:p>
        </p:txBody>
      </p:sp>
      <p:sp>
        <p:nvSpPr>
          <p:cNvPr id="20" name="">
            <a:extLst xmlns:a="http://schemas.openxmlformats.org/drawingml/2006/main">
              <a:ext uri="{FF2B5EF4-FFF2-40B4-BE49-F238E27FC236}">
                <a16:creationId xmlns:a16="http://schemas.microsoft.com/office/drawing/2014/main" id="{2ECEF088-0814-4829-B404-5019D5A5164D}"/>
              </a:ext>
            </a:extLst>
          </p:cNvPr>
          <p:cNvSpPr>
            <a:spLocks xmlns:a="http://schemas.openxmlformats.org/drawingml/2006/main" noGrp="1"/>
          </p:cNvSpPr>
          <p:nvPr/>
        </p:nvSpPr>
        <p:spPr>
          <a:xfrm xmlns:a="http://schemas.openxmlformats.org/drawingml/2006/main">
            <a:off x="6477000" y="28670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Linked decision traces</a:t>
            </a:r>
          </a:p>
        </p:txBody>
      </p:sp>
      <p:sp>
        <p:nvSpPr>
          <p:cNvPr id="21" name="">
            <a:extLst xmlns:a="http://schemas.openxmlformats.org/drawingml/2006/main">
              <a:ext uri="{FF2B5EF4-FFF2-40B4-BE49-F238E27FC236}">
                <a16:creationId xmlns:a16="http://schemas.microsoft.com/office/drawing/2014/main" id="{1911A451-7F3A-48DA-819E-202FA091A91E}"/>
              </a:ext>
            </a:extLst>
          </p:cNvPr>
          <p:cNvSpPr>
            <a:spLocks xmlns:a="http://schemas.openxmlformats.org/drawingml/2006/main" noGrp="1"/>
          </p:cNvSpPr>
          <p:nvPr/>
        </p:nvSpPr>
        <p:spPr>
          <a:xfrm xmlns:a="http://schemas.openxmlformats.org/drawingml/2006/main">
            <a:off x="6477000" y="3286125"/>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Episode → decision → tool → outcome</a:t>
            </a:r>
          </a:p>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Retrieved IDs, errors and charged attempts</a:t>
            </a:r>
          </a:p>
        </p:txBody>
      </p:sp>
      <p:sp>
        <p:nvSpPr>
          <p:cNvPr id="22" name="">
            <a:extLst xmlns:a="http://schemas.openxmlformats.org/drawingml/2006/main">
              <a:ext uri="{FF2B5EF4-FFF2-40B4-BE49-F238E27FC236}">
                <a16:creationId xmlns:a16="http://schemas.microsoft.com/office/drawing/2014/main" id="{CC8500F8-E0BD-4872-AEEC-734BDAEC7763}"/>
              </a:ext>
            </a:extLst>
          </p:cNvPr>
          <p:cNvSpPr>
            <a:spLocks xmlns:a="http://schemas.openxmlformats.org/drawingml/2006/main" noGrp="1"/>
          </p:cNvSpPr>
          <p:nvPr/>
        </p:nvSpPr>
        <p:spPr>
          <a:xfrm xmlns:a="http://schemas.openxmlformats.org/drawingml/2006/main">
            <a:off x="6477000" y="42005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Verified SQLite export</a:t>
            </a:r>
          </a:p>
        </p:txBody>
      </p:sp>
      <p:sp>
        <p:nvSpPr>
          <p:cNvPr id="23" name="">
            <a:extLst xmlns:a="http://schemas.openxmlformats.org/drawingml/2006/main">
              <a:ext uri="{FF2B5EF4-FFF2-40B4-BE49-F238E27FC236}">
                <a16:creationId xmlns:a16="http://schemas.microsoft.com/office/drawing/2014/main" id="{7692E793-32BB-4C98-A249-75B0C5BE93AD}"/>
              </a:ext>
            </a:extLst>
          </p:cNvPr>
          <p:cNvSpPr>
            <a:spLocks xmlns:a="http://schemas.openxmlformats.org/drawingml/2006/main" noGrp="1"/>
          </p:cNvSpPr>
          <p:nvPr/>
        </p:nvSpPr>
        <p:spPr>
          <a:xfrm xmlns:a="http://schemas.openxmlformats.org/drawingml/2006/main">
            <a:off x="6477000" y="4619625"/>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Inspect decisions, tool calls and recovery trigger</a:t>
            </a:r>
          </a:p>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Preserve failures and missing metadata</a:t>
            </a:r>
          </a:p>
        </p:txBody>
      </p:sp>
      <p:sp>
        <p:nvSpPr>
          <p:cNvPr id="24" name="">
            <a:extLst xmlns:a="http://schemas.openxmlformats.org/drawingml/2006/main">
              <a:ext uri="{FF2B5EF4-FFF2-40B4-BE49-F238E27FC236}">
                <a16:creationId xmlns:a16="http://schemas.microsoft.com/office/drawing/2014/main" id="{1A5FB980-ABEC-4EF0-A015-DA8B54DEAB66}"/>
              </a:ext>
            </a:extLst>
          </p:cNvPr>
          <p:cNvSpPr>
            <a:spLocks xmlns:a="http://schemas.openxmlformats.org/drawingml/2006/main" noGrp="1"/>
          </p:cNvSpPr>
          <p:nvPr/>
        </p:nvSpPr>
        <p:spPr>
          <a:xfrm xmlns:a="http://schemas.openxmlformats.org/drawingml/2006/main">
            <a:off x="685800" y="561975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8856B"/>
                </a:solidFill>
                <a:latin typeface="Arial"/>
                <a:ea typeface="Arial"/>
                <a:cs typeface="Arial"/>
              </a:defRPr>
            </a:defPPr>
            <a:lvl1pPr>
              <a:defRPr sz="1875" b="1">
                <a:solidFill>
                  <a:srgbClr val="18856B"/>
                </a:solidFill>
                <a:latin typeface="Arial"/>
                <a:ea typeface="Arial"/>
                <a:cs typeface="Arial"/>
              </a:defRPr>
            </a:lvl1pPr>
            <a:lvl2pPr>
              <a:defRPr sz="1875" b="1">
                <a:solidFill>
                  <a:srgbClr val="18856B"/>
                </a:solidFill>
                <a:latin typeface="Arial"/>
                <a:ea typeface="Arial"/>
                <a:cs typeface="Arial"/>
              </a:defRPr>
            </a:lvl2pPr>
            <a:lvl3pPr>
              <a:defRPr sz="1875" b="1">
                <a:solidFill>
                  <a:srgbClr val="18856B"/>
                </a:solidFill>
                <a:latin typeface="Arial"/>
                <a:ea typeface="Arial"/>
                <a:cs typeface="Arial"/>
              </a:defRPr>
            </a:lvl3pPr>
            <a:lvl4pPr>
              <a:defRPr sz="1875" b="1">
                <a:solidFill>
                  <a:srgbClr val="18856B"/>
                </a:solidFill>
                <a:latin typeface="Arial"/>
                <a:ea typeface="Arial"/>
                <a:cs typeface="Arial"/>
              </a:defRPr>
            </a:lvl4pPr>
            <a:lvl5pPr>
              <a:defRPr sz="1875" b="1">
                <a:solidFill>
                  <a:srgbClr val="18856B"/>
                </a:solidFill>
                <a:latin typeface="Arial"/>
                <a:ea typeface="Arial"/>
                <a:cs typeface="Arial"/>
              </a:defRPr>
            </a:lvl5pPr>
            <a:lvl6pPr>
              <a:defRPr sz="1875" b="1">
                <a:solidFill>
                  <a:srgbClr val="18856B"/>
                </a:solidFill>
                <a:latin typeface="Arial"/>
                <a:ea typeface="Arial"/>
                <a:cs typeface="Arial"/>
              </a:defRPr>
            </a:lvl6pPr>
            <a:lvl7pPr>
              <a:defRPr sz="1875" b="1">
                <a:solidFill>
                  <a:srgbClr val="18856B"/>
                </a:solidFill>
                <a:latin typeface="Arial"/>
                <a:ea typeface="Arial"/>
                <a:cs typeface="Arial"/>
              </a:defRPr>
            </a:lvl7pPr>
            <a:lvl8pPr>
              <a:defRPr sz="1875" b="1">
                <a:solidFill>
                  <a:srgbClr val="18856B"/>
                </a:solidFill>
                <a:latin typeface="Arial"/>
                <a:ea typeface="Arial"/>
                <a:cs typeface="Arial"/>
              </a:defRPr>
            </a:lvl8pPr>
            <a:lvl9pPr>
              <a:defRPr sz="1875" b="1">
                <a:solidFill>
                  <a:srgbClr val="18856B"/>
                </a:solidFill>
                <a:latin typeface="Arial"/>
                <a:ea typeface="Arial"/>
                <a:cs typeface="Arial"/>
              </a:defRPr>
            </a:lvl9pPr>
          </a:lstStyle>
          <a:p xmlns:a="http://schemas.openxmlformats.org/drawingml/2006/main">
            <a:pPr>
              <a:defRPr sz="1875" b="1">
                <a:solidFill>
                  <a:srgbClr val="18856B"/>
                </a:solidFill>
                <a:latin typeface="Arial"/>
                <a:ea typeface="Arial"/>
                <a:cs typeface="Arial"/>
              </a:defRPr>
            </a:pPr>
            <a:r>
              <a:rPr sz="1875" b="1">
                <a:solidFill>
                  <a:srgbClr val="18856B"/>
                </a:solidFill>
                <a:latin typeface="Arial"/>
                <a:ea typeface="Arial"/>
                <a:cs typeface="Arial"/>
              </a:rPr>
              <a:t>Host guardrails: correctness + area + timing + incumbent + finite budgets</a:t>
            </a:r>
          </a:p>
        </p:txBody>
      </p:sp>
      <p:sp>
        <p:nvSpPr>
          <p:cNvPr id="25" name="">
            <a:extLst xmlns:a="http://schemas.openxmlformats.org/drawingml/2006/main">
              <a:ext uri="{FF2B5EF4-FFF2-40B4-BE49-F238E27FC236}">
                <a16:creationId xmlns:a16="http://schemas.microsoft.com/office/drawing/2014/main" id="{B21CE6A3-74E1-4504-BB8B-1BF0E0AFFE7A}"/>
              </a:ext>
            </a:extLst>
          </p:cNvPr>
          <p:cNvSpPr>
            <a:spLocks xmlns:a="http://schemas.openxmlformats.org/drawingml/2006/main" noGrp="1"/>
          </p:cNvSpPr>
          <p:nvPr/>
        </p:nvSpPr>
        <p:spPr>
          <a:xfrm xmlns:a="http://schemas.openxmlformats.org/drawingml/2006/main">
            <a:off x="685800" y="6105525"/>
            <a:ext cx="10820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607286"/>
                </a:solidFill>
                <a:latin typeface="Arial"/>
                <a:ea typeface="Arial"/>
                <a:cs typeface="Arial"/>
              </a:defRPr>
            </a:defPPr>
            <a:lvl1pPr>
              <a:defRPr sz="1575" b="0">
                <a:solidFill>
                  <a:srgbClr val="607286"/>
                </a:solidFill>
                <a:latin typeface="Arial"/>
                <a:ea typeface="Arial"/>
                <a:cs typeface="Arial"/>
              </a:defRPr>
            </a:lvl1pPr>
            <a:lvl2pPr>
              <a:defRPr sz="1575" b="0">
                <a:solidFill>
                  <a:srgbClr val="607286"/>
                </a:solidFill>
                <a:latin typeface="Arial"/>
                <a:ea typeface="Arial"/>
                <a:cs typeface="Arial"/>
              </a:defRPr>
            </a:lvl2pPr>
            <a:lvl3pPr>
              <a:defRPr sz="1575" b="0">
                <a:solidFill>
                  <a:srgbClr val="607286"/>
                </a:solidFill>
                <a:latin typeface="Arial"/>
                <a:ea typeface="Arial"/>
                <a:cs typeface="Arial"/>
              </a:defRPr>
            </a:lvl3pPr>
            <a:lvl4pPr>
              <a:defRPr sz="1575" b="0">
                <a:solidFill>
                  <a:srgbClr val="607286"/>
                </a:solidFill>
                <a:latin typeface="Arial"/>
                <a:ea typeface="Arial"/>
                <a:cs typeface="Arial"/>
              </a:defRPr>
            </a:lvl4pPr>
            <a:lvl5pPr>
              <a:defRPr sz="1575" b="0">
                <a:solidFill>
                  <a:srgbClr val="607286"/>
                </a:solidFill>
                <a:latin typeface="Arial"/>
                <a:ea typeface="Arial"/>
                <a:cs typeface="Arial"/>
              </a:defRPr>
            </a:lvl5pPr>
            <a:lvl6pPr>
              <a:defRPr sz="1575" b="0">
                <a:solidFill>
                  <a:srgbClr val="607286"/>
                </a:solidFill>
                <a:latin typeface="Arial"/>
                <a:ea typeface="Arial"/>
                <a:cs typeface="Arial"/>
              </a:defRPr>
            </a:lvl6pPr>
            <a:lvl7pPr>
              <a:defRPr sz="1575" b="0">
                <a:solidFill>
                  <a:srgbClr val="607286"/>
                </a:solidFill>
                <a:latin typeface="Arial"/>
                <a:ea typeface="Arial"/>
                <a:cs typeface="Arial"/>
              </a:defRPr>
            </a:lvl7pPr>
            <a:lvl8pPr>
              <a:defRPr sz="1575" b="0">
                <a:solidFill>
                  <a:srgbClr val="607286"/>
                </a:solidFill>
                <a:latin typeface="Arial"/>
                <a:ea typeface="Arial"/>
                <a:cs typeface="Arial"/>
              </a:defRPr>
            </a:lvl8pPr>
            <a:lvl9pPr>
              <a:defRPr sz="1575" b="0">
                <a:solidFill>
                  <a:srgbClr val="607286"/>
                </a:solidFill>
                <a:latin typeface="Arial"/>
                <a:ea typeface="Arial"/>
                <a:cs typeface="Arial"/>
              </a:defRPr>
            </a:lvl9pPr>
          </a:lstStyle>
          <a:p xmlns:a="http://schemas.openxmlformats.org/drawingml/2006/main">
            <a:pPr>
              <a:defRPr sz="1575" b="0">
                <a:solidFill>
                  <a:srgbClr val="607286"/>
                </a:solidFill>
                <a:latin typeface="Arial"/>
                <a:ea typeface="Arial"/>
                <a:cs typeface="Arial"/>
              </a:defRPr>
            </a:pPr>
            <a:r>
              <a:rPr sz="1575" b="0">
                <a:solidFill>
                  <a:srgbClr val="607286"/>
                </a:solidFill>
                <a:latin typeface="Arial"/>
                <a:ea typeface="Arial"/>
                <a:cs typeface="Arial"/>
              </a:rPr>
              <a:t>84 focused tests pass. Recovery router not live-compared; tokens / inference latency unavailable.</a:t>
            </a:r>
          </a:p>
        </p:txBody>
      </p:sp>
    </p:spTree>
    <p:extLst>
      <p:ext uri="{BB962C8B-B14F-4D97-AF65-F5344CB8AC3E}">
        <p14:creationId xmlns:p14="http://schemas.microsoft.com/office/powerpoint/2010/main" val="8354415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C98519-B810-4060-8D6F-14787579A0C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33A1ED0C-B095-4C3C-8485-B7C82E9FF190}"/>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F6491AD-7EAA-455C-8C38-BEF7A7C2826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8A3BA4E8-B547-4314-A70C-48703529579D}"/>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072A4484-A04E-48D9-889D-E2CFAA6403CE}"/>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5AE53EE8-E6D5-4142-B185-D2A1E4AFA31A}"/>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38F2BEF9-0A12-43E5-8B61-1D67432A3B9D}"/>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47DB7026-E3CF-4EAD-A7BF-AEA50967D45F}"/>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51845920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3ABDBC-9D3A-4C00-9ED7-4A457850223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9C1DF459-95DA-4DF2-BA86-ACC1490E809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C3FC5D79-D8DF-49E5-A585-D48C86335620}"/>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75F2B8EF-DC6C-49B8-804B-EA4D166BCFD2}"/>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b906a647000944f8"/>
          </a:graphicData>
        </a:graphic>
      </p:graphicFrame>
      <p:sp>
        <p:nvSpPr>
          <p:cNvPr id="5" name="">
            <a:extLst xmlns:a="http://schemas.openxmlformats.org/drawingml/2006/main">
              <a:ext uri="{FF2B5EF4-FFF2-40B4-BE49-F238E27FC236}">
                <a16:creationId xmlns:a16="http://schemas.microsoft.com/office/drawing/2014/main" id="{7F8ADDF5-E394-45A0-807D-C39CBB86B5A9}"/>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F4D167B5-1895-4D3B-B150-ADC1562725CD}"/>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1A346A80-E56D-412B-A205-531B18D61836}"/>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F8DB59C3-DE35-41EB-8905-951723077170}"/>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189803513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F8C18B-6BD5-4074-A765-A0B60183F8E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B427115C-CED6-468D-BCBE-3EA46C1BE4A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0710392D-E7DA-466F-B0EC-936E8D0ABD4A}"/>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AF7D0A78-ED95-4238-B85C-2297CC0CC55B}"/>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A9459BA6-5874-4AA6-956E-2D151F00797D}"/>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4E3EAEF0-C220-4D00-9F7B-F43924D0DFF6}"/>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1F7E5FAC-6B28-43B7-B5AA-B4B90FD50356}"/>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69A02A47-E8FA-410D-8089-679CCE6E8ADC}"/>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11996324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2026-10-28T06:22:19.8720000Z</dcterms:created>
  <dcterms:modified xsi:type="dcterms:W3CDTF">2026-10-28T06:22:19.8720000Z</dcterms:modified>
</coreProperties>
</file>