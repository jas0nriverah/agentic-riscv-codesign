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3.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f3d798d38104b54" /><Relationship Type="http://schemas.openxmlformats.org/officeDocument/2006/relationships/extended-properties" Target="/docProps/app.xml" Id="R4e0da5ca3eea4e47" /><Relationship Type="http://schemas.openxmlformats.org/officeDocument/2006/relationships/officeDocument" Target="/ppt/presentation.xml" Id="Rc74b621916734f54" /></Relationships>
</file>

<file path=ppt/presentation.xml><?xml version="1.0" encoding="utf-8"?>
<p:presentation xmlns:p="http://schemas.openxmlformats.org/presentationml/2006/main">
  <p:sldMasterIdLst>
    <p:sldMasterId xmlns:r="http://schemas.openxmlformats.org/officeDocument/2006/relationships" id="2147483648" r:id="R1c94bd6ee3ad4b21"/>
  </p:sldMasterIdLst>
  <p:notesMasterIdLst>
    <p:notesMasterId xmlns:r="http://schemas.openxmlformats.org/officeDocument/2006/relationships" r:id="R86abf2fdc7554040"/>
  </p:notesMasterIdLst>
  <p:sldIdLst>
    <p:sldId xmlns:r="http://schemas.openxmlformats.org/officeDocument/2006/relationships" id="256" r:id="Rf5aceed2145e4c0e"/>
    <p:sldId xmlns:r="http://schemas.openxmlformats.org/officeDocument/2006/relationships" id="257" r:id="Rd2ce32f7eece4398"/>
    <p:sldId xmlns:r="http://schemas.openxmlformats.org/officeDocument/2006/relationships" id="258" r:id="Rdf8d38067d7e476e"/>
    <p:sldId xmlns:r="http://schemas.openxmlformats.org/officeDocument/2006/relationships" id="259" r:id="Rfed0eee642df4af5"/>
    <p:sldId xmlns:r="http://schemas.openxmlformats.org/officeDocument/2006/relationships" id="260" r:id="R1b6894cf95b648ac"/>
    <p:sldId xmlns:r="http://schemas.openxmlformats.org/officeDocument/2006/relationships" id="261" r:id="R929db504ebaa466d"/>
    <p:sldId xmlns:r="http://schemas.openxmlformats.org/officeDocument/2006/relationships" id="262" r:id="R3949d609c3914d58"/>
    <p:sldId xmlns:r="http://schemas.openxmlformats.org/officeDocument/2006/relationships" id="263" r:id="R641b8a5043b9432b"/>
    <p:sldId xmlns:r="http://schemas.openxmlformats.org/officeDocument/2006/relationships" id="264" r:id="R17fb6bf419844cc6"/>
    <p:sldId xmlns:r="http://schemas.openxmlformats.org/officeDocument/2006/relationships" id="265" r:id="R629caccfb6dc4b8b"/>
    <p:sldId xmlns:r="http://schemas.openxmlformats.org/officeDocument/2006/relationships" id="266" r:id="Rb51ce2f589ee4bf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89b949fad85482d" /><Relationship Type="http://schemas.openxmlformats.org/officeDocument/2006/relationships/slideMaster" Target="/ppt/slideMasters/slideMaster1.xml" Id="R1c94bd6ee3ad4b21" /><Relationship Type="http://schemas.openxmlformats.org/officeDocument/2006/relationships/notesMaster" Target="/ppt/notesMasters/notesMaster1.xml" Id="R86abf2fdc7554040" /><Relationship Type="http://schemas.openxmlformats.org/officeDocument/2006/relationships/presProps" Target="/ppt/presProps.xml" Id="R4fc27ac439ec4647" /><Relationship Type="http://schemas.openxmlformats.org/officeDocument/2006/relationships/tableStyles" Target="/ppt/tableStyles.xml" Id="R1e92c23a8ab245b0" /><Relationship Type="http://schemas.openxmlformats.org/officeDocument/2006/relationships/slide" Target="/ppt/slides/slide1.xml" Id="Rf5aceed2145e4c0e" /><Relationship Type="http://schemas.openxmlformats.org/officeDocument/2006/relationships/slide" Target="/ppt/slides/slide2.xml" Id="Rd2ce32f7eece4398" /><Relationship Type="http://schemas.openxmlformats.org/officeDocument/2006/relationships/slide" Target="/ppt/slides/slide3.xml" Id="Rdf8d38067d7e476e" /><Relationship Type="http://schemas.openxmlformats.org/officeDocument/2006/relationships/slide" Target="/ppt/slides/slide4.xml" Id="Rfed0eee642df4af5" /><Relationship Type="http://schemas.openxmlformats.org/officeDocument/2006/relationships/slide" Target="/ppt/slides/slide5.xml" Id="R1b6894cf95b648ac" /><Relationship Type="http://schemas.openxmlformats.org/officeDocument/2006/relationships/slide" Target="/ppt/slides/slide6.xml" Id="R929db504ebaa466d" /><Relationship Type="http://schemas.openxmlformats.org/officeDocument/2006/relationships/slide" Target="/ppt/slides/slide7.xml" Id="R3949d609c3914d58" /><Relationship Type="http://schemas.openxmlformats.org/officeDocument/2006/relationships/slide" Target="/ppt/slides/slide8.xml" Id="R641b8a5043b9432b" /><Relationship Type="http://schemas.openxmlformats.org/officeDocument/2006/relationships/slide" Target="/ppt/slides/slide9.xml" Id="R17fb6bf419844cc6" /><Relationship Type="http://schemas.openxmlformats.org/officeDocument/2006/relationships/slide" Target="/ppt/slides/slide10.xml" Id="R629caccfb6dc4b8b" /><Relationship Type="http://schemas.openxmlformats.org/officeDocument/2006/relationships/slide" Target="/ppt/slides/slide11.xml" Id="Rb51ce2f589ee4b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1b69e6057eb4c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8b55971fc74787" /><Relationship Type="http://schemas.openxmlformats.org/officeDocument/2006/relationships/notesMaster" Target="/ppt/notesMasters/notesMaster1.xml" Id="Rd3fb9512ba244ddb"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abdf94e4774ea6" /><Relationship Type="http://schemas.openxmlformats.org/officeDocument/2006/relationships/notesMaster" Target="/ppt/notesMasters/notesMaster1.xml" Id="Re08459da8ac642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e94913d9daea4639" /><Relationship Type="http://schemas.openxmlformats.org/officeDocument/2006/relationships/notesMaster" Target="/ppt/notesMasters/notesMaster1.xml" Id="R48f0fa72ee2c4973" /></Relationships>
</file>

<file path=ppt/notesSlides/_rels/notesSlide4.xml.rels>&#65279;<?xml version="1.0" encoding="utf-8"?><Relationships xmlns="http://schemas.openxmlformats.org/package/2006/relationships"><Relationship Type="http://schemas.openxmlformats.org/officeDocument/2006/relationships/slide" Target="/ppt/slides/slide4.xml" Id="R4bfbd148de524a1c" /><Relationship Type="http://schemas.openxmlformats.org/officeDocument/2006/relationships/notesMaster" Target="/ppt/notesMasters/notesMaster1.xml" Id="R24896b5eddb14de9" /></Relationships>
</file>

<file path=ppt/notesSlides/_rels/notesSlide5.xml.rels>&#65279;<?xml version="1.0" encoding="utf-8"?><Relationships xmlns="http://schemas.openxmlformats.org/package/2006/relationships"><Relationship Type="http://schemas.openxmlformats.org/officeDocument/2006/relationships/slide" Target="/ppt/slides/slide5.xml" Id="R7ee034256fc84b41" /><Relationship Type="http://schemas.openxmlformats.org/officeDocument/2006/relationships/notesMaster" Target="/ppt/notesMasters/notesMaster1.xml" Id="R0ec4fb1166af4dca" /></Relationships>
</file>

<file path=ppt/notesSlides/_rels/notesSlide6.xml.rels>&#65279;<?xml version="1.0" encoding="utf-8"?><Relationships xmlns="http://schemas.openxmlformats.org/package/2006/relationships"><Relationship Type="http://schemas.openxmlformats.org/officeDocument/2006/relationships/slide" Target="/ppt/slides/slide6.xml" Id="Rffb5eaefe35e41ba" /><Relationship Type="http://schemas.openxmlformats.org/officeDocument/2006/relationships/notesMaster" Target="/ppt/notesMasters/notesMaster1.xml" Id="Rd4bfc1111d814bd1" /></Relationships>
</file>

<file path=ppt/notesSlides/_rels/notesSlide7.xml.rels>&#65279;<?xml version="1.0" encoding="utf-8"?><Relationships xmlns="http://schemas.openxmlformats.org/package/2006/relationships"><Relationship Type="http://schemas.openxmlformats.org/officeDocument/2006/relationships/slide" Target="/ppt/slides/slide7.xml" Id="Rddf7beedfb234e04" /><Relationship Type="http://schemas.openxmlformats.org/officeDocument/2006/relationships/notesMaster" Target="/ppt/notesMasters/notesMaster1.xml" Id="R1c50a170fea441f8" /></Relationships>
</file>

<file path=ppt/notesSlides/_rels/notesSlide8.xml.rels>&#65279;<?xml version="1.0" encoding="utf-8"?><Relationships xmlns="http://schemas.openxmlformats.org/package/2006/relationships"><Relationship Type="http://schemas.openxmlformats.org/officeDocument/2006/relationships/slide" Target="/ppt/slides/slide8.xml" Id="Ra1e7225cea8d42b8" /><Relationship Type="http://schemas.openxmlformats.org/officeDocument/2006/relationships/notesMaster" Target="/ppt/notesMasters/notesMaster1.xml" Id="Re51657715efe46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f320ddaddd4807" /><Relationship Type="http://schemas.openxmlformats.org/officeDocument/2006/relationships/notesMaster" Target="/ppt/notesMasters/notesMaster1.xml" Id="Rc5cbb8672ff9439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4fdd7870e4d4ffa" /><Relationship Type="http://schemas.openxmlformats.org/officeDocument/2006/relationships/notesMaster" Target="/ppt/notesMasters/notesMaster1.xml" Id="Raaf49f86944242c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687ec1769c54d9e" /><Relationship Type="http://schemas.openxmlformats.org/officeDocument/2006/relationships/notesMaster" Target="/ppt/notesMasters/notesMaster1.xml" Id="R00eba2b836fe40a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 — 25 seconds</a:t>
            </a:r>
          </a:p>
          <a:p xmlns:a="http://schemas.openxmlformats.org/drawingml/2006/main">
            <a:r>
              <a:t/>
            </a:r>
          </a:p>
          <a:p xmlns:a="http://schemas.openxmlformats.org/drawingml/2006/main">
            <a:r>
              <a:t>SPOKEN SCRIPT</a:t>
            </a:r>
          </a:p>
          <a:p xmlns:a="http://schemas.openxmlformats.org/drawingml/2006/main">
            <a:r>
              <a:t>ISAForge asks whether learned predictions and an AI selection agent can find better RISC-V custom instructions with fewer expensive evaluations. We optimize verified whole-program performance under hardware constraints. Our contribution is the connection from real programs to measured labels to budgeted selection. Today we have a working pipeline, measured data, and preliminary comparisons—not yet a consistent machine-learning win.</a:t>
            </a:r>
          </a:p>
          <a:p xmlns:a="http://schemas.openxmlformats.org/drawingml/2006/main">
            <a:r>
              <a:t/>
            </a:r>
          </a:p>
          <a:p xmlns:a="http://schemas.openxmlformats.org/drawingml/2006/main">
            <a:r>
              <a:t>SOURCES / Q&amp;A (not part of timed script)</a:t>
            </a:r>
          </a:p>
          <a:p xmlns:a="http://schemas.openxmlformats.org/drawingml/2006/main">
            <a:r>
              <a:t>Scope: README.md; docs/research-foundation.md. Guarded AI-track results are separate from other hardware contexts in the team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2 — 30 seconds</a:t>
            </a:r>
          </a:p>
          <a:p xmlns:a="http://schemas.openxmlformats.org/drawingml/2006/main">
            <a:r>
              <a:t/>
            </a:r>
          </a:p>
          <a:p xmlns:a="http://schemas.openxmlformats.org/drawingml/2006/main">
            <a:r>
              <a:t>SPOKEN SCRIPT</a:t>
            </a:r>
          </a:p>
          <a:p xmlns:a="http://schemas.openxmlformats.org/drawingml/2006/main">
            <a:r>
              <a:t>We build on established methods rather than inventing another enumerator. Atasu provides the dataflow and architectural constraints for legal instruction candidates. CIDRE emphasizes that benefits depend on the processor and its timing. AutoTVM motivates ranking alternatives using measured performance. Constrained Bayesian optimization motivates measuring promising candidates while accounting for feasibility. ISAForge tests this combination on whole-program PicoRV32 outcomes; we do not claim to reproduce these complete systems.</a:t>
            </a:r>
          </a:p>
          <a:p xmlns:a="http://schemas.openxmlformats.org/drawingml/2006/main">
            <a:r>
              <a:t/>
            </a:r>
          </a:p>
          <a:p xmlns:a="http://schemas.openxmlformats.org/drawingml/2006/main">
            <a:r>
              <a:t>SOURCES / Q&amp;A (not part of timed script)</a:t>
            </a:r>
          </a:p>
          <a:p xmlns:a="http://schemas.openxmlformats.org/drawingml/2006/main">
            <a:r>
              <a:t>Atasu, Pozzi &amp; Ienne. Automatic Application-Specific Instruction-Set Extensions Under Microarchitectural Constraints. DAC 2003, 256–261. DOI 10.1145/775832.775897; methods §§4–7.</a:t>
            </a:r>
          </a:p>
          <a:p xmlns:a="http://schemas.openxmlformats.org/drawingml/2006/main">
            <a:r>
              <a:t>Rezunov et al. Automatic Microarchitecture-Aware Custom Instruction Design for RISC-V Processors. ICCAD 2025. DOI 10.1109/ICCAD66269.2025.11240781; arxiv.org/html/2509.15782v2, §§II–IV.</a:t>
            </a:r>
          </a:p>
          <a:p xmlns:a="http://schemas.openxmlformats.org/drawingml/2006/main">
            <a:r>
              <a:t>Chen et al. Learning to Optimize Tensor Programs. NeurIPS 2018. arxiv.org/pdf/1805.08166v4, §§3–4, Algorithm 1.</a:t>
            </a:r>
          </a:p>
          <a:p xmlns:a="http://schemas.openxmlformats.org/drawingml/2006/main">
            <a:r>
              <a:t>Gardner et al. Bayesian Optimization with Inequality Constraints. ICML 2014, PMLR32(2):937–945. https://proceedings.mlr.press/v32/gardner14.pdf, §§3.1–3.2.</a:t>
            </a:r>
          </a:p>
          <a:p xmlns:a="http://schemas.openxmlformats.org/drawingml/2006/main">
            <a:r>
              <a:t>Repository method reviews: docs/research-foundation.md; docs/selection-methods-review.md.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3 — 20 seconds</a:t>
            </a:r>
          </a:p>
          <a:p xmlns:a="http://schemas.openxmlformats.org/drawingml/2006/main">
            <a:r>
              <a:t/>
            </a:r>
          </a:p>
          <a:p xmlns:a="http://schemas.openxmlformats.org/drawingml/2006/main">
            <a:r>
              <a:t>SPOKEN SCRIPT</a:t>
            </a:r>
          </a:p>
          <a:p xmlns:a="http://schemas.openxmlformats.org/drawingml/2006/main">
            <a:r>
              <a:t>We started by collecting real benchmark traces and synthesizing isolated circuits for a hardware-cost model. Next we connected candidates to whole-program execution on PicoRV32, expanded the dataset, and tested selection policies. Two project chats record about forty-six hours of turn duration, including waits and interruptions, not training time. Team roles are provisional and need confirmation.</a:t>
            </a:r>
          </a:p>
          <a:p xmlns:a="http://schemas.openxmlformats.org/drawingml/2006/main">
            <a:r>
              <a:t/>
            </a:r>
          </a:p>
          <a:p xmlns:a="http://schemas.openxmlformats.org/drawingml/2006/main">
            <a:r>
              <a:t>SOURCES / Q&amp;A (not part of timed script)</a:t>
            </a:r>
          </a:p>
          <a:p xmlns:a="http://schemas.openxmlformats.org/drawingml/2006/main">
            <a:r>
              <a:t>Dated results directories October19–27; git history; docs/original-project-proposal.txt; supplied AgenticRiscPredictor.pdf. Codex history snapshot: two project chats record 15.82 and 29.97 hours of ended turn duration, approximately 45.8 hours combined, including tool waits and interruptions. The earlier 15.82 hours includes 4.51 hours across two interrupted turns. 72 distinct directly spawned subagent threads; activity is not training time or a research outcome. See codex-history-and-baseline.md. Team must confirm roles and aliases; Git alone cannot measure contribution shares.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4 — 35 seconds</a:t>
            </a:r>
          </a:p>
          <a:p xmlns:a="http://schemas.openxmlformats.org/drawingml/2006/main">
            <a:r>
              <a:t/>
            </a:r>
          </a:p>
          <a:p xmlns:a="http://schemas.openxmlformats.org/drawingml/2006/main">
            <a:r>
              <a:t>SPOKEN SCRIPT</a:t>
            </a:r>
          </a:p>
          <a:p xmlns:a="http://schemas.openxmlformats.org/drawingml/2006/main">
            <a:r>
              <a:t>We wrote scripts that compile and profile workloads, extract legal candidates, and lower them to custom instructions. The evaluator executes each modified program with Verilator and checks correctness; Yosys and nextpnr measure integrated area and timing. The unmodified CRC32 reference took 32.39 million simulated cycles. The best candidate took 30.82 million, a 1.051 times common-clock speedup. These are simulation and FPGA tool results, not physical-chip stopwatch measurements.</a:t>
            </a:r>
          </a:p>
          <a:p xmlns:a="http://schemas.openxmlformats.org/drawingml/2006/main">
            <a:r>
              <a:t/>
            </a:r>
          </a:p>
          <a:p xmlns:a="http://schemas.openxmlformats.org/drawingml/2006/main">
            <a:r>
              <a:t>SOURCES / Q&amp;A (not part of timed script)</a:t>
            </a:r>
          </a:p>
          <a:p xmlns:a="http://schemas.openxmlformats.org/drawingml/2006/main">
            <a:r>
              <a:t>src/candidates.py extracts legal candidates; isaforge/workload_experiment.py orchestrates workload preparation and collection; isaforge/codesign.py implements ProcessorEvaluator; Verilator simulates, Yosys synthesizes, nextpnr routes. docs/codesign-loop.md; results/2026-10-19-codesign/independent-audit.json. Embench CRC32,170 benchmark repetitions; startup, independent checksum, warm-up and serial reporting excluded from counter window. Same RV32I PicoRV32, 8KiB RAM and 12MHz target. Baseline 32,387,382 cycles,1653 LUT4; index_offset 30,820,662 cycles,1684 LUT4 (+31), 1.050833x. Both correctness checked; same-clock speedup, not measured board runtime. Baseline synth/routing Fmax 68.49–77.16 MHz. Distinguish this unmodified reference from heuristic selection baselines.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5 — 40 seconds</a:t>
            </a:r>
          </a:p>
          <a:p xmlns:a="http://schemas.openxmlformats.org/drawingml/2006/main">
            <a:r>
              <a:t/>
            </a:r>
          </a:p>
          <a:p xmlns:a="http://schemas.openxmlformats.org/drawingml/2006/main">
            <a:r>
              <a:t>SPOKEN SCRIPT</a:t>
            </a:r>
          </a:p>
          <a:p xmlns:a="http://schemas.openxmlformats.org/drawingml/2006/main">
            <a:r>
              <a:t>Our first hardware-cost study grew from 301 to 713 distinct synthesized formulas across benchmark collections. Those isolated LUT labels are separate from the current whole-program dataset: 122 candidate-program measurements across fourteen workload groups, plus four charged failures: two candidate correctness failures and two censored evaluations. The chart shows its three benchmark suites. We hold out entire workloads. Our thirteen-policy screen includes 2,925 replays of existing measurements, not new hardware runs.</a:t>
            </a:r>
          </a:p>
          <a:p xmlns:a="http://schemas.openxmlformats.org/drawingml/2006/main">
            <a:r>
              <a:t/>
            </a:r>
          </a:p>
          <a:p xmlns:a="http://schemas.openxmlformats.org/drawingml/2006/main">
            <a:r>
              <a:t>SOURCES / Q&amp;A (not part of timed script)</a:t>
            </a:r>
          </a:p>
          <a:p xmlns:a="http://schemas.openxmlformats.org/drawingml/2006/main">
            <a:r>
              <a:t>Earlier area study: initial 301 formulas, later three collections 1,098 program/formula rows and 713 distinct formulas from 17 candidate-bearing programs; isolated LUT4 labels, not processor cycles. The frozen original-301 model evaluated 331 novel final formulas: structural linear 23.154 LUT4 MAE versus original XGBoost 87.595. Later all-713 deployment refit lacks a fresh independent test. See results/2026-10-13-prospective/README.md and docs/methodology-history.md. Current dataset: submissions/midterm-2026-10-28/dataset/; results/2026-10-27-final-selection-scorecard/scorecard.json. 15 build/input contexts;12 complete measured-pool oracles,2 censored. Embench39 labels/6 groups; BEEBS48/5; TACLeBench35/3. Original teammate hardware-branch data uses a distinct context and is not silently merged. Why few new workload labels: the fixed pool gate rejects countnegative (4 legal of 12 required), stringsearch (2), fannkuch-redux (2), and strstr (0). These are pre-measurement rejections, not missing or silently dropped data. The four charged failures are separate: EDN memory-guard violation at address 5956; UD self-check output flag zero; UD storage below 2 GiB; G.723 nextpnr route seed 3 exceeded 180 seconds. The last two are censored and have no performance/hardware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6 — 40 seconds</a:t>
            </a:r>
          </a:p>
          <a:p xmlns:a="http://schemas.openxmlformats.org/drawingml/2006/main">
            <a:r>
              <a:t/>
            </a:r>
          </a:p>
          <a:p xmlns:a="http://schemas.openxmlformats.org/drawingml/2006/main">
            <a:r>
              <a:t>SPOKEN SCRIPT</a:t>
            </a:r>
          </a:p>
          <a:p xmlns:a="http://schemas.openxmlformats.org/drawingml/2006/main">
            <a:r>
              <a:t>Our principal ranking model is XGBoost. Thirty-five features describe candidate structure, operations and execution opportunity. Measured speedup orders candidate pairs within each workload. Eighty depth-two trees learn a ranking score. We test on entire held-out workloads and exclude related formula families. The score is neither predicted speedup nor confidence. The contribution plot shows that estimated instruction savings strongly influences ranking, but attribution is not causal. Other predictor tools expose hardware estimates and uncertainty. Feasibility still requires measurement: one bitcount candidate passed correctness but exceeded its area cap by one LUT.</a:t>
            </a:r>
          </a:p>
          <a:p xmlns:a="http://schemas.openxmlformats.org/drawingml/2006/main">
            <a:r>
              <a:t/>
            </a:r>
          </a:p>
          <a:p xmlns:a="http://schemas.openxmlformats.org/drawingml/2006/main">
            <a:r>
              <a:t>SOURCES / Q&amp;A (not part of timed script)</a:t>
            </a:r>
          </a:p>
          <a:p xmlns:a="http://schemas.openxmlformats.org/drawingml/2006/main">
            <a:r>
              <a:t>XGBRanker: rank:pairwise,80 estimators,max_depth2,learning_rate0.05; isaforge/ranking.py and features.py.35 premeasurement features. Pair relevance derived from measured within-context speedup order with ties. Workload/family holdouts prevent using target labels. The ranker is frozen during selection; no LLM fine-tuning. Other selectable predictors include regression and hardware GP; GP uncertainty is not calibrated confidence. Explanations: results/2026-10-27-ranker-explainability/explanation.json and global_feature_contributions.csv. Chart normalized absolute additive tree contributions macro-averaged over14 held-out workloads: savings47.1035%, locations11.1%, size7.2663%, frequency5.4586%, other29.0716%. Bitcount top rank add(in0,andi(in1,15)),1.008782x,+65LUT4 versus+64 cap. Current successful cycle labels match calibrated processor latency; ranking is not established superior to the heuristic.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7 — 40 seconds</a:t>
            </a:r>
          </a:p>
          <a:p xmlns:a="http://schemas.openxmlformats.org/drawingml/2006/main">
            <a:r>
              <a:t/>
            </a:r>
          </a:p>
          <a:p xmlns:a="http://schemas.openxmlformats.org/drawingml/2006/main">
            <a:r>
              <a:t>SPOKEN SCRIPT</a:t>
            </a:r>
          </a:p>
          <a:p xmlns:a="http://schemas.openxmlformats.org/drawingml/2006/main">
            <a:r>
              <a:t>The LLM chooses which candidate to measure; XGBoost and heuristics score it. The host owns charging, correctness, and area/timing checks. In one archived SHA-256 pilot, hybrid memory reached the feasible design in two measurements; no retrieval took three and made three rejected finalization requests. The strongest heuristic needed one. Selector v2 now exposes the host-computed incumbent, rejects stale final choices, and returns measured facts separately from the model note. We have not rerun the LLM under v2.</a:t>
            </a:r>
          </a:p>
          <a:p xmlns:a="http://schemas.openxmlformats.org/drawingml/2006/main">
            <a:r>
              <a:t/>
            </a:r>
          </a:p>
          <a:p xmlns:a="http://schemas.openxmlformats.org/drawingml/2006/main">
            <a:r>
              <a:t>SOURCES / Q&amp;A (not part of timed script)</a:t>
            </a:r>
          </a:p>
          <a:p xmlns:a="http://schemas.openxmlformats.org/drawingml/2006/main">
            <a:r>
              <a:t>isaforge/agent_memory.py: fixed query over unattempted formulas; local TF-IDF/LSA hybrid, RRF k60, top3 source-linked history; not pretrained embeddings or general RAG. Both arms can access full history; retrieval changes ordering/emphasis. Four structured tools; host owns attempt charging and final acceptance. The ranker is not retrained; configured hardware GP can update on paid successes. The live Luna pilot is one archived-data trial per arm with cooperative file restrictions; hybrid used two queries/four turns, no retrieval three queries/nine turns, three rejected finalizations, and both reached 1.0213847x, +50 LUT4, 65.99353 MHz. The heuristic reached the same design in one query. Selector v2 now names the incumbent, enforces it at finalize, and returns canonical measured fields separately from unverified agent_summary. 79 tests and 10-policy/30-endpoint control replay pass; zero live LLM or native jobs for v2. No causal memory or superiority claim.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8 — 45 seconds</a:t>
            </a:r>
          </a:p>
          <a:p xmlns:a="http://schemas.openxmlformats.org/drawingml/2006/main">
            <a:r>
              <a:t/>
            </a:r>
          </a:p>
          <a:p xmlns:a="http://schemas.openxmlformats.org/drawingml/2006/main">
            <a:r>
              <a:t>SPOKEN SCRIPT</a:t>
            </a:r>
          </a:p>
          <a:p xmlns:a="http://schemas.openxmlformats.org/drawingml/2006/main">
            <a:r>
              <a:t>Our four tools separate language-model proposals from trusted execution. List exposes legal candidates; predict returns model estimates; measure charges an attempt before evaluation; finalize accepts only the host-computed best paid, verified feasible improvement; baseline is allowed only when none exists. Invalid and repeated measurement attempts still cost budget. Observability connects each decision to its tool call, retrieved record and outcome. We version the protocol and source hashes, preserve failed actions, and export verified traces to SQLite. These are working local LLMOps components. The live pilot has thirteen recorded model turns, but token usage and model-only latency are unavailable. Production deployment and automated restart remain future work.</a:t>
            </a:r>
          </a:p>
          <a:p xmlns:a="http://schemas.openxmlformats.org/drawingml/2006/main">
            <a:r>
              <a:t/>
            </a:r>
          </a:p>
          <a:p xmlns:a="http://schemas.openxmlformats.org/drawingml/2006/main">
            <a:r>
              <a:t>SOURCES / Q&amp;A (not part of timed script)</a:t>
            </a:r>
          </a:p>
          <a:p xmlns:a="http://schemas.openxmlformats.org/drawingml/2006/main">
            <a:r>
              <a:t>Tools: isaforge/selection_provider.py strict remote function schemas; isaforge/codex_chat_selector.py interactive JSON bridge. Host: bounded_selector.py. Measure reserves charge before lookup while budget remains. Invalid/repeated attempts count; repeats do not redispatch evaluator. Finalize accepts only the current host-computed best paid feasible improvement; null is allowed only with no improvement. Host returns canonical measured fields; the model text is an unverified agent_summary. Finite model/tool calls, incumbent fallback, fresh output paths; no restart/resume guarantee. Observability: export_agent_observability.py verifies manifest/protocol/ledger hashes and creates releases, episodes, decisions, model_calls, retrievals and tools tables. Raw ledgers authoritative. Live13 turns,4 retrievals; 3 rejected finalizations. Interactive elapsed time includes orchestration; tokens SQLNULL. Remote provider records tokens only if returned. LLMOps here is local versioning, reproducible evaluation and inspection, not production cloud operations. Selector v2 passes 79 focused tests; a 10-policy/30-endpoint SHA256 control replay matches archived trajectories exactly, with zero LLM/native jobs. Retrieval fits are not new speedup model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9 — 35 seconds</a:t>
            </a:r>
          </a:p>
          <a:p xmlns:a="http://schemas.openxmlformats.org/drawingml/2006/main">
            <a:r>
              <a:t/>
            </a:r>
          </a:p>
          <a:p xmlns:a="http://schemas.openxmlformats.org/drawingml/2006/main">
            <a:r>
              <a:t>SPOKEN SCRIPT</a:t>
            </a:r>
          </a:p>
          <a:p xmlns:a="http://schemas.openxmlformats.org/drawingml/2006/main">
            <a:r>
              <a:t>The unmodified program gives the performance reference. A different kind of baseline is a selection policy: frequency counts occurrences, while merit estimates operations eliminated times executions. We compare these with latency-aware heuristics, random search, and learned policies. Every method gets the same pool and one, two, or three charged attempts; unqueried results remain hidden. The measured oracle knows all outcomes and gives a retrospective ceiling, not a deployable policy. Historical training cost is tracked separately.</a:t>
            </a:r>
          </a:p>
          <a:p xmlns:a="http://schemas.openxmlformats.org/drawingml/2006/main">
            <a:r>
              <a:t/>
            </a:r>
          </a:p>
          <a:p xmlns:a="http://schemas.openxmlformats.org/drawingml/2006/main">
            <a:r>
              <a:t>SOURCES / Q&amp;A (not part of timed script)</a:t>
            </a:r>
          </a:p>
          <a:p xmlns:a="http://schemas.openxmlformats.org/drawingml/2006/main">
            <a:r>
              <a:t>Protocol: docs/research-foundation.md; scorecard.json. Simple merit uses projected instruction savings; do not label it a CIDRE reproduction. Primary endpoint best verified feasible cycle reduction; regret only for complete pools. Track target evaluations and elapsed time, historical training cost, fit/inference and agent costs separately. Exact isolated ranker fit/inference timing remains incomplete.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10 — 75 seconds</a:t>
            </a:r>
          </a:p>
          <a:p xmlns:a="http://schemas.openxmlformats.org/drawingml/2006/main">
            <a:r>
              <a:t/>
            </a:r>
          </a:p>
          <a:p xmlns:a="http://schemas.openxmlformats.org/drawingml/2006/main">
            <a:r>
              <a:t>SPOKEN SCRIPT</a:t>
            </a:r>
          </a:p>
          <a:p xmlns:a="http://schemas.openxmlformats.org/drawingml/2006/main">
            <a:r>
              <a:t>Here is the main selection result. The vertical axis is mean cycle-reduction regret relative to the best measured feasible candidate in each complete pool; lower is better. At one attempt, merit has 1.132 percent regret and the ranker has 0.842 percent. At two attempts they are almost tied. At three attempts, merit is better. The paired workload confidence intervals include zero for the early-budget advantages, so we cannot claim consistent superiority. Twelve workload groups have complete pool oracles; two incomplete groups are excluded from this regret calculation. The 2,925 policy-budget replays are dependent analyses of the existing measurements, not new hardware experiments. There is also an important diagnosis: all 122 historical cycle-speedup labels match the independently calibrated processor-latency calculation. This dataset therefore does not demonstrate a residual speedup relationship requiring machine learning. Our remaining challenge is learning which useful designs will be hardware-feasible and worth measuring. A previous three-source blind campaign favored both GP policies over merit at three attempts, but a later bitcount test favored the latency-cost heuristic. Those mixed results do not establish a general advantage. The Ascon pilot has no matched controls.</a:t>
            </a:r>
          </a:p>
          <a:p xmlns:a="http://schemas.openxmlformats.org/drawingml/2006/main">
            <a:r>
              <a:t/>
            </a:r>
          </a:p>
          <a:p xmlns:a="http://schemas.openxmlformats.org/drawingml/2006/main">
            <a:r>
              <a:t>SOURCES / Q&amp;A (not part of timed script)</a:t>
            </a:r>
          </a:p>
          <a:p xmlns:a="http://schemas.openxmlformats.org/drawingml/2006/main">
            <a:r>
              <a:t>results/2026-10-27-final-selection-scorecard/scorecard.json. Paired difference = merit regret minus ranker regret (percentage points): B1 +0.290 [−0.065,+0.849]; B2 +0.027 [−0.097,+0.177]; B3 −0.056 [−0.167,0.000]. Workload bootstrap;12 complete pools.14-group cycle-reduction means merit1.086/1.657/2.043%;ranker1.334/1.680/1.996%. Earlier frozen three-source campaign: GP 1.602185% mean cycle reduction vs merit 1.144539% at B3; only three sources and cooperative replay, no total-cost win established. Later bitcount B3 latency-cost heuristic found 0.174118% improvement while both GP policies returned baseline. docs/blind-source-campaign.md; results/2026-10-22-bitcount-report/results.md. Timing floor weakly tested:minimum selected feasible Fmax59.13MHz vs12MHz. Target mean eval time merit55.67/114.24/169.76s;ranker56.29/115.69/171.46s. No total-cost advantage established.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11 — 35 seconds</a:t>
            </a:r>
          </a:p>
          <a:p xmlns:a="http://schemas.openxmlformats.org/drawingml/2006/main">
            <a:r>
              <a:t/>
            </a:r>
          </a:p>
          <a:p xmlns:a="http://schemas.openxmlformats.org/drawingml/2006/main">
            <a:r>
              <a:t>SPOKEN SCRIPT</a:t>
            </a:r>
          </a:p>
          <a:p xmlns:a="http://schemas.openxmlformats.org/drawingml/2006/main">
            <a:r>
              <a:t>We now have an end-to-end research system: real workloads, executable custom instructions, measured outcomes, learned ranking, and bounded agent tools. The next step is to freeze the policies before observing new workload results, then compare the agent and non-agent methods under identical budgets. We need better workload diversity and validated uncertainty before adding model complexity. Finally, we must implement and measure the selected one-to-three-instruction combination together. Individual speedups cannot be added. A reproducible heuristic win is still a useful scientific result.</a:t>
            </a:r>
          </a:p>
          <a:p xmlns:a="http://schemas.openxmlformats.org/drawingml/2006/main">
            <a:r>
              <a:t/>
            </a:r>
          </a:p>
          <a:p xmlns:a="http://schemas.openxmlformats.org/drawingml/2006/main">
            <a:r>
              <a:t>SOURCES / Q&amp;A (not part of timed script)</a:t>
            </a:r>
          </a:p>
          <a:p xmlns:a="http://schemas.openxmlformats.org/drawingml/2006/main">
            <a:r>
              <a:t>docs/HANDOFF.md; docs/ACTIVE_GOAL.md. Owner resumed a 10-hour evidence-driven improvement block on October 28; no new workload labels were produced in this checkpoint. Next experiments require frozen controllers/policies, legal lowering and blind measurement contracts. Keep the original CRC32 and aha-mont64 experiments and all negative outcomes. No RTL-rewriting optimization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46177c00354fd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f10f942e573408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da2732c4e534f9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a4d6a21f3924e6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99e7ba4bbae474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9121092c87f48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513BE8A-C64D-4A99-A47D-3B997666F5E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C91BBA7-CB79-4C3B-9649-EBEA7D27F4C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631BDD3-0401-448E-B115-4017531B9D5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473609-5592-4305-B439-AED263ABD32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E2B4F50-6501-4665-A7AB-64699FE9BBC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C6E3C1A-8AE5-428E-954A-D316E5B1E07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ECE4D62-CCC5-45B4-9E10-9ECBA27D855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B667AEB-CB9E-43FB-B51E-EFC585CCC24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0448DD-8E9B-4F49-A453-3253D314B4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8D21222-97B3-48EE-A2F3-FFE00E88A7C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13a58aa1226405e" /><Relationship Type="http://schemas.openxmlformats.org/officeDocument/2006/relationships/slideLayout" Target="/ppt/slideLayouts/slideLayout1.xml" Id="R79bea9d0617846a8" /><Relationship Type="http://schemas.openxmlformats.org/officeDocument/2006/relationships/slideLayout" Target="/ppt/slideLayouts/slideLayout2.xml" Id="Rb1d17e2a67fc4261" /><Relationship Type="http://schemas.openxmlformats.org/officeDocument/2006/relationships/slideLayout" Target="/ppt/slideLayouts/slideLayout3.xml" Id="Rd6d68d7c3c8147f2" /><Relationship Type="http://schemas.openxmlformats.org/officeDocument/2006/relationships/slideLayout" Target="/ppt/slideLayouts/slideLayout4.xml" Id="Rcca3edbfb2044a9f" /><Relationship Type="http://schemas.openxmlformats.org/officeDocument/2006/relationships/slideLayout" Target="/ppt/slideLayouts/slideLayout5.xml" Id="Ra26045650aba4d99" /><Relationship Type="http://schemas.openxmlformats.org/officeDocument/2006/relationships/slideLayout" Target="/ppt/slideLayouts/slideLayout6.xml" Id="Rac6483836649422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9bea9d0617846a8"/>
    <p:sldLayoutId xmlns:r="http://schemas.openxmlformats.org/officeDocument/2006/relationships" id="2147483650" r:id="Rb1d17e2a67fc4261"/>
    <p:sldLayoutId xmlns:r="http://schemas.openxmlformats.org/officeDocument/2006/relationships" id="2147483651" r:id="Rd6d68d7c3c8147f2"/>
    <p:sldLayoutId xmlns:r="http://schemas.openxmlformats.org/officeDocument/2006/relationships" id="2147483652" r:id="Rcca3edbfb2044a9f"/>
    <p:sldLayoutId xmlns:r="http://schemas.openxmlformats.org/officeDocument/2006/relationships" id="2147483653" r:id="Ra26045650aba4d99"/>
    <p:sldLayoutId xmlns:r="http://schemas.openxmlformats.org/officeDocument/2006/relationships" id="2147483654" r:id="Rac6483836649422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e76a85c07c641f7" /><Relationship Type="http://schemas.openxmlformats.org/officeDocument/2006/relationships/notesSlide" Target="/ppt/notesSlides/notesSlide1.xml" Id="Rc6b11f9c83f5471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d36837fc95a4401" /><Relationship Type="http://schemas.openxmlformats.org/officeDocument/2006/relationships/notesSlide" Target="/ppt/notesSlides/notesSlide2.xml" Id="Rcf0d8d68fae9437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cfa486567444c72" /><Relationship Type="http://schemas.openxmlformats.org/officeDocument/2006/relationships/notesSlide" Target="/ppt/notesSlides/notesSlide3.xml" Id="R8b1c1eefba9a449b"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fdc123b58904f3a" /><Relationship Type="http://schemas.openxmlformats.org/officeDocument/2006/relationships/notesSlide" Target="/ppt/notesSlides/notesSlide4.xml" Id="R5e59a42a44474f2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dfa2cffbb8e40ea" /><Relationship Type="http://schemas.openxmlformats.org/officeDocument/2006/relationships/chart" Target="/ppt/slides/charts/chart1.xml" Id="Rd2870902efce4ce2" /><Relationship Type="http://schemas.openxmlformats.org/officeDocument/2006/relationships/notesSlide" Target="/ppt/notesSlides/notesSlide5.xml" Id="Rcac67344d65a455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92f6e6f95024761" /><Relationship Type="http://schemas.openxmlformats.org/officeDocument/2006/relationships/chart" Target="/ppt/slides/charts/chart2.xml" Id="R432e243be71f40e1" /><Relationship Type="http://schemas.openxmlformats.org/officeDocument/2006/relationships/notesSlide" Target="/ppt/notesSlides/notesSlide6.xml" Id="R53c9b502763f44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8c37181028464346" /><Relationship Type="http://schemas.openxmlformats.org/officeDocument/2006/relationships/notesSlide" Target="/ppt/notesSlides/notesSlide7.xml" Id="R51db5f581c8d48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841f2b5b6524a1b" /><Relationship Type="http://schemas.openxmlformats.org/officeDocument/2006/relationships/notesSlide" Target="/ppt/notesSlides/notesSlide8.xml" Id="R7ebf411c57334e9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4496aee6be564b25" /><Relationship Type="http://schemas.openxmlformats.org/officeDocument/2006/relationships/notesSlide" Target="/ppt/notesSlides/notesSlide9.xml" Id="R617e63d356884d9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a27b181613a8437d" /><Relationship Type="http://schemas.openxmlformats.org/officeDocument/2006/relationships/chart" Target="/ppt/slides/charts/chart3.xml" Id="Rbfc2e2bee1b7490a" /><Relationship Type="http://schemas.openxmlformats.org/officeDocument/2006/relationships/notesSlide" Target="/ppt/notesSlides/notesSlide10.xml" Id="Rbac48db677374e2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037d3aa72e9a43bc" /><Relationship Type="http://schemas.openxmlformats.org/officeDocument/2006/relationships/notesSlide" Target="/ppt/notesSlides/notesSlide11.xml" Id="R35837a9946b7439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Successful labels</c:v>
          </c:tx>
          <c:spPr>
            <a:solidFill xmlns:a="http://schemas.openxmlformats.org/drawingml/2006/main">
              <a:srgbClr val="2878A8"/>
            </a:solidFill>
          </c:spPr>
          <c:invertIfNegative val="0"/>
          <c:cat>
            <c:strRef>
              <c:f>'Chart Data'!$A$2:$A$4</c:f>
              <c:strCache>
                <c:ptCount val="3"/>
                <c:pt idx="0">
                  <c:v>Embench</c:v>
                </c:pt>
                <c:pt idx="1">
                  <c:v>BEEBS</c:v>
                </c:pt>
                <c:pt idx="2">
                  <c:v>TACLeBench</c:v>
                </c:pt>
              </c:strCache>
            </c:strRef>
          </c:cat>
          <c:val>
            <c:numRef>
              <c:f>'Chart Data'!$B$2:$B$4</c:f>
              <c:numCache>
                <c:formatCode>General</c:formatCode>
                <c:ptCount val="3"/>
                <c:pt idx="0">
                  <c:v>39</c:v>
                </c:pt>
                <c:pt idx="1">
                  <c:v>48</c:v>
                </c:pt>
                <c:pt idx="2">
                  <c:v>35</c:v>
                </c:pt>
              </c:numCache>
            </c:numRef>
          </c:val>
        </c:ser>
        <c:dLbls>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Measured candidate/program pairs</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Attribution share</c:v>
          </c:tx>
          <c:spPr>
            <a:solidFill xmlns:a="http://schemas.openxmlformats.org/drawingml/2006/main">
              <a:srgbClr val="2878A8"/>
            </a:solidFill>
          </c:spPr>
          <c:invertIfNegative val="0"/>
          <c:cat>
            <c:strRef>
              <c:f>'Chart Data'!$A$2:$A$6</c:f>
              <c:strCache>
                <c:ptCount val="5"/>
                <c:pt idx="0">
                  <c:v>Savings %</c:v>
                </c:pt>
                <c:pt idx="1">
                  <c:v>Locations</c:v>
                </c:pt>
                <c:pt idx="2">
                  <c:v>Size</c:v>
                </c:pt>
                <c:pt idx="3">
                  <c:v>Frequency</c:v>
                </c:pt>
                <c:pt idx="4">
                  <c:v>Other</c:v>
                </c:pt>
              </c:strCache>
            </c:strRef>
          </c:cat>
          <c:val>
            <c:numRef>
              <c:f>'Chart Data'!$B$2:$B$6</c:f>
              <c:numCache>
                <c:formatCode>General</c:formatCode>
                <c:ptCount val="5"/>
                <c:pt idx="0">
                  <c:v>47.1035</c:v>
                </c:pt>
                <c:pt idx="1">
                  <c:v>11.1</c:v>
                </c:pt>
                <c:pt idx="2">
                  <c:v>7.2663</c:v>
                </c:pt>
                <c:pt idx="3">
                  <c:v>5.4586</c:v>
                </c:pt>
                <c:pt idx="4">
                  <c:v>29.0716</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200">
                <a:solidFill>
                  <a:srgbClr val="263648"/>
                </a:solidFill>
                <a:latin typeface="Arial"/>
                <a:ea typeface="Arial"/>
                <a:cs typeface="Arial"/>
              </a:defRPr>
            </a:pPr>
          </a:p>
        </c:txPr>
        <c:crossAx val="48672768"/>
      </c:catAx>
      <c:valAx>
        <c:axId val="48672768"/>
        <c:scaling>
          <c:orientation val="minMax"/>
          <c:max val="60"/>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Normalized contribution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263648"/>
                </a:solidFill>
                <a:latin typeface="Arial"/>
                <a:ea typeface="Arial"/>
                <a:cs typeface="Arial"/>
              </a:defRPr>
            </a:pPr>
          </a:p>
        </c:txPr>
        <c:crossAx val="48650112"/>
        <c:crossBetween val="between"/>
        <c:majorUnit val="20"/>
      </c:valAx>
      <c:spPr>
        <a:solidFill xmlns:a="http://schemas.openxmlformats.org/drawingml/2006/main">
          <a:srgbClr val="FFFFFF"/>
        </a:solidFill>
        <a:ln xmlns:a="http://schemas.openxmlformats.org/drawingml/2006/main" w="0">
          <a:noFill/>
          <a:prstDash val="solid"/>
        </a:ln>
      </c:spPr>
    </c:plotArea>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Merit</c:v>
          </c:tx>
          <c:spPr>
            <a:solidFill xmlns:a="http://schemas.openxmlformats.org/drawingml/2006/main">
              <a:srgbClr val="607286"/>
            </a:solidFill>
          </c:spPr>
          <c:invertIfNegative val="0"/>
          <c:cat>
            <c:strRef>
              <c:f>'Chart Data'!$A$2:$A$4</c:f>
              <c:strCache>
                <c:ptCount val="3"/>
                <c:pt idx="0">
                  <c:v>1 attempt</c:v>
                </c:pt>
                <c:pt idx="1">
                  <c:v>2 attempts</c:v>
                </c:pt>
                <c:pt idx="2">
                  <c:v>3 attempts</c:v>
                </c:pt>
              </c:strCache>
            </c:strRef>
          </c:cat>
          <c:val>
            <c:numRef>
              <c:f>'Chart Data'!$B$2:$B$4</c:f>
              <c:numCache>
                <c:formatCode>0.00</c:formatCode>
                <c:ptCount val="3"/>
                <c:pt idx="0">
                  <c:v>1.132</c:v>
                </c:pt>
                <c:pt idx="1">
                  <c:v>0.465</c:v>
                </c:pt>
                <c:pt idx="2">
                  <c:v>0.015</c:v>
                </c:pt>
              </c:numCache>
            </c:numRef>
          </c:val>
        </c:ser>
        <c:ser>
          <c:idx val="1"/>
          <c:order val="1"/>
          <c:tx>
            <c:v>XGB ranker</c:v>
          </c:tx>
          <c:spPr>
            <a:solidFill xmlns:a="http://schemas.openxmlformats.org/drawingml/2006/main">
              <a:srgbClr val="2878A8"/>
            </a:solidFill>
          </c:spPr>
          <c:invertIfNegative val="0"/>
          <c:cat>
            <c:strRef>
              <c:f>'Chart Data'!$C$2:$C$4</c:f>
              <c:strCache>
                <c:ptCount val="3"/>
                <c:pt idx="0">
                  <c:v>1 attempt</c:v>
                </c:pt>
                <c:pt idx="1">
                  <c:v>2 attempts</c:v>
                </c:pt>
                <c:pt idx="2">
                  <c:v>3 attempts</c:v>
                </c:pt>
              </c:strCache>
            </c:strRef>
          </c:cat>
          <c:val>
            <c:numRef>
              <c:f>'Chart Data'!$D$2:$D$4</c:f>
              <c:numCache>
                <c:formatCode>0.00</c:formatCode>
                <c:ptCount val="3"/>
                <c:pt idx="0">
                  <c:v>0.842</c:v>
                </c:pt>
                <c:pt idx="1">
                  <c:v>0.439</c:v>
                </c:pt>
                <c:pt idx="2">
                  <c:v>0.07</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350">
                  <a:solidFill>
                    <a:srgbClr val="263648"/>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9E1E8"/>
            </a:solidFill>
            <a:prstDash val="solid"/>
          </a:ln>
        </c:spPr>
        <c:txPr>
          <a:bodyPr xmlns:a="http://schemas.openxmlformats.org/drawingml/2006/main" anchorCtr="1"/>
          <a:lstStyle xmlns:a="http://schemas.openxmlformats.org/drawingml/2006/main"/>
          <a:p xmlns:a="http://schemas.openxmlformats.org/drawingml/2006/main">
            <a:pPr>
              <a:defRPr sz="1500">
                <a:solidFill>
                  <a:srgbClr val="263648"/>
                </a:solidFill>
                <a:latin typeface="Arial"/>
                <a:ea typeface="Arial"/>
                <a:cs typeface="Arial"/>
              </a:defRPr>
            </a:pPr>
          </a:p>
        </c:txPr>
        <c:crossAx val="48672768"/>
      </c:catAx>
      <c:valAx>
        <c:axId val="48672768"/>
        <c:scaling>
          <c:orientation val="minMax"/>
          <c:max val="1.4"/>
          <c:min val="0"/>
        </c:scaling>
        <c:delete val="0"/>
        <c:axPos val="l"/>
        <c:majorGridlines>
          <c:spPr>
            <a:ln xmlns:a="http://schemas.openxmlformats.org/drawingml/2006/main" w="9525">
              <a:solidFill>
                <a:srgbClr val="D9E1E8"/>
              </a:solidFill>
              <a:prstDash val="solid"/>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Mean oracle regret (%)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crossAx val="48650112"/>
        <c:crossBetween val="between"/>
        <c:majorUnit val="0.35"/>
      </c:valAx>
      <c:spPr>
        <a:solidFill xmlns:a="http://schemas.openxmlformats.org/drawingml/2006/main">
          <a:srgbClr val="FFFFFF"/>
        </a:solidFill>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425">
              <a:solidFill>
                <a:srgbClr val="263648"/>
              </a:solidFill>
              <a:latin typeface="Arial"/>
              <a:ea typeface="Arial"/>
              <a:cs typeface="Arial"/>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E21B89F-E955-4F78-9766-3ACBF6B51F4B}"/>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ISAForge</a:t>
            </a:r>
          </a:p>
        </p:txBody>
      </p:sp>
      <p:sp>
        <p:nvSpPr>
          <p:cNvPr id="2" name="">
            <a:extLst xmlns:a="http://schemas.openxmlformats.org/drawingml/2006/main">
              <a:ext uri="{FF2B5EF4-FFF2-40B4-BE49-F238E27FC236}">
                <a16:creationId xmlns:a16="http://schemas.microsoft.com/office/drawing/2014/main" id="{4A2579E4-89FE-4BEF-B318-5D0320D6078F}"/>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04CB9177-0813-4C9D-BE4B-8B5D40128F11}"/>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a:t>
            </a:r>
          </a:p>
        </p:txBody>
      </p:sp>
      <p:sp>
        <p:nvSpPr>
          <p:cNvPr id="4" name="">
            <a:extLst xmlns:a="http://schemas.openxmlformats.org/drawingml/2006/main">
              <a:ext uri="{FF2B5EF4-FFF2-40B4-BE49-F238E27FC236}">
                <a16:creationId xmlns:a16="http://schemas.microsoft.com/office/drawing/2014/main" id="{B88DC9F3-BC0F-4C30-8DB7-F0BE859A4C91}"/>
              </a:ext>
            </a:extLst>
          </p:cNvPr>
          <p:cNvSpPr>
            <a:spLocks xmlns:a="http://schemas.openxmlformats.org/drawingml/2006/main" noGrp="1"/>
          </p:cNvSpPr>
          <p:nvPr/>
        </p:nvSpPr>
        <p:spPr>
          <a:xfrm xmlns:a="http://schemas.openxmlformats.org/drawingml/2006/main">
            <a:off x="685800" y="1562100"/>
            <a:ext cx="10668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300" b="1">
                <a:solidFill>
                  <a:srgbClr val="2878A8"/>
                </a:solidFill>
                <a:latin typeface="Arial"/>
                <a:ea typeface="Arial"/>
                <a:cs typeface="Arial"/>
              </a:defRPr>
            </a:defPPr>
            <a:lvl1pPr>
              <a:defRPr sz="3300" b="1">
                <a:solidFill>
                  <a:srgbClr val="2878A8"/>
                </a:solidFill>
                <a:latin typeface="Arial"/>
                <a:ea typeface="Arial"/>
                <a:cs typeface="Arial"/>
              </a:defRPr>
            </a:lvl1pPr>
            <a:lvl2pPr>
              <a:defRPr sz="3300" b="1">
                <a:solidFill>
                  <a:srgbClr val="2878A8"/>
                </a:solidFill>
                <a:latin typeface="Arial"/>
                <a:ea typeface="Arial"/>
                <a:cs typeface="Arial"/>
              </a:defRPr>
            </a:lvl2pPr>
            <a:lvl3pPr>
              <a:defRPr sz="3300" b="1">
                <a:solidFill>
                  <a:srgbClr val="2878A8"/>
                </a:solidFill>
                <a:latin typeface="Arial"/>
                <a:ea typeface="Arial"/>
                <a:cs typeface="Arial"/>
              </a:defRPr>
            </a:lvl3pPr>
            <a:lvl4pPr>
              <a:defRPr sz="3300" b="1">
                <a:solidFill>
                  <a:srgbClr val="2878A8"/>
                </a:solidFill>
                <a:latin typeface="Arial"/>
                <a:ea typeface="Arial"/>
                <a:cs typeface="Arial"/>
              </a:defRPr>
            </a:lvl4pPr>
            <a:lvl5pPr>
              <a:defRPr sz="3300" b="1">
                <a:solidFill>
                  <a:srgbClr val="2878A8"/>
                </a:solidFill>
                <a:latin typeface="Arial"/>
                <a:ea typeface="Arial"/>
                <a:cs typeface="Arial"/>
              </a:defRPr>
            </a:lvl5pPr>
            <a:lvl6pPr>
              <a:defRPr sz="3300" b="1">
                <a:solidFill>
                  <a:srgbClr val="2878A8"/>
                </a:solidFill>
                <a:latin typeface="Arial"/>
                <a:ea typeface="Arial"/>
                <a:cs typeface="Arial"/>
              </a:defRPr>
            </a:lvl6pPr>
            <a:lvl7pPr>
              <a:defRPr sz="3300" b="1">
                <a:solidFill>
                  <a:srgbClr val="2878A8"/>
                </a:solidFill>
                <a:latin typeface="Arial"/>
                <a:ea typeface="Arial"/>
                <a:cs typeface="Arial"/>
              </a:defRPr>
            </a:lvl7pPr>
            <a:lvl8pPr>
              <a:defRPr sz="3300" b="1">
                <a:solidFill>
                  <a:srgbClr val="2878A8"/>
                </a:solidFill>
                <a:latin typeface="Arial"/>
                <a:ea typeface="Arial"/>
                <a:cs typeface="Arial"/>
              </a:defRPr>
            </a:lvl8pPr>
            <a:lvl9pPr>
              <a:defRPr sz="3300" b="1">
                <a:solidFill>
                  <a:srgbClr val="2878A8"/>
                </a:solidFill>
                <a:latin typeface="Arial"/>
                <a:ea typeface="Arial"/>
                <a:cs typeface="Arial"/>
              </a:defRPr>
            </a:lvl9pPr>
          </a:lstStyle>
          <a:p xmlns:a="http://schemas.openxmlformats.org/drawingml/2006/main">
            <a:pPr>
              <a:defRPr sz="3300" b="1">
                <a:solidFill>
                  <a:srgbClr val="2878A8"/>
                </a:solidFill>
                <a:latin typeface="Arial"/>
                <a:ea typeface="Arial"/>
                <a:cs typeface="Arial"/>
              </a:defRPr>
            </a:pPr>
            <a:r>
              <a:rPr sz="3300" b="1">
                <a:solidFill>
                  <a:srgbClr val="2878A8"/>
                </a:solidFill>
                <a:latin typeface="Arial"/>
                <a:ea typeface="Arial"/>
                <a:cs typeface="Arial"/>
              </a:rPr>
              <a:t>AI-guided RISC-V program optimization</a:t>
            </a:r>
          </a:p>
        </p:txBody>
      </p:sp>
      <p:sp>
        <p:nvSpPr>
          <p:cNvPr id="5" name="">
            <a:extLst xmlns:a="http://schemas.openxmlformats.org/drawingml/2006/main">
              <a:ext uri="{FF2B5EF4-FFF2-40B4-BE49-F238E27FC236}">
                <a16:creationId xmlns:a16="http://schemas.microsoft.com/office/drawing/2014/main" id="{84F3C2AD-8880-4D04-AA77-BEAB13E00FC4}"/>
              </a:ext>
            </a:extLst>
          </p:cNvPr>
          <p:cNvSpPr>
            <a:spLocks xmlns:a="http://schemas.openxmlformats.org/drawingml/2006/main" noGrp="1"/>
          </p:cNvSpPr>
          <p:nvPr/>
        </p:nvSpPr>
        <p:spPr>
          <a:xfrm xmlns:a="http://schemas.openxmlformats.org/drawingml/2006/main">
            <a:off x="685800" y="2667000"/>
            <a:ext cx="10477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850" b="1">
                <a:solidFill>
                  <a:srgbClr val="17324D"/>
                </a:solidFill>
                <a:latin typeface="Arial"/>
                <a:ea typeface="Arial"/>
                <a:cs typeface="Arial"/>
              </a:defRPr>
            </a:defPPr>
            <a:lvl1pPr>
              <a:defRPr sz="2850" b="1">
                <a:solidFill>
                  <a:srgbClr val="17324D"/>
                </a:solidFill>
                <a:latin typeface="Arial"/>
                <a:ea typeface="Arial"/>
                <a:cs typeface="Arial"/>
              </a:defRPr>
            </a:lvl1pPr>
            <a:lvl2pPr>
              <a:defRPr sz="2850" b="1">
                <a:solidFill>
                  <a:srgbClr val="17324D"/>
                </a:solidFill>
                <a:latin typeface="Arial"/>
                <a:ea typeface="Arial"/>
                <a:cs typeface="Arial"/>
              </a:defRPr>
            </a:lvl2pPr>
            <a:lvl3pPr>
              <a:defRPr sz="2850" b="1">
                <a:solidFill>
                  <a:srgbClr val="17324D"/>
                </a:solidFill>
                <a:latin typeface="Arial"/>
                <a:ea typeface="Arial"/>
                <a:cs typeface="Arial"/>
              </a:defRPr>
            </a:lvl3pPr>
            <a:lvl4pPr>
              <a:defRPr sz="2850" b="1">
                <a:solidFill>
                  <a:srgbClr val="17324D"/>
                </a:solidFill>
                <a:latin typeface="Arial"/>
                <a:ea typeface="Arial"/>
                <a:cs typeface="Arial"/>
              </a:defRPr>
            </a:lvl4pPr>
            <a:lvl5pPr>
              <a:defRPr sz="2850" b="1">
                <a:solidFill>
                  <a:srgbClr val="17324D"/>
                </a:solidFill>
                <a:latin typeface="Arial"/>
                <a:ea typeface="Arial"/>
                <a:cs typeface="Arial"/>
              </a:defRPr>
            </a:lvl5pPr>
            <a:lvl6pPr>
              <a:defRPr sz="2850" b="1">
                <a:solidFill>
                  <a:srgbClr val="17324D"/>
                </a:solidFill>
                <a:latin typeface="Arial"/>
                <a:ea typeface="Arial"/>
                <a:cs typeface="Arial"/>
              </a:defRPr>
            </a:lvl6pPr>
            <a:lvl7pPr>
              <a:defRPr sz="2850" b="1">
                <a:solidFill>
                  <a:srgbClr val="17324D"/>
                </a:solidFill>
                <a:latin typeface="Arial"/>
                <a:ea typeface="Arial"/>
                <a:cs typeface="Arial"/>
              </a:defRPr>
            </a:lvl7pPr>
            <a:lvl8pPr>
              <a:defRPr sz="2850" b="1">
                <a:solidFill>
                  <a:srgbClr val="17324D"/>
                </a:solidFill>
                <a:latin typeface="Arial"/>
                <a:ea typeface="Arial"/>
                <a:cs typeface="Arial"/>
              </a:defRPr>
            </a:lvl8pPr>
            <a:lvl9pPr>
              <a:defRPr sz="2850" b="1">
                <a:solidFill>
                  <a:srgbClr val="17324D"/>
                </a:solidFill>
                <a:latin typeface="Arial"/>
                <a:ea typeface="Arial"/>
                <a:cs typeface="Arial"/>
              </a:defRPr>
            </a:lvl9pPr>
          </a:lstStyle>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Can learned selection find better feasible designs</a:t>
            </a:r>
          </a:p>
          <a:p xmlns:a="http://schemas.openxmlformats.org/drawingml/2006/main">
            <a:pPr>
              <a:defRPr sz="2850" b="1">
                <a:solidFill>
                  <a:srgbClr val="17324D"/>
                </a:solidFill>
                <a:latin typeface="Arial"/>
                <a:ea typeface="Arial"/>
                <a:cs typeface="Arial"/>
              </a:defRPr>
            </a:pPr>
            <a:r>
              <a:rPr sz="2850" b="1">
                <a:solidFill>
                  <a:srgbClr val="17324D"/>
                </a:solidFill>
                <a:latin typeface="Arial"/>
                <a:ea typeface="Arial"/>
                <a:cs typeface="Arial"/>
              </a:rPr>
              <a:t>with fewer hardware evaluations?</a:t>
            </a:r>
          </a:p>
        </p:txBody>
      </p:sp>
      <p:sp>
        <p:nvSpPr>
          <p:cNvPr id="6" name="">
            <a:extLst xmlns:a="http://schemas.openxmlformats.org/drawingml/2006/main">
              <a:ext uri="{FF2B5EF4-FFF2-40B4-BE49-F238E27FC236}">
                <a16:creationId xmlns:a16="http://schemas.microsoft.com/office/drawing/2014/main" id="{D2DBD6C3-1071-4EF5-BC40-48460B0F8C61}"/>
              </a:ext>
            </a:extLst>
          </p:cNvPr>
          <p:cNvSpPr>
            <a:spLocks xmlns:a="http://schemas.openxmlformats.org/drawingml/2006/main" noGrp="1"/>
          </p:cNvSpPr>
          <p:nvPr/>
        </p:nvSpPr>
        <p:spPr>
          <a:xfrm xmlns:a="http://schemas.openxmlformats.org/drawingml/2006/main">
            <a:off x="685800" y="4371975"/>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0">
                <a:solidFill>
                  <a:srgbClr val="263648"/>
                </a:solidFill>
                <a:latin typeface="Arial"/>
                <a:ea typeface="Arial"/>
                <a:cs typeface="Arial"/>
              </a:defRPr>
            </a:defPPr>
            <a:lvl1pPr>
              <a:defRPr sz="2100" b="0">
                <a:solidFill>
                  <a:srgbClr val="263648"/>
                </a:solidFill>
                <a:latin typeface="Arial"/>
                <a:ea typeface="Arial"/>
                <a:cs typeface="Arial"/>
              </a:defRPr>
            </a:lvl1pPr>
            <a:lvl2pPr>
              <a:defRPr sz="2100" b="0">
                <a:solidFill>
                  <a:srgbClr val="263648"/>
                </a:solidFill>
                <a:latin typeface="Arial"/>
                <a:ea typeface="Arial"/>
                <a:cs typeface="Arial"/>
              </a:defRPr>
            </a:lvl2pPr>
            <a:lvl3pPr>
              <a:defRPr sz="2100" b="0">
                <a:solidFill>
                  <a:srgbClr val="263648"/>
                </a:solidFill>
                <a:latin typeface="Arial"/>
                <a:ea typeface="Arial"/>
                <a:cs typeface="Arial"/>
              </a:defRPr>
            </a:lvl3pPr>
            <a:lvl4pPr>
              <a:defRPr sz="2100" b="0">
                <a:solidFill>
                  <a:srgbClr val="263648"/>
                </a:solidFill>
                <a:latin typeface="Arial"/>
                <a:ea typeface="Arial"/>
                <a:cs typeface="Arial"/>
              </a:defRPr>
            </a:lvl4pPr>
            <a:lvl5pPr>
              <a:defRPr sz="2100" b="0">
                <a:solidFill>
                  <a:srgbClr val="263648"/>
                </a:solidFill>
                <a:latin typeface="Arial"/>
                <a:ea typeface="Arial"/>
                <a:cs typeface="Arial"/>
              </a:defRPr>
            </a:lvl5pPr>
            <a:lvl6pPr>
              <a:defRPr sz="2100" b="0">
                <a:solidFill>
                  <a:srgbClr val="263648"/>
                </a:solidFill>
                <a:latin typeface="Arial"/>
                <a:ea typeface="Arial"/>
                <a:cs typeface="Arial"/>
              </a:defRPr>
            </a:lvl6pPr>
            <a:lvl7pPr>
              <a:defRPr sz="2100" b="0">
                <a:solidFill>
                  <a:srgbClr val="263648"/>
                </a:solidFill>
                <a:latin typeface="Arial"/>
                <a:ea typeface="Arial"/>
                <a:cs typeface="Arial"/>
              </a:defRPr>
            </a:lvl7pPr>
            <a:lvl8pPr>
              <a:defRPr sz="2100" b="0">
                <a:solidFill>
                  <a:srgbClr val="263648"/>
                </a:solidFill>
                <a:latin typeface="Arial"/>
                <a:ea typeface="Arial"/>
                <a:cs typeface="Arial"/>
              </a:defRPr>
            </a:lvl8pPr>
            <a:lvl9pPr>
              <a:defRPr sz="2100" b="0">
                <a:solidFill>
                  <a:srgbClr val="263648"/>
                </a:solidFill>
                <a:latin typeface="Arial"/>
                <a:ea typeface="Arial"/>
                <a:cs typeface="Arial"/>
              </a:defRPr>
            </a:lvl9pPr>
          </a:lstStyle>
          <a:p xmlns:a="http://schemas.openxmlformats.org/drawingml/2006/main">
            <a:pPr>
              <a:defRPr sz="2100" b="0">
                <a:solidFill>
                  <a:srgbClr val="263648"/>
                </a:solidFill>
                <a:latin typeface="Arial"/>
                <a:ea typeface="Arial"/>
                <a:cs typeface="Arial"/>
              </a:defRPr>
            </a:pPr>
            <a:r>
              <a:rPr sz="2100" b="0">
                <a:solidFill>
                  <a:srgbClr val="263648"/>
                </a:solidFill>
                <a:latin typeface="Arial"/>
                <a:ea typeface="Arial"/>
                <a:cs typeface="Arial"/>
              </a:rPr>
              <a:t>Real workloads → measured outcomes → intelligent selection</a:t>
            </a:r>
          </a:p>
        </p:txBody>
      </p:sp>
      <p:sp>
        <p:nvSpPr>
          <p:cNvPr id="7" name="">
            <a:extLst xmlns:a="http://schemas.openxmlformats.org/drawingml/2006/main">
              <a:ext uri="{FF2B5EF4-FFF2-40B4-BE49-F238E27FC236}">
                <a16:creationId xmlns:a16="http://schemas.microsoft.com/office/drawing/2014/main" id="{754242D2-DB50-4056-9CEF-64C3D0ADCD0C}"/>
              </a:ext>
            </a:extLst>
          </p:cNvPr>
          <p:cNvSpPr>
            <a:spLocks xmlns:a="http://schemas.openxmlformats.org/drawingml/2006/main" noGrp="1"/>
          </p:cNvSpPr>
          <p:nvPr/>
        </p:nvSpPr>
        <p:spPr>
          <a:xfrm xmlns:a="http://schemas.openxmlformats.org/drawingml/2006/main">
            <a:off x="685800" y="5495925"/>
            <a:ext cx="1066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Midterm progress • ECE 4803 • October 28, 2026</a:t>
            </a:r>
          </a:p>
        </p:txBody>
      </p:sp>
    </p:spTree>
    <p:extLst>
      <p:ext uri="{BB962C8B-B14F-4D97-AF65-F5344CB8AC3E}">
        <p14:creationId xmlns:p14="http://schemas.microsoft.com/office/powerpoint/2010/main" val="149370240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D29C35B-4399-42C1-A12E-EB216102E6CE}"/>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Research foundations</a:t>
            </a:r>
          </a:p>
        </p:txBody>
      </p:sp>
      <p:sp>
        <p:nvSpPr>
          <p:cNvPr id="2" name="">
            <a:extLst xmlns:a="http://schemas.openxmlformats.org/drawingml/2006/main">
              <a:ext uri="{FF2B5EF4-FFF2-40B4-BE49-F238E27FC236}">
                <a16:creationId xmlns:a16="http://schemas.microsoft.com/office/drawing/2014/main" id="{A84E293E-9C2A-4F40-A38A-597C75BEE26F}"/>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26275ABA-B531-44CA-AECC-A82F314688B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2</a:t>
            </a:r>
          </a:p>
        </p:txBody>
      </p:sp>
      <p:sp>
        <p:nvSpPr>
          <p:cNvPr id="4" name="">
            <a:extLst xmlns:a="http://schemas.openxmlformats.org/drawingml/2006/main">
              <a:ext uri="{FF2B5EF4-FFF2-40B4-BE49-F238E27FC236}">
                <a16:creationId xmlns:a16="http://schemas.microsoft.com/office/drawing/2014/main" id="{3A0B725F-2E6C-4B05-8F87-CB2E4F1920C6}"/>
              </a:ext>
            </a:extLst>
          </p:cNvPr>
          <p:cNvSpPr>
            <a:spLocks xmlns:a="http://schemas.openxmlformats.org/drawingml/2006/main" noGrp="1"/>
          </p:cNvSpPr>
          <p:nvPr/>
        </p:nvSpPr>
        <p:spPr>
          <a:xfrm xmlns:a="http://schemas.openxmlformats.org/drawingml/2006/main">
            <a:off x="685800" y="145732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Atasu et al. • DAC 2003</a:t>
            </a:r>
          </a:p>
        </p:txBody>
      </p:sp>
      <p:sp>
        <p:nvSpPr>
          <p:cNvPr id="5" name="">
            <a:extLst xmlns:a="http://schemas.openxmlformats.org/drawingml/2006/main">
              <a:ext uri="{FF2B5EF4-FFF2-40B4-BE49-F238E27FC236}">
                <a16:creationId xmlns:a16="http://schemas.microsoft.com/office/drawing/2014/main" id="{D1CF167D-E57A-4422-8BAF-C1402CEE7D49}"/>
              </a:ext>
            </a:extLst>
          </p:cNvPr>
          <p:cNvSpPr>
            <a:spLocks xmlns:a="http://schemas.openxmlformats.org/drawingml/2006/main" noGrp="1"/>
          </p:cNvSpPr>
          <p:nvPr/>
        </p:nvSpPr>
        <p:spPr>
          <a:xfrm xmlns:a="http://schemas.openxmlformats.org/drawingml/2006/main">
            <a:off x="5143500" y="145732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Legal dataflow candidates</a:t>
            </a:r>
          </a:p>
        </p:txBody>
      </p:sp>
      <p:sp>
        <p:nvSpPr>
          <p:cNvPr id="6" name="">
            <a:extLst xmlns:a="http://schemas.openxmlformats.org/drawingml/2006/main">
              <a:ext uri="{FF2B5EF4-FFF2-40B4-BE49-F238E27FC236}">
                <a16:creationId xmlns:a16="http://schemas.microsoft.com/office/drawing/2014/main" id="{CEDA91A6-AAA1-40E3-99B1-D03CC20467E6}"/>
              </a:ext>
            </a:extLst>
          </p:cNvPr>
          <p:cNvSpPr>
            <a:spLocks xmlns:a="http://schemas.openxmlformats.org/drawingml/2006/main" noGrp="1"/>
          </p:cNvSpPr>
          <p:nvPr/>
        </p:nvSpPr>
        <p:spPr>
          <a:xfrm xmlns:a="http://schemas.openxmlformats.org/drawingml/2006/main">
            <a:off x="5143500" y="183832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Input/output limits and convexity</a:t>
            </a:r>
          </a:p>
        </p:txBody>
      </p:sp>
      <p:sp>
        <p:nvSpPr>
          <p:cNvPr id="7" name="">
            <a:extLst xmlns:a="http://schemas.openxmlformats.org/drawingml/2006/main">
              <a:ext uri="{FF2B5EF4-FFF2-40B4-BE49-F238E27FC236}">
                <a16:creationId xmlns:a16="http://schemas.microsoft.com/office/drawing/2014/main" id="{8B7E23A8-5E07-4927-B1D1-BA3E270A4816}"/>
              </a:ext>
            </a:extLst>
          </p:cNvPr>
          <p:cNvSpPr>
            <a:spLocks xmlns:a="http://schemas.openxmlformats.org/drawingml/2006/main" noGrp="1"/>
          </p:cNvSpPr>
          <p:nvPr/>
        </p:nvSpPr>
        <p:spPr>
          <a:xfrm xmlns:a="http://schemas.openxmlformats.org/drawingml/2006/main">
            <a:off x="685800" y="227647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CDFC2FDB-2596-4745-B8A1-EF3D667373F3}"/>
              </a:ext>
            </a:extLst>
          </p:cNvPr>
          <p:cNvSpPr>
            <a:spLocks xmlns:a="http://schemas.openxmlformats.org/drawingml/2006/main" noGrp="1"/>
          </p:cNvSpPr>
          <p:nvPr/>
        </p:nvSpPr>
        <p:spPr>
          <a:xfrm xmlns:a="http://schemas.openxmlformats.org/drawingml/2006/main">
            <a:off x="685800" y="245745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CIDRE • ICCAD 2025</a:t>
            </a:r>
          </a:p>
        </p:txBody>
      </p:sp>
      <p:sp>
        <p:nvSpPr>
          <p:cNvPr id="9" name="">
            <a:extLst xmlns:a="http://schemas.openxmlformats.org/drawingml/2006/main">
              <a:ext uri="{FF2B5EF4-FFF2-40B4-BE49-F238E27FC236}">
                <a16:creationId xmlns:a16="http://schemas.microsoft.com/office/drawing/2014/main" id="{B27FBE96-A1FE-47D0-8B68-14ABA8F3F9E2}"/>
              </a:ext>
            </a:extLst>
          </p:cNvPr>
          <p:cNvSpPr>
            <a:spLocks xmlns:a="http://schemas.openxmlformats.org/drawingml/2006/main" noGrp="1"/>
          </p:cNvSpPr>
          <p:nvPr/>
        </p:nvSpPr>
        <p:spPr>
          <a:xfrm xmlns:a="http://schemas.openxmlformats.org/drawingml/2006/main">
            <a:off x="5143500" y="245745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Architecture-aware evaluation</a:t>
            </a:r>
          </a:p>
        </p:txBody>
      </p:sp>
      <p:sp>
        <p:nvSpPr>
          <p:cNvPr id="10" name="">
            <a:extLst xmlns:a="http://schemas.openxmlformats.org/drawingml/2006/main">
              <a:ext uri="{FF2B5EF4-FFF2-40B4-BE49-F238E27FC236}">
                <a16:creationId xmlns:a16="http://schemas.microsoft.com/office/drawing/2014/main" id="{5F075E4F-14AA-42E8-BDFC-F202B844C4C2}"/>
              </a:ext>
            </a:extLst>
          </p:cNvPr>
          <p:cNvSpPr>
            <a:spLocks xmlns:a="http://schemas.openxmlformats.org/drawingml/2006/main" noGrp="1"/>
          </p:cNvSpPr>
          <p:nvPr/>
        </p:nvSpPr>
        <p:spPr>
          <a:xfrm xmlns:a="http://schemas.openxmlformats.org/drawingml/2006/main">
            <a:off x="5143500" y="283845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Account for processor latency and timing</a:t>
            </a:r>
          </a:p>
        </p:txBody>
      </p:sp>
      <p:sp>
        <p:nvSpPr>
          <p:cNvPr id="11" name="">
            <a:extLst xmlns:a="http://schemas.openxmlformats.org/drawingml/2006/main">
              <a:ext uri="{FF2B5EF4-FFF2-40B4-BE49-F238E27FC236}">
                <a16:creationId xmlns:a16="http://schemas.microsoft.com/office/drawing/2014/main" id="{B6FCFA83-2378-42AE-A258-B343C2DE4FDC}"/>
              </a:ext>
            </a:extLst>
          </p:cNvPr>
          <p:cNvSpPr>
            <a:spLocks xmlns:a="http://schemas.openxmlformats.org/drawingml/2006/main" noGrp="1"/>
          </p:cNvSpPr>
          <p:nvPr/>
        </p:nvSpPr>
        <p:spPr>
          <a:xfrm xmlns:a="http://schemas.openxmlformats.org/drawingml/2006/main">
            <a:off x="685800" y="3276600"/>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2" name="">
            <a:extLst xmlns:a="http://schemas.openxmlformats.org/drawingml/2006/main">
              <a:ext uri="{FF2B5EF4-FFF2-40B4-BE49-F238E27FC236}">
                <a16:creationId xmlns:a16="http://schemas.microsoft.com/office/drawing/2014/main" id="{20C9F1B6-5FFD-4C9D-83A3-509756208283}"/>
              </a:ext>
            </a:extLst>
          </p:cNvPr>
          <p:cNvSpPr>
            <a:spLocks xmlns:a="http://schemas.openxmlformats.org/drawingml/2006/main" noGrp="1"/>
          </p:cNvSpPr>
          <p:nvPr/>
        </p:nvSpPr>
        <p:spPr>
          <a:xfrm xmlns:a="http://schemas.openxmlformats.org/drawingml/2006/main">
            <a:off x="685800" y="3457575"/>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AutoTVM • NeurIPS 2018</a:t>
            </a:r>
          </a:p>
        </p:txBody>
      </p:sp>
      <p:sp>
        <p:nvSpPr>
          <p:cNvPr id="13" name="">
            <a:extLst xmlns:a="http://schemas.openxmlformats.org/drawingml/2006/main">
              <a:ext uri="{FF2B5EF4-FFF2-40B4-BE49-F238E27FC236}">
                <a16:creationId xmlns:a16="http://schemas.microsoft.com/office/drawing/2014/main" id="{CF90C0CB-5994-4C0C-A30B-0D90C2F37110}"/>
              </a:ext>
            </a:extLst>
          </p:cNvPr>
          <p:cNvSpPr>
            <a:spLocks xmlns:a="http://schemas.openxmlformats.org/drawingml/2006/main" noGrp="1"/>
          </p:cNvSpPr>
          <p:nvPr/>
        </p:nvSpPr>
        <p:spPr>
          <a:xfrm xmlns:a="http://schemas.openxmlformats.org/drawingml/2006/main">
            <a:off x="5143500" y="3457575"/>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Learn from measured performance</a:t>
            </a:r>
          </a:p>
        </p:txBody>
      </p:sp>
      <p:sp>
        <p:nvSpPr>
          <p:cNvPr id="14" name="">
            <a:extLst xmlns:a="http://schemas.openxmlformats.org/drawingml/2006/main">
              <a:ext uri="{FF2B5EF4-FFF2-40B4-BE49-F238E27FC236}">
                <a16:creationId xmlns:a16="http://schemas.microsoft.com/office/drawing/2014/main" id="{2DE99573-347B-4AC9-A2D9-9EED0E8BA163}"/>
              </a:ext>
            </a:extLst>
          </p:cNvPr>
          <p:cNvSpPr>
            <a:spLocks xmlns:a="http://schemas.openxmlformats.org/drawingml/2006/main" noGrp="1"/>
          </p:cNvSpPr>
          <p:nvPr/>
        </p:nvSpPr>
        <p:spPr>
          <a:xfrm xmlns:a="http://schemas.openxmlformats.org/drawingml/2006/main">
            <a:off x="5143500" y="3838575"/>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Pairwise ranking of alternatives</a:t>
            </a:r>
          </a:p>
        </p:txBody>
      </p:sp>
      <p:sp>
        <p:nvSpPr>
          <p:cNvPr id="15" name="">
            <a:extLst xmlns:a="http://schemas.openxmlformats.org/drawingml/2006/main">
              <a:ext uri="{FF2B5EF4-FFF2-40B4-BE49-F238E27FC236}">
                <a16:creationId xmlns:a16="http://schemas.microsoft.com/office/drawing/2014/main" id="{215E08A7-1E74-4D01-9C7E-3EF3A7FD4710}"/>
              </a:ext>
            </a:extLst>
          </p:cNvPr>
          <p:cNvSpPr>
            <a:spLocks xmlns:a="http://schemas.openxmlformats.org/drawingml/2006/main" noGrp="1"/>
          </p:cNvSpPr>
          <p:nvPr/>
        </p:nvSpPr>
        <p:spPr>
          <a:xfrm xmlns:a="http://schemas.openxmlformats.org/drawingml/2006/main">
            <a:off x="685800" y="4276725"/>
            <a:ext cx="108204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6" name="">
            <a:extLst xmlns:a="http://schemas.openxmlformats.org/drawingml/2006/main">
              <a:ext uri="{FF2B5EF4-FFF2-40B4-BE49-F238E27FC236}">
                <a16:creationId xmlns:a16="http://schemas.microsoft.com/office/drawing/2014/main" id="{AC61FD6A-6231-41DB-B910-BB5F6E558313}"/>
              </a:ext>
            </a:extLst>
          </p:cNvPr>
          <p:cNvSpPr>
            <a:spLocks xmlns:a="http://schemas.openxmlformats.org/drawingml/2006/main" noGrp="1"/>
          </p:cNvSpPr>
          <p:nvPr/>
        </p:nvSpPr>
        <p:spPr>
          <a:xfrm xmlns:a="http://schemas.openxmlformats.org/drawingml/2006/main">
            <a:off x="685800" y="4457700"/>
            <a:ext cx="4191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Gardner et al. • ICML 2014</a:t>
            </a:r>
          </a:p>
        </p:txBody>
      </p:sp>
      <p:sp>
        <p:nvSpPr>
          <p:cNvPr id="17" name="">
            <a:extLst xmlns:a="http://schemas.openxmlformats.org/drawingml/2006/main">
              <a:ext uri="{FF2B5EF4-FFF2-40B4-BE49-F238E27FC236}">
                <a16:creationId xmlns:a16="http://schemas.microsoft.com/office/drawing/2014/main" id="{F458B9C2-BC06-46D4-91D3-DBC69622291F}"/>
              </a:ext>
            </a:extLst>
          </p:cNvPr>
          <p:cNvSpPr>
            <a:spLocks xmlns:a="http://schemas.openxmlformats.org/drawingml/2006/main" noGrp="1"/>
          </p:cNvSpPr>
          <p:nvPr/>
        </p:nvSpPr>
        <p:spPr>
          <a:xfrm xmlns:a="http://schemas.openxmlformats.org/drawingml/2006/main">
            <a:off x="5143500" y="4457700"/>
            <a:ext cx="6191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2878A8"/>
                </a:solidFill>
                <a:latin typeface="Arial"/>
                <a:ea typeface="Arial"/>
                <a:cs typeface="Arial"/>
              </a:defRPr>
            </a:defPPr>
            <a:lvl1pPr>
              <a:defRPr sz="2025" b="1">
                <a:solidFill>
                  <a:srgbClr val="2878A8"/>
                </a:solidFill>
                <a:latin typeface="Arial"/>
                <a:ea typeface="Arial"/>
                <a:cs typeface="Arial"/>
              </a:defRPr>
            </a:lvl1pPr>
            <a:lvl2pPr>
              <a:defRPr sz="2025" b="1">
                <a:solidFill>
                  <a:srgbClr val="2878A8"/>
                </a:solidFill>
                <a:latin typeface="Arial"/>
                <a:ea typeface="Arial"/>
                <a:cs typeface="Arial"/>
              </a:defRPr>
            </a:lvl2pPr>
            <a:lvl3pPr>
              <a:defRPr sz="2025" b="1">
                <a:solidFill>
                  <a:srgbClr val="2878A8"/>
                </a:solidFill>
                <a:latin typeface="Arial"/>
                <a:ea typeface="Arial"/>
                <a:cs typeface="Arial"/>
              </a:defRPr>
            </a:lvl3pPr>
            <a:lvl4pPr>
              <a:defRPr sz="2025" b="1">
                <a:solidFill>
                  <a:srgbClr val="2878A8"/>
                </a:solidFill>
                <a:latin typeface="Arial"/>
                <a:ea typeface="Arial"/>
                <a:cs typeface="Arial"/>
              </a:defRPr>
            </a:lvl4pPr>
            <a:lvl5pPr>
              <a:defRPr sz="2025" b="1">
                <a:solidFill>
                  <a:srgbClr val="2878A8"/>
                </a:solidFill>
                <a:latin typeface="Arial"/>
                <a:ea typeface="Arial"/>
                <a:cs typeface="Arial"/>
              </a:defRPr>
            </a:lvl5pPr>
            <a:lvl6pPr>
              <a:defRPr sz="2025" b="1">
                <a:solidFill>
                  <a:srgbClr val="2878A8"/>
                </a:solidFill>
                <a:latin typeface="Arial"/>
                <a:ea typeface="Arial"/>
                <a:cs typeface="Arial"/>
              </a:defRPr>
            </a:lvl6pPr>
            <a:lvl7pPr>
              <a:defRPr sz="2025" b="1">
                <a:solidFill>
                  <a:srgbClr val="2878A8"/>
                </a:solidFill>
                <a:latin typeface="Arial"/>
                <a:ea typeface="Arial"/>
                <a:cs typeface="Arial"/>
              </a:defRPr>
            </a:lvl7pPr>
            <a:lvl8pPr>
              <a:defRPr sz="2025" b="1">
                <a:solidFill>
                  <a:srgbClr val="2878A8"/>
                </a:solidFill>
                <a:latin typeface="Arial"/>
                <a:ea typeface="Arial"/>
                <a:cs typeface="Arial"/>
              </a:defRPr>
            </a:lvl8pPr>
            <a:lvl9pPr>
              <a:defRPr sz="2025" b="1">
                <a:solidFill>
                  <a:srgbClr val="2878A8"/>
                </a:solidFill>
                <a:latin typeface="Arial"/>
                <a:ea typeface="Arial"/>
                <a:cs typeface="Arial"/>
              </a:defRPr>
            </a:lvl9pPr>
          </a:lstStyle>
          <a:p xmlns:a="http://schemas.openxmlformats.org/drawingml/2006/main">
            <a:pPr>
              <a:defRPr sz="2025" b="1">
                <a:solidFill>
                  <a:srgbClr val="2878A8"/>
                </a:solidFill>
                <a:latin typeface="Arial"/>
                <a:ea typeface="Arial"/>
                <a:cs typeface="Arial"/>
              </a:defRPr>
            </a:pPr>
            <a:r>
              <a:rPr sz="2025" b="1">
                <a:solidFill>
                  <a:srgbClr val="2878A8"/>
                </a:solidFill>
                <a:latin typeface="Arial"/>
                <a:ea typeface="Arial"/>
                <a:cs typeface="Arial"/>
              </a:rPr>
              <a:t>Constrained Bayesian optimization</a:t>
            </a:r>
          </a:p>
        </p:txBody>
      </p:sp>
      <p:sp>
        <p:nvSpPr>
          <p:cNvPr id="18" name="">
            <a:extLst xmlns:a="http://schemas.openxmlformats.org/drawingml/2006/main">
              <a:ext uri="{FF2B5EF4-FFF2-40B4-BE49-F238E27FC236}">
                <a16:creationId xmlns:a16="http://schemas.microsoft.com/office/drawing/2014/main" id="{E8C78DAF-F7B1-4DB6-9FDA-8DFEEE9B9897}"/>
              </a:ext>
            </a:extLst>
          </p:cNvPr>
          <p:cNvSpPr>
            <a:spLocks xmlns:a="http://schemas.openxmlformats.org/drawingml/2006/main" noGrp="1"/>
          </p:cNvSpPr>
          <p:nvPr/>
        </p:nvSpPr>
        <p:spPr>
          <a:xfrm xmlns:a="http://schemas.openxmlformats.org/drawingml/2006/main">
            <a:off x="5143500" y="4838700"/>
            <a:ext cx="619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Balance benefit, feasibility, and measurement</a:t>
            </a:r>
          </a:p>
        </p:txBody>
      </p:sp>
      <p:sp>
        <p:nvSpPr>
          <p:cNvPr id="19" name="">
            <a:extLst xmlns:a="http://schemas.openxmlformats.org/drawingml/2006/main">
              <a:ext uri="{FF2B5EF4-FFF2-40B4-BE49-F238E27FC236}">
                <a16:creationId xmlns:a16="http://schemas.microsoft.com/office/drawing/2014/main" id="{EFF92EDE-64B1-4D8A-83F8-7E90A7836FBB}"/>
              </a:ext>
            </a:extLst>
          </p:cNvPr>
          <p:cNvSpPr>
            <a:spLocks xmlns:a="http://schemas.openxmlformats.org/drawingml/2006/main" noGrp="1"/>
          </p:cNvSpPr>
          <p:nvPr/>
        </p:nvSpPr>
        <p:spPr>
          <a:xfrm xmlns:a="http://schemas.openxmlformats.org/drawingml/2006/main">
            <a:off x="685800" y="5724525"/>
            <a:ext cx="1081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Our test: measurement-efficient selection, validated on real processor outcomes.</a:t>
            </a:r>
          </a:p>
        </p:txBody>
      </p:sp>
    </p:spTree>
    <p:extLst>
      <p:ext uri="{BB962C8B-B14F-4D97-AF65-F5344CB8AC3E}">
        <p14:creationId xmlns:p14="http://schemas.microsoft.com/office/powerpoint/2010/main" val="164134674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BA32DAF-0B45-45B5-A495-457C1A9A1183}"/>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Timeline and team contributions</a:t>
            </a:r>
          </a:p>
        </p:txBody>
      </p:sp>
      <p:sp>
        <p:nvSpPr>
          <p:cNvPr id="2" name="">
            <a:extLst xmlns:a="http://schemas.openxmlformats.org/drawingml/2006/main">
              <a:ext uri="{FF2B5EF4-FFF2-40B4-BE49-F238E27FC236}">
                <a16:creationId xmlns:a16="http://schemas.microsoft.com/office/drawing/2014/main" id="{D144B03A-745A-4878-955D-CDA7FA2172D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C04265B6-0428-4E41-B654-C49551808401}"/>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3</a:t>
            </a:r>
          </a:p>
        </p:txBody>
      </p:sp>
      <p:sp>
        <p:nvSpPr>
          <p:cNvPr id="4" name="">
            <a:extLst xmlns:a="http://schemas.openxmlformats.org/drawingml/2006/main">
              <a:ext uri="{FF2B5EF4-FFF2-40B4-BE49-F238E27FC236}">
                <a16:creationId xmlns:a16="http://schemas.microsoft.com/office/drawing/2014/main" id="{CEACC56D-A660-45EB-A41F-8C1593F72110}"/>
              </a:ext>
            </a:extLst>
          </p:cNvPr>
          <p:cNvSpPr>
            <a:spLocks xmlns:a="http://schemas.openxmlformats.org/drawingml/2006/main" noGrp="1"/>
          </p:cNvSpPr>
          <p:nvPr/>
        </p:nvSpPr>
        <p:spPr>
          <a:xfrm xmlns:a="http://schemas.openxmlformats.org/drawingml/2006/main">
            <a:off x="904875" y="2000250"/>
            <a:ext cx="10239375" cy="0"/>
          </a:xfrm>
          <a:prstGeom xmlns:a="http://schemas.openxmlformats.org/drawingml/2006/main" prst="line">
            <a:avLst/>
          </a:prstGeom>
          <a:noFill xmlns:a="http://schemas.openxmlformats.org/drawingml/2006/main"/>
          <a:ln xmlns:a="http://schemas.openxmlformats.org/drawingml/2006/main" w="38100">
            <a:solidFill>
              <a:srgbClr val="2878A8"/>
            </a:solidFill>
            <a:prstDash val="solid"/>
          </a:ln>
        </p:spPr>
      </p:sp>
      <p:sp>
        <p:nvSpPr>
          <p:cNvPr id="5" name="">
            <a:extLst xmlns:a="http://schemas.openxmlformats.org/drawingml/2006/main">
              <a:ext uri="{FF2B5EF4-FFF2-40B4-BE49-F238E27FC236}">
                <a16:creationId xmlns:a16="http://schemas.microsoft.com/office/drawing/2014/main" id="{B2E7A285-E5BD-4F61-8189-44F625073065}"/>
              </a:ext>
            </a:extLst>
          </p:cNvPr>
          <p:cNvSpPr>
            <a:spLocks xmlns:a="http://schemas.openxmlformats.org/drawingml/2006/main" noGrp="1"/>
          </p:cNvSpPr>
          <p:nvPr/>
        </p:nvSpPr>
        <p:spPr>
          <a:xfrm xmlns:a="http://schemas.openxmlformats.org/drawingml/2006/main">
            <a:off x="68580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13–18</a:t>
            </a:r>
          </a:p>
        </p:txBody>
      </p:sp>
      <p:sp>
        <p:nvSpPr>
          <p:cNvPr id="6" name="">
            <a:extLst xmlns:a="http://schemas.openxmlformats.org/drawingml/2006/main">
              <a:ext uri="{FF2B5EF4-FFF2-40B4-BE49-F238E27FC236}">
                <a16:creationId xmlns:a16="http://schemas.microsoft.com/office/drawing/2014/main" id="{B935CE71-118F-41DE-9468-2BE4A8AE9A05}"/>
              </a:ext>
            </a:extLst>
          </p:cNvPr>
          <p:cNvSpPr>
            <a:spLocks xmlns:a="http://schemas.openxmlformats.org/drawingml/2006/main" noGrp="1"/>
          </p:cNvSpPr>
          <p:nvPr/>
        </p:nvSpPr>
        <p:spPr>
          <a:xfrm xmlns:a="http://schemas.openxmlformats.org/drawingml/2006/main">
            <a:off x="80010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0B04718-C443-4269-BEF7-13B4F71C4FAA}"/>
              </a:ext>
            </a:extLst>
          </p:cNvPr>
          <p:cNvSpPr>
            <a:spLocks xmlns:a="http://schemas.openxmlformats.org/drawingml/2006/main" noGrp="1"/>
          </p:cNvSpPr>
          <p:nvPr/>
        </p:nvSpPr>
        <p:spPr>
          <a:xfrm xmlns:a="http://schemas.openxmlformats.org/drawingml/2006/main">
            <a:off x="68580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Traces + synthesis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early cost models</a:t>
            </a:r>
          </a:p>
        </p:txBody>
      </p:sp>
      <p:sp>
        <p:nvSpPr>
          <p:cNvPr id="8" name="">
            <a:extLst xmlns:a="http://schemas.openxmlformats.org/drawingml/2006/main">
              <a:ext uri="{FF2B5EF4-FFF2-40B4-BE49-F238E27FC236}">
                <a16:creationId xmlns:a16="http://schemas.microsoft.com/office/drawing/2014/main" id="{32A0B2C4-5EB0-44CD-AF67-06F22C394463}"/>
              </a:ext>
            </a:extLst>
          </p:cNvPr>
          <p:cNvSpPr>
            <a:spLocks xmlns:a="http://schemas.openxmlformats.org/drawingml/2006/main" noGrp="1"/>
          </p:cNvSpPr>
          <p:nvPr/>
        </p:nvSpPr>
        <p:spPr>
          <a:xfrm xmlns:a="http://schemas.openxmlformats.org/drawingml/2006/main">
            <a:off x="347662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19</a:t>
            </a:r>
          </a:p>
        </p:txBody>
      </p:sp>
      <p:sp>
        <p:nvSpPr>
          <p:cNvPr id="9" name="">
            <a:extLst xmlns:a="http://schemas.openxmlformats.org/drawingml/2006/main">
              <a:ext uri="{FF2B5EF4-FFF2-40B4-BE49-F238E27FC236}">
                <a16:creationId xmlns:a16="http://schemas.microsoft.com/office/drawing/2014/main" id="{7B5CC611-625F-4FD6-9F34-9B2616035D62}"/>
              </a:ext>
            </a:extLst>
          </p:cNvPr>
          <p:cNvSpPr>
            <a:spLocks xmlns:a="http://schemas.openxmlformats.org/drawingml/2006/main" noGrp="1"/>
          </p:cNvSpPr>
          <p:nvPr/>
        </p:nvSpPr>
        <p:spPr>
          <a:xfrm xmlns:a="http://schemas.openxmlformats.org/drawingml/2006/main">
            <a:off x="359092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B6CDA47-7DFE-497D-AD35-16CAAF409036}"/>
              </a:ext>
            </a:extLst>
          </p:cNvPr>
          <p:cNvSpPr>
            <a:spLocks xmlns:a="http://schemas.openxmlformats.org/drawingml/2006/main" noGrp="1"/>
          </p:cNvSpPr>
          <p:nvPr/>
        </p:nvSpPr>
        <p:spPr>
          <a:xfrm xmlns:a="http://schemas.openxmlformats.org/drawingml/2006/main">
            <a:off x="347662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CRC32 + aha</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processor pipeline</a:t>
            </a:r>
          </a:p>
        </p:txBody>
      </p:sp>
      <p:sp>
        <p:nvSpPr>
          <p:cNvPr id="11" name="">
            <a:extLst xmlns:a="http://schemas.openxmlformats.org/drawingml/2006/main">
              <a:ext uri="{FF2B5EF4-FFF2-40B4-BE49-F238E27FC236}">
                <a16:creationId xmlns:a16="http://schemas.microsoft.com/office/drawing/2014/main" id="{0BA4F50B-9729-4AA5-A2FF-A6247A95091C}"/>
              </a:ext>
            </a:extLst>
          </p:cNvPr>
          <p:cNvSpPr>
            <a:spLocks xmlns:a="http://schemas.openxmlformats.org/drawingml/2006/main" noGrp="1"/>
          </p:cNvSpPr>
          <p:nvPr/>
        </p:nvSpPr>
        <p:spPr>
          <a:xfrm xmlns:a="http://schemas.openxmlformats.org/drawingml/2006/main">
            <a:off x="6267450"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20–26</a:t>
            </a:r>
          </a:p>
        </p:txBody>
      </p:sp>
      <p:sp>
        <p:nvSpPr>
          <p:cNvPr id="12" name="">
            <a:extLst xmlns:a="http://schemas.openxmlformats.org/drawingml/2006/main">
              <a:ext uri="{FF2B5EF4-FFF2-40B4-BE49-F238E27FC236}">
                <a16:creationId xmlns:a16="http://schemas.microsoft.com/office/drawing/2014/main" id="{037EA34F-702E-43A3-9E5F-34587504B872}"/>
              </a:ext>
            </a:extLst>
          </p:cNvPr>
          <p:cNvSpPr>
            <a:spLocks xmlns:a="http://schemas.openxmlformats.org/drawingml/2006/main" noGrp="1"/>
          </p:cNvSpPr>
          <p:nvPr/>
        </p:nvSpPr>
        <p:spPr>
          <a:xfrm xmlns:a="http://schemas.openxmlformats.org/drawingml/2006/main">
            <a:off x="6381750"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B605F9D-DC83-4B1B-A967-D9D2665CCA73}"/>
              </a:ext>
            </a:extLst>
          </p:cNvPr>
          <p:cNvSpPr>
            <a:spLocks xmlns:a="http://schemas.openxmlformats.org/drawingml/2006/main" noGrp="1"/>
          </p:cNvSpPr>
          <p:nvPr/>
        </p:nvSpPr>
        <p:spPr>
          <a:xfrm xmlns:a="http://schemas.openxmlformats.org/drawingml/2006/main">
            <a:off x="6267450"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More workloads</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selection tests</a:t>
            </a:r>
          </a:p>
        </p:txBody>
      </p:sp>
      <p:sp>
        <p:nvSpPr>
          <p:cNvPr id="14" name="">
            <a:extLst xmlns:a="http://schemas.openxmlformats.org/drawingml/2006/main">
              <a:ext uri="{FF2B5EF4-FFF2-40B4-BE49-F238E27FC236}">
                <a16:creationId xmlns:a16="http://schemas.microsoft.com/office/drawing/2014/main" id="{DC7D3ECE-D3B3-4F81-81EC-A2E68AA70F25}"/>
              </a:ext>
            </a:extLst>
          </p:cNvPr>
          <p:cNvSpPr>
            <a:spLocks xmlns:a="http://schemas.openxmlformats.org/drawingml/2006/main" noGrp="1"/>
          </p:cNvSpPr>
          <p:nvPr/>
        </p:nvSpPr>
        <p:spPr>
          <a:xfrm xmlns:a="http://schemas.openxmlformats.org/drawingml/2006/main">
            <a:off x="9058275" y="14668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2878A8"/>
                </a:solidFill>
                <a:latin typeface="Arial"/>
                <a:ea typeface="Arial"/>
                <a:cs typeface="Arial"/>
              </a:defRPr>
            </a:defPPr>
            <a:lvl1pPr>
              <a:defRPr sz="1800" b="1">
                <a:solidFill>
                  <a:srgbClr val="2878A8"/>
                </a:solidFill>
                <a:latin typeface="Arial"/>
                <a:ea typeface="Arial"/>
                <a:cs typeface="Arial"/>
              </a:defRPr>
            </a:lvl1pPr>
            <a:lvl2pPr>
              <a:defRPr sz="1800" b="1">
                <a:solidFill>
                  <a:srgbClr val="2878A8"/>
                </a:solidFill>
                <a:latin typeface="Arial"/>
                <a:ea typeface="Arial"/>
                <a:cs typeface="Arial"/>
              </a:defRPr>
            </a:lvl2pPr>
            <a:lvl3pPr>
              <a:defRPr sz="1800" b="1">
                <a:solidFill>
                  <a:srgbClr val="2878A8"/>
                </a:solidFill>
                <a:latin typeface="Arial"/>
                <a:ea typeface="Arial"/>
                <a:cs typeface="Arial"/>
              </a:defRPr>
            </a:lvl3pPr>
            <a:lvl4pPr>
              <a:defRPr sz="1800" b="1">
                <a:solidFill>
                  <a:srgbClr val="2878A8"/>
                </a:solidFill>
                <a:latin typeface="Arial"/>
                <a:ea typeface="Arial"/>
                <a:cs typeface="Arial"/>
              </a:defRPr>
            </a:lvl4pPr>
            <a:lvl5pPr>
              <a:defRPr sz="1800" b="1">
                <a:solidFill>
                  <a:srgbClr val="2878A8"/>
                </a:solidFill>
                <a:latin typeface="Arial"/>
                <a:ea typeface="Arial"/>
                <a:cs typeface="Arial"/>
              </a:defRPr>
            </a:lvl5pPr>
            <a:lvl6pPr>
              <a:defRPr sz="1800" b="1">
                <a:solidFill>
                  <a:srgbClr val="2878A8"/>
                </a:solidFill>
                <a:latin typeface="Arial"/>
                <a:ea typeface="Arial"/>
                <a:cs typeface="Arial"/>
              </a:defRPr>
            </a:lvl6pPr>
            <a:lvl7pPr>
              <a:defRPr sz="1800" b="1">
                <a:solidFill>
                  <a:srgbClr val="2878A8"/>
                </a:solidFill>
                <a:latin typeface="Arial"/>
                <a:ea typeface="Arial"/>
                <a:cs typeface="Arial"/>
              </a:defRPr>
            </a:lvl7pPr>
            <a:lvl8pPr>
              <a:defRPr sz="1800" b="1">
                <a:solidFill>
                  <a:srgbClr val="2878A8"/>
                </a:solidFill>
                <a:latin typeface="Arial"/>
                <a:ea typeface="Arial"/>
                <a:cs typeface="Arial"/>
              </a:defRPr>
            </a:lvl8pPr>
            <a:lvl9pPr>
              <a:defRPr sz="1800" b="1">
                <a:solidFill>
                  <a:srgbClr val="2878A8"/>
                </a:solidFill>
                <a:latin typeface="Arial"/>
                <a:ea typeface="Arial"/>
                <a:cs typeface="Arial"/>
              </a:defRPr>
            </a:lvl9pPr>
          </a:lstStyle>
          <a:p xmlns:a="http://schemas.openxmlformats.org/drawingml/2006/main">
            <a:pPr>
              <a:defRPr sz="1800" b="1">
                <a:solidFill>
                  <a:srgbClr val="2878A8"/>
                </a:solidFill>
                <a:latin typeface="Arial"/>
                <a:ea typeface="Arial"/>
                <a:cs typeface="Arial"/>
              </a:defRPr>
            </a:pPr>
            <a:r>
              <a:rPr sz="1800" b="1">
                <a:solidFill>
                  <a:srgbClr val="2878A8"/>
                </a:solidFill>
                <a:latin typeface="Arial"/>
                <a:ea typeface="Arial"/>
                <a:cs typeface="Arial"/>
              </a:rPr>
              <a:t>OCT 27</a:t>
            </a:r>
          </a:p>
        </p:txBody>
      </p:sp>
      <p:sp>
        <p:nvSpPr>
          <p:cNvPr id="15" name="">
            <a:extLst xmlns:a="http://schemas.openxmlformats.org/drawingml/2006/main">
              <a:ext uri="{FF2B5EF4-FFF2-40B4-BE49-F238E27FC236}">
                <a16:creationId xmlns:a16="http://schemas.microsoft.com/office/drawing/2014/main" id="{09722D35-B0B0-4F49-AF40-D6B34009D1ED}"/>
              </a:ext>
            </a:extLst>
          </p:cNvPr>
          <p:cNvSpPr>
            <a:spLocks xmlns:a="http://schemas.openxmlformats.org/drawingml/2006/main" noGrp="1"/>
          </p:cNvSpPr>
          <p:nvPr/>
        </p:nvSpPr>
        <p:spPr>
          <a:xfrm xmlns:a="http://schemas.openxmlformats.org/drawingml/2006/main">
            <a:off x="9172575" y="1914525"/>
            <a:ext cx="171450" cy="171450"/>
          </a:xfrm>
          <a:prstGeom xmlns:a="http://schemas.openxmlformats.org/drawingml/2006/main" prst="ellipse">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2CF7C75-4034-4C0D-BCA3-DE656CF88CFC}"/>
              </a:ext>
            </a:extLst>
          </p:cNvPr>
          <p:cNvSpPr>
            <a:spLocks xmlns:a="http://schemas.openxmlformats.org/drawingml/2006/main" noGrp="1"/>
          </p:cNvSpPr>
          <p:nvPr/>
        </p:nvSpPr>
        <p:spPr>
          <a:xfrm xmlns:a="http://schemas.openxmlformats.org/drawingml/2006/main">
            <a:off x="9058275" y="2324100"/>
            <a:ext cx="24765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7324D"/>
                </a:solidFill>
                <a:latin typeface="Arial"/>
                <a:ea typeface="Arial"/>
                <a:cs typeface="Arial"/>
              </a:defRPr>
            </a:defPPr>
            <a:lvl1pPr>
              <a:defRPr sz="1875" b="1">
                <a:solidFill>
                  <a:srgbClr val="17324D"/>
                </a:solidFill>
                <a:latin typeface="Arial"/>
                <a:ea typeface="Arial"/>
                <a:cs typeface="Arial"/>
              </a:defRPr>
            </a:lvl1pPr>
            <a:lvl2pPr>
              <a:defRPr sz="1875" b="1">
                <a:solidFill>
                  <a:srgbClr val="17324D"/>
                </a:solidFill>
                <a:latin typeface="Arial"/>
                <a:ea typeface="Arial"/>
                <a:cs typeface="Arial"/>
              </a:defRPr>
            </a:lvl2pPr>
            <a:lvl3pPr>
              <a:defRPr sz="1875" b="1">
                <a:solidFill>
                  <a:srgbClr val="17324D"/>
                </a:solidFill>
                <a:latin typeface="Arial"/>
                <a:ea typeface="Arial"/>
                <a:cs typeface="Arial"/>
              </a:defRPr>
            </a:lvl3pPr>
            <a:lvl4pPr>
              <a:defRPr sz="1875" b="1">
                <a:solidFill>
                  <a:srgbClr val="17324D"/>
                </a:solidFill>
                <a:latin typeface="Arial"/>
                <a:ea typeface="Arial"/>
                <a:cs typeface="Arial"/>
              </a:defRPr>
            </a:lvl4pPr>
            <a:lvl5pPr>
              <a:defRPr sz="1875" b="1">
                <a:solidFill>
                  <a:srgbClr val="17324D"/>
                </a:solidFill>
                <a:latin typeface="Arial"/>
                <a:ea typeface="Arial"/>
                <a:cs typeface="Arial"/>
              </a:defRPr>
            </a:lvl5pPr>
            <a:lvl6pPr>
              <a:defRPr sz="1875" b="1">
                <a:solidFill>
                  <a:srgbClr val="17324D"/>
                </a:solidFill>
                <a:latin typeface="Arial"/>
                <a:ea typeface="Arial"/>
                <a:cs typeface="Arial"/>
              </a:defRPr>
            </a:lvl6pPr>
            <a:lvl7pPr>
              <a:defRPr sz="1875" b="1">
                <a:solidFill>
                  <a:srgbClr val="17324D"/>
                </a:solidFill>
                <a:latin typeface="Arial"/>
                <a:ea typeface="Arial"/>
                <a:cs typeface="Arial"/>
              </a:defRPr>
            </a:lvl7pPr>
            <a:lvl8pPr>
              <a:defRPr sz="1875" b="1">
                <a:solidFill>
                  <a:srgbClr val="17324D"/>
                </a:solidFill>
                <a:latin typeface="Arial"/>
                <a:ea typeface="Arial"/>
                <a:cs typeface="Arial"/>
              </a:defRPr>
            </a:lvl8pPr>
            <a:lvl9pPr>
              <a:defRPr sz="1875" b="1">
                <a:solidFill>
                  <a:srgbClr val="17324D"/>
                </a:solidFill>
                <a:latin typeface="Arial"/>
                <a:ea typeface="Arial"/>
                <a:cs typeface="Arial"/>
              </a:defRPr>
            </a:lvl9pPr>
          </a:lstStyle>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122-label scorecard</a:t>
            </a:r>
          </a:p>
          <a:p xmlns:a="http://schemas.openxmlformats.org/drawingml/2006/main">
            <a:pPr>
              <a:defRPr sz="1875" b="1">
                <a:solidFill>
                  <a:srgbClr val="17324D"/>
                </a:solidFill>
                <a:latin typeface="Arial"/>
                <a:ea typeface="Arial"/>
                <a:cs typeface="Arial"/>
              </a:defRPr>
            </a:pPr>
            <a:r>
              <a:rPr sz="1875" b="1">
                <a:solidFill>
                  <a:srgbClr val="17324D"/>
                </a:solidFill>
                <a:latin typeface="Arial"/>
                <a:ea typeface="Arial"/>
                <a:cs typeface="Arial"/>
              </a:rPr>
              <a:t>+ agent pilot</a:t>
            </a:r>
          </a:p>
        </p:txBody>
      </p:sp>
      <p:graphicFrame>
        <p:nvGraphicFramePr>
          <p:cNvPr id="17" name="">
            <a:extLst xmlns:a="http://schemas.openxmlformats.org/drawingml/2006/main">
              <a:ext uri="{FF2B5EF4-FFF2-40B4-BE49-F238E27FC236}">
                <a16:creationId xmlns:a16="http://schemas.microsoft.com/office/drawing/2014/main" id="{F21445CC-5C6B-4E19-BEB0-3F59CE0DC89A}"/>
              </a:ext>
            </a:extLst>
          </p:cNvPr>
          <p:cNvGraphicFramePr/>
          <p:nvPr/>
        </p:nvGraphicFramePr>
        <p:xfrm>
          <a:off xmlns:a="http://schemas.openxmlformats.org/drawingml/2006/main" x="685800" y="3486150"/>
          <a:ext xmlns:a="http://schemas.openxmlformats.org/drawingml/2006/main" cx="10820400" cy="2171700"/>
        </p:xfrm>
        <a:graphic xmlns:a="http://schemas.openxmlformats.org/drawingml/2006/main">
          <a:graphicData uri="http://schemas.openxmlformats.org/drawingml/2006/table">
            <a:tbl>
              <a:tblPr firstRow="0" bandRow="0"/>
              <a:tblGrid>
                <a:gridCol w="3714750"/>
                <a:gridCol w="7105650"/>
              </a:tblGrid>
              <a:tr h="542925">
                <a:tc>
                  <a:txBody>
                    <a:bodyPr/>
                    <a:lstStyle/>
                    <a:p>
                      <a:r>
                        <a:rPr sz="1800" b="1">
                          <a:solidFill>
                            <a:srgbClr val="FFFFFF"/>
                          </a:solidFill>
                          <a:latin typeface="Arial"/>
                          <a:ea typeface="Arial"/>
                          <a:cs typeface="Arial"/>
                        </a:rPr>
                        <a:t>Contributor / evidence</a:t>
                      </a:r>
                    </a:p>
                  </a:txBody>
                  <a:tcPr marL="91440" marR="91440" marT="45720" marB="45720">
                    <a:lnL w="9525">
                      <a:solidFill>
                        <a:srgbClr val="D9E1E8"/>
                      </a:solidFill>
                      <a:prstDash val="solid"/>
                    </a:lnL>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c>
                  <a:txBody>
                    <a:bodyPr/>
                    <a:lstStyle/>
                    <a:p>
                      <a:r>
                        <a:rPr sz="1800" b="1">
                          <a:solidFill>
                            <a:srgbClr val="FFFFFF"/>
                          </a:solidFill>
                          <a:latin typeface="Arial"/>
                          <a:ea typeface="Arial"/>
                          <a:cs typeface="Arial"/>
                        </a:rPr>
                        <a:t>Primary contribution area</a:t>
                      </a:r>
                    </a:p>
                  </a:txBody>
                  <a:tcPr marL="91440" marR="91440" marT="45720" marB="45720">
                    <a:lnR w="9525">
                      <a:solidFill>
                        <a:srgbClr val="D9E1E8"/>
                      </a:solidFill>
                      <a:prstDash val="solid"/>
                    </a:lnR>
                    <a:lnT w="9525">
                      <a:solidFill>
                        <a:srgbClr val="D9E1E8"/>
                      </a:solidFill>
                      <a:prstDash val="solid"/>
                    </a:lnT>
                    <a:lnB w="9525">
                      <a:solidFill>
                        <a:srgbClr val="D9E1E8"/>
                      </a:solidFill>
                      <a:prstDash val="solid"/>
                    </a:lnB>
                    <a:solidFill>
                      <a:srgbClr val="17324D"/>
                    </a:solidFill>
                  </a:tcPr>
                </a:tc>
              </a:tr>
              <a:tr h="542925">
                <a:tc>
                  <a:txBody>
                    <a:bodyPr/>
                    <a:lstStyle/>
                    <a:p>
                      <a:r>
                        <a:rPr sz="1725" b="0">
                          <a:solidFill>
                            <a:srgbClr val="263648"/>
                          </a:solidFill>
                          <a:latin typeface="Arial"/>
                          <a:ea typeface="Arial"/>
                          <a:cs typeface="Arial"/>
                        </a:rPr>
                        <a:t>Jason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ML, budgeted selection, agent tools, analysis</a:t>
                      </a:r>
                    </a:p>
                  </a:txBody>
                  <a:tcPr marL="91440" marR="91440" marT="45720" marB="45720">
                    <a:lnR w="9525">
                      <a:solidFill>
                        <a:srgbClr val="D9E1E8"/>
                      </a:solidFill>
                      <a:prstDash val="solid"/>
                    </a:lnR>
                    <a:lnB w="9525">
                      <a:solidFill>
                        <a:srgbClr val="D9E1E8"/>
                      </a:solidFill>
                      <a:prstDash val="solid"/>
                    </a:lnB>
                    <a:solidFill>
                      <a:srgbClr val="FFFFFF"/>
                    </a:solidFill>
                  </a:tcPr>
                </a:tc>
              </a:tr>
              <a:tr h="542925">
                <a:tc>
                  <a:txBody>
                    <a:bodyPr/>
                    <a:lstStyle/>
                    <a:p>
                      <a:r>
                        <a:rPr sz="1725" b="0">
                          <a:solidFill>
                            <a:srgbClr val="263648"/>
                          </a:solidFill>
                          <a:latin typeface="Arial"/>
                          <a:ea typeface="Arial"/>
                          <a:cs typeface="Arial"/>
                        </a:rPr>
                        <a:t>Yuuto • Git evidence</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4F7FA"/>
                    </a:solidFill>
                  </a:tcPr>
                </a:tc>
                <a:tc>
                  <a:txBody>
                    <a:bodyPr/>
                    <a:lstStyle/>
                    <a:p>
                      <a:r>
                        <a:rPr sz="1725" b="0">
                          <a:solidFill>
                            <a:srgbClr val="263648"/>
                          </a:solidFill>
                          <a:latin typeface="Arial"/>
                          <a:ea typeface="Arial"/>
                          <a:cs typeface="Arial"/>
                        </a:rPr>
                        <a:t>Hardware, selection engine, measurement tests</a:t>
                      </a:r>
                    </a:p>
                  </a:txBody>
                  <a:tcPr marL="91440" marR="91440" marT="45720" marB="45720">
                    <a:lnR w="9525">
                      <a:solidFill>
                        <a:srgbClr val="D9E1E8"/>
                      </a:solidFill>
                      <a:prstDash val="solid"/>
                    </a:lnR>
                    <a:lnB w="9525">
                      <a:solidFill>
                        <a:srgbClr val="D9E1E8"/>
                      </a:solidFill>
                      <a:prstDash val="solid"/>
                    </a:lnB>
                    <a:solidFill>
                      <a:srgbClr val="F4F7FA"/>
                    </a:solidFill>
                  </a:tcPr>
                </a:tc>
              </a:tr>
              <a:tr h="542925">
                <a:tc>
                  <a:txBody>
                    <a:bodyPr/>
                    <a:lstStyle/>
                    <a:p>
                      <a:r>
                        <a:rPr sz="1725" b="0">
                          <a:solidFill>
                            <a:srgbClr val="263648"/>
                          </a:solidFill>
                          <a:latin typeface="Arial"/>
                          <a:ea typeface="Arial"/>
                          <a:cs typeface="Arial"/>
                        </a:rPr>
                        <a:t>Sooraj • report attribution</a:t>
                      </a:r>
                    </a:p>
                  </a:txBody>
                  <a:tcPr marL="91440" marR="91440" marT="45720" marB="45720">
                    <a:lnL w="9525">
                      <a:solidFill>
                        <a:srgbClr val="D9E1E8"/>
                      </a:solidFill>
                      <a:prstDash val="solid"/>
                    </a:lnL>
                    <a:lnR w="9525">
                      <a:solidFill>
                        <a:srgbClr val="D9E1E8"/>
                      </a:solidFill>
                      <a:prstDash val="solid"/>
                    </a:lnR>
                    <a:lnB w="9525">
                      <a:solidFill>
                        <a:srgbClr val="D9E1E8"/>
                      </a:solidFill>
                      <a:prstDash val="solid"/>
                    </a:lnB>
                    <a:solidFill>
                      <a:srgbClr val="FFFFFF"/>
                    </a:solidFill>
                  </a:tcPr>
                </a:tc>
                <a:tc>
                  <a:txBody>
                    <a:bodyPr/>
                    <a:lstStyle/>
                    <a:p>
                      <a:r>
                        <a:rPr sz="1725" b="0">
                          <a:solidFill>
                            <a:srgbClr val="263648"/>
                          </a:solidFill>
                          <a:latin typeface="Arial"/>
                          <a:ea typeface="Arial"/>
                          <a:cs typeface="Arial"/>
                        </a:rPr>
                        <a:t>Compiler, tracing, extraction and toolchain</a:t>
                      </a:r>
                    </a:p>
                  </a:txBody>
                  <a:tcPr marL="91440" marR="91440" marT="45720" marB="45720">
                    <a:lnR w="9525">
                      <a:solidFill>
                        <a:srgbClr val="D9E1E8"/>
                      </a:solidFill>
                      <a:prstDash val="solid"/>
                    </a:lnR>
                    <a:lnB w="9525">
                      <a:solidFill>
                        <a:srgbClr val="D9E1E8"/>
                      </a:solidFill>
                      <a:prstDash val="solid"/>
                    </a:lnB>
                    <a:solidFill>
                      <a:srgbClr val="FFFFFF"/>
                    </a:solidFill>
                  </a:tcPr>
                </a:tc>
              </a:tr>
            </a:tbl>
          </a:graphicData>
        </a:graphic>
      </p:graphicFrame>
      <p:sp>
        <p:nvSpPr>
          <p:cNvPr id="18" name="">
            <a:extLst xmlns:a="http://schemas.openxmlformats.org/drawingml/2006/main">
              <a:ext uri="{FF2B5EF4-FFF2-40B4-BE49-F238E27FC236}">
                <a16:creationId xmlns:a16="http://schemas.microsoft.com/office/drawing/2014/main" id="{8EC29BF8-9B1A-465B-B788-44B595128050}"/>
              </a:ext>
            </a:extLst>
          </p:cNvPr>
          <p:cNvSpPr>
            <a:spLocks xmlns:a="http://schemas.openxmlformats.org/drawingml/2006/main" noGrp="1"/>
          </p:cNvSpPr>
          <p:nvPr/>
        </p:nvSpPr>
        <p:spPr>
          <a:xfrm xmlns:a="http://schemas.openxmlformats.org/drawingml/2006/main">
            <a:off x="685800" y="5895975"/>
            <a:ext cx="108204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607286"/>
                </a:solidFill>
                <a:latin typeface="Arial"/>
                <a:ea typeface="Arial"/>
                <a:cs typeface="Arial"/>
              </a:defRPr>
            </a:defPPr>
            <a:lvl1pPr>
              <a:defRPr sz="1500" b="0">
                <a:solidFill>
                  <a:srgbClr val="607286"/>
                </a:solidFill>
                <a:latin typeface="Arial"/>
                <a:ea typeface="Arial"/>
                <a:cs typeface="Arial"/>
              </a:defRPr>
            </a:lvl1pPr>
            <a:lvl2pPr>
              <a:defRPr sz="1500" b="0">
                <a:solidFill>
                  <a:srgbClr val="607286"/>
                </a:solidFill>
                <a:latin typeface="Arial"/>
                <a:ea typeface="Arial"/>
                <a:cs typeface="Arial"/>
              </a:defRPr>
            </a:lvl2pPr>
            <a:lvl3pPr>
              <a:defRPr sz="1500" b="0">
                <a:solidFill>
                  <a:srgbClr val="607286"/>
                </a:solidFill>
                <a:latin typeface="Arial"/>
                <a:ea typeface="Arial"/>
                <a:cs typeface="Arial"/>
              </a:defRPr>
            </a:lvl3pPr>
            <a:lvl4pPr>
              <a:defRPr sz="1500" b="0">
                <a:solidFill>
                  <a:srgbClr val="607286"/>
                </a:solidFill>
                <a:latin typeface="Arial"/>
                <a:ea typeface="Arial"/>
                <a:cs typeface="Arial"/>
              </a:defRPr>
            </a:lvl4pPr>
            <a:lvl5pPr>
              <a:defRPr sz="1500" b="0">
                <a:solidFill>
                  <a:srgbClr val="607286"/>
                </a:solidFill>
                <a:latin typeface="Arial"/>
                <a:ea typeface="Arial"/>
                <a:cs typeface="Arial"/>
              </a:defRPr>
            </a:lvl5pPr>
            <a:lvl6pPr>
              <a:defRPr sz="1500" b="0">
                <a:solidFill>
                  <a:srgbClr val="607286"/>
                </a:solidFill>
                <a:latin typeface="Arial"/>
                <a:ea typeface="Arial"/>
                <a:cs typeface="Arial"/>
              </a:defRPr>
            </a:lvl6pPr>
            <a:lvl7pPr>
              <a:defRPr sz="1500" b="0">
                <a:solidFill>
                  <a:srgbClr val="607286"/>
                </a:solidFill>
                <a:latin typeface="Arial"/>
                <a:ea typeface="Arial"/>
                <a:cs typeface="Arial"/>
              </a:defRPr>
            </a:lvl7pPr>
            <a:lvl8pPr>
              <a:defRPr sz="1500" b="0">
                <a:solidFill>
                  <a:srgbClr val="607286"/>
                </a:solidFill>
                <a:latin typeface="Arial"/>
                <a:ea typeface="Arial"/>
                <a:cs typeface="Arial"/>
              </a:defRPr>
            </a:lvl8pPr>
            <a:lvl9pPr>
              <a:defRPr sz="1500" b="0">
                <a:solidFill>
                  <a:srgbClr val="607286"/>
                </a:solidFill>
                <a:latin typeface="Arial"/>
                <a:ea typeface="Arial"/>
                <a:cs typeface="Arial"/>
              </a:defRPr>
            </a:lvl9pPr>
          </a:lstStyle>
          <a:p xmlns:a="http://schemas.openxmlformats.org/drawingml/2006/main">
            <a:pPr>
              <a:defRPr sz="1500" b="0">
                <a:solidFill>
                  <a:srgbClr val="607286"/>
                </a:solidFill>
                <a:latin typeface="Arial"/>
                <a:ea typeface="Arial"/>
                <a:cs typeface="Arial"/>
              </a:defRPr>
            </a:pPr>
            <a:r>
              <a:rPr sz="1500" b="0">
                <a:solidFill>
                  <a:srgbClr val="607286"/>
                </a:solidFill>
                <a:latin typeface="Arial"/>
                <a:ea typeface="Arial"/>
                <a:cs typeface="Arial"/>
              </a:rPr>
              <a:t>Two project chats: ~46 h recorded turn time • roles need confirmation</a:t>
            </a:r>
          </a:p>
        </p:txBody>
      </p:sp>
    </p:spTree>
    <p:extLst>
      <p:ext uri="{BB962C8B-B14F-4D97-AF65-F5344CB8AC3E}">
        <p14:creationId xmlns:p14="http://schemas.microsoft.com/office/powerpoint/2010/main" val="157536813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34D8DE16-8C4C-4B85-9773-25C4D64D4C92}"/>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From workload to verified improvement</a:t>
            </a:r>
          </a:p>
        </p:txBody>
      </p:sp>
      <p:sp>
        <p:nvSpPr>
          <p:cNvPr id="2" name="">
            <a:extLst xmlns:a="http://schemas.openxmlformats.org/drawingml/2006/main">
              <a:ext uri="{FF2B5EF4-FFF2-40B4-BE49-F238E27FC236}">
                <a16:creationId xmlns:a16="http://schemas.microsoft.com/office/drawing/2014/main" id="{09ADC8C3-7312-45F3-9CAE-DCA34307FAB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FD8C5BE-BD8A-4D69-9CDF-D0A39FB79BF2}"/>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4</a:t>
            </a:r>
          </a:p>
        </p:txBody>
      </p:sp>
      <p:sp>
        <p:nvSpPr>
          <p:cNvPr id="4" name="">
            <a:extLst xmlns:a="http://schemas.openxmlformats.org/drawingml/2006/main">
              <a:ext uri="{FF2B5EF4-FFF2-40B4-BE49-F238E27FC236}">
                <a16:creationId xmlns:a16="http://schemas.microsoft.com/office/drawing/2014/main" id="{8E368BD7-5A73-4714-A072-8D225A216827}"/>
              </a:ext>
            </a:extLst>
          </p:cNvPr>
          <p:cNvSpPr>
            <a:spLocks xmlns:a="http://schemas.openxmlformats.org/drawingml/2006/main" noGrp="1"/>
          </p:cNvSpPr>
          <p:nvPr/>
        </p:nvSpPr>
        <p:spPr>
          <a:xfrm xmlns:a="http://schemas.openxmlformats.org/drawingml/2006/main">
            <a:off x="68580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5" name="">
            <a:extLst xmlns:a="http://schemas.openxmlformats.org/drawingml/2006/main">
              <a:ext uri="{FF2B5EF4-FFF2-40B4-BE49-F238E27FC236}">
                <a16:creationId xmlns:a16="http://schemas.microsoft.com/office/drawing/2014/main" id="{57E90828-0E59-47DD-AABC-161B18B75C31}"/>
              </a:ext>
            </a:extLst>
          </p:cNvPr>
          <p:cNvSpPr>
            <a:spLocks xmlns:a="http://schemas.openxmlformats.org/drawingml/2006/main" noGrp="1"/>
          </p:cNvSpPr>
          <p:nvPr/>
        </p:nvSpPr>
        <p:spPr>
          <a:xfrm xmlns:a="http://schemas.openxmlformats.org/drawingml/2006/main">
            <a:off x="81915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1  Discover</a:t>
            </a:r>
          </a:p>
        </p:txBody>
      </p:sp>
      <p:sp>
        <p:nvSpPr>
          <p:cNvPr id="6" name="">
            <a:extLst xmlns:a="http://schemas.openxmlformats.org/drawingml/2006/main">
              <a:ext uri="{FF2B5EF4-FFF2-40B4-BE49-F238E27FC236}">
                <a16:creationId xmlns:a16="http://schemas.microsoft.com/office/drawing/2014/main" id="{13CA7CD4-1DF1-4B44-963E-CCA0D153376B}"/>
              </a:ext>
            </a:extLst>
          </p:cNvPr>
          <p:cNvSpPr>
            <a:spLocks xmlns:a="http://schemas.openxmlformats.org/drawingml/2006/main" noGrp="1"/>
          </p:cNvSpPr>
          <p:nvPr/>
        </p:nvSpPr>
        <p:spPr>
          <a:xfrm xmlns:a="http://schemas.openxmlformats.org/drawingml/2006/main">
            <a:off x="81915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Compile + trace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legal dataflow</a:t>
            </a:r>
          </a:p>
        </p:txBody>
      </p:sp>
      <p:sp>
        <p:nvSpPr>
          <p:cNvPr id="7" name="">
            <a:extLst xmlns:a="http://schemas.openxmlformats.org/drawingml/2006/main">
              <a:ext uri="{FF2B5EF4-FFF2-40B4-BE49-F238E27FC236}">
                <a16:creationId xmlns:a16="http://schemas.microsoft.com/office/drawing/2014/main" id="{6381AA77-2D4A-440E-B934-55B612814D49}"/>
              </a:ext>
            </a:extLst>
          </p:cNvPr>
          <p:cNvSpPr>
            <a:spLocks xmlns:a="http://schemas.openxmlformats.org/drawingml/2006/main" noGrp="1"/>
          </p:cNvSpPr>
          <p:nvPr/>
        </p:nvSpPr>
        <p:spPr>
          <a:xfrm xmlns:a="http://schemas.openxmlformats.org/drawingml/2006/main">
            <a:off x="310515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2118A52-DE58-4EC5-9D43-B25F444AB2D7}"/>
              </a:ext>
            </a:extLst>
          </p:cNvPr>
          <p:cNvSpPr>
            <a:spLocks xmlns:a="http://schemas.openxmlformats.org/drawingml/2006/main" noGrp="1"/>
          </p:cNvSpPr>
          <p:nvPr/>
        </p:nvSpPr>
        <p:spPr>
          <a:xfrm xmlns:a="http://schemas.openxmlformats.org/drawingml/2006/main">
            <a:off x="347662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9" name="">
            <a:extLst xmlns:a="http://schemas.openxmlformats.org/drawingml/2006/main">
              <a:ext uri="{FF2B5EF4-FFF2-40B4-BE49-F238E27FC236}">
                <a16:creationId xmlns:a16="http://schemas.microsoft.com/office/drawing/2014/main" id="{1290BC6C-A22C-4456-9EFC-AE776ABAB5E3}"/>
              </a:ext>
            </a:extLst>
          </p:cNvPr>
          <p:cNvSpPr>
            <a:spLocks xmlns:a="http://schemas.openxmlformats.org/drawingml/2006/main" noGrp="1"/>
          </p:cNvSpPr>
          <p:nvPr/>
        </p:nvSpPr>
        <p:spPr>
          <a:xfrm xmlns:a="http://schemas.openxmlformats.org/drawingml/2006/main">
            <a:off x="360997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2  Implement</a:t>
            </a:r>
          </a:p>
        </p:txBody>
      </p:sp>
      <p:sp>
        <p:nvSpPr>
          <p:cNvPr id="10" name="">
            <a:extLst xmlns:a="http://schemas.openxmlformats.org/drawingml/2006/main">
              <a:ext uri="{FF2B5EF4-FFF2-40B4-BE49-F238E27FC236}">
                <a16:creationId xmlns:a16="http://schemas.microsoft.com/office/drawing/2014/main" id="{6CDBCF89-2B0E-48DE-8788-BE7DECA44312}"/>
              </a:ext>
            </a:extLst>
          </p:cNvPr>
          <p:cNvSpPr>
            <a:spLocks xmlns:a="http://schemas.openxmlformats.org/drawingml/2006/main" noGrp="1"/>
          </p:cNvSpPr>
          <p:nvPr/>
        </p:nvSpPr>
        <p:spPr>
          <a:xfrm xmlns:a="http://schemas.openxmlformats.org/drawingml/2006/main">
            <a:off x="360997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Lower custom opcode</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PicoRV32 PCPI</a:t>
            </a:r>
          </a:p>
        </p:txBody>
      </p:sp>
      <p:sp>
        <p:nvSpPr>
          <p:cNvPr id="11" name="">
            <a:extLst xmlns:a="http://schemas.openxmlformats.org/drawingml/2006/main">
              <a:ext uri="{FF2B5EF4-FFF2-40B4-BE49-F238E27FC236}">
                <a16:creationId xmlns:a16="http://schemas.microsoft.com/office/drawing/2014/main" id="{8D040A47-CCCD-4BC9-BD30-1395ECD9A558}"/>
              </a:ext>
            </a:extLst>
          </p:cNvPr>
          <p:cNvSpPr>
            <a:spLocks xmlns:a="http://schemas.openxmlformats.org/drawingml/2006/main" noGrp="1"/>
          </p:cNvSpPr>
          <p:nvPr/>
        </p:nvSpPr>
        <p:spPr>
          <a:xfrm xmlns:a="http://schemas.openxmlformats.org/drawingml/2006/main">
            <a:off x="5895975"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F7A6D1B-67CC-4EDE-9AEF-476A3615D952}"/>
              </a:ext>
            </a:extLst>
          </p:cNvPr>
          <p:cNvSpPr>
            <a:spLocks xmlns:a="http://schemas.openxmlformats.org/drawingml/2006/main" noGrp="1"/>
          </p:cNvSpPr>
          <p:nvPr/>
        </p:nvSpPr>
        <p:spPr>
          <a:xfrm xmlns:a="http://schemas.openxmlformats.org/drawingml/2006/main">
            <a:off x="6267450"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3" name="">
            <a:extLst xmlns:a="http://schemas.openxmlformats.org/drawingml/2006/main">
              <a:ext uri="{FF2B5EF4-FFF2-40B4-BE49-F238E27FC236}">
                <a16:creationId xmlns:a16="http://schemas.microsoft.com/office/drawing/2014/main" id="{2A74580C-AEAA-4885-B2A3-E2D315D18AFB}"/>
              </a:ext>
            </a:extLst>
          </p:cNvPr>
          <p:cNvSpPr>
            <a:spLocks xmlns:a="http://schemas.openxmlformats.org/drawingml/2006/main" noGrp="1"/>
          </p:cNvSpPr>
          <p:nvPr/>
        </p:nvSpPr>
        <p:spPr>
          <a:xfrm xmlns:a="http://schemas.openxmlformats.org/drawingml/2006/main">
            <a:off x="6400800"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3  Verify</a:t>
            </a:r>
          </a:p>
        </p:txBody>
      </p:sp>
      <p:sp>
        <p:nvSpPr>
          <p:cNvPr id="14" name="">
            <a:extLst xmlns:a="http://schemas.openxmlformats.org/drawingml/2006/main">
              <a:ext uri="{FF2B5EF4-FFF2-40B4-BE49-F238E27FC236}">
                <a16:creationId xmlns:a16="http://schemas.microsoft.com/office/drawing/2014/main" id="{981D3365-8926-4FFD-8455-E0AEBCF27E20}"/>
              </a:ext>
            </a:extLst>
          </p:cNvPr>
          <p:cNvSpPr>
            <a:spLocks xmlns:a="http://schemas.openxmlformats.org/drawingml/2006/main" noGrp="1"/>
          </p:cNvSpPr>
          <p:nvPr/>
        </p:nvSpPr>
        <p:spPr>
          <a:xfrm xmlns:a="http://schemas.openxmlformats.org/drawingml/2006/main">
            <a:off x="6400800"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Program output</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cycle count</a:t>
            </a:r>
          </a:p>
        </p:txBody>
      </p:sp>
      <p:sp>
        <p:nvSpPr>
          <p:cNvPr id="15" name="">
            <a:extLst xmlns:a="http://schemas.openxmlformats.org/drawingml/2006/main">
              <a:ext uri="{FF2B5EF4-FFF2-40B4-BE49-F238E27FC236}">
                <a16:creationId xmlns:a16="http://schemas.microsoft.com/office/drawing/2014/main" id="{BEB62677-8AE8-4BCE-B922-839D2D39951A}"/>
              </a:ext>
            </a:extLst>
          </p:cNvPr>
          <p:cNvSpPr>
            <a:spLocks xmlns:a="http://schemas.openxmlformats.org/drawingml/2006/main" noGrp="1"/>
          </p:cNvSpPr>
          <p:nvPr/>
        </p:nvSpPr>
        <p:spPr>
          <a:xfrm xmlns:a="http://schemas.openxmlformats.org/drawingml/2006/main">
            <a:off x="8686800" y="2552700"/>
            <a:ext cx="285750" cy="228600"/>
          </a:xfrm>
          <a:prstGeom xmlns:a="http://schemas.openxmlformats.org/drawingml/2006/main" prst="rightArrow">
            <a:avLst/>
          </a:prstGeom>
          <a:solidFill xmlns:a="http://schemas.openxmlformats.org/drawingml/2006/main">
            <a:srgbClr val="2878A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2BF91937-FC12-4C59-9CEB-27A034B3C759}"/>
              </a:ext>
            </a:extLst>
          </p:cNvPr>
          <p:cNvSpPr>
            <a:spLocks xmlns:a="http://schemas.openxmlformats.org/drawingml/2006/main" noGrp="1"/>
          </p:cNvSpPr>
          <p:nvPr/>
        </p:nvSpPr>
        <p:spPr>
          <a:xfrm xmlns:a="http://schemas.openxmlformats.org/drawingml/2006/main">
            <a:off x="9058275" y="2047875"/>
            <a:ext cx="2333625" cy="1238250"/>
          </a:xfrm>
          <a:prstGeom xmlns:a="http://schemas.openxmlformats.org/drawingml/2006/main" prst="rect">
            <a:avLst/>
          </a:prstGeom>
          <a:solidFill xmlns:a="http://schemas.openxmlformats.org/drawingml/2006/main">
            <a:srgbClr val="F4F7FA"/>
          </a:solidFill>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DFC355FE-5946-4217-A975-71C7A8439C03}"/>
              </a:ext>
            </a:extLst>
          </p:cNvPr>
          <p:cNvSpPr>
            <a:spLocks xmlns:a="http://schemas.openxmlformats.org/drawingml/2006/main" noGrp="1"/>
          </p:cNvSpPr>
          <p:nvPr/>
        </p:nvSpPr>
        <p:spPr>
          <a:xfrm xmlns:a="http://schemas.openxmlformats.org/drawingml/2006/main">
            <a:off x="9191625" y="2181225"/>
            <a:ext cx="20669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2878A8"/>
                </a:solidFill>
                <a:latin typeface="Arial"/>
                <a:ea typeface="Arial"/>
                <a:cs typeface="Arial"/>
              </a:defRPr>
            </a:defPPr>
            <a:lvl1pPr>
              <a:defRPr sz="1875" b="1">
                <a:solidFill>
                  <a:srgbClr val="2878A8"/>
                </a:solidFill>
                <a:latin typeface="Arial"/>
                <a:ea typeface="Arial"/>
                <a:cs typeface="Arial"/>
              </a:defRPr>
            </a:lvl1pPr>
            <a:lvl2pPr>
              <a:defRPr sz="1875" b="1">
                <a:solidFill>
                  <a:srgbClr val="2878A8"/>
                </a:solidFill>
                <a:latin typeface="Arial"/>
                <a:ea typeface="Arial"/>
                <a:cs typeface="Arial"/>
              </a:defRPr>
            </a:lvl2pPr>
            <a:lvl3pPr>
              <a:defRPr sz="1875" b="1">
                <a:solidFill>
                  <a:srgbClr val="2878A8"/>
                </a:solidFill>
                <a:latin typeface="Arial"/>
                <a:ea typeface="Arial"/>
                <a:cs typeface="Arial"/>
              </a:defRPr>
            </a:lvl3pPr>
            <a:lvl4pPr>
              <a:defRPr sz="1875" b="1">
                <a:solidFill>
                  <a:srgbClr val="2878A8"/>
                </a:solidFill>
                <a:latin typeface="Arial"/>
                <a:ea typeface="Arial"/>
                <a:cs typeface="Arial"/>
              </a:defRPr>
            </a:lvl4pPr>
            <a:lvl5pPr>
              <a:defRPr sz="1875" b="1">
                <a:solidFill>
                  <a:srgbClr val="2878A8"/>
                </a:solidFill>
                <a:latin typeface="Arial"/>
                <a:ea typeface="Arial"/>
                <a:cs typeface="Arial"/>
              </a:defRPr>
            </a:lvl5pPr>
            <a:lvl6pPr>
              <a:defRPr sz="1875" b="1">
                <a:solidFill>
                  <a:srgbClr val="2878A8"/>
                </a:solidFill>
                <a:latin typeface="Arial"/>
                <a:ea typeface="Arial"/>
                <a:cs typeface="Arial"/>
              </a:defRPr>
            </a:lvl6pPr>
            <a:lvl7pPr>
              <a:defRPr sz="1875" b="1">
                <a:solidFill>
                  <a:srgbClr val="2878A8"/>
                </a:solidFill>
                <a:latin typeface="Arial"/>
                <a:ea typeface="Arial"/>
                <a:cs typeface="Arial"/>
              </a:defRPr>
            </a:lvl7pPr>
            <a:lvl8pPr>
              <a:defRPr sz="1875" b="1">
                <a:solidFill>
                  <a:srgbClr val="2878A8"/>
                </a:solidFill>
                <a:latin typeface="Arial"/>
                <a:ea typeface="Arial"/>
                <a:cs typeface="Arial"/>
              </a:defRPr>
            </a:lvl8pPr>
            <a:lvl9pPr>
              <a:defRPr sz="1875" b="1">
                <a:solidFill>
                  <a:srgbClr val="2878A8"/>
                </a:solidFill>
                <a:latin typeface="Arial"/>
                <a:ea typeface="Arial"/>
                <a:cs typeface="Arial"/>
              </a:defRPr>
            </a:lvl9pPr>
          </a:lstStyle>
          <a:p xmlns:a="http://schemas.openxmlformats.org/drawingml/2006/main">
            <a:pPr>
              <a:defRPr sz="1875" b="1">
                <a:solidFill>
                  <a:srgbClr val="2878A8"/>
                </a:solidFill>
                <a:latin typeface="Arial"/>
                <a:ea typeface="Arial"/>
                <a:cs typeface="Arial"/>
              </a:defRPr>
            </a:pPr>
            <a:r>
              <a:rPr sz="1875" b="1">
                <a:solidFill>
                  <a:srgbClr val="2878A8"/>
                </a:solidFill>
                <a:latin typeface="Arial"/>
                <a:ea typeface="Arial"/>
                <a:cs typeface="Arial"/>
              </a:rPr>
              <a:t>4  Measure</a:t>
            </a:r>
          </a:p>
        </p:txBody>
      </p:sp>
      <p:sp>
        <p:nvSpPr>
          <p:cNvPr id="18" name="">
            <a:extLst xmlns:a="http://schemas.openxmlformats.org/drawingml/2006/main">
              <a:ext uri="{FF2B5EF4-FFF2-40B4-BE49-F238E27FC236}">
                <a16:creationId xmlns:a16="http://schemas.microsoft.com/office/drawing/2014/main" id="{530E08B9-A0BC-4857-89EB-1C2C60FE7034}"/>
              </a:ext>
            </a:extLst>
          </p:cNvPr>
          <p:cNvSpPr>
            <a:spLocks xmlns:a="http://schemas.openxmlformats.org/drawingml/2006/main" noGrp="1"/>
          </p:cNvSpPr>
          <p:nvPr/>
        </p:nvSpPr>
        <p:spPr>
          <a:xfrm xmlns:a="http://schemas.openxmlformats.org/drawingml/2006/main">
            <a:off x="9191625" y="2590800"/>
            <a:ext cx="206692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263648"/>
                </a:solidFill>
                <a:latin typeface="Arial"/>
                <a:ea typeface="Arial"/>
                <a:cs typeface="Arial"/>
              </a:defRPr>
            </a:defPPr>
            <a:lvl1pPr>
              <a:defRPr sz="1650" b="0">
                <a:solidFill>
                  <a:srgbClr val="263648"/>
                </a:solidFill>
                <a:latin typeface="Arial"/>
                <a:ea typeface="Arial"/>
                <a:cs typeface="Arial"/>
              </a:defRPr>
            </a:lvl1pPr>
            <a:lvl2pPr>
              <a:defRPr sz="1650" b="0">
                <a:solidFill>
                  <a:srgbClr val="263648"/>
                </a:solidFill>
                <a:latin typeface="Arial"/>
                <a:ea typeface="Arial"/>
                <a:cs typeface="Arial"/>
              </a:defRPr>
            </a:lvl2pPr>
            <a:lvl3pPr>
              <a:defRPr sz="1650" b="0">
                <a:solidFill>
                  <a:srgbClr val="263648"/>
                </a:solidFill>
                <a:latin typeface="Arial"/>
                <a:ea typeface="Arial"/>
                <a:cs typeface="Arial"/>
              </a:defRPr>
            </a:lvl3pPr>
            <a:lvl4pPr>
              <a:defRPr sz="1650" b="0">
                <a:solidFill>
                  <a:srgbClr val="263648"/>
                </a:solidFill>
                <a:latin typeface="Arial"/>
                <a:ea typeface="Arial"/>
                <a:cs typeface="Arial"/>
              </a:defRPr>
            </a:lvl4pPr>
            <a:lvl5pPr>
              <a:defRPr sz="1650" b="0">
                <a:solidFill>
                  <a:srgbClr val="263648"/>
                </a:solidFill>
                <a:latin typeface="Arial"/>
                <a:ea typeface="Arial"/>
                <a:cs typeface="Arial"/>
              </a:defRPr>
            </a:lvl5pPr>
            <a:lvl6pPr>
              <a:defRPr sz="1650" b="0">
                <a:solidFill>
                  <a:srgbClr val="263648"/>
                </a:solidFill>
                <a:latin typeface="Arial"/>
                <a:ea typeface="Arial"/>
                <a:cs typeface="Arial"/>
              </a:defRPr>
            </a:lvl6pPr>
            <a:lvl7pPr>
              <a:defRPr sz="1650" b="0">
                <a:solidFill>
                  <a:srgbClr val="263648"/>
                </a:solidFill>
                <a:latin typeface="Arial"/>
                <a:ea typeface="Arial"/>
                <a:cs typeface="Arial"/>
              </a:defRPr>
            </a:lvl7pPr>
            <a:lvl8pPr>
              <a:defRPr sz="1650" b="0">
                <a:solidFill>
                  <a:srgbClr val="263648"/>
                </a:solidFill>
                <a:latin typeface="Arial"/>
                <a:ea typeface="Arial"/>
                <a:cs typeface="Arial"/>
              </a:defRPr>
            </a:lvl8pPr>
            <a:lvl9pPr>
              <a:defRPr sz="1650" b="0">
                <a:solidFill>
                  <a:srgbClr val="263648"/>
                </a:solidFill>
                <a:latin typeface="Arial"/>
                <a:ea typeface="Arial"/>
                <a:cs typeface="Arial"/>
              </a:defRPr>
            </a:lvl9pPr>
          </a:lstStyle>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Integrated LUT4</a:t>
            </a:r>
          </a:p>
          <a:p xmlns:a="http://schemas.openxmlformats.org/drawingml/2006/main">
            <a:pPr>
              <a:defRPr sz="1650" b="0">
                <a:solidFill>
                  <a:srgbClr val="263648"/>
                </a:solidFill>
                <a:latin typeface="Arial"/>
                <a:ea typeface="Arial"/>
                <a:cs typeface="Arial"/>
              </a:defRPr>
            </a:pPr>
            <a:r>
              <a:rPr sz="1650" b="0">
                <a:solidFill>
                  <a:srgbClr val="263648"/>
                </a:solidFill>
                <a:latin typeface="Arial"/>
                <a:ea typeface="Arial"/>
                <a:cs typeface="Arial"/>
              </a:rPr>
              <a:t>+ routed Fmax</a:t>
            </a:r>
          </a:p>
        </p:txBody>
      </p:sp>
      <p:sp>
        <p:nvSpPr>
          <p:cNvPr id="19" name="">
            <a:extLst xmlns:a="http://schemas.openxmlformats.org/drawingml/2006/main">
              <a:ext uri="{FF2B5EF4-FFF2-40B4-BE49-F238E27FC236}">
                <a16:creationId xmlns:a16="http://schemas.microsoft.com/office/drawing/2014/main" id="{014C85DC-AF1D-4CDD-A332-696541C0C2F8}"/>
              </a:ext>
            </a:extLst>
          </p:cNvPr>
          <p:cNvSpPr>
            <a:spLocks xmlns:a="http://schemas.openxmlformats.org/drawingml/2006/main" noGrp="1"/>
          </p:cNvSpPr>
          <p:nvPr/>
        </p:nvSpPr>
        <p:spPr>
          <a:xfrm xmlns:a="http://schemas.openxmlformats.org/drawingml/2006/main">
            <a:off x="68580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candidates.py</a:t>
            </a:r>
          </a:p>
        </p:txBody>
      </p:sp>
      <p:sp>
        <p:nvSpPr>
          <p:cNvPr id="20" name="">
            <a:extLst xmlns:a="http://schemas.openxmlformats.org/drawingml/2006/main">
              <a:ext uri="{FF2B5EF4-FFF2-40B4-BE49-F238E27FC236}">
                <a16:creationId xmlns:a16="http://schemas.microsoft.com/office/drawing/2014/main" id="{CFEFE6AB-C2A0-426C-87C9-89E85530AE2C}"/>
              </a:ext>
            </a:extLst>
          </p:cNvPr>
          <p:cNvSpPr>
            <a:spLocks xmlns:a="http://schemas.openxmlformats.org/drawingml/2006/main" noGrp="1"/>
          </p:cNvSpPr>
          <p:nvPr/>
        </p:nvSpPr>
        <p:spPr>
          <a:xfrm xmlns:a="http://schemas.openxmlformats.org/drawingml/2006/main">
            <a:off x="347662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workload_experiment.py</a:t>
            </a:r>
          </a:p>
        </p:txBody>
      </p:sp>
      <p:sp>
        <p:nvSpPr>
          <p:cNvPr id="21" name="">
            <a:extLst xmlns:a="http://schemas.openxmlformats.org/drawingml/2006/main">
              <a:ext uri="{FF2B5EF4-FFF2-40B4-BE49-F238E27FC236}">
                <a16:creationId xmlns:a16="http://schemas.microsoft.com/office/drawing/2014/main" id="{3770C5BB-FBF6-4329-B478-7CED89A77E5A}"/>
              </a:ext>
            </a:extLst>
          </p:cNvPr>
          <p:cNvSpPr>
            <a:spLocks xmlns:a="http://schemas.openxmlformats.org/drawingml/2006/main" noGrp="1"/>
          </p:cNvSpPr>
          <p:nvPr/>
        </p:nvSpPr>
        <p:spPr>
          <a:xfrm xmlns:a="http://schemas.openxmlformats.org/drawingml/2006/main">
            <a:off x="6267450"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Verilator</a:t>
            </a:r>
          </a:p>
        </p:txBody>
      </p:sp>
      <p:sp>
        <p:nvSpPr>
          <p:cNvPr id="22" name="">
            <a:extLst xmlns:a="http://schemas.openxmlformats.org/drawingml/2006/main">
              <a:ext uri="{FF2B5EF4-FFF2-40B4-BE49-F238E27FC236}">
                <a16:creationId xmlns:a16="http://schemas.microsoft.com/office/drawing/2014/main" id="{948F36FE-9D63-4477-88E1-6CFD450381C8}"/>
              </a:ext>
            </a:extLst>
          </p:cNvPr>
          <p:cNvSpPr>
            <a:spLocks xmlns:a="http://schemas.openxmlformats.org/drawingml/2006/main" noGrp="1"/>
          </p:cNvSpPr>
          <p:nvPr/>
        </p:nvSpPr>
        <p:spPr>
          <a:xfrm xmlns:a="http://schemas.openxmlformats.org/drawingml/2006/main">
            <a:off x="9058275" y="3381375"/>
            <a:ext cx="23336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lgn="ctr">
              <a:defRPr sz="1350">
                <a:solidFill>
                  <a:srgbClr val="607286"/>
                </a:solidFill>
                <a:latin typeface="Arial"/>
                <a:ea typeface="Arial"/>
                <a:cs typeface="Arial"/>
              </a:defRPr>
            </a:defPPr>
            <a:lvl1pPr algn="ctr">
              <a:defRPr sz="1350">
                <a:solidFill>
                  <a:srgbClr val="607286"/>
                </a:solidFill>
                <a:latin typeface="Arial"/>
                <a:ea typeface="Arial"/>
                <a:cs typeface="Arial"/>
              </a:defRPr>
            </a:lvl1pPr>
            <a:lvl2pPr algn="ctr">
              <a:defRPr sz="1350">
                <a:solidFill>
                  <a:srgbClr val="607286"/>
                </a:solidFill>
                <a:latin typeface="Arial"/>
                <a:ea typeface="Arial"/>
                <a:cs typeface="Arial"/>
              </a:defRPr>
            </a:lvl2pPr>
            <a:lvl3pPr algn="ctr">
              <a:defRPr sz="1350">
                <a:solidFill>
                  <a:srgbClr val="607286"/>
                </a:solidFill>
                <a:latin typeface="Arial"/>
                <a:ea typeface="Arial"/>
                <a:cs typeface="Arial"/>
              </a:defRPr>
            </a:lvl3pPr>
            <a:lvl4pPr algn="ctr">
              <a:defRPr sz="1350">
                <a:solidFill>
                  <a:srgbClr val="607286"/>
                </a:solidFill>
                <a:latin typeface="Arial"/>
                <a:ea typeface="Arial"/>
                <a:cs typeface="Arial"/>
              </a:defRPr>
            </a:lvl4pPr>
            <a:lvl5pPr algn="ctr">
              <a:defRPr sz="1350">
                <a:solidFill>
                  <a:srgbClr val="607286"/>
                </a:solidFill>
                <a:latin typeface="Arial"/>
                <a:ea typeface="Arial"/>
                <a:cs typeface="Arial"/>
              </a:defRPr>
            </a:lvl5pPr>
            <a:lvl6pPr algn="ctr">
              <a:defRPr sz="1350">
                <a:solidFill>
                  <a:srgbClr val="607286"/>
                </a:solidFill>
                <a:latin typeface="Arial"/>
                <a:ea typeface="Arial"/>
                <a:cs typeface="Arial"/>
              </a:defRPr>
            </a:lvl6pPr>
            <a:lvl7pPr algn="ctr">
              <a:defRPr sz="1350">
                <a:solidFill>
                  <a:srgbClr val="607286"/>
                </a:solidFill>
                <a:latin typeface="Arial"/>
                <a:ea typeface="Arial"/>
                <a:cs typeface="Arial"/>
              </a:defRPr>
            </a:lvl7pPr>
            <a:lvl8pPr algn="ctr">
              <a:defRPr sz="1350">
                <a:solidFill>
                  <a:srgbClr val="607286"/>
                </a:solidFill>
                <a:latin typeface="Arial"/>
                <a:ea typeface="Arial"/>
                <a:cs typeface="Arial"/>
              </a:defRPr>
            </a:lvl8pPr>
            <a:lvl9pPr algn="ctr">
              <a:defRPr sz="1350">
                <a:solidFill>
                  <a:srgbClr val="607286"/>
                </a:solidFill>
                <a:latin typeface="Arial"/>
                <a:ea typeface="Arial"/>
                <a:cs typeface="Arial"/>
              </a:defRPr>
            </a:lvl9pPr>
          </a:lstStyle>
          <a:p xmlns:a="http://schemas.openxmlformats.org/drawingml/2006/main">
            <a:pPr algn="ctr">
              <a:defRPr sz="1350">
                <a:solidFill>
                  <a:srgbClr val="607286"/>
                </a:solidFill>
                <a:latin typeface="Arial"/>
                <a:ea typeface="Arial"/>
                <a:cs typeface="Arial"/>
              </a:defRPr>
            </a:pPr>
            <a:r>
              <a:rPr sz="1350">
                <a:solidFill>
                  <a:srgbClr val="607286"/>
                </a:solidFill>
                <a:latin typeface="Arial"/>
                <a:ea typeface="Arial"/>
                <a:cs typeface="Arial"/>
              </a:rPr>
              <a:t>Yosys + nextpnr</a:t>
            </a:r>
          </a:p>
        </p:txBody>
      </p:sp>
      <p:sp>
        <p:nvSpPr>
          <p:cNvPr id="23" name="">
            <a:extLst xmlns:a="http://schemas.openxmlformats.org/drawingml/2006/main">
              <a:ext uri="{FF2B5EF4-FFF2-40B4-BE49-F238E27FC236}">
                <a16:creationId xmlns:a16="http://schemas.microsoft.com/office/drawing/2014/main" id="{06476118-0A90-445F-8F77-556006290AC6}"/>
              </a:ext>
            </a:extLst>
          </p:cNvPr>
          <p:cNvSpPr>
            <a:spLocks xmlns:a="http://schemas.openxmlformats.org/drawingml/2006/main" noGrp="1"/>
          </p:cNvSpPr>
          <p:nvPr/>
        </p:nvSpPr>
        <p:spPr>
          <a:xfrm xmlns:a="http://schemas.openxmlformats.org/drawingml/2006/main">
            <a:off x="685800" y="3819525"/>
            <a:ext cx="10820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CRC32 reference: 32.39M cycles → 30.82M cycles = 1.051×</a:t>
            </a:r>
          </a:p>
        </p:txBody>
      </p:sp>
      <p:sp>
        <p:nvSpPr>
          <p:cNvPr id="24" name="">
            <a:extLst xmlns:a="http://schemas.openxmlformats.org/drawingml/2006/main">
              <a:ext uri="{FF2B5EF4-FFF2-40B4-BE49-F238E27FC236}">
                <a16:creationId xmlns:a16="http://schemas.microsoft.com/office/drawing/2014/main" id="{9623F0FC-6E01-45FC-9006-79E5EF1E86B9}"/>
              </a:ext>
            </a:extLst>
          </p:cNvPr>
          <p:cNvSpPr>
            <a:spLocks xmlns:a="http://schemas.openxmlformats.org/drawingml/2006/main" noGrp="1"/>
          </p:cNvSpPr>
          <p:nvPr/>
        </p:nvSpPr>
        <p:spPr>
          <a:xfrm xmlns:a="http://schemas.openxmlformats.org/drawingml/2006/main">
            <a:off x="685800" y="4762500"/>
            <a:ext cx="108204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8856B"/>
                </a:solidFill>
                <a:latin typeface="Arial"/>
                <a:ea typeface="Arial"/>
                <a:cs typeface="Arial"/>
              </a:defRPr>
            </a:defPPr>
            <a:lvl1pPr>
              <a:defRPr sz="2175" b="1">
                <a:solidFill>
                  <a:srgbClr val="18856B"/>
                </a:solidFill>
                <a:latin typeface="Arial"/>
                <a:ea typeface="Arial"/>
                <a:cs typeface="Arial"/>
              </a:defRPr>
            </a:lvl1pPr>
            <a:lvl2pPr>
              <a:defRPr sz="2175" b="1">
                <a:solidFill>
                  <a:srgbClr val="18856B"/>
                </a:solidFill>
                <a:latin typeface="Arial"/>
                <a:ea typeface="Arial"/>
                <a:cs typeface="Arial"/>
              </a:defRPr>
            </a:lvl2pPr>
            <a:lvl3pPr>
              <a:defRPr sz="2175" b="1">
                <a:solidFill>
                  <a:srgbClr val="18856B"/>
                </a:solidFill>
                <a:latin typeface="Arial"/>
                <a:ea typeface="Arial"/>
                <a:cs typeface="Arial"/>
              </a:defRPr>
            </a:lvl3pPr>
            <a:lvl4pPr>
              <a:defRPr sz="2175" b="1">
                <a:solidFill>
                  <a:srgbClr val="18856B"/>
                </a:solidFill>
                <a:latin typeface="Arial"/>
                <a:ea typeface="Arial"/>
                <a:cs typeface="Arial"/>
              </a:defRPr>
            </a:lvl4pPr>
            <a:lvl5pPr>
              <a:defRPr sz="2175" b="1">
                <a:solidFill>
                  <a:srgbClr val="18856B"/>
                </a:solidFill>
                <a:latin typeface="Arial"/>
                <a:ea typeface="Arial"/>
                <a:cs typeface="Arial"/>
              </a:defRPr>
            </a:lvl5pPr>
            <a:lvl6pPr>
              <a:defRPr sz="2175" b="1">
                <a:solidFill>
                  <a:srgbClr val="18856B"/>
                </a:solidFill>
                <a:latin typeface="Arial"/>
                <a:ea typeface="Arial"/>
                <a:cs typeface="Arial"/>
              </a:defRPr>
            </a:lvl6pPr>
            <a:lvl7pPr>
              <a:defRPr sz="2175" b="1">
                <a:solidFill>
                  <a:srgbClr val="18856B"/>
                </a:solidFill>
                <a:latin typeface="Arial"/>
                <a:ea typeface="Arial"/>
                <a:cs typeface="Arial"/>
              </a:defRPr>
            </a:lvl7pPr>
            <a:lvl8pPr>
              <a:defRPr sz="2175" b="1">
                <a:solidFill>
                  <a:srgbClr val="18856B"/>
                </a:solidFill>
                <a:latin typeface="Arial"/>
                <a:ea typeface="Arial"/>
                <a:cs typeface="Arial"/>
              </a:defRPr>
            </a:lvl8pPr>
            <a:lvl9pPr>
              <a:defRPr sz="2175" b="1">
                <a:solidFill>
                  <a:srgbClr val="18856B"/>
                </a:solidFill>
                <a:latin typeface="Arial"/>
                <a:ea typeface="Arial"/>
                <a:cs typeface="Arial"/>
              </a:defRPr>
            </a:lvl9pPr>
          </a:lstStyle>
          <a:p xmlns:a="http://schemas.openxmlformats.org/drawingml/2006/main">
            <a:pPr>
              <a:defRPr sz="2175" b="1">
                <a:solidFill>
                  <a:srgbClr val="18856B"/>
                </a:solidFill>
                <a:latin typeface="Arial"/>
                <a:ea typeface="Arial"/>
                <a:cs typeface="Arial"/>
              </a:defRPr>
            </a:pPr>
            <a:r>
              <a:rPr sz="2175" b="1">
                <a:solidFill>
                  <a:srgbClr val="18856B"/>
                </a:solidFill>
                <a:latin typeface="Arial"/>
                <a:ea typeface="Arial"/>
                <a:cs typeface="Arial"/>
              </a:rPr>
              <a:t>Unmodified program/core → compare cycles → verify area and timing</a:t>
            </a:r>
          </a:p>
        </p:txBody>
      </p:sp>
      <p:sp>
        <p:nvSpPr>
          <p:cNvPr id="25" name="">
            <a:extLst xmlns:a="http://schemas.openxmlformats.org/drawingml/2006/main">
              <a:ext uri="{FF2B5EF4-FFF2-40B4-BE49-F238E27FC236}">
                <a16:creationId xmlns:a16="http://schemas.microsoft.com/office/drawing/2014/main" id="{0F0AC0E7-F10B-4178-B9C9-EA78B5FD165E}"/>
              </a:ext>
            </a:extLst>
          </p:cNvPr>
          <p:cNvSpPr>
            <a:spLocks xmlns:a="http://schemas.openxmlformats.org/drawingml/2006/main" noGrp="1"/>
          </p:cNvSpPr>
          <p:nvPr/>
        </p:nvSpPr>
        <p:spPr>
          <a:xfrm xmlns:a="http://schemas.openxmlformats.org/drawingml/2006/main">
            <a:off x="685800" y="5553075"/>
            <a:ext cx="108204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Restricted RV32 integer support • RTL simulation + FPGA synthesis/routing</a:t>
            </a:r>
          </a:p>
        </p:txBody>
      </p:sp>
    </p:spTree>
    <p:extLst>
      <p:ext uri="{BB962C8B-B14F-4D97-AF65-F5344CB8AC3E}">
        <p14:creationId xmlns:p14="http://schemas.microsoft.com/office/powerpoint/2010/main" val="95336679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321A20F-A84F-4B0E-A199-3CF441712055}"/>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Dataset: measured programs, not synthetic labels</a:t>
            </a:r>
          </a:p>
        </p:txBody>
      </p:sp>
      <p:sp>
        <p:nvSpPr>
          <p:cNvPr id="2" name="">
            <a:extLst xmlns:a="http://schemas.openxmlformats.org/drawingml/2006/main">
              <a:ext uri="{FF2B5EF4-FFF2-40B4-BE49-F238E27FC236}">
                <a16:creationId xmlns:a16="http://schemas.microsoft.com/office/drawing/2014/main" id="{33C097DB-F25E-40E6-B7D9-553BE629FD14}"/>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E1D7426-10A2-469B-AC07-9301BF0D674D}"/>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5</a:t>
            </a:r>
          </a:p>
        </p:txBody>
      </p:sp>
      <p:graphicFrame>
        <p:nvGraphicFramePr>
          <p:cNvPr id="4" name="Chart">
            <a:extLst xmlns:a="http://schemas.openxmlformats.org/drawingml/2006/main">
              <a:ext uri="{FF2B5EF4-FFF2-40B4-BE49-F238E27FC236}">
                <a16:creationId xmlns:a16="http://schemas.microsoft.com/office/drawing/2014/main" id="{494F2B38-7DD9-418E-9E36-77008F8C0986}"/>
              </a:ext>
            </a:extLst>
          </p:cNvPr>
          <p:cNvGraphicFramePr/>
          <p:nvPr/>
        </p:nvGraphicFramePr>
        <p:xfrm>
          <a:off xmlns:a="http://schemas.openxmlformats.org/drawingml/2006/main" x="523875" y="1647825"/>
          <a:ext xmlns:a="http://schemas.openxmlformats.org/drawingml/2006/main" cx="6477000" cy="3714750"/>
        </p:xfrm>
        <a:graphic xmlns:a="http://schemas.openxmlformats.org/drawingml/2006/main">
          <a:graphicData uri="http://schemas.openxmlformats.org/drawingml/2006/chart">
            <c:chart xmlns:r="http://schemas.openxmlformats.org/officeDocument/2006/relationships" xmlns:c="http://schemas.openxmlformats.org/drawingml/2006/chart" r:id="Rd2870902efce4ce2"/>
          </a:graphicData>
        </a:graphic>
      </p:graphicFrame>
      <p:sp>
        <p:nvSpPr>
          <p:cNvPr id="5" name="">
            <a:extLst xmlns:a="http://schemas.openxmlformats.org/drawingml/2006/main">
              <a:ext uri="{FF2B5EF4-FFF2-40B4-BE49-F238E27FC236}">
                <a16:creationId xmlns:a16="http://schemas.microsoft.com/office/drawing/2014/main" id="{DF132460-3931-4E49-A888-F811E853CCD3}"/>
              </a:ext>
            </a:extLst>
          </p:cNvPr>
          <p:cNvSpPr>
            <a:spLocks xmlns:a="http://schemas.openxmlformats.org/drawingml/2006/main" noGrp="1"/>
          </p:cNvSpPr>
          <p:nvPr/>
        </p:nvSpPr>
        <p:spPr>
          <a:xfrm xmlns:a="http://schemas.openxmlformats.org/drawingml/2006/main">
            <a:off x="7524750" y="1695450"/>
            <a:ext cx="4000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550" b="1">
                <a:solidFill>
                  <a:srgbClr val="17324D"/>
                </a:solidFill>
                <a:latin typeface="Arial"/>
                <a:ea typeface="Arial"/>
                <a:cs typeface="Arial"/>
              </a:defRPr>
            </a:defPPr>
            <a:lvl1pPr>
              <a:defRPr sz="2550" b="1">
                <a:solidFill>
                  <a:srgbClr val="17324D"/>
                </a:solidFill>
                <a:latin typeface="Arial"/>
                <a:ea typeface="Arial"/>
                <a:cs typeface="Arial"/>
              </a:defRPr>
            </a:lvl1pPr>
            <a:lvl2pPr>
              <a:defRPr sz="2550" b="1">
                <a:solidFill>
                  <a:srgbClr val="17324D"/>
                </a:solidFill>
                <a:latin typeface="Arial"/>
                <a:ea typeface="Arial"/>
                <a:cs typeface="Arial"/>
              </a:defRPr>
            </a:lvl2pPr>
            <a:lvl3pPr>
              <a:defRPr sz="2550" b="1">
                <a:solidFill>
                  <a:srgbClr val="17324D"/>
                </a:solidFill>
                <a:latin typeface="Arial"/>
                <a:ea typeface="Arial"/>
                <a:cs typeface="Arial"/>
              </a:defRPr>
            </a:lvl3pPr>
            <a:lvl4pPr>
              <a:defRPr sz="2550" b="1">
                <a:solidFill>
                  <a:srgbClr val="17324D"/>
                </a:solidFill>
                <a:latin typeface="Arial"/>
                <a:ea typeface="Arial"/>
                <a:cs typeface="Arial"/>
              </a:defRPr>
            </a:lvl4pPr>
            <a:lvl5pPr>
              <a:defRPr sz="2550" b="1">
                <a:solidFill>
                  <a:srgbClr val="17324D"/>
                </a:solidFill>
                <a:latin typeface="Arial"/>
                <a:ea typeface="Arial"/>
                <a:cs typeface="Arial"/>
              </a:defRPr>
            </a:lvl5pPr>
            <a:lvl6pPr>
              <a:defRPr sz="2550" b="1">
                <a:solidFill>
                  <a:srgbClr val="17324D"/>
                </a:solidFill>
                <a:latin typeface="Arial"/>
                <a:ea typeface="Arial"/>
                <a:cs typeface="Arial"/>
              </a:defRPr>
            </a:lvl6pPr>
            <a:lvl7pPr>
              <a:defRPr sz="2550" b="1">
                <a:solidFill>
                  <a:srgbClr val="17324D"/>
                </a:solidFill>
                <a:latin typeface="Arial"/>
                <a:ea typeface="Arial"/>
                <a:cs typeface="Arial"/>
              </a:defRPr>
            </a:lvl7pPr>
            <a:lvl8pPr>
              <a:defRPr sz="2550" b="1">
                <a:solidFill>
                  <a:srgbClr val="17324D"/>
                </a:solidFill>
                <a:latin typeface="Arial"/>
                <a:ea typeface="Arial"/>
                <a:cs typeface="Arial"/>
              </a:defRPr>
            </a:lvl8pPr>
            <a:lvl9pPr>
              <a:defRPr sz="2550" b="1">
                <a:solidFill>
                  <a:srgbClr val="17324D"/>
                </a:solidFill>
                <a:latin typeface="Arial"/>
                <a:ea typeface="Arial"/>
                <a:cs typeface="Arial"/>
              </a:defRPr>
            </a:lvl9pPr>
          </a:lstStyle>
          <a:p xmlns:a="http://schemas.openxmlformats.org/drawingml/2006/main">
            <a:pPr>
              <a:defRPr sz="2550" b="1">
                <a:solidFill>
                  <a:srgbClr val="17324D"/>
                </a:solidFill>
                <a:latin typeface="Arial"/>
                <a:ea typeface="Arial"/>
                <a:cs typeface="Arial"/>
              </a:defRPr>
            </a:pPr>
            <a:r>
              <a:rPr sz="2550" b="1">
                <a:solidFill>
                  <a:srgbClr val="17324D"/>
                </a:solidFill>
                <a:latin typeface="Arial"/>
                <a:ea typeface="Arial"/>
                <a:cs typeface="Arial"/>
              </a:rPr>
              <a:t>122 successful labels</a:t>
            </a:r>
          </a:p>
        </p:txBody>
      </p:sp>
      <p:sp>
        <p:nvSpPr>
          <p:cNvPr id="6" name="">
            <a:extLst xmlns:a="http://schemas.openxmlformats.org/drawingml/2006/main">
              <a:ext uri="{FF2B5EF4-FFF2-40B4-BE49-F238E27FC236}">
                <a16:creationId xmlns:a16="http://schemas.microsoft.com/office/drawing/2014/main" id="{5D1A102B-E361-4B15-B9AF-D319B53C80CC}"/>
              </a:ext>
            </a:extLst>
          </p:cNvPr>
          <p:cNvSpPr>
            <a:spLocks xmlns:a="http://schemas.openxmlformats.org/drawingml/2006/main" noGrp="1"/>
          </p:cNvSpPr>
          <p:nvPr/>
        </p:nvSpPr>
        <p:spPr>
          <a:xfrm xmlns:a="http://schemas.openxmlformats.org/drawingml/2006/main">
            <a:off x="7524750" y="236220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14 workload groups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15 build/input contexts</a:t>
            </a:r>
          </a:p>
        </p:txBody>
      </p:sp>
      <p:sp>
        <p:nvSpPr>
          <p:cNvPr id="7" name="">
            <a:extLst xmlns:a="http://schemas.openxmlformats.org/drawingml/2006/main">
              <a:ext uri="{FF2B5EF4-FFF2-40B4-BE49-F238E27FC236}">
                <a16:creationId xmlns:a16="http://schemas.microsoft.com/office/drawing/2014/main" id="{F76CF80E-52C2-4E8D-857E-CFC98239B80A}"/>
              </a:ext>
            </a:extLst>
          </p:cNvPr>
          <p:cNvSpPr>
            <a:spLocks xmlns:a="http://schemas.openxmlformats.org/drawingml/2006/main" noGrp="1"/>
          </p:cNvSpPr>
          <p:nvPr/>
        </p:nvSpPr>
        <p:spPr>
          <a:xfrm xmlns:a="http://schemas.openxmlformats.org/drawingml/2006/main">
            <a:off x="7524750" y="3476625"/>
            <a:ext cx="4000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17324D"/>
                </a:solidFill>
                <a:latin typeface="Arial"/>
                <a:ea typeface="Arial"/>
                <a:cs typeface="Arial"/>
              </a:defRPr>
            </a:defPPr>
            <a:lvl1pPr>
              <a:defRPr sz="2175" b="1">
                <a:solidFill>
                  <a:srgbClr val="17324D"/>
                </a:solidFill>
                <a:latin typeface="Arial"/>
                <a:ea typeface="Arial"/>
                <a:cs typeface="Arial"/>
              </a:defRPr>
            </a:lvl1pPr>
            <a:lvl2pPr>
              <a:defRPr sz="2175" b="1">
                <a:solidFill>
                  <a:srgbClr val="17324D"/>
                </a:solidFill>
                <a:latin typeface="Arial"/>
                <a:ea typeface="Arial"/>
                <a:cs typeface="Arial"/>
              </a:defRPr>
            </a:lvl2pPr>
            <a:lvl3pPr>
              <a:defRPr sz="2175" b="1">
                <a:solidFill>
                  <a:srgbClr val="17324D"/>
                </a:solidFill>
                <a:latin typeface="Arial"/>
                <a:ea typeface="Arial"/>
                <a:cs typeface="Arial"/>
              </a:defRPr>
            </a:lvl3pPr>
            <a:lvl4pPr>
              <a:defRPr sz="2175" b="1">
                <a:solidFill>
                  <a:srgbClr val="17324D"/>
                </a:solidFill>
                <a:latin typeface="Arial"/>
                <a:ea typeface="Arial"/>
                <a:cs typeface="Arial"/>
              </a:defRPr>
            </a:lvl4pPr>
            <a:lvl5pPr>
              <a:defRPr sz="2175" b="1">
                <a:solidFill>
                  <a:srgbClr val="17324D"/>
                </a:solidFill>
                <a:latin typeface="Arial"/>
                <a:ea typeface="Arial"/>
                <a:cs typeface="Arial"/>
              </a:defRPr>
            </a:lvl5pPr>
            <a:lvl6pPr>
              <a:defRPr sz="2175" b="1">
                <a:solidFill>
                  <a:srgbClr val="17324D"/>
                </a:solidFill>
                <a:latin typeface="Arial"/>
                <a:ea typeface="Arial"/>
                <a:cs typeface="Arial"/>
              </a:defRPr>
            </a:lvl6pPr>
            <a:lvl7pPr>
              <a:defRPr sz="2175" b="1">
                <a:solidFill>
                  <a:srgbClr val="17324D"/>
                </a:solidFill>
                <a:latin typeface="Arial"/>
                <a:ea typeface="Arial"/>
                <a:cs typeface="Arial"/>
              </a:defRPr>
            </a:lvl7pPr>
            <a:lvl8pPr>
              <a:defRPr sz="2175" b="1">
                <a:solidFill>
                  <a:srgbClr val="17324D"/>
                </a:solidFill>
                <a:latin typeface="Arial"/>
                <a:ea typeface="Arial"/>
                <a:cs typeface="Arial"/>
              </a:defRPr>
            </a:lvl8pPr>
            <a:lvl9pPr>
              <a:defRPr sz="2175" b="1">
                <a:solidFill>
                  <a:srgbClr val="17324D"/>
                </a:solidFill>
                <a:latin typeface="Arial"/>
                <a:ea typeface="Arial"/>
                <a:cs typeface="Arial"/>
              </a:defRPr>
            </a:lvl9pPr>
          </a:lstStyle>
          <a:p xmlns:a="http://schemas.openxmlformats.org/drawingml/2006/main">
            <a:pPr>
              <a:defRPr sz="2175" b="1">
                <a:solidFill>
                  <a:srgbClr val="17324D"/>
                </a:solidFill>
                <a:latin typeface="Arial"/>
                <a:ea typeface="Arial"/>
                <a:cs typeface="Arial"/>
              </a:defRPr>
            </a:pPr>
            <a:r>
              <a:rPr sz="2175" b="1">
                <a:solidFill>
                  <a:srgbClr val="17324D"/>
                </a:solidFill>
                <a:latin typeface="Arial"/>
                <a:ea typeface="Arial"/>
                <a:cs typeface="Arial"/>
              </a:rPr>
              <a:t>4 failures retained</a:t>
            </a:r>
          </a:p>
        </p:txBody>
      </p:sp>
      <p:sp>
        <p:nvSpPr>
          <p:cNvPr id="8" name="">
            <a:extLst xmlns:a="http://schemas.openxmlformats.org/drawingml/2006/main">
              <a:ext uri="{FF2B5EF4-FFF2-40B4-BE49-F238E27FC236}">
                <a16:creationId xmlns:a16="http://schemas.microsoft.com/office/drawing/2014/main" id="{10B07685-6F6D-4F83-B802-F0BB41D81CC4}"/>
              </a:ext>
            </a:extLst>
          </p:cNvPr>
          <p:cNvSpPr>
            <a:spLocks xmlns:a="http://schemas.openxmlformats.org/drawingml/2006/main" noGrp="1"/>
          </p:cNvSpPr>
          <p:nvPr/>
        </p:nvSpPr>
        <p:spPr>
          <a:xfrm xmlns:a="http://schemas.openxmlformats.org/drawingml/2006/main">
            <a:off x="7524750" y="4095750"/>
            <a:ext cx="4000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0">
                <a:solidFill>
                  <a:srgbClr val="263648"/>
                </a:solidFill>
                <a:latin typeface="Arial"/>
                <a:ea typeface="Arial"/>
                <a:cs typeface="Arial"/>
              </a:defRPr>
            </a:defPPr>
            <a:lvl1pPr>
              <a:defRPr sz="1950" b="0">
                <a:solidFill>
                  <a:srgbClr val="263648"/>
                </a:solidFill>
                <a:latin typeface="Arial"/>
                <a:ea typeface="Arial"/>
                <a:cs typeface="Arial"/>
              </a:defRPr>
            </a:lvl1pPr>
            <a:lvl2pPr>
              <a:defRPr sz="1950" b="0">
                <a:solidFill>
                  <a:srgbClr val="263648"/>
                </a:solidFill>
                <a:latin typeface="Arial"/>
                <a:ea typeface="Arial"/>
                <a:cs typeface="Arial"/>
              </a:defRPr>
            </a:lvl2pPr>
            <a:lvl3pPr>
              <a:defRPr sz="1950" b="0">
                <a:solidFill>
                  <a:srgbClr val="263648"/>
                </a:solidFill>
                <a:latin typeface="Arial"/>
                <a:ea typeface="Arial"/>
                <a:cs typeface="Arial"/>
              </a:defRPr>
            </a:lvl3pPr>
            <a:lvl4pPr>
              <a:defRPr sz="1950" b="0">
                <a:solidFill>
                  <a:srgbClr val="263648"/>
                </a:solidFill>
                <a:latin typeface="Arial"/>
                <a:ea typeface="Arial"/>
                <a:cs typeface="Arial"/>
              </a:defRPr>
            </a:lvl4pPr>
            <a:lvl5pPr>
              <a:defRPr sz="1950" b="0">
                <a:solidFill>
                  <a:srgbClr val="263648"/>
                </a:solidFill>
                <a:latin typeface="Arial"/>
                <a:ea typeface="Arial"/>
                <a:cs typeface="Arial"/>
              </a:defRPr>
            </a:lvl5pPr>
            <a:lvl6pPr>
              <a:defRPr sz="1950" b="0">
                <a:solidFill>
                  <a:srgbClr val="263648"/>
                </a:solidFill>
                <a:latin typeface="Arial"/>
                <a:ea typeface="Arial"/>
                <a:cs typeface="Arial"/>
              </a:defRPr>
            </a:lvl6pPr>
            <a:lvl7pPr>
              <a:defRPr sz="1950" b="0">
                <a:solidFill>
                  <a:srgbClr val="263648"/>
                </a:solidFill>
                <a:latin typeface="Arial"/>
                <a:ea typeface="Arial"/>
                <a:cs typeface="Arial"/>
              </a:defRPr>
            </a:lvl7pPr>
            <a:lvl8pPr>
              <a:defRPr sz="1950" b="0">
                <a:solidFill>
                  <a:srgbClr val="263648"/>
                </a:solidFill>
                <a:latin typeface="Arial"/>
                <a:ea typeface="Arial"/>
                <a:cs typeface="Arial"/>
              </a:defRPr>
            </a:lvl8pPr>
            <a:lvl9pPr>
              <a:defRPr sz="1950" b="0">
                <a:solidFill>
                  <a:srgbClr val="263648"/>
                </a:solidFill>
                <a:latin typeface="Arial"/>
                <a:ea typeface="Arial"/>
                <a:cs typeface="Arial"/>
              </a:defRPr>
            </a:lvl9pPr>
          </a:lstStyle>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Earlier cost study: 713 formulas</a:t>
            </a:r>
          </a:p>
          <a:p xmlns:a="http://schemas.openxmlformats.org/drawingml/2006/main">
            <a:pPr>
              <a:defRPr sz="1950" b="0">
                <a:solidFill>
                  <a:srgbClr val="263648"/>
                </a:solidFill>
                <a:latin typeface="Arial"/>
                <a:ea typeface="Arial"/>
                <a:cs typeface="Arial"/>
              </a:defRPr>
            </a:pPr>
            <a:r>
              <a:rPr sz="1950" b="0">
                <a:solidFill>
                  <a:srgbClr val="263648"/>
                </a:solidFill>
                <a:latin typeface="Arial"/>
                <a:ea typeface="Arial"/>
                <a:cs typeface="Arial"/>
              </a:rPr>
              <a:t>Separate isolated-LUT labels</a:t>
            </a:r>
          </a:p>
        </p:txBody>
      </p:sp>
      <p:sp>
        <p:nvSpPr>
          <p:cNvPr id="9" name="">
            <a:extLst xmlns:a="http://schemas.openxmlformats.org/drawingml/2006/main">
              <a:ext uri="{FF2B5EF4-FFF2-40B4-BE49-F238E27FC236}">
                <a16:creationId xmlns:a16="http://schemas.microsoft.com/office/drawing/2014/main" id="{C6E4ABE5-AAAF-45A4-8366-14C059AF854B}"/>
              </a:ext>
            </a:extLst>
          </p:cNvPr>
          <p:cNvSpPr>
            <a:spLocks xmlns:a="http://schemas.openxmlformats.org/drawingml/2006/main" noGrp="1"/>
          </p:cNvSpPr>
          <p:nvPr/>
        </p:nvSpPr>
        <p:spPr>
          <a:xfrm xmlns:a="http://schemas.openxmlformats.org/drawingml/2006/main">
            <a:off x="685800" y="5657850"/>
            <a:ext cx="108204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2878A8"/>
                </a:solidFill>
                <a:latin typeface="Arial"/>
                <a:ea typeface="Arial"/>
                <a:cs typeface="Arial"/>
              </a:defRPr>
            </a:defPPr>
            <a:lvl1pPr>
              <a:defRPr sz="2100" b="1">
                <a:solidFill>
                  <a:srgbClr val="2878A8"/>
                </a:solidFill>
                <a:latin typeface="Arial"/>
                <a:ea typeface="Arial"/>
                <a:cs typeface="Arial"/>
              </a:defRPr>
            </a:lvl1pPr>
            <a:lvl2pPr>
              <a:defRPr sz="2100" b="1">
                <a:solidFill>
                  <a:srgbClr val="2878A8"/>
                </a:solidFill>
                <a:latin typeface="Arial"/>
                <a:ea typeface="Arial"/>
                <a:cs typeface="Arial"/>
              </a:defRPr>
            </a:lvl2pPr>
            <a:lvl3pPr>
              <a:defRPr sz="2100" b="1">
                <a:solidFill>
                  <a:srgbClr val="2878A8"/>
                </a:solidFill>
                <a:latin typeface="Arial"/>
                <a:ea typeface="Arial"/>
                <a:cs typeface="Arial"/>
              </a:defRPr>
            </a:lvl3pPr>
            <a:lvl4pPr>
              <a:defRPr sz="2100" b="1">
                <a:solidFill>
                  <a:srgbClr val="2878A8"/>
                </a:solidFill>
                <a:latin typeface="Arial"/>
                <a:ea typeface="Arial"/>
                <a:cs typeface="Arial"/>
              </a:defRPr>
            </a:lvl4pPr>
            <a:lvl5pPr>
              <a:defRPr sz="2100" b="1">
                <a:solidFill>
                  <a:srgbClr val="2878A8"/>
                </a:solidFill>
                <a:latin typeface="Arial"/>
                <a:ea typeface="Arial"/>
                <a:cs typeface="Arial"/>
              </a:defRPr>
            </a:lvl5pPr>
            <a:lvl6pPr>
              <a:defRPr sz="2100" b="1">
                <a:solidFill>
                  <a:srgbClr val="2878A8"/>
                </a:solidFill>
                <a:latin typeface="Arial"/>
                <a:ea typeface="Arial"/>
                <a:cs typeface="Arial"/>
              </a:defRPr>
            </a:lvl6pPr>
            <a:lvl7pPr>
              <a:defRPr sz="2100" b="1">
                <a:solidFill>
                  <a:srgbClr val="2878A8"/>
                </a:solidFill>
                <a:latin typeface="Arial"/>
                <a:ea typeface="Arial"/>
                <a:cs typeface="Arial"/>
              </a:defRPr>
            </a:lvl7pPr>
            <a:lvl8pPr>
              <a:defRPr sz="2100" b="1">
                <a:solidFill>
                  <a:srgbClr val="2878A8"/>
                </a:solidFill>
                <a:latin typeface="Arial"/>
                <a:ea typeface="Arial"/>
                <a:cs typeface="Arial"/>
              </a:defRPr>
            </a:lvl8pPr>
            <a:lvl9pPr>
              <a:defRPr sz="2100" b="1">
                <a:solidFill>
                  <a:srgbClr val="2878A8"/>
                </a:solidFill>
                <a:latin typeface="Arial"/>
                <a:ea typeface="Arial"/>
                <a:cs typeface="Arial"/>
              </a:defRPr>
            </a:lvl9pPr>
          </a:lstStyle>
          <a:p xmlns:a="http://schemas.openxmlformats.org/drawingml/2006/main">
            <a:pPr>
              <a:defRPr sz="2100" b="1">
                <a:solidFill>
                  <a:srgbClr val="2878A8"/>
                </a:solidFill>
                <a:latin typeface="Arial"/>
                <a:ea typeface="Arial"/>
                <a:cs typeface="Arial"/>
              </a:defRPr>
            </a:pPr>
            <a:r>
              <a:rPr sz="2100" b="1">
                <a:solidFill>
                  <a:srgbClr val="2878A8"/>
                </a:solidFill>
                <a:latin typeface="Arial"/>
                <a:ea typeface="Arial"/>
                <a:cs typeface="Arial"/>
              </a:rPr>
              <a:t>Train on other workloads; test on the entire held-out workload.</a:t>
            </a:r>
          </a:p>
        </p:txBody>
      </p:sp>
    </p:spTree>
    <p:extLst>
      <p:ext uri="{BB962C8B-B14F-4D97-AF65-F5344CB8AC3E}">
        <p14:creationId xmlns:p14="http://schemas.microsoft.com/office/powerpoint/2010/main" val="2485472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512C753-FD2B-406B-94F2-2A5427439B0F}"/>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model: training, predictions and explanation</a:t>
            </a:r>
          </a:p>
        </p:txBody>
      </p:sp>
      <p:sp>
        <p:nvSpPr>
          <p:cNvPr id="2" name="">
            <a:extLst xmlns:a="http://schemas.openxmlformats.org/drawingml/2006/main">
              <a:ext uri="{FF2B5EF4-FFF2-40B4-BE49-F238E27FC236}">
                <a16:creationId xmlns:a16="http://schemas.microsoft.com/office/drawing/2014/main" id="{029EBE89-01E4-463B-AA10-81E07D5216E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3084CDDA-5B26-4696-A053-237AEE9A0765}"/>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6</a:t>
            </a:r>
          </a:p>
        </p:txBody>
      </p:sp>
      <p:sp>
        <p:nvSpPr>
          <p:cNvPr id="4" name="">
            <a:extLst xmlns:a="http://schemas.openxmlformats.org/drawingml/2006/main">
              <a:ext uri="{FF2B5EF4-FFF2-40B4-BE49-F238E27FC236}">
                <a16:creationId xmlns:a16="http://schemas.microsoft.com/office/drawing/2014/main" id="{893DBFF5-6757-4419-87C7-D6CF3F06B359}"/>
              </a:ext>
            </a:extLst>
          </p:cNvPr>
          <p:cNvSpPr>
            <a:spLocks xmlns:a="http://schemas.openxmlformats.org/drawingml/2006/main" noGrp="1"/>
          </p:cNvSpPr>
          <p:nvPr/>
        </p:nvSpPr>
        <p:spPr>
          <a:xfrm xmlns:a="http://schemas.openxmlformats.org/drawingml/2006/main">
            <a:off x="685800" y="1400175"/>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INPUTS</a:t>
            </a:r>
          </a:p>
        </p:txBody>
      </p:sp>
      <p:sp>
        <p:nvSpPr>
          <p:cNvPr id="5" name="">
            <a:extLst xmlns:a="http://schemas.openxmlformats.org/drawingml/2006/main">
              <a:ext uri="{FF2B5EF4-FFF2-40B4-BE49-F238E27FC236}">
                <a16:creationId xmlns:a16="http://schemas.microsoft.com/office/drawing/2014/main" id="{D706821E-5782-43DC-B4CA-BD4983E3BD79}"/>
              </a:ext>
            </a:extLst>
          </p:cNvPr>
          <p:cNvSpPr>
            <a:spLocks xmlns:a="http://schemas.openxmlformats.org/drawingml/2006/main" noGrp="1"/>
          </p:cNvSpPr>
          <p:nvPr/>
        </p:nvSpPr>
        <p:spPr>
          <a:xfrm xmlns:a="http://schemas.openxmlformats.org/drawingml/2006/main">
            <a:off x="685800" y="179070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35 features available before evaluation</a:t>
            </a:r>
          </a:p>
        </p:txBody>
      </p:sp>
      <p:sp>
        <p:nvSpPr>
          <p:cNvPr id="6" name="">
            <a:extLst xmlns:a="http://schemas.openxmlformats.org/drawingml/2006/main">
              <a:ext uri="{FF2B5EF4-FFF2-40B4-BE49-F238E27FC236}">
                <a16:creationId xmlns:a16="http://schemas.microsoft.com/office/drawing/2014/main" id="{6016196D-910D-4722-ACCB-B4EC28535651}"/>
              </a:ext>
            </a:extLst>
          </p:cNvPr>
          <p:cNvSpPr>
            <a:spLocks xmlns:a="http://schemas.openxmlformats.org/drawingml/2006/main" noGrp="1"/>
          </p:cNvSpPr>
          <p:nvPr/>
        </p:nvSpPr>
        <p:spPr>
          <a:xfrm xmlns:a="http://schemas.openxmlformats.org/drawingml/2006/main">
            <a:off x="685800" y="2266950"/>
            <a:ext cx="523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263648"/>
                </a:solidFill>
                <a:latin typeface="Arial"/>
                <a:ea typeface="Arial"/>
                <a:cs typeface="Arial"/>
              </a:defRPr>
            </a:defPPr>
            <a:lvl1pPr>
              <a:defRPr sz="1800" b="0">
                <a:solidFill>
                  <a:srgbClr val="263648"/>
                </a:solidFill>
                <a:latin typeface="Arial"/>
                <a:ea typeface="Arial"/>
                <a:cs typeface="Arial"/>
              </a:defRPr>
            </a:lvl1pPr>
            <a:lvl2pPr>
              <a:defRPr sz="1800" b="0">
                <a:solidFill>
                  <a:srgbClr val="263648"/>
                </a:solidFill>
                <a:latin typeface="Arial"/>
                <a:ea typeface="Arial"/>
                <a:cs typeface="Arial"/>
              </a:defRPr>
            </a:lvl2pPr>
            <a:lvl3pPr>
              <a:defRPr sz="1800" b="0">
                <a:solidFill>
                  <a:srgbClr val="263648"/>
                </a:solidFill>
                <a:latin typeface="Arial"/>
                <a:ea typeface="Arial"/>
                <a:cs typeface="Arial"/>
              </a:defRPr>
            </a:lvl3pPr>
            <a:lvl4pPr>
              <a:defRPr sz="1800" b="0">
                <a:solidFill>
                  <a:srgbClr val="263648"/>
                </a:solidFill>
                <a:latin typeface="Arial"/>
                <a:ea typeface="Arial"/>
                <a:cs typeface="Arial"/>
              </a:defRPr>
            </a:lvl4pPr>
            <a:lvl5pPr>
              <a:defRPr sz="1800" b="0">
                <a:solidFill>
                  <a:srgbClr val="263648"/>
                </a:solidFill>
                <a:latin typeface="Arial"/>
                <a:ea typeface="Arial"/>
                <a:cs typeface="Arial"/>
              </a:defRPr>
            </a:lvl5pPr>
            <a:lvl6pPr>
              <a:defRPr sz="1800" b="0">
                <a:solidFill>
                  <a:srgbClr val="263648"/>
                </a:solidFill>
                <a:latin typeface="Arial"/>
                <a:ea typeface="Arial"/>
                <a:cs typeface="Arial"/>
              </a:defRPr>
            </a:lvl6pPr>
            <a:lvl7pPr>
              <a:defRPr sz="1800" b="0">
                <a:solidFill>
                  <a:srgbClr val="263648"/>
                </a:solidFill>
                <a:latin typeface="Arial"/>
                <a:ea typeface="Arial"/>
                <a:cs typeface="Arial"/>
              </a:defRPr>
            </a:lvl7pPr>
            <a:lvl8pPr>
              <a:defRPr sz="1800" b="0">
                <a:solidFill>
                  <a:srgbClr val="263648"/>
                </a:solidFill>
                <a:latin typeface="Arial"/>
                <a:ea typeface="Arial"/>
                <a:cs typeface="Arial"/>
              </a:defRPr>
            </a:lvl8pPr>
            <a:lvl9pPr>
              <a:defRPr sz="1800" b="0">
                <a:solidFill>
                  <a:srgbClr val="263648"/>
                </a:solidFill>
                <a:latin typeface="Arial"/>
                <a:ea typeface="Arial"/>
                <a:cs typeface="Arial"/>
              </a:defRPr>
            </a:lvl9pPr>
          </a:lstStyle>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Operation mix and expression structure</a:t>
            </a:r>
          </a:p>
          <a:p xmlns:a="http://schemas.openxmlformats.org/drawingml/2006/main">
            <a:pPr>
              <a:defRPr sz="1800" b="0">
                <a:solidFill>
                  <a:srgbClr val="263648"/>
                </a:solidFill>
                <a:latin typeface="Arial"/>
                <a:ea typeface="Arial"/>
                <a:cs typeface="Arial"/>
              </a:defRPr>
            </a:pPr>
            <a:r>
              <a:rPr sz="1800" b="0">
                <a:solidFill>
                  <a:srgbClr val="263648"/>
                </a:solidFill>
                <a:latin typeface="Arial"/>
                <a:ea typeface="Arial"/>
                <a:cs typeface="Arial"/>
              </a:rPr>
              <a:t>Execution frequency and estimated savings</a:t>
            </a:r>
          </a:p>
        </p:txBody>
      </p:sp>
      <p:sp>
        <p:nvSpPr>
          <p:cNvPr id="7" name="">
            <a:extLst xmlns:a="http://schemas.openxmlformats.org/drawingml/2006/main">
              <a:ext uri="{FF2B5EF4-FFF2-40B4-BE49-F238E27FC236}">
                <a16:creationId xmlns:a16="http://schemas.microsoft.com/office/drawing/2014/main" id="{57E2E9FE-6B99-4C75-A245-09BF37C6F574}"/>
              </a:ext>
            </a:extLst>
          </p:cNvPr>
          <p:cNvSpPr>
            <a:spLocks xmlns:a="http://schemas.openxmlformats.org/drawingml/2006/main" noGrp="1"/>
          </p:cNvSpPr>
          <p:nvPr/>
        </p:nvSpPr>
        <p:spPr>
          <a:xfrm xmlns:a="http://schemas.openxmlformats.org/drawingml/2006/main">
            <a:off x="685800" y="3171825"/>
            <a:ext cx="428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TRAINING</a:t>
            </a:r>
          </a:p>
        </p:txBody>
      </p:sp>
      <p:sp>
        <p:nvSpPr>
          <p:cNvPr id="8" name="">
            <a:extLst xmlns:a="http://schemas.openxmlformats.org/drawingml/2006/main">
              <a:ext uri="{FF2B5EF4-FFF2-40B4-BE49-F238E27FC236}">
                <a16:creationId xmlns:a16="http://schemas.microsoft.com/office/drawing/2014/main" id="{61FC311E-9D8D-4388-8C76-B55888588D6A}"/>
              </a:ext>
            </a:extLst>
          </p:cNvPr>
          <p:cNvSpPr>
            <a:spLocks xmlns:a="http://schemas.openxmlformats.org/drawingml/2006/main" noGrp="1"/>
          </p:cNvSpPr>
          <p:nvPr/>
        </p:nvSpPr>
        <p:spPr>
          <a:xfrm xmlns:a="http://schemas.openxmlformats.org/drawingml/2006/main">
            <a:off x="685800" y="3590925"/>
            <a:ext cx="523875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Measured speedup(A) &gt; speedup(B)</a:t>
            </a:r>
          </a:p>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Learn score(A) &gt; score(B)</a:t>
            </a:r>
          </a:p>
        </p:txBody>
      </p:sp>
      <p:sp>
        <p:nvSpPr>
          <p:cNvPr id="9" name="">
            <a:extLst xmlns:a="http://schemas.openxmlformats.org/drawingml/2006/main">
              <a:ext uri="{FF2B5EF4-FFF2-40B4-BE49-F238E27FC236}">
                <a16:creationId xmlns:a16="http://schemas.microsoft.com/office/drawing/2014/main" id="{AE601F65-B6DF-4E30-869C-F1AEF4CCAF62}"/>
              </a:ext>
            </a:extLst>
          </p:cNvPr>
          <p:cNvSpPr>
            <a:spLocks xmlns:a="http://schemas.openxmlformats.org/drawingml/2006/main" noGrp="1"/>
          </p:cNvSpPr>
          <p:nvPr/>
        </p:nvSpPr>
        <p:spPr>
          <a:xfrm xmlns:a="http://schemas.openxmlformats.org/drawingml/2006/main">
            <a:off x="685800" y="4552950"/>
            <a:ext cx="5238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80 boosted trees   /   depth 2   /   rate 0.05</a:t>
            </a:r>
          </a:p>
        </p:txBody>
      </p:sp>
      <p:sp>
        <p:nvSpPr>
          <p:cNvPr id="10" name="">
            <a:extLst xmlns:a="http://schemas.openxmlformats.org/drawingml/2006/main">
              <a:ext uri="{FF2B5EF4-FFF2-40B4-BE49-F238E27FC236}">
                <a16:creationId xmlns:a16="http://schemas.microsoft.com/office/drawing/2014/main" id="{2194869C-6F99-499A-9E6B-CB873237E20F}"/>
              </a:ext>
            </a:extLst>
          </p:cNvPr>
          <p:cNvSpPr>
            <a:spLocks xmlns:a="http://schemas.openxmlformats.org/drawingml/2006/main" noGrp="1"/>
          </p:cNvSpPr>
          <p:nvPr/>
        </p:nvSpPr>
        <p:spPr>
          <a:xfrm xmlns:a="http://schemas.openxmlformats.org/drawingml/2006/main">
            <a:off x="685800" y="5095875"/>
            <a:ext cx="523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8856B"/>
                </a:solidFill>
                <a:latin typeface="Arial"/>
                <a:ea typeface="Arial"/>
                <a:cs typeface="Arial"/>
              </a:defRPr>
            </a:defPPr>
            <a:lvl1pPr>
              <a:defRPr sz="1875" b="1">
                <a:solidFill>
                  <a:srgbClr val="18856B"/>
                </a:solidFill>
                <a:latin typeface="Arial"/>
                <a:ea typeface="Arial"/>
                <a:cs typeface="Arial"/>
              </a:defRPr>
            </a:lvl1pPr>
            <a:lvl2pPr>
              <a:defRPr sz="1875" b="1">
                <a:solidFill>
                  <a:srgbClr val="18856B"/>
                </a:solidFill>
                <a:latin typeface="Arial"/>
                <a:ea typeface="Arial"/>
                <a:cs typeface="Arial"/>
              </a:defRPr>
            </a:lvl2pPr>
            <a:lvl3pPr>
              <a:defRPr sz="1875" b="1">
                <a:solidFill>
                  <a:srgbClr val="18856B"/>
                </a:solidFill>
                <a:latin typeface="Arial"/>
                <a:ea typeface="Arial"/>
                <a:cs typeface="Arial"/>
              </a:defRPr>
            </a:lvl3pPr>
            <a:lvl4pPr>
              <a:defRPr sz="1875" b="1">
                <a:solidFill>
                  <a:srgbClr val="18856B"/>
                </a:solidFill>
                <a:latin typeface="Arial"/>
                <a:ea typeface="Arial"/>
                <a:cs typeface="Arial"/>
              </a:defRPr>
            </a:lvl4pPr>
            <a:lvl5pPr>
              <a:defRPr sz="1875" b="1">
                <a:solidFill>
                  <a:srgbClr val="18856B"/>
                </a:solidFill>
                <a:latin typeface="Arial"/>
                <a:ea typeface="Arial"/>
                <a:cs typeface="Arial"/>
              </a:defRPr>
            </a:lvl5pPr>
            <a:lvl6pPr>
              <a:defRPr sz="1875" b="1">
                <a:solidFill>
                  <a:srgbClr val="18856B"/>
                </a:solidFill>
                <a:latin typeface="Arial"/>
                <a:ea typeface="Arial"/>
                <a:cs typeface="Arial"/>
              </a:defRPr>
            </a:lvl6pPr>
            <a:lvl7pPr>
              <a:defRPr sz="1875" b="1">
                <a:solidFill>
                  <a:srgbClr val="18856B"/>
                </a:solidFill>
                <a:latin typeface="Arial"/>
                <a:ea typeface="Arial"/>
                <a:cs typeface="Arial"/>
              </a:defRPr>
            </a:lvl7pPr>
            <a:lvl8pPr>
              <a:defRPr sz="1875" b="1">
                <a:solidFill>
                  <a:srgbClr val="18856B"/>
                </a:solidFill>
                <a:latin typeface="Arial"/>
                <a:ea typeface="Arial"/>
                <a:cs typeface="Arial"/>
              </a:defRPr>
            </a:lvl8pPr>
            <a:lvl9pPr>
              <a:defRPr sz="1875" b="1">
                <a:solidFill>
                  <a:srgbClr val="18856B"/>
                </a:solidFill>
                <a:latin typeface="Arial"/>
                <a:ea typeface="Arial"/>
                <a:cs typeface="Arial"/>
              </a:defRPr>
            </a:lvl9pPr>
          </a:lstStyle>
          <a:p xmlns:a="http://schemas.openxmlformats.org/drawingml/2006/main">
            <a:pPr>
              <a:defRPr sz="1875" b="1">
                <a:solidFill>
                  <a:srgbClr val="18856B"/>
                </a:solidFill>
                <a:latin typeface="Arial"/>
                <a:ea typeface="Arial"/>
                <a:cs typeface="Arial"/>
              </a:defRPr>
            </a:pPr>
            <a:r>
              <a:rPr sz="1875" b="1">
                <a:solidFill>
                  <a:srgbClr val="18856B"/>
                </a:solidFill>
                <a:latin typeface="Arial"/>
                <a:ea typeface="Arial"/>
                <a:cs typeface="Arial"/>
              </a:rPr>
              <a:t>Entire workload + related families held out</a:t>
            </a:r>
          </a:p>
        </p:txBody>
      </p:sp>
      <p:sp>
        <p:nvSpPr>
          <p:cNvPr id="11" name="">
            <a:extLst xmlns:a="http://schemas.openxmlformats.org/drawingml/2006/main">
              <a:ext uri="{FF2B5EF4-FFF2-40B4-BE49-F238E27FC236}">
                <a16:creationId xmlns:a16="http://schemas.microsoft.com/office/drawing/2014/main" id="{F31431F7-94CF-48AF-94EA-C7B936FC9CFD}"/>
              </a:ext>
            </a:extLst>
          </p:cNvPr>
          <p:cNvSpPr>
            <a:spLocks xmlns:a="http://schemas.openxmlformats.org/drawingml/2006/main" noGrp="1"/>
          </p:cNvSpPr>
          <p:nvPr/>
        </p:nvSpPr>
        <p:spPr>
          <a:xfrm xmlns:a="http://schemas.openxmlformats.org/drawingml/2006/main">
            <a:off x="6334125" y="1400175"/>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WHAT DRIVES THE RANKING?</a:t>
            </a:r>
          </a:p>
        </p:txBody>
      </p:sp>
      <p:graphicFrame>
        <p:nvGraphicFramePr>
          <p:cNvPr id="12" name="Chart">
            <a:extLst xmlns:a="http://schemas.openxmlformats.org/drawingml/2006/main">
              <a:ext uri="{FF2B5EF4-FFF2-40B4-BE49-F238E27FC236}">
                <a16:creationId xmlns:a16="http://schemas.microsoft.com/office/drawing/2014/main" id="{94956780-E794-4628-845D-70737944A640}"/>
              </a:ext>
            </a:extLst>
          </p:cNvPr>
          <p:cNvGraphicFramePr/>
          <p:nvPr/>
        </p:nvGraphicFramePr>
        <p:xfrm>
          <a:off xmlns:a="http://schemas.openxmlformats.org/drawingml/2006/main" x="6096000" y="1857375"/>
          <a:ext xmlns:a="http://schemas.openxmlformats.org/drawingml/2006/main" cx="5524500" cy="3095625"/>
        </p:xfrm>
        <a:graphic xmlns:a="http://schemas.openxmlformats.org/drawingml/2006/main">
          <a:graphicData uri="http://schemas.openxmlformats.org/drawingml/2006/chart">
            <c:chart xmlns:r="http://schemas.openxmlformats.org/officeDocument/2006/relationships" xmlns:c="http://schemas.openxmlformats.org/drawingml/2006/chart" r:id="R432e243be71f40e1"/>
          </a:graphicData>
        </a:graphic>
      </p:graphicFrame>
      <p:sp>
        <p:nvSpPr>
          <p:cNvPr id="13" name="">
            <a:extLst xmlns:a="http://schemas.openxmlformats.org/drawingml/2006/main">
              <a:ext uri="{FF2B5EF4-FFF2-40B4-BE49-F238E27FC236}">
                <a16:creationId xmlns:a16="http://schemas.microsoft.com/office/drawing/2014/main" id="{84F450B2-632E-4F31-A35E-4BAC3171D1EE}"/>
              </a:ext>
            </a:extLst>
          </p:cNvPr>
          <p:cNvSpPr>
            <a:spLocks xmlns:a="http://schemas.openxmlformats.org/drawingml/2006/main" noGrp="1"/>
          </p:cNvSpPr>
          <p:nvPr/>
        </p:nvSpPr>
        <p:spPr>
          <a:xfrm xmlns:a="http://schemas.openxmlformats.org/drawingml/2006/main">
            <a:off x="6334125" y="5172075"/>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Rank score ≠ speedup ≠ confidence</a:t>
            </a:r>
          </a:p>
        </p:txBody>
      </p:sp>
      <p:sp>
        <p:nvSpPr>
          <p:cNvPr id="14" name="">
            <a:extLst xmlns:a="http://schemas.openxmlformats.org/drawingml/2006/main">
              <a:ext uri="{FF2B5EF4-FFF2-40B4-BE49-F238E27FC236}">
                <a16:creationId xmlns:a16="http://schemas.microsoft.com/office/drawing/2014/main" id="{9751FCCD-A3A3-4B6C-87E6-0F04E3BDE9AF}"/>
              </a:ext>
            </a:extLst>
          </p:cNvPr>
          <p:cNvSpPr>
            <a:spLocks xmlns:a="http://schemas.openxmlformats.org/drawingml/2006/main" noGrp="1"/>
          </p:cNvSpPr>
          <p:nvPr/>
        </p:nvSpPr>
        <p:spPr>
          <a:xfrm xmlns:a="http://schemas.openxmlformats.org/drawingml/2006/main">
            <a:off x="6334125" y="5657850"/>
            <a:ext cx="514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607286"/>
                </a:solidFill>
                <a:latin typeface="Arial"/>
                <a:ea typeface="Arial"/>
                <a:cs typeface="Arial"/>
              </a:defRPr>
            </a:defPPr>
            <a:lvl1pPr>
              <a:defRPr sz="1725" b="0">
                <a:solidFill>
                  <a:srgbClr val="607286"/>
                </a:solidFill>
                <a:latin typeface="Arial"/>
                <a:ea typeface="Arial"/>
                <a:cs typeface="Arial"/>
              </a:defRPr>
            </a:lvl1pPr>
            <a:lvl2pPr>
              <a:defRPr sz="1725" b="0">
                <a:solidFill>
                  <a:srgbClr val="607286"/>
                </a:solidFill>
                <a:latin typeface="Arial"/>
                <a:ea typeface="Arial"/>
                <a:cs typeface="Arial"/>
              </a:defRPr>
            </a:lvl2pPr>
            <a:lvl3pPr>
              <a:defRPr sz="1725" b="0">
                <a:solidFill>
                  <a:srgbClr val="607286"/>
                </a:solidFill>
                <a:latin typeface="Arial"/>
                <a:ea typeface="Arial"/>
                <a:cs typeface="Arial"/>
              </a:defRPr>
            </a:lvl3pPr>
            <a:lvl4pPr>
              <a:defRPr sz="1725" b="0">
                <a:solidFill>
                  <a:srgbClr val="607286"/>
                </a:solidFill>
                <a:latin typeface="Arial"/>
                <a:ea typeface="Arial"/>
                <a:cs typeface="Arial"/>
              </a:defRPr>
            </a:lvl4pPr>
            <a:lvl5pPr>
              <a:defRPr sz="1725" b="0">
                <a:solidFill>
                  <a:srgbClr val="607286"/>
                </a:solidFill>
                <a:latin typeface="Arial"/>
                <a:ea typeface="Arial"/>
                <a:cs typeface="Arial"/>
              </a:defRPr>
            </a:lvl5pPr>
            <a:lvl6pPr>
              <a:defRPr sz="1725" b="0">
                <a:solidFill>
                  <a:srgbClr val="607286"/>
                </a:solidFill>
                <a:latin typeface="Arial"/>
                <a:ea typeface="Arial"/>
                <a:cs typeface="Arial"/>
              </a:defRPr>
            </a:lvl6pPr>
            <a:lvl7pPr>
              <a:defRPr sz="1725" b="0">
                <a:solidFill>
                  <a:srgbClr val="607286"/>
                </a:solidFill>
                <a:latin typeface="Arial"/>
                <a:ea typeface="Arial"/>
                <a:cs typeface="Arial"/>
              </a:defRPr>
            </a:lvl7pPr>
            <a:lvl8pPr>
              <a:defRPr sz="1725" b="0">
                <a:solidFill>
                  <a:srgbClr val="607286"/>
                </a:solidFill>
                <a:latin typeface="Arial"/>
                <a:ea typeface="Arial"/>
                <a:cs typeface="Arial"/>
              </a:defRPr>
            </a:lvl8pPr>
            <a:lvl9pPr>
              <a:defRPr sz="1725" b="0">
                <a:solidFill>
                  <a:srgbClr val="607286"/>
                </a:solidFill>
                <a:latin typeface="Arial"/>
                <a:ea typeface="Arial"/>
                <a:cs typeface="Arial"/>
              </a:defRPr>
            </a:lvl9pPr>
          </a:lstStyle>
          <a:p xmlns:a="http://schemas.openxmlformats.org/drawingml/2006/main">
            <a:pPr>
              <a:defRPr sz="1725" b="0">
                <a:solidFill>
                  <a:srgbClr val="607286"/>
                </a:solidFill>
                <a:latin typeface="Arial"/>
                <a:ea typeface="Arial"/>
                <a:cs typeface="Arial"/>
              </a:defRPr>
            </a:pPr>
            <a:r>
              <a:rPr sz="1725" b="0">
                <a:solidFill>
                  <a:srgbClr val="607286"/>
                </a:solidFill>
                <a:latin typeface="Arial"/>
                <a:ea typeface="Arial"/>
                <a:cs typeface="Arial"/>
              </a:rPr>
              <a:t>A high rank can still violate the area budget.</a:t>
            </a:r>
          </a:p>
        </p:txBody>
      </p:sp>
    </p:spTree>
    <p:extLst>
      <p:ext uri="{BB962C8B-B14F-4D97-AF65-F5344CB8AC3E}">
        <p14:creationId xmlns:p14="http://schemas.microsoft.com/office/powerpoint/2010/main" val="1806643875"/>
      </p:ext>
    </p:extLst>
  </p:cSld>
</p:sld>
</file>

<file path=ppt/slides/slide7.xml><?xml version="1.0" encoding="utf-8"?>
<p:sld xmlns:p="http://schemas.openxmlformats.org/presentationml/2006/main">
  <p:cSld>
    <p:bg>
      <p:bgPr>
        <a:solidFill xmlns:a="http://schemas.openxmlformats.org/drawingml/2006/main">
          <a:srgbClr val="0B1426"/>
        </a:solidFill>
      </p:bgPr>
    </p:bg>
    <p:spTree>
      <p:nvGrpSpPr>
        <p:cNvPr id="1" name=""/>
        <p:cNvGrpSpPr/>
        <p:nvPr/>
      </p:nvGrpSpPr>
      <p:grpSpPr>
        <a:xfrm xmlns:a="http://schemas.openxmlformats.org/drawingml/2006/main"/>
      </p:grpSpPr>
      <p:sp>
        <p:nvSpPr>
          <p:cNvPr id="33" name="">
            <a:extLst xmlns:a="http://schemas.openxmlformats.org/drawingml/2006/main">
              <a:ext uri="{FF2B5EF4-FFF2-40B4-BE49-F238E27FC236}">
                <a16:creationId xmlns:a16="http://schemas.microsoft.com/office/drawing/2014/main" id="{D1C424AD-CBB6-4BA1-8D67-513A9299E3ED}"/>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The agent: decisions, memory and feedback</a:t>
            </a:r>
          </a:p>
        </p:txBody>
      </p:sp>
      <p:sp>
        <p:nvSpPr>
          <p:cNvPr id="2" name="">
            <a:extLst xmlns:a="http://schemas.openxmlformats.org/drawingml/2006/main">
              <a:ext uri="{FF2B5EF4-FFF2-40B4-BE49-F238E27FC236}">
                <a16:creationId xmlns:a16="http://schemas.microsoft.com/office/drawing/2014/main" id="{EDCA45F3-BB68-44A7-857C-0B09B812C765}"/>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F48322F9-6D5A-4289-B760-4BC2CBD5D316}"/>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7</a:t>
            </a:r>
          </a:p>
        </p:txBody>
      </p:sp>
      <p:sp>
        <p:nvSpPr>
          <p:cNvPr id="4" name="">
            <a:extLst xmlns:a="http://schemas.openxmlformats.org/drawingml/2006/main">
              <a:ext uri="{FF2B5EF4-FFF2-40B4-BE49-F238E27FC236}">
                <a16:creationId xmlns:a16="http://schemas.microsoft.com/office/drawing/2014/main" id="{11FE8B0A-DCEB-47DE-9E4E-54CDFDBD5D35}"/>
              </a:ext>
            </a:extLst>
          </p:cNvPr>
          <p:cNvSpPr>
            <a:spLocks xmlns:a="http://schemas.openxmlformats.org/drawingml/2006/main" noGrp="1"/>
          </p:cNvSpPr>
          <p:nvPr/>
        </p:nvSpPr>
        <p:spPr>
          <a:xfrm xmlns:a="http://schemas.openxmlformats.org/drawingml/2006/main">
            <a:off x="523875" y="285750"/>
            <a:ext cx="11144250" cy="828675"/>
          </a:xfrm>
          <a:prstGeom xmlns:a="http://schemas.openxmlformats.org/drawingml/2006/main" prst="rect">
            <a:avLst/>
          </a:prstGeom>
          <a:solidFill xmlns:a="http://schemas.openxmlformats.org/drawingml/2006/main">
            <a:srgbClr val="0B1426"/>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EF19C95-A731-48DC-912A-736418768AFE}"/>
              </a:ext>
            </a:extLst>
          </p:cNvPr>
          <p:cNvSpPr>
            <a:spLocks xmlns:a="http://schemas.openxmlformats.org/drawingml/2006/main" noGrp="1"/>
          </p:cNvSpPr>
          <p:nvPr/>
        </p:nvSpPr>
        <p:spPr>
          <a:xfrm xmlns:a="http://schemas.openxmlformats.org/drawingml/2006/main">
            <a:off x="647700" y="409575"/>
            <a:ext cx="108966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EAF1FC"/>
                </a:solidFill>
                <a:latin typeface="Arial"/>
                <a:ea typeface="Arial"/>
                <a:cs typeface="Arial"/>
              </a:defRPr>
            </a:defPPr>
            <a:lvl1pPr>
              <a:defRPr sz="3000" b="1">
                <a:solidFill>
                  <a:srgbClr val="EAF1FC"/>
                </a:solidFill>
                <a:latin typeface="Arial"/>
                <a:ea typeface="Arial"/>
                <a:cs typeface="Arial"/>
              </a:defRPr>
            </a:lvl1pPr>
            <a:lvl2pPr>
              <a:defRPr sz="3000" b="1">
                <a:solidFill>
                  <a:srgbClr val="EAF1FC"/>
                </a:solidFill>
                <a:latin typeface="Arial"/>
                <a:ea typeface="Arial"/>
                <a:cs typeface="Arial"/>
              </a:defRPr>
            </a:lvl2pPr>
            <a:lvl3pPr>
              <a:defRPr sz="3000" b="1">
                <a:solidFill>
                  <a:srgbClr val="EAF1FC"/>
                </a:solidFill>
                <a:latin typeface="Arial"/>
                <a:ea typeface="Arial"/>
                <a:cs typeface="Arial"/>
              </a:defRPr>
            </a:lvl3pPr>
            <a:lvl4pPr>
              <a:defRPr sz="3000" b="1">
                <a:solidFill>
                  <a:srgbClr val="EAF1FC"/>
                </a:solidFill>
                <a:latin typeface="Arial"/>
                <a:ea typeface="Arial"/>
                <a:cs typeface="Arial"/>
              </a:defRPr>
            </a:lvl4pPr>
            <a:lvl5pPr>
              <a:defRPr sz="3000" b="1">
                <a:solidFill>
                  <a:srgbClr val="EAF1FC"/>
                </a:solidFill>
                <a:latin typeface="Arial"/>
                <a:ea typeface="Arial"/>
                <a:cs typeface="Arial"/>
              </a:defRPr>
            </a:lvl5pPr>
            <a:lvl6pPr>
              <a:defRPr sz="3000" b="1">
                <a:solidFill>
                  <a:srgbClr val="EAF1FC"/>
                </a:solidFill>
                <a:latin typeface="Arial"/>
                <a:ea typeface="Arial"/>
                <a:cs typeface="Arial"/>
              </a:defRPr>
            </a:lvl6pPr>
            <a:lvl7pPr>
              <a:defRPr sz="3000" b="1">
                <a:solidFill>
                  <a:srgbClr val="EAF1FC"/>
                </a:solidFill>
                <a:latin typeface="Arial"/>
                <a:ea typeface="Arial"/>
                <a:cs typeface="Arial"/>
              </a:defRPr>
            </a:lvl7pPr>
            <a:lvl8pPr>
              <a:defRPr sz="3000" b="1">
                <a:solidFill>
                  <a:srgbClr val="EAF1FC"/>
                </a:solidFill>
                <a:latin typeface="Arial"/>
                <a:ea typeface="Arial"/>
                <a:cs typeface="Arial"/>
              </a:defRPr>
            </a:lvl8pPr>
            <a:lvl9pPr>
              <a:defRPr sz="3000" b="1">
                <a:solidFill>
                  <a:srgbClr val="EAF1FC"/>
                </a:solidFill>
                <a:latin typeface="Arial"/>
                <a:ea typeface="Arial"/>
                <a:cs typeface="Arial"/>
              </a:defRPr>
            </a:lvl9pPr>
          </a:lstStyle>
          <a:p xmlns:a="http://schemas.openxmlformats.org/drawingml/2006/main">
            <a:pPr>
              <a:defRPr sz="3000" b="1">
                <a:solidFill>
                  <a:srgbClr val="EAF1FC"/>
                </a:solidFill>
                <a:latin typeface="Arial"/>
                <a:ea typeface="Arial"/>
                <a:cs typeface="Arial"/>
              </a:defRPr>
            </a:pPr>
            <a:r>
              <a:rPr sz="3000" b="1">
                <a:solidFill>
                  <a:srgbClr val="EAF1FC"/>
                </a:solidFill>
                <a:latin typeface="Arial"/>
                <a:ea typeface="Arial"/>
                <a:cs typeface="Arial"/>
              </a:rPr>
              <a:t>The agent: decisions, memory and feedback</a:t>
            </a:r>
          </a:p>
        </p:txBody>
      </p:sp>
      <p:sp>
        <p:nvSpPr>
          <p:cNvPr id="6" name="">
            <a:extLst xmlns:a="http://schemas.openxmlformats.org/drawingml/2006/main">
              <a:ext uri="{FF2B5EF4-FFF2-40B4-BE49-F238E27FC236}">
                <a16:creationId xmlns:a16="http://schemas.microsoft.com/office/drawing/2014/main" id="{CCE5B2F1-1702-458B-B390-CAA1C244836C}"/>
              </a:ext>
            </a:extLst>
          </p:cNvPr>
          <p:cNvSpPr>
            <a:spLocks xmlns:a="http://schemas.openxmlformats.org/drawingml/2006/main" noGrp="1"/>
          </p:cNvSpPr>
          <p:nvPr/>
        </p:nvSpPr>
        <p:spPr>
          <a:xfrm xmlns:a="http://schemas.openxmlformats.org/drawingml/2006/main">
            <a:off x="64770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7" name="">
            <a:extLst xmlns:a="http://schemas.openxmlformats.org/drawingml/2006/main">
              <a:ext uri="{FF2B5EF4-FFF2-40B4-BE49-F238E27FC236}">
                <a16:creationId xmlns:a16="http://schemas.microsoft.com/office/drawing/2014/main" id="{E6235C72-3C86-4187-BC10-D697F9015E1B}"/>
              </a:ext>
            </a:extLst>
          </p:cNvPr>
          <p:cNvSpPr>
            <a:spLocks xmlns:a="http://schemas.openxmlformats.org/drawingml/2006/main" noGrp="1"/>
          </p:cNvSpPr>
          <p:nvPr/>
        </p:nvSpPr>
        <p:spPr>
          <a:xfrm xmlns:a="http://schemas.openxmlformats.org/drawingml/2006/main">
            <a:off x="78105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OBSERVE</a:t>
            </a:r>
          </a:p>
        </p:txBody>
      </p:sp>
      <p:sp>
        <p:nvSpPr>
          <p:cNvPr id="8" name="">
            <a:extLst xmlns:a="http://schemas.openxmlformats.org/drawingml/2006/main">
              <a:ext uri="{FF2B5EF4-FFF2-40B4-BE49-F238E27FC236}">
                <a16:creationId xmlns:a16="http://schemas.microsoft.com/office/drawing/2014/main" id="{78B3DF28-0D8D-41FB-A903-045143C40ACB}"/>
              </a:ext>
            </a:extLst>
          </p:cNvPr>
          <p:cNvSpPr>
            <a:spLocks xmlns:a="http://schemas.openxmlformats.org/drawingml/2006/main" noGrp="1"/>
          </p:cNvSpPr>
          <p:nvPr/>
        </p:nvSpPr>
        <p:spPr>
          <a:xfrm xmlns:a="http://schemas.openxmlformats.org/drawingml/2006/main">
            <a:off x="78105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Candidates + budget</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Paid observations</a:t>
            </a:r>
          </a:p>
        </p:txBody>
      </p:sp>
      <p:sp>
        <p:nvSpPr>
          <p:cNvPr id="9" name="">
            <a:extLst xmlns:a="http://schemas.openxmlformats.org/drawingml/2006/main">
              <a:ext uri="{FF2B5EF4-FFF2-40B4-BE49-F238E27FC236}">
                <a16:creationId xmlns:a16="http://schemas.microsoft.com/office/drawing/2014/main" id="{FCBE67B1-BC50-4BE9-B878-285E67600994}"/>
              </a:ext>
            </a:extLst>
          </p:cNvPr>
          <p:cNvSpPr>
            <a:spLocks xmlns:a="http://schemas.openxmlformats.org/drawingml/2006/main" noGrp="1"/>
          </p:cNvSpPr>
          <p:nvPr/>
        </p:nvSpPr>
        <p:spPr>
          <a:xfrm xmlns:a="http://schemas.openxmlformats.org/drawingml/2006/main">
            <a:off x="317182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144117B-90BC-4127-9301-4584E1C7A5B7}"/>
              </a:ext>
            </a:extLst>
          </p:cNvPr>
          <p:cNvSpPr>
            <a:spLocks xmlns:a="http://schemas.openxmlformats.org/drawingml/2006/main" noGrp="1"/>
          </p:cNvSpPr>
          <p:nvPr/>
        </p:nvSpPr>
        <p:spPr>
          <a:xfrm xmlns:a="http://schemas.openxmlformats.org/drawingml/2006/main">
            <a:off x="344805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1" name="">
            <a:extLst xmlns:a="http://schemas.openxmlformats.org/drawingml/2006/main">
              <a:ext uri="{FF2B5EF4-FFF2-40B4-BE49-F238E27FC236}">
                <a16:creationId xmlns:a16="http://schemas.microsoft.com/office/drawing/2014/main" id="{D98435DD-E2BB-4C8E-A29D-2627ACD600EE}"/>
              </a:ext>
            </a:extLst>
          </p:cNvPr>
          <p:cNvSpPr>
            <a:spLocks xmlns:a="http://schemas.openxmlformats.org/drawingml/2006/main" noGrp="1"/>
          </p:cNvSpPr>
          <p:nvPr/>
        </p:nvSpPr>
        <p:spPr>
          <a:xfrm xmlns:a="http://schemas.openxmlformats.org/drawingml/2006/main">
            <a:off x="358140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CONSULT</a:t>
            </a:r>
          </a:p>
        </p:txBody>
      </p:sp>
      <p:sp>
        <p:nvSpPr>
          <p:cNvPr id="12" name="">
            <a:extLst xmlns:a="http://schemas.openxmlformats.org/drawingml/2006/main">
              <a:ext uri="{FF2B5EF4-FFF2-40B4-BE49-F238E27FC236}">
                <a16:creationId xmlns:a16="http://schemas.microsoft.com/office/drawing/2014/main" id="{243B4AC3-79DD-4DBC-B232-C02DF55F673F}"/>
              </a:ext>
            </a:extLst>
          </p:cNvPr>
          <p:cNvSpPr>
            <a:spLocks xmlns:a="http://schemas.openxmlformats.org/drawingml/2006/main" noGrp="1"/>
          </p:cNvSpPr>
          <p:nvPr/>
        </p:nvSpPr>
        <p:spPr>
          <a:xfrm xmlns:a="http://schemas.openxmlformats.org/drawingml/2006/main">
            <a:off x="358140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Query predictors</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Retrieve history</a:t>
            </a:r>
          </a:p>
        </p:txBody>
      </p:sp>
      <p:sp>
        <p:nvSpPr>
          <p:cNvPr id="13" name="">
            <a:extLst xmlns:a="http://schemas.openxmlformats.org/drawingml/2006/main">
              <a:ext uri="{FF2B5EF4-FFF2-40B4-BE49-F238E27FC236}">
                <a16:creationId xmlns:a16="http://schemas.microsoft.com/office/drawing/2014/main" id="{6966D749-2974-411D-9DF9-43C68B64EDA3}"/>
              </a:ext>
            </a:extLst>
          </p:cNvPr>
          <p:cNvSpPr>
            <a:spLocks xmlns:a="http://schemas.openxmlformats.org/drawingml/2006/main" noGrp="1"/>
          </p:cNvSpPr>
          <p:nvPr/>
        </p:nvSpPr>
        <p:spPr>
          <a:xfrm xmlns:a="http://schemas.openxmlformats.org/drawingml/2006/main">
            <a:off x="597217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E2EC2A4-1F60-40D3-93E7-84A7C3717ED1}"/>
              </a:ext>
            </a:extLst>
          </p:cNvPr>
          <p:cNvSpPr>
            <a:spLocks xmlns:a="http://schemas.openxmlformats.org/drawingml/2006/main" noGrp="1"/>
          </p:cNvSpPr>
          <p:nvPr/>
        </p:nvSpPr>
        <p:spPr>
          <a:xfrm xmlns:a="http://schemas.openxmlformats.org/drawingml/2006/main">
            <a:off x="624840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5" name="">
            <a:extLst xmlns:a="http://schemas.openxmlformats.org/drawingml/2006/main">
              <a:ext uri="{FF2B5EF4-FFF2-40B4-BE49-F238E27FC236}">
                <a16:creationId xmlns:a16="http://schemas.microsoft.com/office/drawing/2014/main" id="{7CF65B96-D2F8-4E85-AFDB-0AB2C0DC8FB9}"/>
              </a:ext>
            </a:extLst>
          </p:cNvPr>
          <p:cNvSpPr>
            <a:spLocks xmlns:a="http://schemas.openxmlformats.org/drawingml/2006/main" noGrp="1"/>
          </p:cNvSpPr>
          <p:nvPr/>
        </p:nvSpPr>
        <p:spPr>
          <a:xfrm xmlns:a="http://schemas.openxmlformats.org/drawingml/2006/main">
            <a:off x="638175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DECIDE</a:t>
            </a:r>
          </a:p>
        </p:txBody>
      </p:sp>
      <p:sp>
        <p:nvSpPr>
          <p:cNvPr id="16" name="">
            <a:extLst xmlns:a="http://schemas.openxmlformats.org/drawingml/2006/main">
              <a:ext uri="{FF2B5EF4-FFF2-40B4-BE49-F238E27FC236}">
                <a16:creationId xmlns:a16="http://schemas.microsoft.com/office/drawing/2014/main" id="{5F72A607-0968-4B7D-8497-1EB418E62B2E}"/>
              </a:ext>
            </a:extLst>
          </p:cNvPr>
          <p:cNvSpPr>
            <a:spLocks xmlns:a="http://schemas.openxmlformats.org/drawingml/2006/main" noGrp="1"/>
          </p:cNvSpPr>
          <p:nvPr/>
        </p:nvSpPr>
        <p:spPr>
          <a:xfrm xmlns:a="http://schemas.openxmlformats.org/drawingml/2006/main">
            <a:off x="638175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Choose one action</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Use fixed LLM</a:t>
            </a:r>
          </a:p>
        </p:txBody>
      </p:sp>
      <p:sp>
        <p:nvSpPr>
          <p:cNvPr id="17" name="">
            <a:extLst xmlns:a="http://schemas.openxmlformats.org/drawingml/2006/main">
              <a:ext uri="{FF2B5EF4-FFF2-40B4-BE49-F238E27FC236}">
                <a16:creationId xmlns:a16="http://schemas.microsoft.com/office/drawing/2014/main" id="{BB9959E9-1C95-4807-B986-F818AB9DC095}"/>
              </a:ext>
            </a:extLst>
          </p:cNvPr>
          <p:cNvSpPr>
            <a:spLocks xmlns:a="http://schemas.openxmlformats.org/drawingml/2006/main" noGrp="1"/>
          </p:cNvSpPr>
          <p:nvPr/>
        </p:nvSpPr>
        <p:spPr>
          <a:xfrm xmlns:a="http://schemas.openxmlformats.org/drawingml/2006/main">
            <a:off x="8772525" y="2219325"/>
            <a:ext cx="238125" cy="171450"/>
          </a:xfrm>
          <a:prstGeom xmlns:a="http://schemas.openxmlformats.org/drawingml/2006/main" prst="rightArrow">
            <a:avLst/>
          </a:prstGeom>
          <a:solidFill xmlns:a="http://schemas.openxmlformats.org/drawingml/2006/main">
            <a:srgbClr val="66D9AB"/>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F993588-C449-4AB9-9E42-7263DABA0CF8}"/>
              </a:ext>
            </a:extLst>
          </p:cNvPr>
          <p:cNvSpPr>
            <a:spLocks xmlns:a="http://schemas.openxmlformats.org/drawingml/2006/main" noGrp="1"/>
          </p:cNvSpPr>
          <p:nvPr/>
        </p:nvSpPr>
        <p:spPr>
          <a:xfrm xmlns:a="http://schemas.openxmlformats.org/drawingml/2006/main">
            <a:off x="9048750" y="1666875"/>
            <a:ext cx="2476500" cy="1257300"/>
          </a:xfrm>
          <a:prstGeom xmlns:a="http://schemas.openxmlformats.org/drawingml/2006/main" prst="roundRect">
            <a:avLst>
              <a:gd name="adj" fmla="val 6061"/>
            </a:avLst>
          </a:prstGeom>
          <a:solidFill xmlns:a="http://schemas.openxmlformats.org/drawingml/2006/main">
            <a:srgbClr val="14243B"/>
          </a:solidFill>
          <a:ln xmlns:a="http://schemas.openxmlformats.org/drawingml/2006/main" w="11430">
            <a:solidFill>
              <a:srgbClr val="66D9AB"/>
            </a:solidFill>
            <a:prstDash val="solid"/>
          </a:ln>
        </p:spPr>
      </p:sp>
      <p:sp>
        <p:nvSpPr>
          <p:cNvPr id="19" name="">
            <a:extLst xmlns:a="http://schemas.openxmlformats.org/drawingml/2006/main">
              <a:ext uri="{FF2B5EF4-FFF2-40B4-BE49-F238E27FC236}">
                <a16:creationId xmlns:a16="http://schemas.microsoft.com/office/drawing/2014/main" id="{97D200B5-1A2B-4FF3-BE8D-A9492A1BAD60}"/>
              </a:ext>
            </a:extLst>
          </p:cNvPr>
          <p:cNvSpPr>
            <a:spLocks xmlns:a="http://schemas.openxmlformats.org/drawingml/2006/main" noGrp="1"/>
          </p:cNvSpPr>
          <p:nvPr/>
        </p:nvSpPr>
        <p:spPr>
          <a:xfrm xmlns:a="http://schemas.openxmlformats.org/drawingml/2006/main">
            <a:off x="9182100" y="1809750"/>
            <a:ext cx="22383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66D9AB"/>
                </a:solidFill>
                <a:latin typeface="Arial"/>
                <a:ea typeface="Arial"/>
                <a:cs typeface="Arial"/>
              </a:defRPr>
            </a:defPPr>
            <a:lvl1pPr>
              <a:defRPr sz="1650" b="1">
                <a:solidFill>
                  <a:srgbClr val="66D9AB"/>
                </a:solidFill>
                <a:latin typeface="Arial"/>
                <a:ea typeface="Arial"/>
                <a:cs typeface="Arial"/>
              </a:defRPr>
            </a:lvl1pPr>
            <a:lvl2pPr>
              <a:defRPr sz="1650" b="1">
                <a:solidFill>
                  <a:srgbClr val="66D9AB"/>
                </a:solidFill>
                <a:latin typeface="Arial"/>
                <a:ea typeface="Arial"/>
                <a:cs typeface="Arial"/>
              </a:defRPr>
            </a:lvl2pPr>
            <a:lvl3pPr>
              <a:defRPr sz="1650" b="1">
                <a:solidFill>
                  <a:srgbClr val="66D9AB"/>
                </a:solidFill>
                <a:latin typeface="Arial"/>
                <a:ea typeface="Arial"/>
                <a:cs typeface="Arial"/>
              </a:defRPr>
            </a:lvl3pPr>
            <a:lvl4pPr>
              <a:defRPr sz="1650" b="1">
                <a:solidFill>
                  <a:srgbClr val="66D9AB"/>
                </a:solidFill>
                <a:latin typeface="Arial"/>
                <a:ea typeface="Arial"/>
                <a:cs typeface="Arial"/>
              </a:defRPr>
            </a:lvl4pPr>
            <a:lvl5pPr>
              <a:defRPr sz="1650" b="1">
                <a:solidFill>
                  <a:srgbClr val="66D9AB"/>
                </a:solidFill>
                <a:latin typeface="Arial"/>
                <a:ea typeface="Arial"/>
                <a:cs typeface="Arial"/>
              </a:defRPr>
            </a:lvl5pPr>
            <a:lvl6pPr>
              <a:defRPr sz="1650" b="1">
                <a:solidFill>
                  <a:srgbClr val="66D9AB"/>
                </a:solidFill>
                <a:latin typeface="Arial"/>
                <a:ea typeface="Arial"/>
                <a:cs typeface="Arial"/>
              </a:defRPr>
            </a:lvl6pPr>
            <a:lvl7pPr>
              <a:defRPr sz="1650" b="1">
                <a:solidFill>
                  <a:srgbClr val="66D9AB"/>
                </a:solidFill>
                <a:latin typeface="Arial"/>
                <a:ea typeface="Arial"/>
                <a:cs typeface="Arial"/>
              </a:defRPr>
            </a:lvl7pPr>
            <a:lvl8pPr>
              <a:defRPr sz="1650" b="1">
                <a:solidFill>
                  <a:srgbClr val="66D9AB"/>
                </a:solidFill>
                <a:latin typeface="Arial"/>
                <a:ea typeface="Arial"/>
                <a:cs typeface="Arial"/>
              </a:defRPr>
            </a:lvl8pPr>
            <a:lvl9pPr>
              <a:defRPr sz="1650" b="1">
                <a:solidFill>
                  <a:srgbClr val="66D9AB"/>
                </a:solidFill>
                <a:latin typeface="Arial"/>
                <a:ea typeface="Arial"/>
                <a:cs typeface="Arial"/>
              </a:defRPr>
            </a:lvl9pPr>
          </a:lstStyle>
          <a:p xmlns:a="http://schemas.openxmlformats.org/drawingml/2006/main">
            <a:pPr>
              <a:defRPr sz="1650" b="1">
                <a:solidFill>
                  <a:srgbClr val="66D9AB"/>
                </a:solidFill>
                <a:latin typeface="Arial"/>
                <a:ea typeface="Arial"/>
                <a:cs typeface="Arial"/>
              </a:defRPr>
            </a:pPr>
            <a:r>
              <a:rPr sz="1650" b="1">
                <a:solidFill>
                  <a:srgbClr val="66D9AB"/>
                </a:solidFill>
                <a:latin typeface="Arial"/>
                <a:ea typeface="Arial"/>
                <a:cs typeface="Arial"/>
              </a:rPr>
              <a:t>ACT + VERIFY</a:t>
            </a:r>
          </a:p>
        </p:txBody>
      </p:sp>
      <p:sp>
        <p:nvSpPr>
          <p:cNvPr id="20" name="">
            <a:extLst xmlns:a="http://schemas.openxmlformats.org/drawingml/2006/main">
              <a:ext uri="{FF2B5EF4-FFF2-40B4-BE49-F238E27FC236}">
                <a16:creationId xmlns:a16="http://schemas.microsoft.com/office/drawing/2014/main" id="{DC7371C8-CCDB-436A-B59A-40E5451A1569}"/>
              </a:ext>
            </a:extLst>
          </p:cNvPr>
          <p:cNvSpPr>
            <a:spLocks xmlns:a="http://schemas.openxmlformats.org/drawingml/2006/main" noGrp="1"/>
          </p:cNvSpPr>
          <p:nvPr/>
        </p:nvSpPr>
        <p:spPr>
          <a:xfrm xmlns:a="http://schemas.openxmlformats.org/drawingml/2006/main">
            <a:off x="9182100" y="2238375"/>
            <a:ext cx="2238375"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EAF1FC"/>
                </a:solidFill>
                <a:latin typeface="Arial"/>
                <a:ea typeface="Arial"/>
                <a:cs typeface="Arial"/>
              </a:defRPr>
            </a:defPPr>
            <a:lvl1pPr>
              <a:defRPr sz="1650" b="0">
                <a:solidFill>
                  <a:srgbClr val="EAF1FC"/>
                </a:solidFill>
                <a:latin typeface="Arial"/>
                <a:ea typeface="Arial"/>
                <a:cs typeface="Arial"/>
              </a:defRPr>
            </a:lvl1pPr>
            <a:lvl2pPr>
              <a:defRPr sz="1650" b="0">
                <a:solidFill>
                  <a:srgbClr val="EAF1FC"/>
                </a:solidFill>
                <a:latin typeface="Arial"/>
                <a:ea typeface="Arial"/>
                <a:cs typeface="Arial"/>
              </a:defRPr>
            </a:lvl2pPr>
            <a:lvl3pPr>
              <a:defRPr sz="1650" b="0">
                <a:solidFill>
                  <a:srgbClr val="EAF1FC"/>
                </a:solidFill>
                <a:latin typeface="Arial"/>
                <a:ea typeface="Arial"/>
                <a:cs typeface="Arial"/>
              </a:defRPr>
            </a:lvl3pPr>
            <a:lvl4pPr>
              <a:defRPr sz="1650" b="0">
                <a:solidFill>
                  <a:srgbClr val="EAF1FC"/>
                </a:solidFill>
                <a:latin typeface="Arial"/>
                <a:ea typeface="Arial"/>
                <a:cs typeface="Arial"/>
              </a:defRPr>
            </a:lvl4pPr>
            <a:lvl5pPr>
              <a:defRPr sz="1650" b="0">
                <a:solidFill>
                  <a:srgbClr val="EAF1FC"/>
                </a:solidFill>
                <a:latin typeface="Arial"/>
                <a:ea typeface="Arial"/>
                <a:cs typeface="Arial"/>
              </a:defRPr>
            </a:lvl5pPr>
            <a:lvl6pPr>
              <a:defRPr sz="1650" b="0">
                <a:solidFill>
                  <a:srgbClr val="EAF1FC"/>
                </a:solidFill>
                <a:latin typeface="Arial"/>
                <a:ea typeface="Arial"/>
                <a:cs typeface="Arial"/>
              </a:defRPr>
            </a:lvl6pPr>
            <a:lvl7pPr>
              <a:defRPr sz="1650" b="0">
                <a:solidFill>
                  <a:srgbClr val="EAF1FC"/>
                </a:solidFill>
                <a:latin typeface="Arial"/>
                <a:ea typeface="Arial"/>
                <a:cs typeface="Arial"/>
              </a:defRPr>
            </a:lvl7pPr>
            <a:lvl8pPr>
              <a:defRPr sz="1650" b="0">
                <a:solidFill>
                  <a:srgbClr val="EAF1FC"/>
                </a:solidFill>
                <a:latin typeface="Arial"/>
                <a:ea typeface="Arial"/>
                <a:cs typeface="Arial"/>
              </a:defRPr>
            </a:lvl8pPr>
            <a:lvl9pPr>
              <a:defRPr sz="1650" b="0">
                <a:solidFill>
                  <a:srgbClr val="EAF1FC"/>
                </a:solidFill>
                <a:latin typeface="Arial"/>
                <a:ea typeface="Arial"/>
                <a:cs typeface="Arial"/>
              </a:defRPr>
            </a:lvl9pPr>
          </a:lstStyle>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Host checks action</a:t>
            </a:r>
          </a:p>
          <a:p xmlns:a="http://schemas.openxmlformats.org/drawingml/2006/main">
            <a:pPr>
              <a:defRPr sz="1650" b="0">
                <a:solidFill>
                  <a:srgbClr val="EAF1FC"/>
                </a:solidFill>
                <a:latin typeface="Arial"/>
                <a:ea typeface="Arial"/>
                <a:cs typeface="Arial"/>
              </a:defRPr>
            </a:pPr>
            <a:r>
              <a:rPr sz="1650" b="0">
                <a:solidFill>
                  <a:srgbClr val="EAF1FC"/>
                </a:solidFill>
                <a:latin typeface="Arial"/>
                <a:ea typeface="Arial"/>
                <a:cs typeface="Arial"/>
              </a:rPr>
              <a:t>Record outcome</a:t>
            </a:r>
          </a:p>
        </p:txBody>
      </p:sp>
      <p:sp>
        <p:nvSpPr>
          <p:cNvPr id="21" name="">
            <a:extLst xmlns:a="http://schemas.openxmlformats.org/drawingml/2006/main">
              <a:ext uri="{FF2B5EF4-FFF2-40B4-BE49-F238E27FC236}">
                <a16:creationId xmlns:a16="http://schemas.microsoft.com/office/drawing/2014/main" id="{32B5D3EA-5BB2-40D2-8802-4B143185C1E5}"/>
              </a:ext>
            </a:extLst>
          </p:cNvPr>
          <p:cNvSpPr>
            <a:spLocks xmlns:a="http://schemas.openxmlformats.org/drawingml/2006/main" noGrp="1"/>
          </p:cNvSpPr>
          <p:nvPr/>
        </p:nvSpPr>
        <p:spPr>
          <a:xfrm xmlns:a="http://schemas.openxmlformats.org/drawingml/2006/main">
            <a:off x="10382250" y="2933700"/>
            <a:ext cx="0" cy="28575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22" name="">
            <a:extLst xmlns:a="http://schemas.openxmlformats.org/drawingml/2006/main">
              <a:ext uri="{FF2B5EF4-FFF2-40B4-BE49-F238E27FC236}">
                <a16:creationId xmlns:a16="http://schemas.microsoft.com/office/drawing/2014/main" id="{E5C83BF3-0921-4CCB-8AB4-4F77AFC1B3C3}"/>
              </a:ext>
            </a:extLst>
          </p:cNvPr>
          <p:cNvSpPr>
            <a:spLocks xmlns:a="http://schemas.openxmlformats.org/drawingml/2006/main" noGrp="1"/>
          </p:cNvSpPr>
          <p:nvPr/>
        </p:nvSpPr>
        <p:spPr>
          <a:xfrm xmlns:a="http://schemas.openxmlformats.org/drawingml/2006/main">
            <a:off x="1714500" y="3219450"/>
            <a:ext cx="8667750" cy="0"/>
          </a:xfrm>
          <a:prstGeom xmlns:a="http://schemas.openxmlformats.org/drawingml/2006/main" prst="line">
            <a:avLst/>
          </a:prstGeom>
          <a:noFill xmlns:a="http://schemas.openxmlformats.org/drawingml/2006/main"/>
          <a:ln xmlns:a="http://schemas.openxmlformats.org/drawingml/2006/main" w="19050">
            <a:solidFill>
              <a:srgbClr val="66D9AB"/>
            </a:solidFill>
            <a:prstDash val="solid"/>
          </a:ln>
        </p:spPr>
      </p:sp>
      <p:sp>
        <p:nvSpPr>
          <p:cNvPr id="23" name="">
            <a:extLst xmlns:a="http://schemas.openxmlformats.org/drawingml/2006/main">
              <a:ext uri="{FF2B5EF4-FFF2-40B4-BE49-F238E27FC236}">
                <a16:creationId xmlns:a16="http://schemas.microsoft.com/office/drawing/2014/main" id="{8B42F366-2B97-4FFF-8A3A-AF700F64FD1A}"/>
              </a:ext>
            </a:extLst>
          </p:cNvPr>
          <p:cNvSpPr>
            <a:spLocks xmlns:a="http://schemas.openxmlformats.org/drawingml/2006/main" noGrp="1"/>
          </p:cNvSpPr>
          <p:nvPr/>
        </p:nvSpPr>
        <p:spPr>
          <a:xfrm xmlns:a="http://schemas.openxmlformats.org/drawingml/2006/main">
            <a:off x="1638300" y="2943225"/>
            <a:ext cx="152400" cy="276225"/>
          </a:xfrm>
          <a:prstGeom xmlns:a="http://schemas.openxmlformats.org/drawingml/2006/main" prst="upArrow">
            <a:avLst/>
          </a:prstGeom>
          <a:solidFill xmlns:a="http://schemas.openxmlformats.org/drawingml/2006/main">
            <a:srgbClr val="66D9AB"/>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8F580C4-3368-4B79-A741-7ACCC664DF98}"/>
              </a:ext>
            </a:extLst>
          </p:cNvPr>
          <p:cNvSpPr>
            <a:spLocks xmlns:a="http://schemas.openxmlformats.org/drawingml/2006/main" noGrp="1"/>
          </p:cNvSpPr>
          <p:nvPr/>
        </p:nvSpPr>
        <p:spPr>
          <a:xfrm xmlns:a="http://schemas.openxmlformats.org/drawingml/2006/main">
            <a:off x="1143000" y="3362325"/>
            <a:ext cx="10287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66D9AB"/>
                </a:solidFill>
                <a:latin typeface="Arial"/>
                <a:ea typeface="Arial"/>
                <a:cs typeface="Arial"/>
              </a:defRPr>
            </a:defPPr>
            <a:lvl1pPr>
              <a:defRPr sz="1875" b="1">
                <a:solidFill>
                  <a:srgbClr val="66D9AB"/>
                </a:solidFill>
                <a:latin typeface="Arial"/>
                <a:ea typeface="Arial"/>
                <a:cs typeface="Arial"/>
              </a:defRPr>
            </a:lvl1pPr>
            <a:lvl2pPr>
              <a:defRPr sz="1875" b="1">
                <a:solidFill>
                  <a:srgbClr val="66D9AB"/>
                </a:solidFill>
                <a:latin typeface="Arial"/>
                <a:ea typeface="Arial"/>
                <a:cs typeface="Arial"/>
              </a:defRPr>
            </a:lvl2pPr>
            <a:lvl3pPr>
              <a:defRPr sz="1875" b="1">
                <a:solidFill>
                  <a:srgbClr val="66D9AB"/>
                </a:solidFill>
                <a:latin typeface="Arial"/>
                <a:ea typeface="Arial"/>
                <a:cs typeface="Arial"/>
              </a:defRPr>
            </a:lvl3pPr>
            <a:lvl4pPr>
              <a:defRPr sz="1875" b="1">
                <a:solidFill>
                  <a:srgbClr val="66D9AB"/>
                </a:solidFill>
                <a:latin typeface="Arial"/>
                <a:ea typeface="Arial"/>
                <a:cs typeface="Arial"/>
              </a:defRPr>
            </a:lvl4pPr>
            <a:lvl5pPr>
              <a:defRPr sz="1875" b="1">
                <a:solidFill>
                  <a:srgbClr val="66D9AB"/>
                </a:solidFill>
                <a:latin typeface="Arial"/>
                <a:ea typeface="Arial"/>
                <a:cs typeface="Arial"/>
              </a:defRPr>
            </a:lvl5pPr>
            <a:lvl6pPr>
              <a:defRPr sz="1875" b="1">
                <a:solidFill>
                  <a:srgbClr val="66D9AB"/>
                </a:solidFill>
                <a:latin typeface="Arial"/>
                <a:ea typeface="Arial"/>
                <a:cs typeface="Arial"/>
              </a:defRPr>
            </a:lvl6pPr>
            <a:lvl7pPr>
              <a:defRPr sz="1875" b="1">
                <a:solidFill>
                  <a:srgbClr val="66D9AB"/>
                </a:solidFill>
                <a:latin typeface="Arial"/>
                <a:ea typeface="Arial"/>
                <a:cs typeface="Arial"/>
              </a:defRPr>
            </a:lvl7pPr>
            <a:lvl8pPr>
              <a:defRPr sz="1875" b="1">
                <a:solidFill>
                  <a:srgbClr val="66D9AB"/>
                </a:solidFill>
                <a:latin typeface="Arial"/>
                <a:ea typeface="Arial"/>
                <a:cs typeface="Arial"/>
              </a:defRPr>
            </a:lvl8pPr>
            <a:lvl9pPr>
              <a:defRPr sz="1875" b="1">
                <a:solidFill>
                  <a:srgbClr val="66D9AB"/>
                </a:solidFill>
                <a:latin typeface="Arial"/>
                <a:ea typeface="Arial"/>
                <a:cs typeface="Arial"/>
              </a:defRPr>
            </a:lvl9pPr>
          </a:lstStyle>
          <a:p xmlns:a="http://schemas.openxmlformats.org/drawingml/2006/main">
            <a:pPr>
              <a:defRPr sz="1875" b="1">
                <a:solidFill>
                  <a:srgbClr val="66D9AB"/>
                </a:solidFill>
                <a:latin typeface="Arial"/>
                <a:ea typeface="Arial"/>
                <a:cs typeface="Arial"/>
              </a:defRPr>
            </a:pPr>
            <a:r>
              <a:rPr sz="1875" b="1">
                <a:solidFill>
                  <a:srgbClr val="66D9AB"/>
                </a:solidFill>
                <a:latin typeface="Arial"/>
                <a:ea typeface="Arial"/>
                <a:cs typeface="Arial"/>
              </a:rPr>
              <a:t>Repeat only while budget remains. Stop with a verified feasible result.</a:t>
            </a:r>
          </a:p>
        </p:txBody>
      </p:sp>
      <p:sp>
        <p:nvSpPr>
          <p:cNvPr id="25" name="">
            <a:extLst xmlns:a="http://schemas.openxmlformats.org/drawingml/2006/main">
              <a:ext uri="{FF2B5EF4-FFF2-40B4-BE49-F238E27FC236}">
                <a16:creationId xmlns:a16="http://schemas.microsoft.com/office/drawing/2014/main" id="{F6DC3174-85C0-474D-9B48-5E9181779CAC}"/>
              </a:ext>
            </a:extLst>
          </p:cNvPr>
          <p:cNvSpPr>
            <a:spLocks xmlns:a="http://schemas.openxmlformats.org/drawingml/2006/main" noGrp="1"/>
          </p:cNvSpPr>
          <p:nvPr/>
        </p:nvSpPr>
        <p:spPr>
          <a:xfrm xmlns:a="http://schemas.openxmlformats.org/drawingml/2006/main">
            <a:off x="685800" y="4010025"/>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66D9AB"/>
                </a:solidFill>
                <a:latin typeface="Arial"/>
                <a:ea typeface="Arial"/>
                <a:cs typeface="Arial"/>
              </a:defRPr>
            </a:defPPr>
            <a:lvl1pPr>
              <a:defRPr sz="1725" b="1">
                <a:solidFill>
                  <a:srgbClr val="66D9AB"/>
                </a:solidFill>
                <a:latin typeface="Arial"/>
                <a:ea typeface="Arial"/>
                <a:cs typeface="Arial"/>
              </a:defRPr>
            </a:lvl1pPr>
            <a:lvl2pPr>
              <a:defRPr sz="1725" b="1">
                <a:solidFill>
                  <a:srgbClr val="66D9AB"/>
                </a:solidFill>
                <a:latin typeface="Arial"/>
                <a:ea typeface="Arial"/>
                <a:cs typeface="Arial"/>
              </a:defRPr>
            </a:lvl2pPr>
            <a:lvl3pPr>
              <a:defRPr sz="1725" b="1">
                <a:solidFill>
                  <a:srgbClr val="66D9AB"/>
                </a:solidFill>
                <a:latin typeface="Arial"/>
                <a:ea typeface="Arial"/>
                <a:cs typeface="Arial"/>
              </a:defRPr>
            </a:lvl3pPr>
            <a:lvl4pPr>
              <a:defRPr sz="1725" b="1">
                <a:solidFill>
                  <a:srgbClr val="66D9AB"/>
                </a:solidFill>
                <a:latin typeface="Arial"/>
                <a:ea typeface="Arial"/>
                <a:cs typeface="Arial"/>
              </a:defRPr>
            </a:lvl4pPr>
            <a:lvl5pPr>
              <a:defRPr sz="1725" b="1">
                <a:solidFill>
                  <a:srgbClr val="66D9AB"/>
                </a:solidFill>
                <a:latin typeface="Arial"/>
                <a:ea typeface="Arial"/>
                <a:cs typeface="Arial"/>
              </a:defRPr>
            </a:lvl5pPr>
            <a:lvl6pPr>
              <a:defRPr sz="1725" b="1">
                <a:solidFill>
                  <a:srgbClr val="66D9AB"/>
                </a:solidFill>
                <a:latin typeface="Arial"/>
                <a:ea typeface="Arial"/>
                <a:cs typeface="Arial"/>
              </a:defRPr>
            </a:lvl6pPr>
            <a:lvl7pPr>
              <a:defRPr sz="1725" b="1">
                <a:solidFill>
                  <a:srgbClr val="66D9AB"/>
                </a:solidFill>
                <a:latin typeface="Arial"/>
                <a:ea typeface="Arial"/>
                <a:cs typeface="Arial"/>
              </a:defRPr>
            </a:lvl7pPr>
            <a:lvl8pPr>
              <a:defRPr sz="1725" b="1">
                <a:solidFill>
                  <a:srgbClr val="66D9AB"/>
                </a:solidFill>
                <a:latin typeface="Arial"/>
                <a:ea typeface="Arial"/>
                <a:cs typeface="Arial"/>
              </a:defRPr>
            </a:lvl8pPr>
            <a:lvl9pPr>
              <a:defRPr sz="1725" b="1">
                <a:solidFill>
                  <a:srgbClr val="66D9AB"/>
                </a:solidFill>
                <a:latin typeface="Arial"/>
                <a:ea typeface="Arial"/>
                <a:cs typeface="Arial"/>
              </a:defRPr>
            </a:lvl9pPr>
          </a:lstStyle>
          <a:p xmlns:a="http://schemas.openxmlformats.org/drawingml/2006/main">
            <a:pPr>
              <a:defRPr sz="1725" b="1">
                <a:solidFill>
                  <a:srgbClr val="66D9AB"/>
                </a:solidFill>
                <a:latin typeface="Arial"/>
                <a:ea typeface="Arial"/>
                <a:cs typeface="Arial"/>
              </a:defRPr>
            </a:pPr>
            <a:r>
              <a:rPr sz="1725" b="1">
                <a:solidFill>
                  <a:srgbClr val="66D9AB"/>
                </a:solidFill>
                <a:latin typeface="Arial"/>
                <a:ea typeface="Arial"/>
                <a:cs typeface="Arial"/>
              </a:rPr>
              <a:t>LIVE GPT-6 LUNA PILOT</a:t>
            </a:r>
          </a:p>
        </p:txBody>
      </p:sp>
      <p:sp>
        <p:nvSpPr>
          <p:cNvPr id="26" name="">
            <a:extLst xmlns:a="http://schemas.openxmlformats.org/drawingml/2006/main">
              <a:ext uri="{FF2B5EF4-FFF2-40B4-BE49-F238E27FC236}">
                <a16:creationId xmlns:a16="http://schemas.microsoft.com/office/drawing/2014/main" id="{1796B679-2256-4551-B99F-852FB0D2A495}"/>
              </a:ext>
            </a:extLst>
          </p:cNvPr>
          <p:cNvSpPr>
            <a:spLocks xmlns:a="http://schemas.openxmlformats.org/drawingml/2006/main" noGrp="1"/>
          </p:cNvSpPr>
          <p:nvPr/>
        </p:nvSpPr>
        <p:spPr>
          <a:xfrm xmlns:a="http://schemas.openxmlformats.org/drawingml/2006/main">
            <a:off x="685800" y="45243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Without retrieval</a:t>
            </a:r>
          </a:p>
        </p:txBody>
      </p:sp>
      <p:sp>
        <p:nvSpPr>
          <p:cNvPr id="27" name="">
            <a:extLst xmlns:a="http://schemas.openxmlformats.org/drawingml/2006/main">
              <a:ext uri="{FF2B5EF4-FFF2-40B4-BE49-F238E27FC236}">
                <a16:creationId xmlns:a16="http://schemas.microsoft.com/office/drawing/2014/main" id="{DFC0A4D8-2E77-4337-9B85-46635E679A41}"/>
              </a:ext>
            </a:extLst>
          </p:cNvPr>
          <p:cNvSpPr>
            <a:spLocks xmlns:a="http://schemas.openxmlformats.org/drawingml/2006/main" noGrp="1"/>
          </p:cNvSpPr>
          <p:nvPr/>
        </p:nvSpPr>
        <p:spPr>
          <a:xfrm xmlns:a="http://schemas.openxmlformats.org/drawingml/2006/main">
            <a:off x="685800" y="4962525"/>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3 queries   /   9 turns</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3 rejected finalizations</a:t>
            </a:r>
          </a:p>
        </p:txBody>
      </p:sp>
      <p:sp>
        <p:nvSpPr>
          <p:cNvPr id="28" name="">
            <a:extLst xmlns:a="http://schemas.openxmlformats.org/drawingml/2006/main">
              <a:ext uri="{FF2B5EF4-FFF2-40B4-BE49-F238E27FC236}">
                <a16:creationId xmlns:a16="http://schemas.microsoft.com/office/drawing/2014/main" id="{D1E8BBB7-AEF0-4481-A3AC-D85B79440311}"/>
              </a:ext>
            </a:extLst>
          </p:cNvPr>
          <p:cNvSpPr>
            <a:spLocks xmlns:a="http://schemas.openxmlformats.org/drawingml/2006/main" noGrp="1"/>
          </p:cNvSpPr>
          <p:nvPr/>
        </p:nvSpPr>
        <p:spPr>
          <a:xfrm xmlns:a="http://schemas.openxmlformats.org/drawingml/2006/main">
            <a:off x="4410075" y="4524375"/>
            <a:ext cx="3381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With hybrid memory</a:t>
            </a:r>
          </a:p>
        </p:txBody>
      </p:sp>
      <p:sp>
        <p:nvSpPr>
          <p:cNvPr id="29" name="">
            <a:extLst xmlns:a="http://schemas.openxmlformats.org/drawingml/2006/main">
              <a:ext uri="{FF2B5EF4-FFF2-40B4-BE49-F238E27FC236}">
                <a16:creationId xmlns:a16="http://schemas.microsoft.com/office/drawing/2014/main" id="{69AB5FD5-0A3F-482B-AE72-274A4F3791CC}"/>
              </a:ext>
            </a:extLst>
          </p:cNvPr>
          <p:cNvSpPr>
            <a:spLocks xmlns:a="http://schemas.openxmlformats.org/drawingml/2006/main" noGrp="1"/>
          </p:cNvSpPr>
          <p:nvPr/>
        </p:nvSpPr>
        <p:spPr>
          <a:xfrm xmlns:a="http://schemas.openxmlformats.org/drawingml/2006/main">
            <a:off x="4410075" y="4962525"/>
            <a:ext cx="3333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2 queries   /   4 turns</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0 rejected finalizations</a:t>
            </a:r>
          </a:p>
        </p:txBody>
      </p:sp>
      <p:sp>
        <p:nvSpPr>
          <p:cNvPr id="30" name="">
            <a:extLst xmlns:a="http://schemas.openxmlformats.org/drawingml/2006/main">
              <a:ext uri="{FF2B5EF4-FFF2-40B4-BE49-F238E27FC236}">
                <a16:creationId xmlns:a16="http://schemas.microsoft.com/office/drawing/2014/main" id="{19612863-C24C-4E05-9FE8-8359C68CA244}"/>
              </a:ext>
            </a:extLst>
          </p:cNvPr>
          <p:cNvSpPr>
            <a:spLocks xmlns:a="http://schemas.openxmlformats.org/drawingml/2006/main" noGrp="1"/>
          </p:cNvSpPr>
          <p:nvPr/>
        </p:nvSpPr>
        <p:spPr>
          <a:xfrm xmlns:a="http://schemas.openxmlformats.org/drawingml/2006/main">
            <a:off x="8334375" y="4524375"/>
            <a:ext cx="3238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EAF1FC"/>
                </a:solidFill>
                <a:latin typeface="Arial"/>
                <a:ea typeface="Arial"/>
                <a:cs typeface="Arial"/>
              </a:defRPr>
            </a:defPPr>
            <a:lvl1pPr>
              <a:defRPr sz="2025" b="1">
                <a:solidFill>
                  <a:srgbClr val="EAF1FC"/>
                </a:solidFill>
                <a:latin typeface="Arial"/>
                <a:ea typeface="Arial"/>
                <a:cs typeface="Arial"/>
              </a:defRPr>
            </a:lvl1pPr>
            <a:lvl2pPr>
              <a:defRPr sz="2025" b="1">
                <a:solidFill>
                  <a:srgbClr val="EAF1FC"/>
                </a:solidFill>
                <a:latin typeface="Arial"/>
                <a:ea typeface="Arial"/>
                <a:cs typeface="Arial"/>
              </a:defRPr>
            </a:lvl2pPr>
            <a:lvl3pPr>
              <a:defRPr sz="2025" b="1">
                <a:solidFill>
                  <a:srgbClr val="EAF1FC"/>
                </a:solidFill>
                <a:latin typeface="Arial"/>
                <a:ea typeface="Arial"/>
                <a:cs typeface="Arial"/>
              </a:defRPr>
            </a:lvl3pPr>
            <a:lvl4pPr>
              <a:defRPr sz="2025" b="1">
                <a:solidFill>
                  <a:srgbClr val="EAF1FC"/>
                </a:solidFill>
                <a:latin typeface="Arial"/>
                <a:ea typeface="Arial"/>
                <a:cs typeface="Arial"/>
              </a:defRPr>
            </a:lvl4pPr>
            <a:lvl5pPr>
              <a:defRPr sz="2025" b="1">
                <a:solidFill>
                  <a:srgbClr val="EAF1FC"/>
                </a:solidFill>
                <a:latin typeface="Arial"/>
                <a:ea typeface="Arial"/>
                <a:cs typeface="Arial"/>
              </a:defRPr>
            </a:lvl5pPr>
            <a:lvl6pPr>
              <a:defRPr sz="2025" b="1">
                <a:solidFill>
                  <a:srgbClr val="EAF1FC"/>
                </a:solidFill>
                <a:latin typeface="Arial"/>
                <a:ea typeface="Arial"/>
                <a:cs typeface="Arial"/>
              </a:defRPr>
            </a:lvl6pPr>
            <a:lvl7pPr>
              <a:defRPr sz="2025" b="1">
                <a:solidFill>
                  <a:srgbClr val="EAF1FC"/>
                </a:solidFill>
                <a:latin typeface="Arial"/>
                <a:ea typeface="Arial"/>
                <a:cs typeface="Arial"/>
              </a:defRPr>
            </a:lvl7pPr>
            <a:lvl8pPr>
              <a:defRPr sz="2025" b="1">
                <a:solidFill>
                  <a:srgbClr val="EAF1FC"/>
                </a:solidFill>
                <a:latin typeface="Arial"/>
                <a:ea typeface="Arial"/>
                <a:cs typeface="Arial"/>
              </a:defRPr>
            </a:lvl8pPr>
            <a:lvl9pPr>
              <a:defRPr sz="2025" b="1">
                <a:solidFill>
                  <a:srgbClr val="EAF1FC"/>
                </a:solidFill>
                <a:latin typeface="Arial"/>
                <a:ea typeface="Arial"/>
                <a:cs typeface="Arial"/>
              </a:defRPr>
            </a:lvl9pPr>
          </a:lstStyle>
          <a:p xmlns:a="http://schemas.openxmlformats.org/drawingml/2006/main">
            <a:pPr>
              <a:defRPr sz="2025" b="1">
                <a:solidFill>
                  <a:srgbClr val="EAF1FC"/>
                </a:solidFill>
                <a:latin typeface="Arial"/>
                <a:ea typeface="Arial"/>
                <a:cs typeface="Arial"/>
              </a:defRPr>
            </a:pPr>
            <a:r>
              <a:rPr sz="2025" b="1">
                <a:solidFill>
                  <a:srgbClr val="EAF1FC"/>
                </a:solidFill>
                <a:latin typeface="Arial"/>
                <a:ea typeface="Arial"/>
                <a:cs typeface="Arial"/>
              </a:rPr>
              <a:t>Same verified result</a:t>
            </a:r>
          </a:p>
        </p:txBody>
      </p:sp>
      <p:sp>
        <p:nvSpPr>
          <p:cNvPr id="31" name="">
            <a:extLst xmlns:a="http://schemas.openxmlformats.org/drawingml/2006/main">
              <a:ext uri="{FF2B5EF4-FFF2-40B4-BE49-F238E27FC236}">
                <a16:creationId xmlns:a16="http://schemas.microsoft.com/office/drawing/2014/main" id="{3DC8FB6C-99F3-437E-B38D-B63716DD30C2}"/>
              </a:ext>
            </a:extLst>
          </p:cNvPr>
          <p:cNvSpPr>
            <a:spLocks xmlns:a="http://schemas.openxmlformats.org/drawingml/2006/main" noGrp="1"/>
          </p:cNvSpPr>
          <p:nvPr/>
        </p:nvSpPr>
        <p:spPr>
          <a:xfrm xmlns:a="http://schemas.openxmlformats.org/drawingml/2006/main">
            <a:off x="8334375" y="4962525"/>
            <a:ext cx="3238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A5B6D0"/>
                </a:solidFill>
                <a:latin typeface="Arial"/>
                <a:ea typeface="Arial"/>
                <a:cs typeface="Arial"/>
              </a:defRPr>
            </a:defPPr>
            <a:lvl1pPr>
              <a:defRPr sz="1875" b="0">
                <a:solidFill>
                  <a:srgbClr val="A5B6D0"/>
                </a:solidFill>
                <a:latin typeface="Arial"/>
                <a:ea typeface="Arial"/>
                <a:cs typeface="Arial"/>
              </a:defRPr>
            </a:lvl1pPr>
            <a:lvl2pPr>
              <a:defRPr sz="1875" b="0">
                <a:solidFill>
                  <a:srgbClr val="A5B6D0"/>
                </a:solidFill>
                <a:latin typeface="Arial"/>
                <a:ea typeface="Arial"/>
                <a:cs typeface="Arial"/>
              </a:defRPr>
            </a:lvl2pPr>
            <a:lvl3pPr>
              <a:defRPr sz="1875" b="0">
                <a:solidFill>
                  <a:srgbClr val="A5B6D0"/>
                </a:solidFill>
                <a:latin typeface="Arial"/>
                <a:ea typeface="Arial"/>
                <a:cs typeface="Arial"/>
              </a:defRPr>
            </a:lvl3pPr>
            <a:lvl4pPr>
              <a:defRPr sz="1875" b="0">
                <a:solidFill>
                  <a:srgbClr val="A5B6D0"/>
                </a:solidFill>
                <a:latin typeface="Arial"/>
                <a:ea typeface="Arial"/>
                <a:cs typeface="Arial"/>
              </a:defRPr>
            </a:lvl4pPr>
            <a:lvl5pPr>
              <a:defRPr sz="1875" b="0">
                <a:solidFill>
                  <a:srgbClr val="A5B6D0"/>
                </a:solidFill>
                <a:latin typeface="Arial"/>
                <a:ea typeface="Arial"/>
                <a:cs typeface="Arial"/>
              </a:defRPr>
            </a:lvl5pPr>
            <a:lvl6pPr>
              <a:defRPr sz="1875" b="0">
                <a:solidFill>
                  <a:srgbClr val="A5B6D0"/>
                </a:solidFill>
                <a:latin typeface="Arial"/>
                <a:ea typeface="Arial"/>
                <a:cs typeface="Arial"/>
              </a:defRPr>
            </a:lvl6pPr>
            <a:lvl7pPr>
              <a:defRPr sz="1875" b="0">
                <a:solidFill>
                  <a:srgbClr val="A5B6D0"/>
                </a:solidFill>
                <a:latin typeface="Arial"/>
                <a:ea typeface="Arial"/>
                <a:cs typeface="Arial"/>
              </a:defRPr>
            </a:lvl7pPr>
            <a:lvl8pPr>
              <a:defRPr sz="1875" b="0">
                <a:solidFill>
                  <a:srgbClr val="A5B6D0"/>
                </a:solidFill>
                <a:latin typeface="Arial"/>
                <a:ea typeface="Arial"/>
                <a:cs typeface="Arial"/>
              </a:defRPr>
            </a:lvl8pPr>
            <a:lvl9pPr>
              <a:defRPr sz="1875" b="0">
                <a:solidFill>
                  <a:srgbClr val="A5B6D0"/>
                </a:solidFill>
                <a:latin typeface="Arial"/>
                <a:ea typeface="Arial"/>
                <a:cs typeface="Arial"/>
              </a:defRPr>
            </a:lvl9pPr>
          </a:lstStyle>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1.0214× speedup</a:t>
            </a:r>
          </a:p>
          <a:p xmlns:a="http://schemas.openxmlformats.org/drawingml/2006/main">
            <a:pPr>
              <a:defRPr sz="1875" b="0">
                <a:solidFill>
                  <a:srgbClr val="A5B6D0"/>
                </a:solidFill>
                <a:latin typeface="Arial"/>
                <a:ea typeface="Arial"/>
                <a:cs typeface="Arial"/>
              </a:defRPr>
            </a:pPr>
            <a:r>
              <a:rPr sz="1875" b="0">
                <a:solidFill>
                  <a:srgbClr val="A5B6D0"/>
                </a:solidFill>
                <a:latin typeface="Arial"/>
                <a:ea typeface="Arial"/>
                <a:cs typeface="Arial"/>
              </a:rPr>
              <a:t>+50 LUT4, 65.99 MHz</a:t>
            </a:r>
          </a:p>
        </p:txBody>
      </p:sp>
      <p:sp>
        <p:nvSpPr>
          <p:cNvPr id="32" name="">
            <a:extLst xmlns:a="http://schemas.openxmlformats.org/drawingml/2006/main">
              <a:ext uri="{FF2B5EF4-FFF2-40B4-BE49-F238E27FC236}">
                <a16:creationId xmlns:a16="http://schemas.microsoft.com/office/drawing/2014/main" id="{9B847720-64A3-4CD4-9AC6-11962801279C}"/>
              </a:ext>
            </a:extLst>
          </p:cNvPr>
          <p:cNvSpPr>
            <a:spLocks xmlns:a="http://schemas.openxmlformats.org/drawingml/2006/main" noGrp="1"/>
          </p:cNvSpPr>
          <p:nvPr/>
        </p:nvSpPr>
        <p:spPr>
          <a:xfrm xmlns:a="http://schemas.openxmlformats.org/drawingml/2006/main">
            <a:off x="685800" y="60198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FFC978"/>
                </a:solidFill>
                <a:latin typeface="Arial"/>
                <a:ea typeface="Arial"/>
                <a:cs typeface="Arial"/>
              </a:defRPr>
            </a:defPPr>
            <a:lvl1pPr>
              <a:defRPr sz="1650" b="1">
                <a:solidFill>
                  <a:srgbClr val="FFC978"/>
                </a:solidFill>
                <a:latin typeface="Arial"/>
                <a:ea typeface="Arial"/>
                <a:cs typeface="Arial"/>
              </a:defRPr>
            </a:lvl1pPr>
            <a:lvl2pPr>
              <a:defRPr sz="1650" b="1">
                <a:solidFill>
                  <a:srgbClr val="FFC978"/>
                </a:solidFill>
                <a:latin typeface="Arial"/>
                <a:ea typeface="Arial"/>
                <a:cs typeface="Arial"/>
              </a:defRPr>
            </a:lvl2pPr>
            <a:lvl3pPr>
              <a:defRPr sz="1650" b="1">
                <a:solidFill>
                  <a:srgbClr val="FFC978"/>
                </a:solidFill>
                <a:latin typeface="Arial"/>
                <a:ea typeface="Arial"/>
                <a:cs typeface="Arial"/>
              </a:defRPr>
            </a:lvl3pPr>
            <a:lvl4pPr>
              <a:defRPr sz="1650" b="1">
                <a:solidFill>
                  <a:srgbClr val="FFC978"/>
                </a:solidFill>
                <a:latin typeface="Arial"/>
                <a:ea typeface="Arial"/>
                <a:cs typeface="Arial"/>
              </a:defRPr>
            </a:lvl4pPr>
            <a:lvl5pPr>
              <a:defRPr sz="1650" b="1">
                <a:solidFill>
                  <a:srgbClr val="FFC978"/>
                </a:solidFill>
                <a:latin typeface="Arial"/>
                <a:ea typeface="Arial"/>
                <a:cs typeface="Arial"/>
              </a:defRPr>
            </a:lvl5pPr>
            <a:lvl6pPr>
              <a:defRPr sz="1650" b="1">
                <a:solidFill>
                  <a:srgbClr val="FFC978"/>
                </a:solidFill>
                <a:latin typeface="Arial"/>
                <a:ea typeface="Arial"/>
                <a:cs typeface="Arial"/>
              </a:defRPr>
            </a:lvl6pPr>
            <a:lvl7pPr>
              <a:defRPr sz="1650" b="1">
                <a:solidFill>
                  <a:srgbClr val="FFC978"/>
                </a:solidFill>
                <a:latin typeface="Arial"/>
                <a:ea typeface="Arial"/>
                <a:cs typeface="Arial"/>
              </a:defRPr>
            </a:lvl7pPr>
            <a:lvl8pPr>
              <a:defRPr sz="1650" b="1">
                <a:solidFill>
                  <a:srgbClr val="FFC978"/>
                </a:solidFill>
                <a:latin typeface="Arial"/>
                <a:ea typeface="Arial"/>
                <a:cs typeface="Arial"/>
              </a:defRPr>
            </a:lvl8pPr>
            <a:lvl9pPr>
              <a:defRPr sz="1650" b="1">
                <a:solidFill>
                  <a:srgbClr val="FFC978"/>
                </a:solidFill>
                <a:latin typeface="Arial"/>
                <a:ea typeface="Arial"/>
                <a:cs typeface="Arial"/>
              </a:defRPr>
            </a:lvl9pPr>
          </a:lstStyle>
          <a:p xmlns:a="http://schemas.openxmlformats.org/drawingml/2006/main">
            <a:pPr>
              <a:defRPr sz="1650" b="1">
                <a:solidFill>
                  <a:srgbClr val="FFC978"/>
                </a:solidFill>
                <a:latin typeface="Arial"/>
                <a:ea typeface="Arial"/>
                <a:cs typeface="Arial"/>
              </a:defRPr>
            </a:pPr>
            <a:r>
              <a:rPr sz="1650" b="1">
                <a:solidFill>
                  <a:srgbClr val="FFC978"/>
                </a:solidFill>
                <a:latin typeface="Arial"/>
                <a:ea typeface="Arial"/>
                <a:cs typeface="Arial"/>
              </a:rPr>
              <a:t>One archived trial per arm. v2 guards the incumbent; no live v2 LLM run. Strong heuristic: 1 query.</a:t>
            </a:r>
          </a:p>
        </p:txBody>
      </p:sp>
    </p:spTree>
    <p:extLst>
      <p:ext uri="{BB962C8B-B14F-4D97-AF65-F5344CB8AC3E}">
        <p14:creationId xmlns:p14="http://schemas.microsoft.com/office/powerpoint/2010/main" val="138660644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733CB69-0345-466C-8F50-701CA27A16A4}"/>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Tools and observability: execution we can audit</a:t>
            </a:r>
          </a:p>
        </p:txBody>
      </p:sp>
      <p:sp>
        <p:nvSpPr>
          <p:cNvPr id="2" name="">
            <a:extLst xmlns:a="http://schemas.openxmlformats.org/drawingml/2006/main">
              <a:ext uri="{FF2B5EF4-FFF2-40B4-BE49-F238E27FC236}">
                <a16:creationId xmlns:a16="http://schemas.microsoft.com/office/drawing/2014/main" id="{580671D1-BD7A-437C-B3EE-436B6C7BDBD2}"/>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91FE8355-EA37-4BD8-84E0-A1EB80C02A07}"/>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8</a:t>
            </a:r>
          </a:p>
        </p:txBody>
      </p:sp>
      <p:sp>
        <p:nvSpPr>
          <p:cNvPr id="4" name="">
            <a:extLst xmlns:a="http://schemas.openxmlformats.org/drawingml/2006/main">
              <a:ext uri="{FF2B5EF4-FFF2-40B4-BE49-F238E27FC236}">
                <a16:creationId xmlns:a16="http://schemas.microsoft.com/office/drawing/2014/main" id="{62087063-DAEC-4B57-BB41-BB768AE10615}"/>
              </a:ext>
            </a:extLst>
          </p:cNvPr>
          <p:cNvSpPr>
            <a:spLocks xmlns:a="http://schemas.openxmlformats.org/drawingml/2006/main" noGrp="1"/>
          </p:cNvSpPr>
          <p:nvPr/>
        </p:nvSpPr>
        <p:spPr>
          <a:xfrm xmlns:a="http://schemas.openxmlformats.org/drawingml/2006/main">
            <a:off x="685800" y="1381125"/>
            <a:ext cx="5238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FUNCTION CALLING</a:t>
            </a:r>
          </a:p>
        </p:txBody>
      </p:sp>
      <p:sp>
        <p:nvSpPr>
          <p:cNvPr id="5" name="">
            <a:extLst xmlns:a="http://schemas.openxmlformats.org/drawingml/2006/main">
              <a:ext uri="{FF2B5EF4-FFF2-40B4-BE49-F238E27FC236}">
                <a16:creationId xmlns:a16="http://schemas.microsoft.com/office/drawing/2014/main" id="{9B3C2959-F775-46B7-AE6E-312C866C6B54}"/>
              </a:ext>
            </a:extLst>
          </p:cNvPr>
          <p:cNvSpPr>
            <a:spLocks xmlns:a="http://schemas.openxmlformats.org/drawingml/2006/main" noGrp="1"/>
          </p:cNvSpPr>
          <p:nvPr/>
        </p:nvSpPr>
        <p:spPr>
          <a:xfrm xmlns:a="http://schemas.openxmlformats.org/drawingml/2006/main">
            <a:off x="685800" y="191452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list_candidates</a:t>
            </a:r>
          </a:p>
        </p:txBody>
      </p:sp>
      <p:sp>
        <p:nvSpPr>
          <p:cNvPr id="6" name="">
            <a:extLst xmlns:a="http://schemas.openxmlformats.org/drawingml/2006/main">
              <a:ext uri="{FF2B5EF4-FFF2-40B4-BE49-F238E27FC236}">
                <a16:creationId xmlns:a16="http://schemas.microsoft.com/office/drawing/2014/main" id="{0F3120B0-6ED1-4FA7-8BCD-F7F13714E648}"/>
              </a:ext>
            </a:extLst>
          </p:cNvPr>
          <p:cNvSpPr>
            <a:spLocks xmlns:a="http://schemas.openxmlformats.org/drawingml/2006/main" noGrp="1"/>
          </p:cNvSpPr>
          <p:nvPr/>
        </p:nvSpPr>
        <p:spPr>
          <a:xfrm xmlns:a="http://schemas.openxmlformats.org/drawingml/2006/main">
            <a:off x="685800" y="2276475"/>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Legal patterns and public constraints</a:t>
            </a:r>
          </a:p>
        </p:txBody>
      </p:sp>
      <p:sp>
        <p:nvSpPr>
          <p:cNvPr id="7" name="">
            <a:extLst xmlns:a="http://schemas.openxmlformats.org/drawingml/2006/main">
              <a:ext uri="{FF2B5EF4-FFF2-40B4-BE49-F238E27FC236}">
                <a16:creationId xmlns:a16="http://schemas.microsoft.com/office/drawing/2014/main" id="{0FD2F632-06C0-46B8-96BE-D9A94A0568CA}"/>
              </a:ext>
            </a:extLst>
          </p:cNvPr>
          <p:cNvSpPr>
            <a:spLocks xmlns:a="http://schemas.openxmlformats.org/drawingml/2006/main" noGrp="1"/>
          </p:cNvSpPr>
          <p:nvPr/>
        </p:nvSpPr>
        <p:spPr>
          <a:xfrm xmlns:a="http://schemas.openxmlformats.org/drawingml/2006/main">
            <a:off x="685800" y="2667000"/>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8" name="">
            <a:extLst xmlns:a="http://schemas.openxmlformats.org/drawingml/2006/main">
              <a:ext uri="{FF2B5EF4-FFF2-40B4-BE49-F238E27FC236}">
                <a16:creationId xmlns:a16="http://schemas.microsoft.com/office/drawing/2014/main" id="{9A39D7DA-CE78-4E02-9DFB-328A00131FD7}"/>
              </a:ext>
            </a:extLst>
          </p:cNvPr>
          <p:cNvSpPr>
            <a:spLocks xmlns:a="http://schemas.openxmlformats.org/drawingml/2006/main" noGrp="1"/>
          </p:cNvSpPr>
          <p:nvPr/>
        </p:nvSpPr>
        <p:spPr>
          <a:xfrm xmlns:a="http://schemas.openxmlformats.org/drawingml/2006/main">
            <a:off x="685800" y="2762250"/>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predict</a:t>
            </a:r>
          </a:p>
        </p:txBody>
      </p:sp>
      <p:sp>
        <p:nvSpPr>
          <p:cNvPr id="9" name="">
            <a:extLst xmlns:a="http://schemas.openxmlformats.org/drawingml/2006/main">
              <a:ext uri="{FF2B5EF4-FFF2-40B4-BE49-F238E27FC236}">
                <a16:creationId xmlns:a16="http://schemas.microsoft.com/office/drawing/2014/main" id="{C372258A-AEF5-4C25-A89D-930E1410E687}"/>
              </a:ext>
            </a:extLst>
          </p:cNvPr>
          <p:cNvSpPr>
            <a:spLocks xmlns:a="http://schemas.openxmlformats.org/drawingml/2006/main" noGrp="1"/>
          </p:cNvSpPr>
          <p:nvPr/>
        </p:nvSpPr>
        <p:spPr>
          <a:xfrm xmlns:a="http://schemas.openxmlformats.org/drawingml/2006/main">
            <a:off x="685800" y="3124200"/>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Rankings and hardware estimates</a:t>
            </a:r>
          </a:p>
        </p:txBody>
      </p:sp>
      <p:sp>
        <p:nvSpPr>
          <p:cNvPr id="10" name="">
            <a:extLst xmlns:a="http://schemas.openxmlformats.org/drawingml/2006/main">
              <a:ext uri="{FF2B5EF4-FFF2-40B4-BE49-F238E27FC236}">
                <a16:creationId xmlns:a16="http://schemas.microsoft.com/office/drawing/2014/main" id="{96D96B58-6954-4650-9842-999C69566065}"/>
              </a:ext>
            </a:extLst>
          </p:cNvPr>
          <p:cNvSpPr>
            <a:spLocks xmlns:a="http://schemas.openxmlformats.org/drawingml/2006/main" noGrp="1"/>
          </p:cNvSpPr>
          <p:nvPr/>
        </p:nvSpPr>
        <p:spPr>
          <a:xfrm xmlns:a="http://schemas.openxmlformats.org/drawingml/2006/main">
            <a:off x="685800" y="3514725"/>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1" name="">
            <a:extLst xmlns:a="http://schemas.openxmlformats.org/drawingml/2006/main">
              <a:ext uri="{FF2B5EF4-FFF2-40B4-BE49-F238E27FC236}">
                <a16:creationId xmlns:a16="http://schemas.microsoft.com/office/drawing/2014/main" id="{7B3F0ADF-7AE9-4260-AB88-DEA6620772A0}"/>
              </a:ext>
            </a:extLst>
          </p:cNvPr>
          <p:cNvSpPr>
            <a:spLocks xmlns:a="http://schemas.openxmlformats.org/drawingml/2006/main" noGrp="1"/>
          </p:cNvSpPr>
          <p:nvPr/>
        </p:nvSpPr>
        <p:spPr>
          <a:xfrm xmlns:a="http://schemas.openxmlformats.org/drawingml/2006/main">
            <a:off x="685800" y="3609975"/>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measure</a:t>
            </a:r>
          </a:p>
        </p:txBody>
      </p:sp>
      <p:sp>
        <p:nvSpPr>
          <p:cNvPr id="12" name="">
            <a:extLst xmlns:a="http://schemas.openxmlformats.org/drawingml/2006/main">
              <a:ext uri="{FF2B5EF4-FFF2-40B4-BE49-F238E27FC236}">
                <a16:creationId xmlns:a16="http://schemas.microsoft.com/office/drawing/2014/main" id="{C933A764-DB1B-4FFA-9FB0-236A26B6D03D}"/>
              </a:ext>
            </a:extLst>
          </p:cNvPr>
          <p:cNvSpPr>
            <a:spLocks xmlns:a="http://schemas.openxmlformats.org/drawingml/2006/main" noGrp="1"/>
          </p:cNvSpPr>
          <p:nvPr/>
        </p:nvSpPr>
        <p:spPr>
          <a:xfrm xmlns:a="http://schemas.openxmlformats.org/drawingml/2006/main">
            <a:off x="685800" y="3971925"/>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Charge attempt, return measured result</a:t>
            </a:r>
          </a:p>
        </p:txBody>
      </p:sp>
      <p:sp>
        <p:nvSpPr>
          <p:cNvPr id="13" name="">
            <a:extLst xmlns:a="http://schemas.openxmlformats.org/drawingml/2006/main">
              <a:ext uri="{FF2B5EF4-FFF2-40B4-BE49-F238E27FC236}">
                <a16:creationId xmlns:a16="http://schemas.microsoft.com/office/drawing/2014/main" id="{09594004-9015-4BA9-8B6C-0CF2C61E7EBF}"/>
              </a:ext>
            </a:extLst>
          </p:cNvPr>
          <p:cNvSpPr>
            <a:spLocks xmlns:a="http://schemas.openxmlformats.org/drawingml/2006/main" noGrp="1"/>
          </p:cNvSpPr>
          <p:nvPr/>
        </p:nvSpPr>
        <p:spPr>
          <a:xfrm xmlns:a="http://schemas.openxmlformats.org/drawingml/2006/main">
            <a:off x="685800" y="4362450"/>
            <a:ext cx="5095875"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4" name="">
            <a:extLst xmlns:a="http://schemas.openxmlformats.org/drawingml/2006/main">
              <a:ext uri="{FF2B5EF4-FFF2-40B4-BE49-F238E27FC236}">
                <a16:creationId xmlns:a16="http://schemas.microsoft.com/office/drawing/2014/main" id="{64E28372-4745-40B7-9775-E4D4890F5CA2}"/>
              </a:ext>
            </a:extLst>
          </p:cNvPr>
          <p:cNvSpPr>
            <a:spLocks xmlns:a="http://schemas.openxmlformats.org/drawingml/2006/main" noGrp="1"/>
          </p:cNvSpPr>
          <p:nvPr/>
        </p:nvSpPr>
        <p:spPr>
          <a:xfrm xmlns:a="http://schemas.openxmlformats.org/drawingml/2006/main">
            <a:off x="685800" y="4457700"/>
            <a:ext cx="5048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950" b="1">
                <a:solidFill>
                  <a:srgbClr val="17324D"/>
                </a:solidFill>
                <a:latin typeface="Arial"/>
                <a:ea typeface="Arial"/>
                <a:cs typeface="Arial"/>
              </a:defRPr>
            </a:defPPr>
            <a:lvl1pPr>
              <a:defRPr sz="1950" b="1">
                <a:solidFill>
                  <a:srgbClr val="17324D"/>
                </a:solidFill>
                <a:latin typeface="Arial"/>
                <a:ea typeface="Arial"/>
                <a:cs typeface="Arial"/>
              </a:defRPr>
            </a:lvl1pPr>
            <a:lvl2pPr>
              <a:defRPr sz="1950" b="1">
                <a:solidFill>
                  <a:srgbClr val="17324D"/>
                </a:solidFill>
                <a:latin typeface="Arial"/>
                <a:ea typeface="Arial"/>
                <a:cs typeface="Arial"/>
              </a:defRPr>
            </a:lvl2pPr>
            <a:lvl3pPr>
              <a:defRPr sz="1950" b="1">
                <a:solidFill>
                  <a:srgbClr val="17324D"/>
                </a:solidFill>
                <a:latin typeface="Arial"/>
                <a:ea typeface="Arial"/>
                <a:cs typeface="Arial"/>
              </a:defRPr>
            </a:lvl3pPr>
            <a:lvl4pPr>
              <a:defRPr sz="1950" b="1">
                <a:solidFill>
                  <a:srgbClr val="17324D"/>
                </a:solidFill>
                <a:latin typeface="Arial"/>
                <a:ea typeface="Arial"/>
                <a:cs typeface="Arial"/>
              </a:defRPr>
            </a:lvl4pPr>
            <a:lvl5pPr>
              <a:defRPr sz="1950" b="1">
                <a:solidFill>
                  <a:srgbClr val="17324D"/>
                </a:solidFill>
                <a:latin typeface="Arial"/>
                <a:ea typeface="Arial"/>
                <a:cs typeface="Arial"/>
              </a:defRPr>
            </a:lvl5pPr>
            <a:lvl6pPr>
              <a:defRPr sz="1950" b="1">
                <a:solidFill>
                  <a:srgbClr val="17324D"/>
                </a:solidFill>
                <a:latin typeface="Arial"/>
                <a:ea typeface="Arial"/>
                <a:cs typeface="Arial"/>
              </a:defRPr>
            </a:lvl6pPr>
            <a:lvl7pPr>
              <a:defRPr sz="1950" b="1">
                <a:solidFill>
                  <a:srgbClr val="17324D"/>
                </a:solidFill>
                <a:latin typeface="Arial"/>
                <a:ea typeface="Arial"/>
                <a:cs typeface="Arial"/>
              </a:defRPr>
            </a:lvl7pPr>
            <a:lvl8pPr>
              <a:defRPr sz="1950" b="1">
                <a:solidFill>
                  <a:srgbClr val="17324D"/>
                </a:solidFill>
                <a:latin typeface="Arial"/>
                <a:ea typeface="Arial"/>
                <a:cs typeface="Arial"/>
              </a:defRPr>
            </a:lvl8pPr>
            <a:lvl9pPr>
              <a:defRPr sz="1950" b="1">
                <a:solidFill>
                  <a:srgbClr val="17324D"/>
                </a:solidFill>
                <a:latin typeface="Arial"/>
                <a:ea typeface="Arial"/>
                <a:cs typeface="Arial"/>
              </a:defRPr>
            </a:lvl9pPr>
          </a:lstStyle>
          <a:p xmlns:a="http://schemas.openxmlformats.org/drawingml/2006/main">
            <a:pPr>
              <a:defRPr sz="1950" b="1">
                <a:solidFill>
                  <a:srgbClr val="17324D"/>
                </a:solidFill>
                <a:latin typeface="Arial"/>
                <a:ea typeface="Arial"/>
                <a:cs typeface="Arial"/>
              </a:defRPr>
            </a:pPr>
            <a:r>
              <a:rPr sz="1950" b="1">
                <a:solidFill>
                  <a:srgbClr val="17324D"/>
                </a:solidFill>
                <a:latin typeface="Arial"/>
                <a:ea typeface="Arial"/>
                <a:cs typeface="Arial"/>
              </a:rPr>
              <a:t>finalize</a:t>
            </a:r>
          </a:p>
        </p:txBody>
      </p:sp>
      <p:sp>
        <p:nvSpPr>
          <p:cNvPr id="15" name="">
            <a:extLst xmlns:a="http://schemas.openxmlformats.org/drawingml/2006/main">
              <a:ext uri="{FF2B5EF4-FFF2-40B4-BE49-F238E27FC236}">
                <a16:creationId xmlns:a16="http://schemas.microsoft.com/office/drawing/2014/main" id="{0A424985-1AEB-4607-A2B3-E6D03D9E0514}"/>
              </a:ext>
            </a:extLst>
          </p:cNvPr>
          <p:cNvSpPr>
            <a:spLocks xmlns:a="http://schemas.openxmlformats.org/drawingml/2006/main" noGrp="1"/>
          </p:cNvSpPr>
          <p:nvPr/>
        </p:nvSpPr>
        <p:spPr>
          <a:xfrm xmlns:a="http://schemas.openxmlformats.org/drawingml/2006/main">
            <a:off x="685800" y="4819650"/>
            <a:ext cx="51911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Finalize the host-computed best measured feasible result</a:t>
            </a:r>
          </a:p>
        </p:txBody>
      </p:sp>
      <p:sp>
        <p:nvSpPr>
          <p:cNvPr id="16" name="">
            <a:extLst xmlns:a="http://schemas.openxmlformats.org/drawingml/2006/main">
              <a:ext uri="{FF2B5EF4-FFF2-40B4-BE49-F238E27FC236}">
                <a16:creationId xmlns:a16="http://schemas.microsoft.com/office/drawing/2014/main" id="{117E102C-9617-4989-857F-C447FBD37B82}"/>
              </a:ext>
            </a:extLst>
          </p:cNvPr>
          <p:cNvSpPr>
            <a:spLocks xmlns:a="http://schemas.openxmlformats.org/drawingml/2006/main" noGrp="1"/>
          </p:cNvSpPr>
          <p:nvPr/>
        </p:nvSpPr>
        <p:spPr>
          <a:xfrm xmlns:a="http://schemas.openxmlformats.org/drawingml/2006/main">
            <a:off x="6115050" y="1438275"/>
            <a:ext cx="0" cy="3971925"/>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17" name="">
            <a:extLst xmlns:a="http://schemas.openxmlformats.org/drawingml/2006/main">
              <a:ext uri="{FF2B5EF4-FFF2-40B4-BE49-F238E27FC236}">
                <a16:creationId xmlns:a16="http://schemas.microsoft.com/office/drawing/2014/main" id="{8CDBD5A7-E564-4DFF-9111-CFC7DC610487}"/>
              </a:ext>
            </a:extLst>
          </p:cNvPr>
          <p:cNvSpPr>
            <a:spLocks xmlns:a="http://schemas.openxmlformats.org/drawingml/2006/main" noGrp="1"/>
          </p:cNvSpPr>
          <p:nvPr/>
        </p:nvSpPr>
        <p:spPr>
          <a:xfrm xmlns:a="http://schemas.openxmlformats.org/drawingml/2006/main">
            <a:off x="6477000" y="1381125"/>
            <a:ext cx="5143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878A8"/>
                </a:solidFill>
                <a:latin typeface="Arial"/>
                <a:ea typeface="Arial"/>
                <a:cs typeface="Arial"/>
              </a:defRPr>
            </a:defPPr>
            <a:lvl1pPr>
              <a:defRPr sz="1725" b="1">
                <a:solidFill>
                  <a:srgbClr val="2878A8"/>
                </a:solidFill>
                <a:latin typeface="Arial"/>
                <a:ea typeface="Arial"/>
                <a:cs typeface="Arial"/>
              </a:defRPr>
            </a:lvl1pPr>
            <a:lvl2pPr>
              <a:defRPr sz="1725" b="1">
                <a:solidFill>
                  <a:srgbClr val="2878A8"/>
                </a:solidFill>
                <a:latin typeface="Arial"/>
                <a:ea typeface="Arial"/>
                <a:cs typeface="Arial"/>
              </a:defRPr>
            </a:lvl2pPr>
            <a:lvl3pPr>
              <a:defRPr sz="1725" b="1">
                <a:solidFill>
                  <a:srgbClr val="2878A8"/>
                </a:solidFill>
                <a:latin typeface="Arial"/>
                <a:ea typeface="Arial"/>
                <a:cs typeface="Arial"/>
              </a:defRPr>
            </a:lvl3pPr>
            <a:lvl4pPr>
              <a:defRPr sz="1725" b="1">
                <a:solidFill>
                  <a:srgbClr val="2878A8"/>
                </a:solidFill>
                <a:latin typeface="Arial"/>
                <a:ea typeface="Arial"/>
                <a:cs typeface="Arial"/>
              </a:defRPr>
            </a:lvl4pPr>
            <a:lvl5pPr>
              <a:defRPr sz="1725" b="1">
                <a:solidFill>
                  <a:srgbClr val="2878A8"/>
                </a:solidFill>
                <a:latin typeface="Arial"/>
                <a:ea typeface="Arial"/>
                <a:cs typeface="Arial"/>
              </a:defRPr>
            </a:lvl5pPr>
            <a:lvl6pPr>
              <a:defRPr sz="1725" b="1">
                <a:solidFill>
                  <a:srgbClr val="2878A8"/>
                </a:solidFill>
                <a:latin typeface="Arial"/>
                <a:ea typeface="Arial"/>
                <a:cs typeface="Arial"/>
              </a:defRPr>
            </a:lvl6pPr>
            <a:lvl7pPr>
              <a:defRPr sz="1725" b="1">
                <a:solidFill>
                  <a:srgbClr val="2878A8"/>
                </a:solidFill>
                <a:latin typeface="Arial"/>
                <a:ea typeface="Arial"/>
                <a:cs typeface="Arial"/>
              </a:defRPr>
            </a:lvl7pPr>
            <a:lvl8pPr>
              <a:defRPr sz="1725" b="1">
                <a:solidFill>
                  <a:srgbClr val="2878A8"/>
                </a:solidFill>
                <a:latin typeface="Arial"/>
                <a:ea typeface="Arial"/>
                <a:cs typeface="Arial"/>
              </a:defRPr>
            </a:lvl8pPr>
            <a:lvl9pPr>
              <a:defRPr sz="1725" b="1">
                <a:solidFill>
                  <a:srgbClr val="2878A8"/>
                </a:solidFill>
                <a:latin typeface="Arial"/>
                <a:ea typeface="Arial"/>
                <a:cs typeface="Arial"/>
              </a:defRPr>
            </a:lvl9pPr>
          </a:lstStyle>
          <a:p xmlns:a="http://schemas.openxmlformats.org/drawingml/2006/main">
            <a:pPr>
              <a:defRPr sz="1725" b="1">
                <a:solidFill>
                  <a:srgbClr val="2878A8"/>
                </a:solidFill>
                <a:latin typeface="Arial"/>
                <a:ea typeface="Arial"/>
                <a:cs typeface="Arial"/>
              </a:defRPr>
            </a:pPr>
            <a:r>
              <a:rPr sz="1725" b="1">
                <a:solidFill>
                  <a:srgbClr val="2878A8"/>
                </a:solidFill>
                <a:latin typeface="Arial"/>
                <a:ea typeface="Arial"/>
                <a:cs typeface="Arial"/>
              </a:rPr>
              <a:t>OBSERVABILITY + LLMOPS</a:t>
            </a:r>
          </a:p>
        </p:txBody>
      </p:sp>
      <p:sp>
        <p:nvSpPr>
          <p:cNvPr id="18" name="">
            <a:extLst xmlns:a="http://schemas.openxmlformats.org/drawingml/2006/main">
              <a:ext uri="{FF2B5EF4-FFF2-40B4-BE49-F238E27FC236}">
                <a16:creationId xmlns:a16="http://schemas.microsoft.com/office/drawing/2014/main" id="{58A599C0-2659-4F16-AEA8-E20C2847824C}"/>
              </a:ext>
            </a:extLst>
          </p:cNvPr>
          <p:cNvSpPr>
            <a:spLocks xmlns:a="http://schemas.openxmlformats.org/drawingml/2006/main" noGrp="1"/>
          </p:cNvSpPr>
          <p:nvPr/>
        </p:nvSpPr>
        <p:spPr>
          <a:xfrm xmlns:a="http://schemas.openxmlformats.org/drawingml/2006/main">
            <a:off x="6477000" y="19145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Versioned experiment identity</a:t>
            </a:r>
          </a:p>
        </p:txBody>
      </p:sp>
      <p:sp>
        <p:nvSpPr>
          <p:cNvPr id="19" name="">
            <a:extLst xmlns:a="http://schemas.openxmlformats.org/drawingml/2006/main">
              <a:ext uri="{FF2B5EF4-FFF2-40B4-BE49-F238E27FC236}">
                <a16:creationId xmlns:a16="http://schemas.microsoft.com/office/drawing/2014/main" id="{82A09D9A-ADD1-488D-B513-1A9017FBB189}"/>
              </a:ext>
            </a:extLst>
          </p:cNvPr>
          <p:cNvSpPr>
            <a:spLocks xmlns:a="http://schemas.openxmlformats.org/drawingml/2006/main" noGrp="1"/>
          </p:cNvSpPr>
          <p:nvPr/>
        </p:nvSpPr>
        <p:spPr>
          <a:xfrm xmlns:a="http://schemas.openxmlformats.org/drawingml/2006/main">
            <a:off x="6477000" y="2324100"/>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Model / prompt / code / data hashes</a:t>
            </a:r>
          </a:p>
        </p:txBody>
      </p:sp>
      <p:sp>
        <p:nvSpPr>
          <p:cNvPr id="20" name="">
            <a:extLst xmlns:a="http://schemas.openxmlformats.org/drawingml/2006/main">
              <a:ext uri="{FF2B5EF4-FFF2-40B4-BE49-F238E27FC236}">
                <a16:creationId xmlns:a16="http://schemas.microsoft.com/office/drawing/2014/main" id="{54F408E0-F95D-414D-BB2B-3CF22B020710}"/>
              </a:ext>
            </a:extLst>
          </p:cNvPr>
          <p:cNvSpPr>
            <a:spLocks xmlns:a="http://schemas.openxmlformats.org/drawingml/2006/main" noGrp="1"/>
          </p:cNvSpPr>
          <p:nvPr/>
        </p:nvSpPr>
        <p:spPr>
          <a:xfrm xmlns:a="http://schemas.openxmlformats.org/drawingml/2006/main">
            <a:off x="6477000" y="28670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Linked decision traces</a:t>
            </a:r>
          </a:p>
        </p:txBody>
      </p:sp>
      <p:sp>
        <p:nvSpPr>
          <p:cNvPr id="21" name="">
            <a:extLst xmlns:a="http://schemas.openxmlformats.org/drawingml/2006/main">
              <a:ext uri="{FF2B5EF4-FFF2-40B4-BE49-F238E27FC236}">
                <a16:creationId xmlns:a16="http://schemas.microsoft.com/office/drawing/2014/main" id="{1F5A3732-1FE8-4067-B222-42247FDB8432}"/>
              </a:ext>
            </a:extLst>
          </p:cNvPr>
          <p:cNvSpPr>
            <a:spLocks xmlns:a="http://schemas.openxmlformats.org/drawingml/2006/main" noGrp="1"/>
          </p:cNvSpPr>
          <p:nvPr/>
        </p:nvSpPr>
        <p:spPr>
          <a:xfrm xmlns:a="http://schemas.openxmlformats.org/drawingml/2006/main">
            <a:off x="6477000" y="3286125"/>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Episode → decision → tool → outcome</a:t>
            </a:r>
          </a:p>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Retrieved IDs, errors and charged attempts</a:t>
            </a:r>
          </a:p>
        </p:txBody>
      </p:sp>
      <p:sp>
        <p:nvSpPr>
          <p:cNvPr id="22" name="">
            <a:extLst xmlns:a="http://schemas.openxmlformats.org/drawingml/2006/main">
              <a:ext uri="{FF2B5EF4-FFF2-40B4-BE49-F238E27FC236}">
                <a16:creationId xmlns:a16="http://schemas.microsoft.com/office/drawing/2014/main" id="{4B89A15C-9921-4655-A342-A1830396BDF2}"/>
              </a:ext>
            </a:extLst>
          </p:cNvPr>
          <p:cNvSpPr>
            <a:spLocks xmlns:a="http://schemas.openxmlformats.org/drawingml/2006/main" noGrp="1"/>
          </p:cNvSpPr>
          <p:nvPr/>
        </p:nvSpPr>
        <p:spPr>
          <a:xfrm xmlns:a="http://schemas.openxmlformats.org/drawingml/2006/main">
            <a:off x="6477000" y="4200525"/>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17324D"/>
                </a:solidFill>
                <a:latin typeface="Arial"/>
                <a:ea typeface="Arial"/>
                <a:cs typeface="Arial"/>
              </a:defRPr>
            </a:defPPr>
            <a:lvl1pPr>
              <a:defRPr sz="2025" b="1">
                <a:solidFill>
                  <a:srgbClr val="17324D"/>
                </a:solidFill>
                <a:latin typeface="Arial"/>
                <a:ea typeface="Arial"/>
                <a:cs typeface="Arial"/>
              </a:defRPr>
            </a:lvl1pPr>
            <a:lvl2pPr>
              <a:defRPr sz="2025" b="1">
                <a:solidFill>
                  <a:srgbClr val="17324D"/>
                </a:solidFill>
                <a:latin typeface="Arial"/>
                <a:ea typeface="Arial"/>
                <a:cs typeface="Arial"/>
              </a:defRPr>
            </a:lvl2pPr>
            <a:lvl3pPr>
              <a:defRPr sz="2025" b="1">
                <a:solidFill>
                  <a:srgbClr val="17324D"/>
                </a:solidFill>
                <a:latin typeface="Arial"/>
                <a:ea typeface="Arial"/>
                <a:cs typeface="Arial"/>
              </a:defRPr>
            </a:lvl3pPr>
            <a:lvl4pPr>
              <a:defRPr sz="2025" b="1">
                <a:solidFill>
                  <a:srgbClr val="17324D"/>
                </a:solidFill>
                <a:latin typeface="Arial"/>
                <a:ea typeface="Arial"/>
                <a:cs typeface="Arial"/>
              </a:defRPr>
            </a:lvl4pPr>
            <a:lvl5pPr>
              <a:defRPr sz="2025" b="1">
                <a:solidFill>
                  <a:srgbClr val="17324D"/>
                </a:solidFill>
                <a:latin typeface="Arial"/>
                <a:ea typeface="Arial"/>
                <a:cs typeface="Arial"/>
              </a:defRPr>
            </a:lvl5pPr>
            <a:lvl6pPr>
              <a:defRPr sz="2025" b="1">
                <a:solidFill>
                  <a:srgbClr val="17324D"/>
                </a:solidFill>
                <a:latin typeface="Arial"/>
                <a:ea typeface="Arial"/>
                <a:cs typeface="Arial"/>
              </a:defRPr>
            </a:lvl6pPr>
            <a:lvl7pPr>
              <a:defRPr sz="2025" b="1">
                <a:solidFill>
                  <a:srgbClr val="17324D"/>
                </a:solidFill>
                <a:latin typeface="Arial"/>
                <a:ea typeface="Arial"/>
                <a:cs typeface="Arial"/>
              </a:defRPr>
            </a:lvl7pPr>
            <a:lvl8pPr>
              <a:defRPr sz="2025" b="1">
                <a:solidFill>
                  <a:srgbClr val="17324D"/>
                </a:solidFill>
                <a:latin typeface="Arial"/>
                <a:ea typeface="Arial"/>
                <a:cs typeface="Arial"/>
              </a:defRPr>
            </a:lvl8pPr>
            <a:lvl9pPr>
              <a:defRPr sz="2025" b="1">
                <a:solidFill>
                  <a:srgbClr val="17324D"/>
                </a:solidFill>
                <a:latin typeface="Arial"/>
                <a:ea typeface="Arial"/>
                <a:cs typeface="Arial"/>
              </a:defRPr>
            </a:lvl9pPr>
          </a:lstStyle>
          <a:p xmlns:a="http://schemas.openxmlformats.org/drawingml/2006/main">
            <a:pPr>
              <a:defRPr sz="2025" b="1">
                <a:solidFill>
                  <a:srgbClr val="17324D"/>
                </a:solidFill>
                <a:latin typeface="Arial"/>
                <a:ea typeface="Arial"/>
                <a:cs typeface="Arial"/>
              </a:defRPr>
            </a:pPr>
            <a:r>
              <a:rPr sz="2025" b="1">
                <a:solidFill>
                  <a:srgbClr val="17324D"/>
                </a:solidFill>
                <a:latin typeface="Arial"/>
                <a:ea typeface="Arial"/>
                <a:cs typeface="Arial"/>
              </a:rPr>
              <a:t>Verified SQLite export</a:t>
            </a:r>
          </a:p>
        </p:txBody>
      </p:sp>
      <p:sp>
        <p:nvSpPr>
          <p:cNvPr id="23" name="">
            <a:extLst xmlns:a="http://schemas.openxmlformats.org/drawingml/2006/main">
              <a:ext uri="{FF2B5EF4-FFF2-40B4-BE49-F238E27FC236}">
                <a16:creationId xmlns:a16="http://schemas.microsoft.com/office/drawing/2014/main" id="{700D768B-10B7-4A88-A55B-F56422BDD637}"/>
              </a:ext>
            </a:extLst>
          </p:cNvPr>
          <p:cNvSpPr>
            <a:spLocks xmlns:a="http://schemas.openxmlformats.org/drawingml/2006/main" noGrp="1"/>
          </p:cNvSpPr>
          <p:nvPr/>
        </p:nvSpPr>
        <p:spPr>
          <a:xfrm xmlns:a="http://schemas.openxmlformats.org/drawingml/2006/main">
            <a:off x="6477000" y="4619625"/>
            <a:ext cx="4953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607286"/>
                </a:solidFill>
                <a:latin typeface="Arial"/>
                <a:ea typeface="Arial"/>
                <a:cs typeface="Arial"/>
              </a:defRPr>
            </a:defPPr>
            <a:lvl1pPr>
              <a:defRPr sz="1650" b="0">
                <a:solidFill>
                  <a:srgbClr val="607286"/>
                </a:solidFill>
                <a:latin typeface="Arial"/>
                <a:ea typeface="Arial"/>
                <a:cs typeface="Arial"/>
              </a:defRPr>
            </a:lvl1pPr>
            <a:lvl2pPr>
              <a:defRPr sz="1650" b="0">
                <a:solidFill>
                  <a:srgbClr val="607286"/>
                </a:solidFill>
                <a:latin typeface="Arial"/>
                <a:ea typeface="Arial"/>
                <a:cs typeface="Arial"/>
              </a:defRPr>
            </a:lvl2pPr>
            <a:lvl3pPr>
              <a:defRPr sz="1650" b="0">
                <a:solidFill>
                  <a:srgbClr val="607286"/>
                </a:solidFill>
                <a:latin typeface="Arial"/>
                <a:ea typeface="Arial"/>
                <a:cs typeface="Arial"/>
              </a:defRPr>
            </a:lvl3pPr>
            <a:lvl4pPr>
              <a:defRPr sz="1650" b="0">
                <a:solidFill>
                  <a:srgbClr val="607286"/>
                </a:solidFill>
                <a:latin typeface="Arial"/>
                <a:ea typeface="Arial"/>
                <a:cs typeface="Arial"/>
              </a:defRPr>
            </a:lvl4pPr>
            <a:lvl5pPr>
              <a:defRPr sz="1650" b="0">
                <a:solidFill>
                  <a:srgbClr val="607286"/>
                </a:solidFill>
                <a:latin typeface="Arial"/>
                <a:ea typeface="Arial"/>
                <a:cs typeface="Arial"/>
              </a:defRPr>
            </a:lvl5pPr>
            <a:lvl6pPr>
              <a:defRPr sz="1650" b="0">
                <a:solidFill>
                  <a:srgbClr val="607286"/>
                </a:solidFill>
                <a:latin typeface="Arial"/>
                <a:ea typeface="Arial"/>
                <a:cs typeface="Arial"/>
              </a:defRPr>
            </a:lvl6pPr>
            <a:lvl7pPr>
              <a:defRPr sz="1650" b="0">
                <a:solidFill>
                  <a:srgbClr val="607286"/>
                </a:solidFill>
                <a:latin typeface="Arial"/>
                <a:ea typeface="Arial"/>
                <a:cs typeface="Arial"/>
              </a:defRPr>
            </a:lvl7pPr>
            <a:lvl8pPr>
              <a:defRPr sz="1650" b="0">
                <a:solidFill>
                  <a:srgbClr val="607286"/>
                </a:solidFill>
                <a:latin typeface="Arial"/>
                <a:ea typeface="Arial"/>
                <a:cs typeface="Arial"/>
              </a:defRPr>
            </a:lvl8pPr>
            <a:lvl9pPr>
              <a:defRPr sz="1650" b="0">
                <a:solidFill>
                  <a:srgbClr val="607286"/>
                </a:solidFill>
                <a:latin typeface="Arial"/>
                <a:ea typeface="Arial"/>
                <a:cs typeface="Arial"/>
              </a:defRPr>
            </a:lvl9pPr>
          </a:lstStyle>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Inspect all 13 live agent decisions</a:t>
            </a:r>
          </a:p>
          <a:p xmlns:a="http://schemas.openxmlformats.org/drawingml/2006/main">
            <a:pPr>
              <a:defRPr sz="1650" b="0">
                <a:solidFill>
                  <a:srgbClr val="607286"/>
                </a:solidFill>
                <a:latin typeface="Arial"/>
                <a:ea typeface="Arial"/>
                <a:cs typeface="Arial"/>
              </a:defRPr>
            </a:pPr>
            <a:r>
              <a:rPr sz="1650" b="0">
                <a:solidFill>
                  <a:srgbClr val="607286"/>
                </a:solidFill>
                <a:latin typeface="Arial"/>
                <a:ea typeface="Arial"/>
                <a:cs typeface="Arial"/>
              </a:rPr>
              <a:t>Preserve failures and missing metadata</a:t>
            </a:r>
          </a:p>
        </p:txBody>
      </p:sp>
      <p:sp>
        <p:nvSpPr>
          <p:cNvPr id="24" name="">
            <a:extLst xmlns:a="http://schemas.openxmlformats.org/drawingml/2006/main">
              <a:ext uri="{FF2B5EF4-FFF2-40B4-BE49-F238E27FC236}">
                <a16:creationId xmlns:a16="http://schemas.microsoft.com/office/drawing/2014/main" id="{19871C10-CC46-4E3A-B976-6CE45E31CA77}"/>
              </a:ext>
            </a:extLst>
          </p:cNvPr>
          <p:cNvSpPr>
            <a:spLocks xmlns:a="http://schemas.openxmlformats.org/drawingml/2006/main" noGrp="1"/>
          </p:cNvSpPr>
          <p:nvPr/>
        </p:nvSpPr>
        <p:spPr>
          <a:xfrm xmlns:a="http://schemas.openxmlformats.org/drawingml/2006/main">
            <a:off x="685800" y="561975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18856B"/>
                </a:solidFill>
                <a:latin typeface="Arial"/>
                <a:ea typeface="Arial"/>
                <a:cs typeface="Arial"/>
              </a:defRPr>
            </a:defPPr>
            <a:lvl1pPr>
              <a:defRPr sz="1875" b="1">
                <a:solidFill>
                  <a:srgbClr val="18856B"/>
                </a:solidFill>
                <a:latin typeface="Arial"/>
                <a:ea typeface="Arial"/>
                <a:cs typeface="Arial"/>
              </a:defRPr>
            </a:lvl1pPr>
            <a:lvl2pPr>
              <a:defRPr sz="1875" b="1">
                <a:solidFill>
                  <a:srgbClr val="18856B"/>
                </a:solidFill>
                <a:latin typeface="Arial"/>
                <a:ea typeface="Arial"/>
                <a:cs typeface="Arial"/>
              </a:defRPr>
            </a:lvl2pPr>
            <a:lvl3pPr>
              <a:defRPr sz="1875" b="1">
                <a:solidFill>
                  <a:srgbClr val="18856B"/>
                </a:solidFill>
                <a:latin typeface="Arial"/>
                <a:ea typeface="Arial"/>
                <a:cs typeface="Arial"/>
              </a:defRPr>
            </a:lvl3pPr>
            <a:lvl4pPr>
              <a:defRPr sz="1875" b="1">
                <a:solidFill>
                  <a:srgbClr val="18856B"/>
                </a:solidFill>
                <a:latin typeface="Arial"/>
                <a:ea typeface="Arial"/>
                <a:cs typeface="Arial"/>
              </a:defRPr>
            </a:lvl4pPr>
            <a:lvl5pPr>
              <a:defRPr sz="1875" b="1">
                <a:solidFill>
                  <a:srgbClr val="18856B"/>
                </a:solidFill>
                <a:latin typeface="Arial"/>
                <a:ea typeface="Arial"/>
                <a:cs typeface="Arial"/>
              </a:defRPr>
            </a:lvl5pPr>
            <a:lvl6pPr>
              <a:defRPr sz="1875" b="1">
                <a:solidFill>
                  <a:srgbClr val="18856B"/>
                </a:solidFill>
                <a:latin typeface="Arial"/>
                <a:ea typeface="Arial"/>
                <a:cs typeface="Arial"/>
              </a:defRPr>
            </a:lvl6pPr>
            <a:lvl7pPr>
              <a:defRPr sz="1875" b="1">
                <a:solidFill>
                  <a:srgbClr val="18856B"/>
                </a:solidFill>
                <a:latin typeface="Arial"/>
                <a:ea typeface="Arial"/>
                <a:cs typeface="Arial"/>
              </a:defRPr>
            </a:lvl7pPr>
            <a:lvl8pPr>
              <a:defRPr sz="1875" b="1">
                <a:solidFill>
                  <a:srgbClr val="18856B"/>
                </a:solidFill>
                <a:latin typeface="Arial"/>
                <a:ea typeface="Arial"/>
                <a:cs typeface="Arial"/>
              </a:defRPr>
            </a:lvl8pPr>
            <a:lvl9pPr>
              <a:defRPr sz="1875" b="1">
                <a:solidFill>
                  <a:srgbClr val="18856B"/>
                </a:solidFill>
                <a:latin typeface="Arial"/>
                <a:ea typeface="Arial"/>
                <a:cs typeface="Arial"/>
              </a:defRPr>
            </a:lvl9pPr>
          </a:lstStyle>
          <a:p xmlns:a="http://schemas.openxmlformats.org/drawingml/2006/main">
            <a:pPr>
              <a:defRPr sz="1875" b="1">
                <a:solidFill>
                  <a:srgbClr val="18856B"/>
                </a:solidFill>
                <a:latin typeface="Arial"/>
                <a:ea typeface="Arial"/>
                <a:cs typeface="Arial"/>
              </a:defRPr>
            </a:pPr>
            <a:r>
              <a:rPr sz="1875" b="1">
                <a:solidFill>
                  <a:srgbClr val="18856B"/>
                </a:solidFill>
                <a:latin typeface="Arial"/>
                <a:ea typeface="Arial"/>
                <a:cs typeface="Arial"/>
              </a:rPr>
              <a:t>Host guardrails: correctness + area + timing + incumbent + finite budgets</a:t>
            </a:r>
          </a:p>
        </p:txBody>
      </p:sp>
      <p:sp>
        <p:nvSpPr>
          <p:cNvPr id="25" name="">
            <a:extLst xmlns:a="http://schemas.openxmlformats.org/drawingml/2006/main">
              <a:ext uri="{FF2B5EF4-FFF2-40B4-BE49-F238E27FC236}">
                <a16:creationId xmlns:a16="http://schemas.microsoft.com/office/drawing/2014/main" id="{E9B81A57-AF93-4373-9C05-0B378A0C98E9}"/>
              </a:ext>
            </a:extLst>
          </p:cNvPr>
          <p:cNvSpPr>
            <a:spLocks xmlns:a="http://schemas.openxmlformats.org/drawingml/2006/main" noGrp="1"/>
          </p:cNvSpPr>
          <p:nvPr/>
        </p:nvSpPr>
        <p:spPr>
          <a:xfrm xmlns:a="http://schemas.openxmlformats.org/drawingml/2006/main">
            <a:off x="685800" y="6105525"/>
            <a:ext cx="10820400"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607286"/>
                </a:solidFill>
                <a:latin typeface="Arial"/>
                <a:ea typeface="Arial"/>
                <a:cs typeface="Arial"/>
              </a:defRPr>
            </a:defPPr>
            <a:lvl1pPr>
              <a:defRPr sz="1575" b="0">
                <a:solidFill>
                  <a:srgbClr val="607286"/>
                </a:solidFill>
                <a:latin typeface="Arial"/>
                <a:ea typeface="Arial"/>
                <a:cs typeface="Arial"/>
              </a:defRPr>
            </a:lvl1pPr>
            <a:lvl2pPr>
              <a:defRPr sz="1575" b="0">
                <a:solidFill>
                  <a:srgbClr val="607286"/>
                </a:solidFill>
                <a:latin typeface="Arial"/>
                <a:ea typeface="Arial"/>
                <a:cs typeface="Arial"/>
              </a:defRPr>
            </a:lvl2pPr>
            <a:lvl3pPr>
              <a:defRPr sz="1575" b="0">
                <a:solidFill>
                  <a:srgbClr val="607286"/>
                </a:solidFill>
                <a:latin typeface="Arial"/>
                <a:ea typeface="Arial"/>
                <a:cs typeface="Arial"/>
              </a:defRPr>
            </a:lvl3pPr>
            <a:lvl4pPr>
              <a:defRPr sz="1575" b="0">
                <a:solidFill>
                  <a:srgbClr val="607286"/>
                </a:solidFill>
                <a:latin typeface="Arial"/>
                <a:ea typeface="Arial"/>
                <a:cs typeface="Arial"/>
              </a:defRPr>
            </a:lvl4pPr>
            <a:lvl5pPr>
              <a:defRPr sz="1575" b="0">
                <a:solidFill>
                  <a:srgbClr val="607286"/>
                </a:solidFill>
                <a:latin typeface="Arial"/>
                <a:ea typeface="Arial"/>
                <a:cs typeface="Arial"/>
              </a:defRPr>
            </a:lvl5pPr>
            <a:lvl6pPr>
              <a:defRPr sz="1575" b="0">
                <a:solidFill>
                  <a:srgbClr val="607286"/>
                </a:solidFill>
                <a:latin typeface="Arial"/>
                <a:ea typeface="Arial"/>
                <a:cs typeface="Arial"/>
              </a:defRPr>
            </a:lvl6pPr>
            <a:lvl7pPr>
              <a:defRPr sz="1575" b="0">
                <a:solidFill>
                  <a:srgbClr val="607286"/>
                </a:solidFill>
                <a:latin typeface="Arial"/>
                <a:ea typeface="Arial"/>
                <a:cs typeface="Arial"/>
              </a:defRPr>
            </a:lvl7pPr>
            <a:lvl8pPr>
              <a:defRPr sz="1575" b="0">
                <a:solidFill>
                  <a:srgbClr val="607286"/>
                </a:solidFill>
                <a:latin typeface="Arial"/>
                <a:ea typeface="Arial"/>
                <a:cs typeface="Arial"/>
              </a:defRPr>
            </a:lvl8pPr>
            <a:lvl9pPr>
              <a:defRPr sz="1575" b="0">
                <a:solidFill>
                  <a:srgbClr val="607286"/>
                </a:solidFill>
                <a:latin typeface="Arial"/>
                <a:ea typeface="Arial"/>
                <a:cs typeface="Arial"/>
              </a:defRPr>
            </a:lvl9pPr>
          </a:lstStyle>
          <a:p xmlns:a="http://schemas.openxmlformats.org/drawingml/2006/main">
            <a:pPr>
              <a:defRPr sz="1575" b="0">
                <a:solidFill>
                  <a:srgbClr val="607286"/>
                </a:solidFill>
                <a:latin typeface="Arial"/>
                <a:ea typeface="Arial"/>
                <a:cs typeface="Arial"/>
              </a:defRPr>
            </a:pPr>
            <a:r>
              <a:rPr sz="1575" b="0">
                <a:solidFill>
                  <a:srgbClr val="607286"/>
                </a:solidFill>
                <a:latin typeface="Arial"/>
                <a:ea typeface="Arial"/>
                <a:cs typeface="Arial"/>
              </a:rPr>
              <a:t>79 focused tests pass. No live v2 LLM run; tokens / inference latency unavailable.</a:t>
            </a:r>
          </a:p>
        </p:txBody>
      </p:sp>
    </p:spTree>
    <p:extLst>
      <p:ext uri="{BB962C8B-B14F-4D97-AF65-F5344CB8AC3E}">
        <p14:creationId xmlns:p14="http://schemas.microsoft.com/office/powerpoint/2010/main" val="65119494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89F5EE-E54E-4D09-8764-4626351D8A6A}"/>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Baselines and a fair measurement budget</a:t>
            </a:r>
          </a:p>
        </p:txBody>
      </p:sp>
      <p:sp>
        <p:nvSpPr>
          <p:cNvPr id="2" name="">
            <a:extLst xmlns:a="http://schemas.openxmlformats.org/drawingml/2006/main">
              <a:ext uri="{FF2B5EF4-FFF2-40B4-BE49-F238E27FC236}">
                <a16:creationId xmlns:a16="http://schemas.microsoft.com/office/drawing/2014/main" id="{8F2E9B25-78AF-4EA1-A402-EC7E4042A029}"/>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9C29A7A-8AC8-45D3-87EC-720AEB8329D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9</a:t>
            </a:r>
          </a:p>
        </p:txBody>
      </p:sp>
      <p:sp>
        <p:nvSpPr>
          <p:cNvPr id="4" name="">
            <a:extLst xmlns:a="http://schemas.openxmlformats.org/drawingml/2006/main">
              <a:ext uri="{FF2B5EF4-FFF2-40B4-BE49-F238E27FC236}">
                <a16:creationId xmlns:a16="http://schemas.microsoft.com/office/drawing/2014/main" id="{DB6BD014-F337-408F-9EA6-05BB67857AE9}"/>
              </a:ext>
            </a:extLst>
          </p:cNvPr>
          <p:cNvSpPr>
            <a:spLocks xmlns:a="http://schemas.openxmlformats.org/drawingml/2006/main" noGrp="1"/>
          </p:cNvSpPr>
          <p:nvPr/>
        </p:nvSpPr>
        <p:spPr>
          <a:xfrm xmlns:a="http://schemas.openxmlformats.org/drawingml/2006/main">
            <a:off x="685800" y="1485900"/>
            <a:ext cx="50482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Required comparisons</a:t>
            </a:r>
          </a:p>
        </p:txBody>
      </p:sp>
      <p:sp>
        <p:nvSpPr>
          <p:cNvPr id="5" name="">
            <a:extLst xmlns:a="http://schemas.openxmlformats.org/drawingml/2006/main">
              <a:ext uri="{FF2B5EF4-FFF2-40B4-BE49-F238E27FC236}">
                <a16:creationId xmlns:a16="http://schemas.microsoft.com/office/drawing/2014/main" id="{AFB80D61-A31F-43F5-AA1F-93BEDA76247D}"/>
              </a:ext>
            </a:extLst>
          </p:cNvPr>
          <p:cNvSpPr>
            <a:spLocks xmlns:a="http://schemas.openxmlformats.org/drawingml/2006/main" noGrp="1"/>
          </p:cNvSpPr>
          <p:nvPr/>
        </p:nvSpPr>
        <p:spPr>
          <a:xfrm xmlns:a="http://schemas.openxmlformats.org/drawingml/2006/main">
            <a:off x="685800" y="2114550"/>
            <a:ext cx="53340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Frequency</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Merit: operations saved × executions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Latency / cost-aware heuristics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Random + non-agent active learning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XGBoost + bounded LLM agent</a:t>
            </a:r>
          </a:p>
        </p:txBody>
      </p:sp>
      <p:sp>
        <p:nvSpPr>
          <p:cNvPr id="6" name="">
            <a:extLst xmlns:a="http://schemas.openxmlformats.org/drawingml/2006/main">
              <a:ext uri="{FF2B5EF4-FFF2-40B4-BE49-F238E27FC236}">
                <a16:creationId xmlns:a16="http://schemas.microsoft.com/office/drawing/2014/main" id="{0DBDA63F-5D17-4C66-8C23-0771D4C28B4A}"/>
              </a:ext>
            </a:extLst>
          </p:cNvPr>
          <p:cNvSpPr>
            <a:spLocks xmlns:a="http://schemas.openxmlformats.org/drawingml/2006/main" noGrp="1"/>
          </p:cNvSpPr>
          <p:nvPr/>
        </p:nvSpPr>
        <p:spPr>
          <a:xfrm xmlns:a="http://schemas.openxmlformats.org/drawingml/2006/main">
            <a:off x="6667500" y="1485900"/>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250" b="1">
                <a:solidFill>
                  <a:srgbClr val="17324D"/>
                </a:solidFill>
                <a:latin typeface="Arial"/>
                <a:ea typeface="Arial"/>
                <a:cs typeface="Arial"/>
              </a:defRPr>
            </a:defPPr>
            <a:lvl1pPr>
              <a:defRPr sz="2250" b="1">
                <a:solidFill>
                  <a:srgbClr val="17324D"/>
                </a:solidFill>
                <a:latin typeface="Arial"/>
                <a:ea typeface="Arial"/>
                <a:cs typeface="Arial"/>
              </a:defRPr>
            </a:lvl1pPr>
            <a:lvl2pPr>
              <a:defRPr sz="2250" b="1">
                <a:solidFill>
                  <a:srgbClr val="17324D"/>
                </a:solidFill>
                <a:latin typeface="Arial"/>
                <a:ea typeface="Arial"/>
                <a:cs typeface="Arial"/>
              </a:defRPr>
            </a:lvl2pPr>
            <a:lvl3pPr>
              <a:defRPr sz="2250" b="1">
                <a:solidFill>
                  <a:srgbClr val="17324D"/>
                </a:solidFill>
                <a:latin typeface="Arial"/>
                <a:ea typeface="Arial"/>
                <a:cs typeface="Arial"/>
              </a:defRPr>
            </a:lvl3pPr>
            <a:lvl4pPr>
              <a:defRPr sz="2250" b="1">
                <a:solidFill>
                  <a:srgbClr val="17324D"/>
                </a:solidFill>
                <a:latin typeface="Arial"/>
                <a:ea typeface="Arial"/>
                <a:cs typeface="Arial"/>
              </a:defRPr>
            </a:lvl4pPr>
            <a:lvl5pPr>
              <a:defRPr sz="2250" b="1">
                <a:solidFill>
                  <a:srgbClr val="17324D"/>
                </a:solidFill>
                <a:latin typeface="Arial"/>
                <a:ea typeface="Arial"/>
                <a:cs typeface="Arial"/>
              </a:defRPr>
            </a:lvl5pPr>
            <a:lvl6pPr>
              <a:defRPr sz="2250" b="1">
                <a:solidFill>
                  <a:srgbClr val="17324D"/>
                </a:solidFill>
                <a:latin typeface="Arial"/>
                <a:ea typeface="Arial"/>
                <a:cs typeface="Arial"/>
              </a:defRPr>
            </a:lvl6pPr>
            <a:lvl7pPr>
              <a:defRPr sz="2250" b="1">
                <a:solidFill>
                  <a:srgbClr val="17324D"/>
                </a:solidFill>
                <a:latin typeface="Arial"/>
                <a:ea typeface="Arial"/>
                <a:cs typeface="Arial"/>
              </a:defRPr>
            </a:lvl7pPr>
            <a:lvl8pPr>
              <a:defRPr sz="2250" b="1">
                <a:solidFill>
                  <a:srgbClr val="17324D"/>
                </a:solidFill>
                <a:latin typeface="Arial"/>
                <a:ea typeface="Arial"/>
                <a:cs typeface="Arial"/>
              </a:defRPr>
            </a:lvl8pPr>
            <a:lvl9pPr>
              <a:defRPr sz="2250" b="1">
                <a:solidFill>
                  <a:srgbClr val="17324D"/>
                </a:solidFill>
                <a:latin typeface="Arial"/>
                <a:ea typeface="Arial"/>
                <a:cs typeface="Arial"/>
              </a:defRPr>
            </a:lvl9pPr>
          </a:lstStyle>
          <a:p xmlns:a="http://schemas.openxmlformats.org/drawingml/2006/main">
            <a:pPr>
              <a:defRPr sz="2250" b="1">
                <a:solidFill>
                  <a:srgbClr val="17324D"/>
                </a:solidFill>
                <a:latin typeface="Arial"/>
                <a:ea typeface="Arial"/>
                <a:cs typeface="Arial"/>
              </a:defRPr>
            </a:pPr>
            <a:r>
              <a:rPr sz="2250" b="1">
                <a:solidFill>
                  <a:srgbClr val="17324D"/>
                </a:solidFill>
                <a:latin typeface="Arial"/>
                <a:ea typeface="Arial"/>
                <a:cs typeface="Arial"/>
              </a:rPr>
              <a:t>Same rules for every policy</a:t>
            </a:r>
          </a:p>
        </p:txBody>
      </p:sp>
      <p:sp>
        <p:nvSpPr>
          <p:cNvPr id="7" name="">
            <a:extLst xmlns:a="http://schemas.openxmlformats.org/drawingml/2006/main">
              <a:ext uri="{FF2B5EF4-FFF2-40B4-BE49-F238E27FC236}">
                <a16:creationId xmlns:a16="http://schemas.microsoft.com/office/drawing/2014/main" id="{36D64CF6-5447-4903-9B33-C222F5577F89}"/>
              </a:ext>
            </a:extLst>
          </p:cNvPr>
          <p:cNvSpPr>
            <a:spLocks xmlns:a="http://schemas.openxmlformats.org/drawingml/2006/main" noGrp="1"/>
          </p:cNvSpPr>
          <p:nvPr/>
        </p:nvSpPr>
        <p:spPr>
          <a:xfrm xmlns:a="http://schemas.openxmlformats.org/drawingml/2006/main">
            <a:off x="6667500" y="2114550"/>
            <a:ext cx="4762500" cy="2524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1 / 2 / 3 charged attempts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Added area ≤ 64 LUT4</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Routed timing ≥ 12 MHz</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Correctness must pass</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Unqueried outcomes remain hidden</a:t>
            </a:r>
          </a:p>
        </p:txBody>
      </p:sp>
      <p:sp>
        <p:nvSpPr>
          <p:cNvPr id="8" name="">
            <a:extLst xmlns:a="http://schemas.openxmlformats.org/drawingml/2006/main">
              <a:ext uri="{FF2B5EF4-FFF2-40B4-BE49-F238E27FC236}">
                <a16:creationId xmlns:a16="http://schemas.microsoft.com/office/drawing/2014/main" id="{D234410C-3F84-4228-ADC1-0E95A5C32778}"/>
              </a:ext>
            </a:extLst>
          </p:cNvPr>
          <p:cNvSpPr>
            <a:spLocks xmlns:a="http://schemas.openxmlformats.org/drawingml/2006/main" noGrp="1"/>
          </p:cNvSpPr>
          <p:nvPr/>
        </p:nvSpPr>
        <p:spPr>
          <a:xfrm xmlns:a="http://schemas.openxmlformats.org/drawingml/2006/main">
            <a:off x="685800" y="5314950"/>
            <a:ext cx="108204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75" b="1">
                <a:solidFill>
                  <a:srgbClr val="2878A8"/>
                </a:solidFill>
                <a:latin typeface="Arial"/>
                <a:ea typeface="Arial"/>
                <a:cs typeface="Arial"/>
              </a:defRPr>
            </a:defPPr>
            <a:lvl1pPr>
              <a:defRPr sz="2175" b="1">
                <a:solidFill>
                  <a:srgbClr val="2878A8"/>
                </a:solidFill>
                <a:latin typeface="Arial"/>
                <a:ea typeface="Arial"/>
                <a:cs typeface="Arial"/>
              </a:defRPr>
            </a:lvl1pPr>
            <a:lvl2pPr>
              <a:defRPr sz="2175" b="1">
                <a:solidFill>
                  <a:srgbClr val="2878A8"/>
                </a:solidFill>
                <a:latin typeface="Arial"/>
                <a:ea typeface="Arial"/>
                <a:cs typeface="Arial"/>
              </a:defRPr>
            </a:lvl2pPr>
            <a:lvl3pPr>
              <a:defRPr sz="2175" b="1">
                <a:solidFill>
                  <a:srgbClr val="2878A8"/>
                </a:solidFill>
                <a:latin typeface="Arial"/>
                <a:ea typeface="Arial"/>
                <a:cs typeface="Arial"/>
              </a:defRPr>
            </a:lvl3pPr>
            <a:lvl4pPr>
              <a:defRPr sz="2175" b="1">
                <a:solidFill>
                  <a:srgbClr val="2878A8"/>
                </a:solidFill>
                <a:latin typeface="Arial"/>
                <a:ea typeface="Arial"/>
                <a:cs typeface="Arial"/>
              </a:defRPr>
            </a:lvl4pPr>
            <a:lvl5pPr>
              <a:defRPr sz="2175" b="1">
                <a:solidFill>
                  <a:srgbClr val="2878A8"/>
                </a:solidFill>
                <a:latin typeface="Arial"/>
                <a:ea typeface="Arial"/>
                <a:cs typeface="Arial"/>
              </a:defRPr>
            </a:lvl5pPr>
            <a:lvl6pPr>
              <a:defRPr sz="2175" b="1">
                <a:solidFill>
                  <a:srgbClr val="2878A8"/>
                </a:solidFill>
                <a:latin typeface="Arial"/>
                <a:ea typeface="Arial"/>
                <a:cs typeface="Arial"/>
              </a:defRPr>
            </a:lvl6pPr>
            <a:lvl7pPr>
              <a:defRPr sz="2175" b="1">
                <a:solidFill>
                  <a:srgbClr val="2878A8"/>
                </a:solidFill>
                <a:latin typeface="Arial"/>
                <a:ea typeface="Arial"/>
                <a:cs typeface="Arial"/>
              </a:defRPr>
            </a:lvl7pPr>
            <a:lvl8pPr>
              <a:defRPr sz="2175" b="1">
                <a:solidFill>
                  <a:srgbClr val="2878A8"/>
                </a:solidFill>
                <a:latin typeface="Arial"/>
                <a:ea typeface="Arial"/>
                <a:cs typeface="Arial"/>
              </a:defRPr>
            </a:lvl8pPr>
            <a:lvl9pPr>
              <a:defRPr sz="2175" b="1">
                <a:solidFill>
                  <a:srgbClr val="2878A8"/>
                </a:solidFill>
                <a:latin typeface="Arial"/>
                <a:ea typeface="Arial"/>
                <a:cs typeface="Arial"/>
              </a:defRPr>
            </a:lvl9pPr>
          </a:lstStyle>
          <a:p xmlns:a="http://schemas.openxmlformats.org/drawingml/2006/main">
            <a:pPr>
              <a:defRPr sz="2175" b="1">
                <a:solidFill>
                  <a:srgbClr val="2878A8"/>
                </a:solidFill>
                <a:latin typeface="Arial"/>
                <a:ea typeface="Arial"/>
                <a:cs typeface="Arial"/>
              </a:defRPr>
            </a:pPr>
            <a:r>
              <a:rPr sz="2175" b="1">
                <a:solidFill>
                  <a:srgbClr val="2878A8"/>
                </a:solidFill>
                <a:latin typeface="Arial"/>
                <a:ea typeface="Arial"/>
                <a:cs typeface="Arial"/>
              </a:rPr>
              <a:t>Endpoint: best VERIFIED, FEASIBLE performance found per evaluation budget.</a:t>
            </a:r>
          </a:p>
        </p:txBody>
      </p:sp>
    </p:spTree>
    <p:extLst>
      <p:ext uri="{BB962C8B-B14F-4D97-AF65-F5344CB8AC3E}">
        <p14:creationId xmlns:p14="http://schemas.microsoft.com/office/powerpoint/2010/main" val="168930025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1448DCD-9FA3-47AE-AD8E-FE2815FBF7E1}"/>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Results: early gains, no consistent ML win</a:t>
            </a:r>
          </a:p>
        </p:txBody>
      </p:sp>
      <p:sp>
        <p:nvSpPr>
          <p:cNvPr id="2" name="">
            <a:extLst xmlns:a="http://schemas.openxmlformats.org/drawingml/2006/main">
              <a:ext uri="{FF2B5EF4-FFF2-40B4-BE49-F238E27FC236}">
                <a16:creationId xmlns:a16="http://schemas.microsoft.com/office/drawing/2014/main" id="{8FA94971-4E53-4838-AADB-E3B1E91FE9A8}"/>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AF17F67E-09FF-4D56-9038-B6EF48D601E4}"/>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10</a:t>
            </a:r>
          </a:p>
        </p:txBody>
      </p:sp>
      <p:graphicFrame>
        <p:nvGraphicFramePr>
          <p:cNvPr id="4" name="Chart">
            <a:extLst xmlns:a="http://schemas.openxmlformats.org/drawingml/2006/main">
              <a:ext uri="{FF2B5EF4-FFF2-40B4-BE49-F238E27FC236}">
                <a16:creationId xmlns:a16="http://schemas.microsoft.com/office/drawing/2014/main" id="{AF3C75F5-6A94-46A8-93D9-4439F185D240}"/>
              </a:ext>
            </a:extLst>
          </p:cNvPr>
          <p:cNvGraphicFramePr/>
          <p:nvPr/>
        </p:nvGraphicFramePr>
        <p:xfrm>
          <a:off xmlns:a="http://schemas.openxmlformats.org/drawingml/2006/main" x="428625" y="1533525"/>
          <a:ext xmlns:a="http://schemas.openxmlformats.org/drawingml/2006/main" cx="7239000" cy="4000500"/>
        </p:xfrm>
        <a:graphic xmlns:a="http://schemas.openxmlformats.org/drawingml/2006/main">
          <a:graphicData uri="http://schemas.openxmlformats.org/drawingml/2006/chart">
            <c:chart xmlns:r="http://schemas.openxmlformats.org/officeDocument/2006/relationships" xmlns:c="http://schemas.openxmlformats.org/drawingml/2006/chart" r:id="Rbfc2e2bee1b7490a"/>
          </a:graphicData>
        </a:graphic>
      </p:graphicFrame>
      <p:sp>
        <p:nvSpPr>
          <p:cNvPr id="5" name="">
            <a:extLst xmlns:a="http://schemas.openxmlformats.org/drawingml/2006/main">
              <a:ext uri="{FF2B5EF4-FFF2-40B4-BE49-F238E27FC236}">
                <a16:creationId xmlns:a16="http://schemas.microsoft.com/office/drawing/2014/main" id="{7CB293C1-51D3-4CE9-9570-4DAD29DC0044}"/>
              </a:ext>
            </a:extLst>
          </p:cNvPr>
          <p:cNvSpPr>
            <a:spLocks xmlns:a="http://schemas.openxmlformats.org/drawingml/2006/main" noGrp="1"/>
          </p:cNvSpPr>
          <p:nvPr/>
        </p:nvSpPr>
        <p:spPr>
          <a:xfrm xmlns:a="http://schemas.openxmlformats.org/drawingml/2006/main">
            <a:off x="8001000" y="1590675"/>
            <a:ext cx="342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17324D"/>
                </a:solidFill>
                <a:latin typeface="Arial"/>
                <a:ea typeface="Arial"/>
                <a:cs typeface="Arial"/>
              </a:defRPr>
            </a:defPPr>
            <a:lvl1pPr>
              <a:defRPr sz="2100" b="1">
                <a:solidFill>
                  <a:srgbClr val="17324D"/>
                </a:solidFill>
                <a:latin typeface="Arial"/>
                <a:ea typeface="Arial"/>
                <a:cs typeface="Arial"/>
              </a:defRPr>
            </a:lvl1pPr>
            <a:lvl2pPr>
              <a:defRPr sz="2100" b="1">
                <a:solidFill>
                  <a:srgbClr val="17324D"/>
                </a:solidFill>
                <a:latin typeface="Arial"/>
                <a:ea typeface="Arial"/>
                <a:cs typeface="Arial"/>
              </a:defRPr>
            </a:lvl2pPr>
            <a:lvl3pPr>
              <a:defRPr sz="2100" b="1">
                <a:solidFill>
                  <a:srgbClr val="17324D"/>
                </a:solidFill>
                <a:latin typeface="Arial"/>
                <a:ea typeface="Arial"/>
                <a:cs typeface="Arial"/>
              </a:defRPr>
            </a:lvl3pPr>
            <a:lvl4pPr>
              <a:defRPr sz="2100" b="1">
                <a:solidFill>
                  <a:srgbClr val="17324D"/>
                </a:solidFill>
                <a:latin typeface="Arial"/>
                <a:ea typeface="Arial"/>
                <a:cs typeface="Arial"/>
              </a:defRPr>
            </a:lvl4pPr>
            <a:lvl5pPr>
              <a:defRPr sz="2100" b="1">
                <a:solidFill>
                  <a:srgbClr val="17324D"/>
                </a:solidFill>
                <a:latin typeface="Arial"/>
                <a:ea typeface="Arial"/>
                <a:cs typeface="Arial"/>
              </a:defRPr>
            </a:lvl5pPr>
            <a:lvl6pPr>
              <a:defRPr sz="2100" b="1">
                <a:solidFill>
                  <a:srgbClr val="17324D"/>
                </a:solidFill>
                <a:latin typeface="Arial"/>
                <a:ea typeface="Arial"/>
                <a:cs typeface="Arial"/>
              </a:defRPr>
            </a:lvl6pPr>
            <a:lvl7pPr>
              <a:defRPr sz="2100" b="1">
                <a:solidFill>
                  <a:srgbClr val="17324D"/>
                </a:solidFill>
                <a:latin typeface="Arial"/>
                <a:ea typeface="Arial"/>
                <a:cs typeface="Arial"/>
              </a:defRPr>
            </a:lvl7pPr>
            <a:lvl8pPr>
              <a:defRPr sz="2100" b="1">
                <a:solidFill>
                  <a:srgbClr val="17324D"/>
                </a:solidFill>
                <a:latin typeface="Arial"/>
                <a:ea typeface="Arial"/>
                <a:cs typeface="Arial"/>
              </a:defRPr>
            </a:lvl8pPr>
            <a:lvl9pPr>
              <a:defRPr sz="2100" b="1">
                <a:solidFill>
                  <a:srgbClr val="17324D"/>
                </a:solidFill>
                <a:latin typeface="Arial"/>
                <a:ea typeface="Arial"/>
                <a:cs typeface="Arial"/>
              </a:defRPr>
            </a:lvl9pPr>
          </a:lstStyle>
          <a:p xmlns:a="http://schemas.openxmlformats.org/drawingml/2006/main">
            <a:pPr>
              <a:defRPr sz="2100" b="1">
                <a:solidFill>
                  <a:srgbClr val="17324D"/>
                </a:solidFill>
                <a:latin typeface="Arial"/>
                <a:ea typeface="Arial"/>
                <a:cs typeface="Arial"/>
              </a:defRPr>
            </a:pPr>
            <a:r>
              <a:rPr sz="2100" b="1">
                <a:solidFill>
                  <a:srgbClr val="17324D"/>
                </a:solidFill>
                <a:latin typeface="Arial"/>
                <a:ea typeface="Arial"/>
                <a:cs typeface="Arial"/>
              </a:rPr>
              <a:t>Paired advantage of XGB</a:t>
            </a:r>
          </a:p>
        </p:txBody>
      </p:sp>
      <p:sp>
        <p:nvSpPr>
          <p:cNvPr id="6" name="">
            <a:extLst xmlns:a="http://schemas.openxmlformats.org/drawingml/2006/main">
              <a:ext uri="{FF2B5EF4-FFF2-40B4-BE49-F238E27FC236}">
                <a16:creationId xmlns:a16="http://schemas.microsoft.com/office/drawing/2014/main" id="{FD3E0FEA-296E-4B00-B6EC-C6E0EC75F375}"/>
              </a:ext>
            </a:extLst>
          </p:cNvPr>
          <p:cNvSpPr>
            <a:spLocks xmlns:a="http://schemas.openxmlformats.org/drawingml/2006/main" noGrp="1"/>
          </p:cNvSpPr>
          <p:nvPr/>
        </p:nvSpPr>
        <p:spPr>
          <a:xfrm xmlns:a="http://schemas.openxmlformats.org/drawingml/2006/main">
            <a:off x="8001000" y="2457450"/>
            <a:ext cx="34290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263648"/>
                </a:solidFill>
                <a:latin typeface="Arial"/>
                <a:ea typeface="Arial"/>
                <a:cs typeface="Arial"/>
              </a:defRPr>
            </a:defPPr>
            <a:lvl1pPr>
              <a:defRPr sz="1725" b="0">
                <a:solidFill>
                  <a:srgbClr val="263648"/>
                </a:solidFill>
                <a:latin typeface="Arial"/>
                <a:ea typeface="Arial"/>
                <a:cs typeface="Arial"/>
              </a:defRPr>
            </a:lvl1pPr>
            <a:lvl2pPr>
              <a:defRPr sz="1725" b="0">
                <a:solidFill>
                  <a:srgbClr val="263648"/>
                </a:solidFill>
                <a:latin typeface="Arial"/>
                <a:ea typeface="Arial"/>
                <a:cs typeface="Arial"/>
              </a:defRPr>
            </a:lvl2pPr>
            <a:lvl3pPr>
              <a:defRPr sz="1725" b="0">
                <a:solidFill>
                  <a:srgbClr val="263648"/>
                </a:solidFill>
                <a:latin typeface="Arial"/>
                <a:ea typeface="Arial"/>
                <a:cs typeface="Arial"/>
              </a:defRPr>
            </a:lvl3pPr>
            <a:lvl4pPr>
              <a:defRPr sz="1725" b="0">
                <a:solidFill>
                  <a:srgbClr val="263648"/>
                </a:solidFill>
                <a:latin typeface="Arial"/>
                <a:ea typeface="Arial"/>
                <a:cs typeface="Arial"/>
              </a:defRPr>
            </a:lvl4pPr>
            <a:lvl5pPr>
              <a:defRPr sz="1725" b="0">
                <a:solidFill>
                  <a:srgbClr val="263648"/>
                </a:solidFill>
                <a:latin typeface="Arial"/>
                <a:ea typeface="Arial"/>
                <a:cs typeface="Arial"/>
              </a:defRPr>
            </a:lvl5pPr>
            <a:lvl6pPr>
              <a:defRPr sz="1725" b="0">
                <a:solidFill>
                  <a:srgbClr val="263648"/>
                </a:solidFill>
                <a:latin typeface="Arial"/>
                <a:ea typeface="Arial"/>
                <a:cs typeface="Arial"/>
              </a:defRPr>
            </a:lvl6pPr>
            <a:lvl7pPr>
              <a:defRPr sz="1725" b="0">
                <a:solidFill>
                  <a:srgbClr val="263648"/>
                </a:solidFill>
                <a:latin typeface="Arial"/>
                <a:ea typeface="Arial"/>
                <a:cs typeface="Arial"/>
              </a:defRPr>
            </a:lvl7pPr>
            <a:lvl8pPr>
              <a:defRPr sz="1725" b="0">
                <a:solidFill>
                  <a:srgbClr val="263648"/>
                </a:solidFill>
                <a:latin typeface="Arial"/>
                <a:ea typeface="Arial"/>
                <a:cs typeface="Arial"/>
              </a:defRPr>
            </a:lvl8pPr>
            <a:lvl9pPr>
              <a:defRPr sz="1725" b="0">
                <a:solidFill>
                  <a:srgbClr val="263648"/>
                </a:solidFill>
                <a:latin typeface="Arial"/>
                <a:ea typeface="Arial"/>
                <a:cs typeface="Arial"/>
              </a:defRPr>
            </a:lvl9pPr>
          </a:lstStyle>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1 attempt: +0.290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[−0.065, +0.849]</a:t>
            </a:r>
          </a:p>
          <a:p xmlns:a="http://schemas.openxmlformats.org/drawingml/2006/main">
            <a:r>
              <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2 attempts: +0.027 pp</a:t>
            </a:r>
          </a:p>
          <a:p xmlns:a="http://schemas.openxmlformats.org/drawingml/2006/main">
            <a:pPr>
              <a:defRPr sz="1725" b="0">
                <a:solidFill>
                  <a:srgbClr val="263648"/>
                </a:solidFill>
                <a:latin typeface="Arial"/>
                <a:ea typeface="Arial"/>
                <a:cs typeface="Arial"/>
              </a:defRPr>
            </a:pPr>
            <a:r>
              <a:rPr sz="1725" b="0">
                <a:solidFill>
                  <a:srgbClr val="263648"/>
                </a:solidFill>
                <a:latin typeface="Arial"/>
                <a:ea typeface="Arial"/>
                <a:cs typeface="Arial"/>
              </a:rPr>
              <a:t>95% CI [−0.097, +0.177]</a:t>
            </a:r>
          </a:p>
        </p:txBody>
      </p:sp>
      <p:sp>
        <p:nvSpPr>
          <p:cNvPr id="7" name="">
            <a:extLst xmlns:a="http://schemas.openxmlformats.org/drawingml/2006/main">
              <a:ext uri="{FF2B5EF4-FFF2-40B4-BE49-F238E27FC236}">
                <a16:creationId xmlns:a16="http://schemas.microsoft.com/office/drawing/2014/main" id="{A0C6BFE4-DE9A-4FAE-9623-CA734E70A92E}"/>
              </a:ext>
            </a:extLst>
          </p:cNvPr>
          <p:cNvSpPr>
            <a:spLocks xmlns:a="http://schemas.openxmlformats.org/drawingml/2006/main" noGrp="1"/>
          </p:cNvSpPr>
          <p:nvPr/>
        </p:nvSpPr>
        <p:spPr>
          <a:xfrm xmlns:a="http://schemas.openxmlformats.org/drawingml/2006/main">
            <a:off x="8001000" y="4743450"/>
            <a:ext cx="342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1">
                <a:solidFill>
                  <a:srgbClr val="A65A00"/>
                </a:solidFill>
                <a:latin typeface="Arial"/>
                <a:ea typeface="Arial"/>
                <a:cs typeface="Arial"/>
              </a:defRPr>
            </a:defPPr>
            <a:lvl1pPr>
              <a:defRPr sz="1875" b="1">
                <a:solidFill>
                  <a:srgbClr val="A65A00"/>
                </a:solidFill>
                <a:latin typeface="Arial"/>
                <a:ea typeface="Arial"/>
                <a:cs typeface="Arial"/>
              </a:defRPr>
            </a:lvl1pPr>
            <a:lvl2pPr>
              <a:defRPr sz="1875" b="1">
                <a:solidFill>
                  <a:srgbClr val="A65A00"/>
                </a:solidFill>
                <a:latin typeface="Arial"/>
                <a:ea typeface="Arial"/>
                <a:cs typeface="Arial"/>
              </a:defRPr>
            </a:lvl2pPr>
            <a:lvl3pPr>
              <a:defRPr sz="1875" b="1">
                <a:solidFill>
                  <a:srgbClr val="A65A00"/>
                </a:solidFill>
                <a:latin typeface="Arial"/>
                <a:ea typeface="Arial"/>
                <a:cs typeface="Arial"/>
              </a:defRPr>
            </a:lvl3pPr>
            <a:lvl4pPr>
              <a:defRPr sz="1875" b="1">
                <a:solidFill>
                  <a:srgbClr val="A65A00"/>
                </a:solidFill>
                <a:latin typeface="Arial"/>
                <a:ea typeface="Arial"/>
                <a:cs typeface="Arial"/>
              </a:defRPr>
            </a:lvl4pPr>
            <a:lvl5pPr>
              <a:defRPr sz="1875" b="1">
                <a:solidFill>
                  <a:srgbClr val="A65A00"/>
                </a:solidFill>
                <a:latin typeface="Arial"/>
                <a:ea typeface="Arial"/>
                <a:cs typeface="Arial"/>
              </a:defRPr>
            </a:lvl5pPr>
            <a:lvl6pPr>
              <a:defRPr sz="1875" b="1">
                <a:solidFill>
                  <a:srgbClr val="A65A00"/>
                </a:solidFill>
                <a:latin typeface="Arial"/>
                <a:ea typeface="Arial"/>
                <a:cs typeface="Arial"/>
              </a:defRPr>
            </a:lvl6pPr>
            <a:lvl7pPr>
              <a:defRPr sz="1875" b="1">
                <a:solidFill>
                  <a:srgbClr val="A65A00"/>
                </a:solidFill>
                <a:latin typeface="Arial"/>
                <a:ea typeface="Arial"/>
                <a:cs typeface="Arial"/>
              </a:defRPr>
            </a:lvl7pPr>
            <a:lvl8pPr>
              <a:defRPr sz="1875" b="1">
                <a:solidFill>
                  <a:srgbClr val="A65A00"/>
                </a:solidFill>
                <a:latin typeface="Arial"/>
                <a:ea typeface="Arial"/>
                <a:cs typeface="Arial"/>
              </a:defRPr>
            </a:lvl8pPr>
            <a:lvl9pPr>
              <a:defRPr sz="1875" b="1">
                <a:solidFill>
                  <a:srgbClr val="A65A00"/>
                </a:solidFill>
                <a:latin typeface="Arial"/>
                <a:ea typeface="Arial"/>
                <a:cs typeface="Arial"/>
              </a:defRPr>
            </a:lvl9pPr>
          </a:lstStyle>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Merit is better at 3.</a:t>
            </a:r>
          </a:p>
          <a:p xmlns:a="http://schemas.openxmlformats.org/drawingml/2006/main">
            <a:pPr>
              <a:defRPr sz="1875" b="1">
                <a:solidFill>
                  <a:srgbClr val="A65A00"/>
                </a:solidFill>
                <a:latin typeface="Arial"/>
                <a:ea typeface="Arial"/>
                <a:cs typeface="Arial"/>
              </a:defRPr>
            </a:pPr>
            <a:r>
              <a:rPr sz="1875" b="1">
                <a:solidFill>
                  <a:srgbClr val="A65A00"/>
                </a:solidFill>
                <a:latin typeface="Arial"/>
                <a:ea typeface="Arial"/>
                <a:cs typeface="Arial"/>
              </a:rPr>
              <a:t>Early intervals include zero.</a:t>
            </a:r>
          </a:p>
        </p:txBody>
      </p:sp>
      <p:sp>
        <p:nvSpPr>
          <p:cNvPr id="8" name="">
            <a:extLst xmlns:a="http://schemas.openxmlformats.org/drawingml/2006/main">
              <a:ext uri="{FF2B5EF4-FFF2-40B4-BE49-F238E27FC236}">
                <a16:creationId xmlns:a16="http://schemas.microsoft.com/office/drawing/2014/main" id="{95C5DBDC-1F16-4D0B-98EA-6B7CC26E5DEC}"/>
              </a:ext>
            </a:extLst>
          </p:cNvPr>
          <p:cNvSpPr>
            <a:spLocks xmlns:a="http://schemas.openxmlformats.org/drawingml/2006/main" noGrp="1"/>
          </p:cNvSpPr>
          <p:nvPr/>
        </p:nvSpPr>
        <p:spPr>
          <a:xfrm xmlns:a="http://schemas.openxmlformats.org/drawingml/2006/main">
            <a:off x="685800" y="5867400"/>
            <a:ext cx="108204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17324D"/>
                </a:solidFill>
                <a:latin typeface="Arial"/>
                <a:ea typeface="Arial"/>
                <a:cs typeface="Arial"/>
              </a:defRPr>
            </a:defPPr>
            <a:lvl1pPr>
              <a:defRPr sz="1800" b="1">
                <a:solidFill>
                  <a:srgbClr val="17324D"/>
                </a:solidFill>
                <a:latin typeface="Arial"/>
                <a:ea typeface="Arial"/>
                <a:cs typeface="Arial"/>
              </a:defRPr>
            </a:lvl1pPr>
            <a:lvl2pPr>
              <a:defRPr sz="1800" b="1">
                <a:solidFill>
                  <a:srgbClr val="17324D"/>
                </a:solidFill>
                <a:latin typeface="Arial"/>
                <a:ea typeface="Arial"/>
                <a:cs typeface="Arial"/>
              </a:defRPr>
            </a:lvl2pPr>
            <a:lvl3pPr>
              <a:defRPr sz="1800" b="1">
                <a:solidFill>
                  <a:srgbClr val="17324D"/>
                </a:solidFill>
                <a:latin typeface="Arial"/>
                <a:ea typeface="Arial"/>
                <a:cs typeface="Arial"/>
              </a:defRPr>
            </a:lvl3pPr>
            <a:lvl4pPr>
              <a:defRPr sz="1800" b="1">
                <a:solidFill>
                  <a:srgbClr val="17324D"/>
                </a:solidFill>
                <a:latin typeface="Arial"/>
                <a:ea typeface="Arial"/>
                <a:cs typeface="Arial"/>
              </a:defRPr>
            </a:lvl4pPr>
            <a:lvl5pPr>
              <a:defRPr sz="1800" b="1">
                <a:solidFill>
                  <a:srgbClr val="17324D"/>
                </a:solidFill>
                <a:latin typeface="Arial"/>
                <a:ea typeface="Arial"/>
                <a:cs typeface="Arial"/>
              </a:defRPr>
            </a:lvl5pPr>
            <a:lvl6pPr>
              <a:defRPr sz="1800" b="1">
                <a:solidFill>
                  <a:srgbClr val="17324D"/>
                </a:solidFill>
                <a:latin typeface="Arial"/>
                <a:ea typeface="Arial"/>
                <a:cs typeface="Arial"/>
              </a:defRPr>
            </a:lvl6pPr>
            <a:lvl7pPr>
              <a:defRPr sz="1800" b="1">
                <a:solidFill>
                  <a:srgbClr val="17324D"/>
                </a:solidFill>
                <a:latin typeface="Arial"/>
                <a:ea typeface="Arial"/>
                <a:cs typeface="Arial"/>
              </a:defRPr>
            </a:lvl7pPr>
            <a:lvl8pPr>
              <a:defRPr sz="1800" b="1">
                <a:solidFill>
                  <a:srgbClr val="17324D"/>
                </a:solidFill>
                <a:latin typeface="Arial"/>
                <a:ea typeface="Arial"/>
                <a:cs typeface="Arial"/>
              </a:defRPr>
            </a:lvl8pPr>
            <a:lvl9pPr>
              <a:defRPr sz="1800" b="1">
                <a:solidFill>
                  <a:srgbClr val="17324D"/>
                </a:solidFill>
                <a:latin typeface="Arial"/>
                <a:ea typeface="Arial"/>
                <a:cs typeface="Arial"/>
              </a:defRPr>
            </a:lvl9pPr>
          </a:lstStyle>
          <a:p xmlns:a="http://schemas.openxmlformats.org/drawingml/2006/main">
            <a:pPr>
              <a:defRPr sz="1800" b="1">
                <a:solidFill>
                  <a:srgbClr val="17324D"/>
                </a:solidFill>
                <a:latin typeface="Arial"/>
                <a:ea typeface="Arial"/>
                <a:cs typeface="Arial"/>
              </a:defRPr>
            </a:pPr>
            <a:r>
              <a:rPr sz="1800" b="1">
                <a:solidFill>
                  <a:srgbClr val="17324D"/>
                </a:solidFill>
                <a:latin typeface="Arial"/>
                <a:ea typeface="Arial"/>
                <a:cs typeface="Arial"/>
              </a:rPr>
              <a:t>12 complete workload pools • retrospective comparison • merit remains fallback</a:t>
            </a:r>
          </a:p>
        </p:txBody>
      </p:sp>
    </p:spTree>
    <p:extLst>
      <p:ext uri="{BB962C8B-B14F-4D97-AF65-F5344CB8AC3E}">
        <p14:creationId xmlns:p14="http://schemas.microsoft.com/office/powerpoint/2010/main" val="197678679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64B8D7-5548-4600-ABD1-1824E37A4ACD}"/>
              </a:ext>
            </a:extLst>
          </p:cNvPr>
          <p:cNvSpPr>
            <a:spLocks xmlns:a="http://schemas.openxmlformats.org/drawingml/2006/main" noGrp="1"/>
          </p:cNvSpPr>
          <p:nvPr/>
        </p:nvSpPr>
        <p:spPr>
          <a:xfrm xmlns:a="http://schemas.openxmlformats.org/drawingml/2006/main">
            <a:off x="647700" y="400050"/>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225" b="1">
                <a:solidFill>
                  <a:srgbClr val="17324D"/>
                </a:solidFill>
                <a:latin typeface="Arial"/>
                <a:ea typeface="Arial"/>
                <a:cs typeface="Arial"/>
              </a:defRPr>
            </a:defPPr>
            <a:lvl1pPr>
              <a:defRPr sz="3225" b="1">
                <a:solidFill>
                  <a:srgbClr val="17324D"/>
                </a:solidFill>
                <a:latin typeface="Arial"/>
                <a:ea typeface="Arial"/>
                <a:cs typeface="Arial"/>
              </a:defRPr>
            </a:lvl1pPr>
            <a:lvl2pPr>
              <a:defRPr sz="3225" b="1">
                <a:solidFill>
                  <a:srgbClr val="17324D"/>
                </a:solidFill>
                <a:latin typeface="Arial"/>
                <a:ea typeface="Arial"/>
                <a:cs typeface="Arial"/>
              </a:defRPr>
            </a:lvl2pPr>
            <a:lvl3pPr>
              <a:defRPr sz="3225" b="1">
                <a:solidFill>
                  <a:srgbClr val="17324D"/>
                </a:solidFill>
                <a:latin typeface="Arial"/>
                <a:ea typeface="Arial"/>
                <a:cs typeface="Arial"/>
              </a:defRPr>
            </a:lvl3pPr>
            <a:lvl4pPr>
              <a:defRPr sz="3225" b="1">
                <a:solidFill>
                  <a:srgbClr val="17324D"/>
                </a:solidFill>
                <a:latin typeface="Arial"/>
                <a:ea typeface="Arial"/>
                <a:cs typeface="Arial"/>
              </a:defRPr>
            </a:lvl4pPr>
            <a:lvl5pPr>
              <a:defRPr sz="3225" b="1">
                <a:solidFill>
                  <a:srgbClr val="17324D"/>
                </a:solidFill>
                <a:latin typeface="Arial"/>
                <a:ea typeface="Arial"/>
                <a:cs typeface="Arial"/>
              </a:defRPr>
            </a:lvl5pPr>
            <a:lvl6pPr>
              <a:defRPr sz="3225" b="1">
                <a:solidFill>
                  <a:srgbClr val="17324D"/>
                </a:solidFill>
                <a:latin typeface="Arial"/>
                <a:ea typeface="Arial"/>
                <a:cs typeface="Arial"/>
              </a:defRPr>
            </a:lvl6pPr>
            <a:lvl7pPr>
              <a:defRPr sz="3225" b="1">
                <a:solidFill>
                  <a:srgbClr val="17324D"/>
                </a:solidFill>
                <a:latin typeface="Arial"/>
                <a:ea typeface="Arial"/>
                <a:cs typeface="Arial"/>
              </a:defRPr>
            </a:lvl7pPr>
            <a:lvl8pPr>
              <a:defRPr sz="3225" b="1">
                <a:solidFill>
                  <a:srgbClr val="17324D"/>
                </a:solidFill>
                <a:latin typeface="Arial"/>
                <a:ea typeface="Arial"/>
                <a:cs typeface="Arial"/>
              </a:defRPr>
            </a:lvl8pPr>
            <a:lvl9pPr>
              <a:defRPr sz="3225" b="1">
                <a:solidFill>
                  <a:srgbClr val="17324D"/>
                </a:solidFill>
                <a:latin typeface="Arial"/>
                <a:ea typeface="Arial"/>
                <a:cs typeface="Arial"/>
              </a:defRPr>
            </a:lvl9pPr>
          </a:lstStyle>
          <a:p xmlns:a="http://schemas.openxmlformats.org/drawingml/2006/main">
            <a:pPr>
              <a:defRPr sz="3225" b="1">
                <a:solidFill>
                  <a:srgbClr val="17324D"/>
                </a:solidFill>
                <a:latin typeface="Arial"/>
                <a:ea typeface="Arial"/>
                <a:cs typeface="Arial"/>
              </a:defRPr>
            </a:pPr>
            <a:r>
              <a:rPr sz="3225" b="1">
                <a:solidFill>
                  <a:srgbClr val="17324D"/>
                </a:solidFill>
                <a:latin typeface="Arial"/>
                <a:ea typeface="Arial"/>
                <a:cs typeface="Arial"/>
              </a:rPr>
              <a:t>Next milestone: an independent selection test</a:t>
            </a:r>
          </a:p>
        </p:txBody>
      </p:sp>
      <p:sp>
        <p:nvSpPr>
          <p:cNvPr id="2" name="">
            <a:extLst xmlns:a="http://schemas.openxmlformats.org/drawingml/2006/main">
              <a:ext uri="{FF2B5EF4-FFF2-40B4-BE49-F238E27FC236}">
                <a16:creationId xmlns:a16="http://schemas.microsoft.com/office/drawing/2014/main" id="{A3A76AD5-F76C-4317-BB16-20AC80D9DC9C}"/>
              </a:ext>
            </a:extLst>
          </p:cNvPr>
          <p:cNvSpPr>
            <a:spLocks xmlns:a="http://schemas.openxmlformats.org/drawingml/2006/main" noGrp="1"/>
          </p:cNvSpPr>
          <p:nvPr/>
        </p:nvSpPr>
        <p:spPr>
          <a:xfrm xmlns:a="http://schemas.openxmlformats.org/drawingml/2006/main">
            <a:off x="647700" y="1066800"/>
            <a:ext cx="10896600" cy="0"/>
          </a:xfrm>
          <a:prstGeom xmlns:a="http://schemas.openxmlformats.org/drawingml/2006/main" prst="line">
            <a:avLst/>
          </a:prstGeom>
          <a:noFill xmlns:a="http://schemas.openxmlformats.org/drawingml/2006/main"/>
          <a:ln xmlns:a="http://schemas.openxmlformats.org/drawingml/2006/main" w="9525">
            <a:solidFill>
              <a:srgbClr val="D9E1E8"/>
            </a:solidFill>
            <a:prstDash val="solid"/>
          </a:ln>
        </p:spPr>
      </p:sp>
      <p:sp>
        <p:nvSpPr>
          <p:cNvPr id="3" name="">
            <a:extLst xmlns:a="http://schemas.openxmlformats.org/drawingml/2006/main">
              <a:ext uri="{FF2B5EF4-FFF2-40B4-BE49-F238E27FC236}">
                <a16:creationId xmlns:a16="http://schemas.microsoft.com/office/drawing/2014/main" id="{6EF9E416-D741-4653-A4A5-E9190082EF3B}"/>
              </a:ext>
            </a:extLst>
          </p:cNvPr>
          <p:cNvSpPr>
            <a:spLocks xmlns:a="http://schemas.openxmlformats.org/drawingml/2006/main" noGrp="1"/>
          </p:cNvSpPr>
          <p:nvPr/>
        </p:nvSpPr>
        <p:spPr>
          <a:xfrm xmlns:a="http://schemas.openxmlformats.org/drawingml/2006/main">
            <a:off x="647700" y="6534150"/>
            <a:ext cx="108966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900">
                <a:solidFill>
                  <a:srgbClr val="607286"/>
                </a:solidFill>
                <a:latin typeface="Arial"/>
                <a:ea typeface="Arial"/>
                <a:cs typeface="Arial"/>
              </a:defRPr>
            </a:defPPr>
            <a:lvl1pPr>
              <a:defRPr sz="900">
                <a:solidFill>
                  <a:srgbClr val="607286"/>
                </a:solidFill>
                <a:latin typeface="Arial"/>
                <a:ea typeface="Arial"/>
                <a:cs typeface="Arial"/>
              </a:defRPr>
            </a:lvl1pPr>
            <a:lvl2pPr>
              <a:defRPr sz="900">
                <a:solidFill>
                  <a:srgbClr val="607286"/>
                </a:solidFill>
                <a:latin typeface="Arial"/>
                <a:ea typeface="Arial"/>
                <a:cs typeface="Arial"/>
              </a:defRPr>
            </a:lvl2pPr>
            <a:lvl3pPr>
              <a:defRPr sz="900">
                <a:solidFill>
                  <a:srgbClr val="607286"/>
                </a:solidFill>
                <a:latin typeface="Arial"/>
                <a:ea typeface="Arial"/>
                <a:cs typeface="Arial"/>
              </a:defRPr>
            </a:lvl3pPr>
            <a:lvl4pPr>
              <a:defRPr sz="900">
                <a:solidFill>
                  <a:srgbClr val="607286"/>
                </a:solidFill>
                <a:latin typeface="Arial"/>
                <a:ea typeface="Arial"/>
                <a:cs typeface="Arial"/>
              </a:defRPr>
            </a:lvl4pPr>
            <a:lvl5pPr>
              <a:defRPr sz="900">
                <a:solidFill>
                  <a:srgbClr val="607286"/>
                </a:solidFill>
                <a:latin typeface="Arial"/>
                <a:ea typeface="Arial"/>
                <a:cs typeface="Arial"/>
              </a:defRPr>
            </a:lvl5pPr>
            <a:lvl6pPr>
              <a:defRPr sz="900">
                <a:solidFill>
                  <a:srgbClr val="607286"/>
                </a:solidFill>
                <a:latin typeface="Arial"/>
                <a:ea typeface="Arial"/>
                <a:cs typeface="Arial"/>
              </a:defRPr>
            </a:lvl6pPr>
            <a:lvl7pPr>
              <a:defRPr sz="900">
                <a:solidFill>
                  <a:srgbClr val="607286"/>
                </a:solidFill>
                <a:latin typeface="Arial"/>
                <a:ea typeface="Arial"/>
                <a:cs typeface="Arial"/>
              </a:defRPr>
            </a:lvl7pPr>
            <a:lvl8pPr>
              <a:defRPr sz="900">
                <a:solidFill>
                  <a:srgbClr val="607286"/>
                </a:solidFill>
                <a:latin typeface="Arial"/>
                <a:ea typeface="Arial"/>
                <a:cs typeface="Arial"/>
              </a:defRPr>
            </a:lvl8pPr>
            <a:lvl9pPr>
              <a:defRPr sz="900">
                <a:solidFill>
                  <a:srgbClr val="607286"/>
                </a:solidFill>
                <a:latin typeface="Arial"/>
                <a:ea typeface="Arial"/>
                <a:cs typeface="Arial"/>
              </a:defRPr>
            </a:lvl9pPr>
          </a:lstStyle>
          <a:p xmlns:a="http://schemas.openxmlformats.org/drawingml/2006/main">
            <a:pPr>
              <a:defRPr sz="900">
                <a:solidFill>
                  <a:srgbClr val="607286"/>
                </a:solidFill>
                <a:latin typeface="Arial"/>
                <a:ea typeface="Arial"/>
                <a:cs typeface="Arial"/>
              </a:defRPr>
            </a:pPr>
            <a:r>
              <a:rPr sz="900">
                <a:solidFill>
                  <a:srgbClr val="607286"/>
                </a:solidFill>
                <a:latin typeface="Arial"/>
                <a:ea typeface="Arial"/>
                <a:cs typeface="Arial"/>
              </a:rPr>
              <a:t>ISAForge  /  ECE 4803                                    11</a:t>
            </a:r>
          </a:p>
        </p:txBody>
      </p:sp>
      <p:sp>
        <p:nvSpPr>
          <p:cNvPr id="4" name="">
            <a:extLst xmlns:a="http://schemas.openxmlformats.org/drawingml/2006/main">
              <a:ext uri="{FF2B5EF4-FFF2-40B4-BE49-F238E27FC236}">
                <a16:creationId xmlns:a16="http://schemas.microsoft.com/office/drawing/2014/main" id="{65FBD8E6-36F9-4897-9E7F-36286773CEF7}"/>
              </a:ext>
            </a:extLst>
          </p:cNvPr>
          <p:cNvSpPr>
            <a:spLocks xmlns:a="http://schemas.openxmlformats.org/drawingml/2006/main" noGrp="1"/>
          </p:cNvSpPr>
          <p:nvPr/>
        </p:nvSpPr>
        <p:spPr>
          <a:xfrm xmlns:a="http://schemas.openxmlformats.org/drawingml/2006/main">
            <a:off x="6858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Working now</a:t>
            </a:r>
          </a:p>
        </p:txBody>
      </p:sp>
      <p:sp>
        <p:nvSpPr>
          <p:cNvPr id="5" name="">
            <a:extLst xmlns:a="http://schemas.openxmlformats.org/drawingml/2006/main">
              <a:ext uri="{FF2B5EF4-FFF2-40B4-BE49-F238E27FC236}">
                <a16:creationId xmlns:a16="http://schemas.microsoft.com/office/drawing/2014/main" id="{4676B083-CCEB-463A-BFC3-20F59324D617}"/>
              </a:ext>
            </a:extLst>
          </p:cNvPr>
          <p:cNvSpPr>
            <a:spLocks xmlns:a="http://schemas.openxmlformats.org/drawingml/2006/main" noGrp="1"/>
          </p:cNvSpPr>
          <p:nvPr/>
        </p:nvSpPr>
        <p:spPr>
          <a:xfrm xmlns:a="http://schemas.openxmlformats.org/drawingml/2006/main">
            <a:off x="685800" y="2133600"/>
            <a:ext cx="523875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0">
                <a:solidFill>
                  <a:srgbClr val="263648"/>
                </a:solidFill>
                <a:latin typeface="Arial"/>
                <a:ea typeface="Arial"/>
                <a:cs typeface="Arial"/>
              </a:defRPr>
            </a:defPPr>
            <a:lvl1pPr>
              <a:defRPr sz="2025" b="0">
                <a:solidFill>
                  <a:srgbClr val="263648"/>
                </a:solidFill>
                <a:latin typeface="Arial"/>
                <a:ea typeface="Arial"/>
                <a:cs typeface="Arial"/>
              </a:defRPr>
            </a:lvl1pPr>
            <a:lvl2pPr>
              <a:defRPr sz="2025" b="0">
                <a:solidFill>
                  <a:srgbClr val="263648"/>
                </a:solidFill>
                <a:latin typeface="Arial"/>
                <a:ea typeface="Arial"/>
                <a:cs typeface="Arial"/>
              </a:defRPr>
            </a:lvl2pPr>
            <a:lvl3pPr>
              <a:defRPr sz="2025" b="0">
                <a:solidFill>
                  <a:srgbClr val="263648"/>
                </a:solidFill>
                <a:latin typeface="Arial"/>
                <a:ea typeface="Arial"/>
                <a:cs typeface="Arial"/>
              </a:defRPr>
            </a:lvl3pPr>
            <a:lvl4pPr>
              <a:defRPr sz="2025" b="0">
                <a:solidFill>
                  <a:srgbClr val="263648"/>
                </a:solidFill>
                <a:latin typeface="Arial"/>
                <a:ea typeface="Arial"/>
                <a:cs typeface="Arial"/>
              </a:defRPr>
            </a:lvl4pPr>
            <a:lvl5pPr>
              <a:defRPr sz="2025" b="0">
                <a:solidFill>
                  <a:srgbClr val="263648"/>
                </a:solidFill>
                <a:latin typeface="Arial"/>
                <a:ea typeface="Arial"/>
                <a:cs typeface="Arial"/>
              </a:defRPr>
            </a:lvl5pPr>
            <a:lvl6pPr>
              <a:defRPr sz="2025" b="0">
                <a:solidFill>
                  <a:srgbClr val="263648"/>
                </a:solidFill>
                <a:latin typeface="Arial"/>
                <a:ea typeface="Arial"/>
                <a:cs typeface="Arial"/>
              </a:defRPr>
            </a:lvl6pPr>
            <a:lvl7pPr>
              <a:defRPr sz="2025" b="0">
                <a:solidFill>
                  <a:srgbClr val="263648"/>
                </a:solidFill>
                <a:latin typeface="Arial"/>
                <a:ea typeface="Arial"/>
                <a:cs typeface="Arial"/>
              </a:defRPr>
            </a:lvl7pPr>
            <a:lvl8pPr>
              <a:defRPr sz="2025" b="0">
                <a:solidFill>
                  <a:srgbClr val="263648"/>
                </a:solidFill>
                <a:latin typeface="Arial"/>
                <a:ea typeface="Arial"/>
                <a:cs typeface="Arial"/>
              </a:defRPr>
            </a:lvl8pPr>
            <a:lvl9pPr>
              <a:defRPr sz="2025" b="0">
                <a:solidFill>
                  <a:srgbClr val="263648"/>
                </a:solidFill>
                <a:latin typeface="Arial"/>
                <a:ea typeface="Arial"/>
                <a:cs typeface="Arial"/>
              </a:defRPr>
            </a:lvl9pPr>
          </a:lstStyle>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Real workload → executable candidate</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Measured cycles, area and timing</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Whole-workload ML evaluation</a:t>
            </a:r>
          </a:p>
          <a:p xmlns:a="http://schemas.openxmlformats.org/drawingml/2006/main">
            <a:pPr>
              <a:defRPr sz="2025" b="0">
                <a:solidFill>
                  <a:srgbClr val="263648"/>
                </a:solidFill>
                <a:latin typeface="Arial"/>
                <a:ea typeface="Arial"/>
                <a:cs typeface="Arial"/>
              </a:defRPr>
            </a:pPr>
            <a:r>
              <a:rPr sz="2025" b="0">
                <a:solidFill>
                  <a:srgbClr val="263648"/>
                </a:solidFill>
                <a:latin typeface="Arial"/>
                <a:ea typeface="Arial"/>
                <a:cs typeface="Arial"/>
              </a:rPr>
              <a:t>Explainability + bounded agent tools</a:t>
            </a:r>
          </a:p>
        </p:txBody>
      </p:sp>
      <p:sp>
        <p:nvSpPr>
          <p:cNvPr id="6" name="">
            <a:extLst xmlns:a="http://schemas.openxmlformats.org/drawingml/2006/main">
              <a:ext uri="{FF2B5EF4-FFF2-40B4-BE49-F238E27FC236}">
                <a16:creationId xmlns:a16="http://schemas.microsoft.com/office/drawing/2014/main" id="{17CF0056-1B24-4B01-8E40-3560F0620AB9}"/>
              </a:ext>
            </a:extLst>
          </p:cNvPr>
          <p:cNvSpPr>
            <a:spLocks xmlns:a="http://schemas.openxmlformats.org/drawingml/2006/main" noGrp="1"/>
          </p:cNvSpPr>
          <p:nvPr/>
        </p:nvSpPr>
        <p:spPr>
          <a:xfrm xmlns:a="http://schemas.openxmlformats.org/drawingml/2006/main">
            <a:off x="6667500" y="1495425"/>
            <a:ext cx="47625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17324D"/>
                </a:solidFill>
                <a:latin typeface="Arial"/>
                <a:ea typeface="Arial"/>
                <a:cs typeface="Arial"/>
              </a:defRPr>
            </a:defPPr>
            <a:lvl1pPr>
              <a:defRPr sz="2325" b="1">
                <a:solidFill>
                  <a:srgbClr val="17324D"/>
                </a:solidFill>
                <a:latin typeface="Arial"/>
                <a:ea typeface="Arial"/>
                <a:cs typeface="Arial"/>
              </a:defRPr>
            </a:lvl1pPr>
            <a:lvl2pPr>
              <a:defRPr sz="2325" b="1">
                <a:solidFill>
                  <a:srgbClr val="17324D"/>
                </a:solidFill>
                <a:latin typeface="Arial"/>
                <a:ea typeface="Arial"/>
                <a:cs typeface="Arial"/>
              </a:defRPr>
            </a:lvl2pPr>
            <a:lvl3pPr>
              <a:defRPr sz="2325" b="1">
                <a:solidFill>
                  <a:srgbClr val="17324D"/>
                </a:solidFill>
                <a:latin typeface="Arial"/>
                <a:ea typeface="Arial"/>
                <a:cs typeface="Arial"/>
              </a:defRPr>
            </a:lvl3pPr>
            <a:lvl4pPr>
              <a:defRPr sz="2325" b="1">
                <a:solidFill>
                  <a:srgbClr val="17324D"/>
                </a:solidFill>
                <a:latin typeface="Arial"/>
                <a:ea typeface="Arial"/>
                <a:cs typeface="Arial"/>
              </a:defRPr>
            </a:lvl4pPr>
            <a:lvl5pPr>
              <a:defRPr sz="2325" b="1">
                <a:solidFill>
                  <a:srgbClr val="17324D"/>
                </a:solidFill>
                <a:latin typeface="Arial"/>
                <a:ea typeface="Arial"/>
                <a:cs typeface="Arial"/>
              </a:defRPr>
            </a:lvl5pPr>
            <a:lvl6pPr>
              <a:defRPr sz="2325" b="1">
                <a:solidFill>
                  <a:srgbClr val="17324D"/>
                </a:solidFill>
                <a:latin typeface="Arial"/>
                <a:ea typeface="Arial"/>
                <a:cs typeface="Arial"/>
              </a:defRPr>
            </a:lvl6pPr>
            <a:lvl7pPr>
              <a:defRPr sz="2325" b="1">
                <a:solidFill>
                  <a:srgbClr val="17324D"/>
                </a:solidFill>
                <a:latin typeface="Arial"/>
                <a:ea typeface="Arial"/>
                <a:cs typeface="Arial"/>
              </a:defRPr>
            </a:lvl7pPr>
            <a:lvl8pPr>
              <a:defRPr sz="2325" b="1">
                <a:solidFill>
                  <a:srgbClr val="17324D"/>
                </a:solidFill>
                <a:latin typeface="Arial"/>
                <a:ea typeface="Arial"/>
                <a:cs typeface="Arial"/>
              </a:defRPr>
            </a:lvl8pPr>
            <a:lvl9pPr>
              <a:defRPr sz="2325" b="1">
                <a:solidFill>
                  <a:srgbClr val="17324D"/>
                </a:solidFill>
                <a:latin typeface="Arial"/>
                <a:ea typeface="Arial"/>
                <a:cs typeface="Arial"/>
              </a:defRPr>
            </a:lvl9pPr>
          </a:lstStyle>
          <a:p xmlns:a="http://schemas.openxmlformats.org/drawingml/2006/main">
            <a:pPr>
              <a:defRPr sz="2325" b="1">
                <a:solidFill>
                  <a:srgbClr val="17324D"/>
                </a:solidFill>
                <a:latin typeface="Arial"/>
                <a:ea typeface="Arial"/>
                <a:cs typeface="Arial"/>
              </a:defRPr>
            </a:pPr>
            <a:r>
              <a:rPr sz="2325" b="1">
                <a:solidFill>
                  <a:srgbClr val="17324D"/>
                </a:solidFill>
                <a:latin typeface="Arial"/>
                <a:ea typeface="Arial"/>
                <a:cs typeface="Arial"/>
              </a:rPr>
              <a:t>Next, in order</a:t>
            </a:r>
          </a:p>
        </p:txBody>
      </p:sp>
      <p:sp>
        <p:nvSpPr>
          <p:cNvPr id="7" name="">
            <a:extLst xmlns:a="http://schemas.openxmlformats.org/drawingml/2006/main">
              <a:ext uri="{FF2B5EF4-FFF2-40B4-BE49-F238E27FC236}">
                <a16:creationId xmlns:a16="http://schemas.microsoft.com/office/drawing/2014/main" id="{78E10646-F271-41CC-872B-166A7A484CD3}"/>
              </a:ext>
            </a:extLst>
          </p:cNvPr>
          <p:cNvSpPr>
            <a:spLocks xmlns:a="http://schemas.openxmlformats.org/drawingml/2006/main" noGrp="1"/>
          </p:cNvSpPr>
          <p:nvPr/>
        </p:nvSpPr>
        <p:spPr>
          <a:xfrm xmlns:a="http://schemas.openxmlformats.org/drawingml/2006/main">
            <a:off x="6667500" y="2133600"/>
            <a:ext cx="485775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75" b="0">
                <a:solidFill>
                  <a:srgbClr val="263648"/>
                </a:solidFill>
                <a:latin typeface="Arial"/>
                <a:ea typeface="Arial"/>
                <a:cs typeface="Arial"/>
              </a:defRPr>
            </a:defPPr>
            <a:lvl1pPr>
              <a:defRPr sz="1875" b="0">
                <a:solidFill>
                  <a:srgbClr val="263648"/>
                </a:solidFill>
                <a:latin typeface="Arial"/>
                <a:ea typeface="Arial"/>
                <a:cs typeface="Arial"/>
              </a:defRPr>
            </a:lvl1pPr>
            <a:lvl2pPr>
              <a:defRPr sz="1875" b="0">
                <a:solidFill>
                  <a:srgbClr val="263648"/>
                </a:solidFill>
                <a:latin typeface="Arial"/>
                <a:ea typeface="Arial"/>
                <a:cs typeface="Arial"/>
              </a:defRPr>
            </a:lvl2pPr>
            <a:lvl3pPr>
              <a:defRPr sz="1875" b="0">
                <a:solidFill>
                  <a:srgbClr val="263648"/>
                </a:solidFill>
                <a:latin typeface="Arial"/>
                <a:ea typeface="Arial"/>
                <a:cs typeface="Arial"/>
              </a:defRPr>
            </a:lvl3pPr>
            <a:lvl4pPr>
              <a:defRPr sz="1875" b="0">
                <a:solidFill>
                  <a:srgbClr val="263648"/>
                </a:solidFill>
                <a:latin typeface="Arial"/>
                <a:ea typeface="Arial"/>
                <a:cs typeface="Arial"/>
              </a:defRPr>
            </a:lvl4pPr>
            <a:lvl5pPr>
              <a:defRPr sz="1875" b="0">
                <a:solidFill>
                  <a:srgbClr val="263648"/>
                </a:solidFill>
                <a:latin typeface="Arial"/>
                <a:ea typeface="Arial"/>
                <a:cs typeface="Arial"/>
              </a:defRPr>
            </a:lvl5pPr>
            <a:lvl6pPr>
              <a:defRPr sz="1875" b="0">
                <a:solidFill>
                  <a:srgbClr val="263648"/>
                </a:solidFill>
                <a:latin typeface="Arial"/>
                <a:ea typeface="Arial"/>
                <a:cs typeface="Arial"/>
              </a:defRPr>
            </a:lvl6pPr>
            <a:lvl7pPr>
              <a:defRPr sz="1875" b="0">
                <a:solidFill>
                  <a:srgbClr val="263648"/>
                </a:solidFill>
                <a:latin typeface="Arial"/>
                <a:ea typeface="Arial"/>
                <a:cs typeface="Arial"/>
              </a:defRPr>
            </a:lvl7pPr>
            <a:lvl8pPr>
              <a:defRPr sz="1875" b="0">
                <a:solidFill>
                  <a:srgbClr val="263648"/>
                </a:solidFill>
                <a:latin typeface="Arial"/>
                <a:ea typeface="Arial"/>
                <a:cs typeface="Arial"/>
              </a:defRPr>
            </a:lvl8pPr>
            <a:lvl9pPr>
              <a:defRPr sz="1875" b="0">
                <a:solidFill>
                  <a:srgbClr val="263648"/>
                </a:solidFill>
                <a:latin typeface="Arial"/>
                <a:ea typeface="Arial"/>
                <a:cs typeface="Arial"/>
              </a:defRPr>
            </a:lvl9pPr>
          </a:lstStyle>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1  Freeze policies; test untouched workloads</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2  Compare agent vs non-agent fairly</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3  Validate uncertainty and total cost</a:t>
            </a:r>
          </a:p>
          <a:p xmlns:a="http://schemas.openxmlformats.org/drawingml/2006/main">
            <a:pPr>
              <a:defRPr sz="1875" b="0">
                <a:solidFill>
                  <a:srgbClr val="263648"/>
                </a:solidFill>
                <a:latin typeface="Arial"/>
                <a:ea typeface="Arial"/>
                <a:cs typeface="Arial"/>
              </a:defRPr>
            </a:pPr>
            <a:r>
              <a:rPr sz="1875" b="0">
                <a:solidFill>
                  <a:srgbClr val="263648"/>
                </a:solidFill>
                <a:latin typeface="Arial"/>
                <a:ea typeface="Arial"/>
                <a:cs typeface="Arial"/>
              </a:rPr>
              <a:t>4  Measure 1–3 instructions jointly</a:t>
            </a:r>
          </a:p>
        </p:txBody>
      </p:sp>
      <p:sp>
        <p:nvSpPr>
          <p:cNvPr id="8" name="">
            <a:extLst xmlns:a="http://schemas.openxmlformats.org/drawingml/2006/main">
              <a:ext uri="{FF2B5EF4-FFF2-40B4-BE49-F238E27FC236}">
                <a16:creationId xmlns:a16="http://schemas.microsoft.com/office/drawing/2014/main" id="{300F4741-105E-4B27-BDBD-4BAF2EB8BFE0}"/>
              </a:ext>
            </a:extLst>
          </p:cNvPr>
          <p:cNvSpPr>
            <a:spLocks xmlns:a="http://schemas.openxmlformats.org/drawingml/2006/main" noGrp="1"/>
          </p:cNvSpPr>
          <p:nvPr/>
        </p:nvSpPr>
        <p:spPr>
          <a:xfrm xmlns:a="http://schemas.openxmlformats.org/drawingml/2006/main">
            <a:off x="685800" y="5381625"/>
            <a:ext cx="108204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325" b="1">
                <a:solidFill>
                  <a:srgbClr val="2878A8"/>
                </a:solidFill>
                <a:latin typeface="Arial"/>
                <a:ea typeface="Arial"/>
                <a:cs typeface="Arial"/>
              </a:defRPr>
            </a:defPPr>
            <a:lvl1pPr>
              <a:defRPr sz="2325" b="1">
                <a:solidFill>
                  <a:srgbClr val="2878A8"/>
                </a:solidFill>
                <a:latin typeface="Arial"/>
                <a:ea typeface="Arial"/>
                <a:cs typeface="Arial"/>
              </a:defRPr>
            </a:lvl1pPr>
            <a:lvl2pPr>
              <a:defRPr sz="2325" b="1">
                <a:solidFill>
                  <a:srgbClr val="2878A8"/>
                </a:solidFill>
                <a:latin typeface="Arial"/>
                <a:ea typeface="Arial"/>
                <a:cs typeface="Arial"/>
              </a:defRPr>
            </a:lvl2pPr>
            <a:lvl3pPr>
              <a:defRPr sz="2325" b="1">
                <a:solidFill>
                  <a:srgbClr val="2878A8"/>
                </a:solidFill>
                <a:latin typeface="Arial"/>
                <a:ea typeface="Arial"/>
                <a:cs typeface="Arial"/>
              </a:defRPr>
            </a:lvl3pPr>
            <a:lvl4pPr>
              <a:defRPr sz="2325" b="1">
                <a:solidFill>
                  <a:srgbClr val="2878A8"/>
                </a:solidFill>
                <a:latin typeface="Arial"/>
                <a:ea typeface="Arial"/>
                <a:cs typeface="Arial"/>
              </a:defRPr>
            </a:lvl4pPr>
            <a:lvl5pPr>
              <a:defRPr sz="2325" b="1">
                <a:solidFill>
                  <a:srgbClr val="2878A8"/>
                </a:solidFill>
                <a:latin typeface="Arial"/>
                <a:ea typeface="Arial"/>
                <a:cs typeface="Arial"/>
              </a:defRPr>
            </a:lvl5pPr>
            <a:lvl6pPr>
              <a:defRPr sz="2325" b="1">
                <a:solidFill>
                  <a:srgbClr val="2878A8"/>
                </a:solidFill>
                <a:latin typeface="Arial"/>
                <a:ea typeface="Arial"/>
                <a:cs typeface="Arial"/>
              </a:defRPr>
            </a:lvl6pPr>
            <a:lvl7pPr>
              <a:defRPr sz="2325" b="1">
                <a:solidFill>
                  <a:srgbClr val="2878A8"/>
                </a:solidFill>
                <a:latin typeface="Arial"/>
                <a:ea typeface="Arial"/>
                <a:cs typeface="Arial"/>
              </a:defRPr>
            </a:lvl7pPr>
            <a:lvl8pPr>
              <a:defRPr sz="2325" b="1">
                <a:solidFill>
                  <a:srgbClr val="2878A8"/>
                </a:solidFill>
                <a:latin typeface="Arial"/>
                <a:ea typeface="Arial"/>
                <a:cs typeface="Arial"/>
              </a:defRPr>
            </a:lvl8pPr>
            <a:lvl9pPr>
              <a:defRPr sz="2325" b="1">
                <a:solidFill>
                  <a:srgbClr val="2878A8"/>
                </a:solidFill>
                <a:latin typeface="Arial"/>
                <a:ea typeface="Arial"/>
                <a:cs typeface="Arial"/>
              </a:defRPr>
            </a:lvl9pPr>
          </a:lstStyle>
          <a:p xmlns:a="http://schemas.openxmlformats.org/drawingml/2006/main">
            <a:pPr>
              <a:defRPr sz="2325" b="1">
                <a:solidFill>
                  <a:srgbClr val="2878A8"/>
                </a:solidFill>
                <a:latin typeface="Arial"/>
                <a:ea typeface="Arial"/>
                <a:cs typeface="Arial"/>
              </a:defRPr>
            </a:pPr>
            <a:r>
              <a:rPr sz="2325" b="1">
                <a:solidFill>
                  <a:srgbClr val="2878A8"/>
                </a:solidFill>
                <a:latin typeface="Arial"/>
                <a:ea typeface="Arial"/>
                <a:cs typeface="Arial"/>
              </a:rPr>
              <a:t>Success = better verified feasible performance per evaluation—not more models.</a:t>
            </a:r>
          </a:p>
        </p:txBody>
      </p:sp>
    </p:spTree>
    <p:extLst>
      <p:ext uri="{BB962C8B-B14F-4D97-AF65-F5344CB8AC3E}">
        <p14:creationId xmlns:p14="http://schemas.microsoft.com/office/powerpoint/2010/main" val="14911822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2026-10-28T06:08:39.3700000Z</dcterms:created>
  <dcterms:modified xsi:type="dcterms:W3CDTF">2026-10-28T06:08:39.3700000Z</dcterms:modified>
</coreProperties>
</file>