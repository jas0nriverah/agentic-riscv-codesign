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7d46fce1f9b4f35" /><Relationship Type="http://schemas.openxmlformats.org/officeDocument/2006/relationships/extended-properties" Target="/docProps/app.xml" Id="R1dac31705f7e4a10" /><Relationship Type="http://schemas.openxmlformats.org/officeDocument/2006/relationships/officeDocument" Target="/ppt/presentation.xml" Id="Ra4331964c8f54119" /></Relationships>
</file>

<file path=ppt/presentation.xml><?xml version="1.0" encoding="utf-8"?>
<p:presentation xmlns:p="http://schemas.openxmlformats.org/presentationml/2006/main">
  <p:sldMasterIdLst>
    <p:sldMasterId xmlns:r="http://schemas.openxmlformats.org/officeDocument/2006/relationships" id="2147483648" r:id="R0623956cba924f6a"/>
  </p:sldMasterIdLst>
  <p:notesMasterIdLst>
    <p:notesMasterId xmlns:r="http://schemas.openxmlformats.org/officeDocument/2006/relationships" r:id="R478eb663ac444115"/>
  </p:notesMasterIdLst>
  <p:sldIdLst>
    <p:sldId xmlns:r="http://schemas.openxmlformats.org/officeDocument/2006/relationships" id="256" r:id="R18c80ad563cc4e9d"/>
    <p:sldId xmlns:r="http://schemas.openxmlformats.org/officeDocument/2006/relationships" id="257" r:id="Rd47b3ce9ce9b4183"/>
    <p:sldId xmlns:r="http://schemas.openxmlformats.org/officeDocument/2006/relationships" id="258" r:id="R55aed49ad1f14496"/>
    <p:sldId xmlns:r="http://schemas.openxmlformats.org/officeDocument/2006/relationships" id="259" r:id="R715b2bdfcdb8421d"/>
    <p:sldId xmlns:r="http://schemas.openxmlformats.org/officeDocument/2006/relationships" id="260" r:id="R0836f81688c14d9e"/>
    <p:sldId xmlns:r="http://schemas.openxmlformats.org/officeDocument/2006/relationships" id="261" r:id="R7f2b1b0af4254625"/>
    <p:sldId xmlns:r="http://schemas.openxmlformats.org/officeDocument/2006/relationships" id="262" r:id="Red77a0d0b6714133"/>
    <p:sldId xmlns:r="http://schemas.openxmlformats.org/officeDocument/2006/relationships" id="263" r:id="R8cf89c8779b14c04"/>
    <p:sldId xmlns:r="http://schemas.openxmlformats.org/officeDocument/2006/relationships" id="264" r:id="R13c4a78f60014a4a"/>
    <p:sldId xmlns:r="http://schemas.openxmlformats.org/officeDocument/2006/relationships" id="265" r:id="R9f44b38896434a42"/>
    <p:sldId xmlns:r="http://schemas.openxmlformats.org/officeDocument/2006/relationships" id="266" r:id="R74f8aefdcc85453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6430472d5f4ab5" /><Relationship Type="http://schemas.openxmlformats.org/officeDocument/2006/relationships/slideMaster" Target="/ppt/slideMasters/slideMaster1.xml" Id="R0623956cba924f6a" /><Relationship Type="http://schemas.openxmlformats.org/officeDocument/2006/relationships/notesMaster" Target="/ppt/notesMasters/notesMaster1.xml" Id="R478eb663ac444115" /><Relationship Type="http://schemas.openxmlformats.org/officeDocument/2006/relationships/presProps" Target="/ppt/presProps.xml" Id="Rea7713a0176048f6" /><Relationship Type="http://schemas.openxmlformats.org/officeDocument/2006/relationships/tableStyles" Target="/ppt/tableStyles.xml" Id="Rcc1609d117d14166" /><Relationship Type="http://schemas.openxmlformats.org/officeDocument/2006/relationships/slide" Target="/ppt/slides/slide1.xml" Id="R18c80ad563cc4e9d" /><Relationship Type="http://schemas.openxmlformats.org/officeDocument/2006/relationships/slide" Target="/ppt/slides/slide2.xml" Id="Rd47b3ce9ce9b4183" /><Relationship Type="http://schemas.openxmlformats.org/officeDocument/2006/relationships/slide" Target="/ppt/slides/slide3.xml" Id="R55aed49ad1f14496" /><Relationship Type="http://schemas.openxmlformats.org/officeDocument/2006/relationships/slide" Target="/ppt/slides/slide4.xml" Id="R715b2bdfcdb8421d" /><Relationship Type="http://schemas.openxmlformats.org/officeDocument/2006/relationships/slide" Target="/ppt/slides/slide5.xml" Id="R0836f81688c14d9e" /><Relationship Type="http://schemas.openxmlformats.org/officeDocument/2006/relationships/slide" Target="/ppt/slides/slide6.xml" Id="R7f2b1b0af4254625" /><Relationship Type="http://schemas.openxmlformats.org/officeDocument/2006/relationships/slide" Target="/ppt/slides/slide7.xml" Id="Red77a0d0b6714133" /><Relationship Type="http://schemas.openxmlformats.org/officeDocument/2006/relationships/slide" Target="/ppt/slides/slide8.xml" Id="R8cf89c8779b14c04" /><Relationship Type="http://schemas.openxmlformats.org/officeDocument/2006/relationships/slide" Target="/ppt/slides/slide9.xml" Id="R13c4a78f60014a4a" /><Relationship Type="http://schemas.openxmlformats.org/officeDocument/2006/relationships/slide" Target="/ppt/slides/slide10.xml" Id="R9f44b38896434a42" /><Relationship Type="http://schemas.openxmlformats.org/officeDocument/2006/relationships/slide" Target="/ppt/slides/slide11.xml" Id="R74f8aefdcc85453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5ff531b0d24c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2343669e8c46de" /><Relationship Type="http://schemas.openxmlformats.org/officeDocument/2006/relationships/notesMaster" Target="/ppt/notesMasters/notesMaster1.xml" Id="Rf0ce37bee645418d"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546be81110450a" /><Relationship Type="http://schemas.openxmlformats.org/officeDocument/2006/relationships/notesMaster" Target="/ppt/notesMasters/notesMaster1.xml" Id="R8c7944421edc4ea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3008160c8fc475c" /><Relationship Type="http://schemas.openxmlformats.org/officeDocument/2006/relationships/notesMaster" Target="/ppt/notesMasters/notesMaster1.xml" Id="R16c1ce8fe33c40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dba556f85e4951" /><Relationship Type="http://schemas.openxmlformats.org/officeDocument/2006/relationships/notesMaster" Target="/ppt/notesMasters/notesMaster1.xml" Id="Rc843be5a417542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6e6edbd1724168" /><Relationship Type="http://schemas.openxmlformats.org/officeDocument/2006/relationships/notesMaster" Target="/ppt/notesMasters/notesMaster1.xml" Id="R389364ccf8404c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a683d511ce4d98" /><Relationship Type="http://schemas.openxmlformats.org/officeDocument/2006/relationships/notesMaster" Target="/ppt/notesMasters/notesMaster1.xml" Id="R1f28677f239e42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956b6779254e94" /><Relationship Type="http://schemas.openxmlformats.org/officeDocument/2006/relationships/notesMaster" Target="/ppt/notesMasters/notesMaster1.xml" Id="Rda79546bd4f346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c8c1230a244c20" /><Relationship Type="http://schemas.openxmlformats.org/officeDocument/2006/relationships/notesMaster" Target="/ppt/notesMasters/notesMaster1.xml" Id="R537d15e810fd4a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885a75df0b344748" /><Relationship Type="http://schemas.openxmlformats.org/officeDocument/2006/relationships/notesMaster" Target="/ppt/notesMasters/notesMaster1.xml" Id="R089ab186117b492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2c549be42f41d1" /><Relationship Type="http://schemas.openxmlformats.org/officeDocument/2006/relationships/notesMaster" Target="/ppt/notesMasters/notesMaster1.xml" Id="R52329a5c41c84d7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74c61963d24fa6" /><Relationship Type="http://schemas.openxmlformats.org/officeDocument/2006/relationships/notesMaster" Target="/ppt/notesMasters/notesMaster1.xml" Id="R81911ef37ef1401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dataset used eight Embench programs and 301 synthesized isolated circuits to train a LUT-cost model. That is separate from the current whole-program dataset of 122 measured candidate-program results across fourteen workload groups, plus four charged failures. The chart shows the three suites in that current corpus.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dataset: results/2026-10-13/README.md: 339 candidate examples, 301 distinct synthesized formulas from eight Embench programs; isolated LUT4 labels, not processor cycles; grouped held-out XGBoost MAE 33.08 versus 77.32 LUT4 mean baseline.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main challenger is XGBoost pairwise ranking, not a neural network. Thirty-five premeasurement features describe each candidate. We use measured speedup to order pairs within a workload, then fit eighty shallow trees. The output is a relative ranking, not a speedup or confidence probability. We tried eight learned policies in the final screen and five controls. Separate experiments tested Gaussian-process active learning. We assess selection quality, not just prediction error.</a:t>
            </a:r>
          </a:p>
          <a:p xmlns:a="http://schemas.openxmlformats.org/drawingml/2006/main">
            <a:r>
              <a:t/>
            </a:r>
          </a:p>
          <a:p xmlns:a="http://schemas.openxmlformats.org/drawingml/2006/main">
            <a:r>
              <a:t>SOURCES / Q&amp;A (not part of timed script)</a:t>
            </a:r>
          </a:p>
          <a:p xmlns:a="http://schemas.openxmlformats.org/drawingml/2006/main">
            <a:r>
              <a:t>isaforge/ranking.py: XGBRanker rank:pairwise;80 estimators,max_depth2,learning_rate0.05,min_child_weight1,reg_lambda1,subsample1,colsample_bytree1,hist,n_jobs1. isaforge/features.py:35 features. Relevance preserves ties within context. Measured target outcomes excluded from input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Tree contributions show what drives the ranking: estimated instruction savings alone accounts for about forty-seven percent of normalized attribution. This describes the model’s behavior; it is not a causal explanation. A useful failure case is bitcount’s top-ranked candidate: it passes correctness and speeds up execution, but adds sixty-five LUT4 cells, exceeding the cap by one. Uncertainty should help us choose what to measure next. Ensemble disagreement and Gaussian-process estimates are available, but they are not yet calibrated confidence, and the ranker itself does not provide a confidence interval.</a:t>
            </a:r>
          </a:p>
          <a:p xmlns:a="http://schemas.openxmlformats.org/drawingml/2006/main">
            <a:r>
              <a:t/>
            </a:r>
          </a:p>
          <a:p xmlns:a="http://schemas.openxmlformats.org/drawingml/2006/main">
            <a:r>
              <a:t>SOURCES / Q&amp;A (not part of timed script)</a:t>
            </a:r>
          </a:p>
          <a:p xmlns:a="http://schemas.openxmlformats.org/drawingml/2006/main">
            <a:r>
              <a:t>results/2026-10-27-ranker-explainability/explanation.json; global_feature_contributions.csv. Normalized absolute additive tree contributions macro-averaged over14 held-out workloads; profile opportunity features account for66.39%. Local add(in0,andi(in1,15)) rank1/12;1.008782x,+65LUT4,61.82MHz. Uncertainty calibration remains unproved.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The LLM selector uses controlled tools to inspect candidates, query predictions, request a bounded measurement, and return a validated selection. Paid outcomes feed its next decision, and failed requests consume budget. This is an actual agentic loop, separate from the coding assistants used for implementation, debugging, and analysis. The Ascon pilot measured three correct candidates; the best feasible one achieved about 1.024 times cycle speedup. But nine candidates remain unmeasured and there are no matched controls. A status-handling bug prevented live GP updates; the fix was verified afterward. We also have not implemented dynamic routing between language models.</a:t>
            </a:r>
          </a:p>
          <a:p xmlns:a="http://schemas.openxmlformats.org/drawingml/2006/main">
            <a:r>
              <a:t/>
            </a:r>
          </a:p>
          <a:p xmlns:a="http://schemas.openxmlformats.org/drawingml/2006/main">
            <a:r>
              <a:t>SOURCES / Q&amp;A (not part of timed script)</a:t>
            </a:r>
          </a:p>
          <a:p xmlns:a="http://schemas.openxmlformats.org/drawingml/2006/main">
            <a:r>
              <a:t>Agent protocol and logs: results/2026-10-27-codex-chat-agent-edn-b64-s0/; Ascon results and docs/HANDOFF.md. EDN consumed replay:2 charged attempts including1 invalid ID, matched oracle and ordinary policies. Ascon C01:1.019698x,+73LUT4,62.992MHz; C06:1.017027x,+41LUT4,67.069MHz; C02:1.023731x,+42LUT4,64.620MHz.3/12 measured; correctness passed for all3. No claim of agent superiority or successful live GP refitting.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The Ascon pilot proves the selection-to-measurement connection, but its incomplete pool and missing controls prevent an agent-performance claim.</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022dcdc0b943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bfc8b62a4347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fc17c42dd6f4f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819e065fb47459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5bc3795ed624fd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5e8d2e151c4ca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A7E7869-FB95-4337-8546-8707339279D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D5BF009-84C8-4DEC-97A3-50D4AB17016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5C8598C-FAAD-4C8E-9310-256ACD6AAD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9DF5A9-54D7-4A3B-9A55-15D420065F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160F0B8-2161-4057-85BC-C937818E668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045B9A8-5734-4D86-B2D9-D7761ECA41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77D2F0D-684E-4D09-95CB-8833D57538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85AF445-C131-48F0-84C3-F8A5807E962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6E28C4-DE41-47C5-AD13-C17F7AAFB3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716925A-8C92-467B-AF92-33C2426336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de9b7e551e4d9d" /><Relationship Type="http://schemas.openxmlformats.org/officeDocument/2006/relationships/slideLayout" Target="/ppt/slideLayouts/slideLayout1.xml" Id="Rebeeaeaf1dd04382" /><Relationship Type="http://schemas.openxmlformats.org/officeDocument/2006/relationships/slideLayout" Target="/ppt/slideLayouts/slideLayout2.xml" Id="R08c7c02e24af4c7c" /><Relationship Type="http://schemas.openxmlformats.org/officeDocument/2006/relationships/slideLayout" Target="/ppt/slideLayouts/slideLayout3.xml" Id="R455dfc98caf849f3" /><Relationship Type="http://schemas.openxmlformats.org/officeDocument/2006/relationships/slideLayout" Target="/ppt/slideLayouts/slideLayout4.xml" Id="Ra4470d83d5fc49f3" /><Relationship Type="http://schemas.openxmlformats.org/officeDocument/2006/relationships/slideLayout" Target="/ppt/slideLayouts/slideLayout5.xml" Id="Rc967ae79e226438c" /><Relationship Type="http://schemas.openxmlformats.org/officeDocument/2006/relationships/slideLayout" Target="/ppt/slideLayouts/slideLayout6.xml" Id="R6e912c3354604b0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eeaeaf1dd04382"/>
    <p:sldLayoutId xmlns:r="http://schemas.openxmlformats.org/officeDocument/2006/relationships" id="2147483650" r:id="R08c7c02e24af4c7c"/>
    <p:sldLayoutId xmlns:r="http://schemas.openxmlformats.org/officeDocument/2006/relationships" id="2147483651" r:id="R455dfc98caf849f3"/>
    <p:sldLayoutId xmlns:r="http://schemas.openxmlformats.org/officeDocument/2006/relationships" id="2147483652" r:id="Ra4470d83d5fc49f3"/>
    <p:sldLayoutId xmlns:r="http://schemas.openxmlformats.org/officeDocument/2006/relationships" id="2147483653" r:id="Rc967ae79e226438c"/>
    <p:sldLayoutId xmlns:r="http://schemas.openxmlformats.org/officeDocument/2006/relationships" id="2147483654" r:id="R6e912c3354604b0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df6fd72a68b434c" /><Relationship Type="http://schemas.openxmlformats.org/officeDocument/2006/relationships/notesSlide" Target="/ppt/notesSlides/notesSlide1.xml" Id="R7b6fbcab2f9e4f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97503bd1b7446c1" /><Relationship Type="http://schemas.openxmlformats.org/officeDocument/2006/relationships/notesSlide" Target="/ppt/notesSlides/notesSlide2.xml" Id="R73eb77c2361746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d45ed7a8c2b42b2" /><Relationship Type="http://schemas.openxmlformats.org/officeDocument/2006/relationships/notesSlide" Target="/ppt/notesSlides/notesSlide3.xml" Id="R0fbb89f2d9a4471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b4f0d2d2128408d" /><Relationship Type="http://schemas.openxmlformats.org/officeDocument/2006/relationships/notesSlide" Target="/ppt/notesSlides/notesSlide4.xml" Id="R197725f4637c42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d9d403d029c4db2" /><Relationship Type="http://schemas.openxmlformats.org/officeDocument/2006/relationships/chart" Target="/ppt/slides/charts/chart1.xml" Id="R39c2380e42e94e7f" /><Relationship Type="http://schemas.openxmlformats.org/officeDocument/2006/relationships/notesSlide" Target="/ppt/notesSlides/notesSlide5.xml" Id="Re763316d107240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84024b581aa44a1" /><Relationship Type="http://schemas.openxmlformats.org/officeDocument/2006/relationships/notesSlide" Target="/ppt/notesSlides/notesSlide6.xml" Id="R15eec77528ea4b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d1d270489444488" /><Relationship Type="http://schemas.openxmlformats.org/officeDocument/2006/relationships/chart" Target="/ppt/slides/charts/chart2.xml" Id="R8bbaf23ee2ab44d8" /><Relationship Type="http://schemas.openxmlformats.org/officeDocument/2006/relationships/notesSlide" Target="/ppt/notesSlides/notesSlide7.xml" Id="R755b00780ac7453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270ec7eb2f0431b" /><Relationship Type="http://schemas.openxmlformats.org/officeDocument/2006/relationships/notesSlide" Target="/ppt/notesSlides/notesSlide8.xml" Id="Re467f3fa1e4841b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920fa8666264aad" /><Relationship Type="http://schemas.openxmlformats.org/officeDocument/2006/relationships/notesSlide" Target="/ppt/notesSlides/notesSlide9.xml" Id="R772a74daf6144f3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4fbca0719044baf" /><Relationship Type="http://schemas.openxmlformats.org/officeDocument/2006/relationships/chart" Target="/ppt/slides/charts/chart3.xml" Id="Rd718d523413242cd" /><Relationship Type="http://schemas.openxmlformats.org/officeDocument/2006/relationships/notesSlide" Target="/ppt/notesSlides/notesSlide10.xml" Id="Rd1340125f4f5474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80143b7a2084140" /><Relationship Type="http://schemas.openxmlformats.org/officeDocument/2006/relationships/notesSlide" Target="/ppt/notesSlides/notesSlide11.xml" Id="Redef1bcd674548f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DE2131-48A5-4E47-B050-97CD3EC1490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51739359-DE02-4D74-B803-100B8C2820A7}"/>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0ABEC04D-DAB8-430E-A6AD-BDBBE75057B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71A35658-B7B1-450B-B8F5-3D138D807265}"/>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59C98795-4483-43A8-B07B-CEDCC0CD2D2B}"/>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A76882A7-0856-4069-9716-CCC7FDDA99C8}"/>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3CC734E7-4672-4968-889B-08A25F7BB9C6}"/>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16757803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777DFFD-B63C-4E45-A272-49123FD8B41B}"/>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01C31A0B-D5D6-4D49-A7C9-E9152C6D6E73}"/>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B1EF5656-A7AD-4B43-9ECC-027B3543A45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FCC6D045-0CD3-44A5-933D-8BC28645FB1F}"/>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64B9D309-56DF-47E9-ADFE-F3866A282927}"/>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46FC94BF-D1F4-4DEA-9827-ED58837EBD04}"/>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25B7B12C-723D-49A9-9CEB-D450D1AF429B}"/>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53060440-9B6C-4840-9FBB-CB982E51EF30}"/>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075FC094-FB8B-4A4F-AECB-E01D0C1AC510}"/>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1A7D89E3-57F6-4267-AA5F-D3219628A0A7}"/>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F00F49B4-C877-422D-8F40-1868F192FF93}"/>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7AC3B62D-A5C9-4DCC-AD6E-12FFDE922919}"/>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3B4D0DE5-3E0C-4BD0-AAE7-F3136B41F785}"/>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FB6F202F-31FB-4739-A76D-A831F08301C6}"/>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ED732178-BE91-47F0-BBBB-0CC206FB82B6}"/>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4B25404B-8394-4B79-B5F5-28A2B16DE6AD}"/>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83024BD9-96C9-4324-A7F2-95417FE340DC}"/>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8D467B52-50F3-46EB-A1BD-0E408FB31629}"/>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31D3B1C6-E12F-432A-B56B-812D54070A6C}"/>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183025458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152C74A-171E-466F-A272-A22D37B092A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6492210F-4D37-4BED-9C13-8C10E055624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0407901C-F576-4302-98C5-10FA6CB306B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E83798EC-A922-481A-8507-F81FA2D997AC}"/>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E91AD153-4BC7-4B63-9116-EA673932740A}"/>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A26A4BA3-320D-4262-828C-65DCC32CB0EC}"/>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90A01F2-D42B-4C08-B0B7-64B6C6FB20DB}"/>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F82CCD71-A779-4F7D-96B8-BB8E58772BC4}"/>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6C2106CA-1D57-48D9-B66B-6D1AEF3CFF15}"/>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384057-8533-4AB5-A7AE-D18AE542F772}"/>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5DE8CEB0-B3F9-40D1-BD18-7417F55F408C}"/>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419DE4D4-2C84-40D8-AA05-EFF483F7D5EB}"/>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F83EFD4-B573-42C5-A0BD-D43C0D8A55E8}"/>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9961CF59-17D9-4C1D-BEB3-C5FE6DBBA8BE}"/>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99860F05-B71C-4532-B2B1-3E1054F8224C}"/>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3D7A684-43B2-4A53-A6AE-6BA752CEA371}"/>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2DDD3040-8059-412C-8017-C7D2E22BA56C}"/>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8AD9AA35-5E1C-474C-9C38-75EB70A3FB85}"/>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20583920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FB38A30-A65A-4A52-B648-2E7D1D19EA53}"/>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AB2FEB17-B50C-422E-89BB-7929D12A43F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37C5734D-1D98-46D6-B742-54D17C5E02E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C4216A7C-ECC8-49D9-93B7-1D1CEE6AC785}"/>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9D9D245C-4302-46D6-823D-20C37E15940A}"/>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76F960F7-778D-40ED-BD77-D0C81A0EC0B6}"/>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5DF8110E-B894-4202-82F5-17E68BCBE136}"/>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61D709A-D70B-43AA-BF1F-4DA01359998E}"/>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E2B18B3F-BF0D-438B-8310-EE7A90195696}"/>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5187E50D-D4D2-4576-A10D-93819F94E31E}"/>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BC41EF9B-251B-4EB0-8581-3C4072F78FEC}"/>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B9E9794-7A40-4407-825F-6DE8C57AE025}"/>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D31AA480-756D-4645-A248-1F65B1D51261}"/>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1442FF51-428E-4E0D-96F4-761558363701}"/>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E95847C6-66D0-4630-B91F-5B1D9E0AA259}"/>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1162B7A-2E20-458B-B4AD-9D7BF49F9298}"/>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903AE87D-B5A3-4385-91AB-6D7E85EF79EA}"/>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B4ACE975-F234-4FFC-B52E-BFAAC6FADB8D}"/>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035A4682-1203-42E9-A725-D0B3B26EB8FD}"/>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F39FB035-F41D-48D8-8FD5-25F016B8C33E}"/>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D6E8728A-450D-4A80-A745-12E1C4BF0CBA}"/>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44893E58-FDF6-417E-B7B8-585E7E136202}"/>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49334D1E-E545-4516-AA7F-88E7E1F35DDF}"/>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9C005B56-3A1C-4943-973D-D8D30FEBA9A0}"/>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5B283125-5E9A-40B3-8BF1-55970EAFC7C4}"/>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163417623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428BCC3-0F3F-4199-8299-45A886B568E0}"/>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0E3B9989-E2B4-44BC-A532-5B2A3C4E6C1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03794836-F9D3-4ACF-A1CB-6D22B3F8094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1A41D405-3AF5-4603-AD37-36FDCE8110EF}"/>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39c2380e42e94e7f"/>
          </a:graphicData>
        </a:graphic>
      </p:graphicFrame>
      <p:sp>
        <p:nvSpPr>
          <p:cNvPr id="5" name="">
            <a:extLst xmlns:a="http://schemas.openxmlformats.org/drawingml/2006/main">
              <a:ext uri="{FF2B5EF4-FFF2-40B4-BE49-F238E27FC236}">
                <a16:creationId xmlns:a16="http://schemas.microsoft.com/office/drawing/2014/main" id="{A0AC2698-3FFD-4271-A377-A3AF31E263A0}"/>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1B43EF2D-DD81-4CF6-A40F-799E1943030D}"/>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FA6AC5E3-8712-43B0-A46D-369838F9AC9C}"/>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67753CBE-D314-4336-AADB-E2337215C504}"/>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301 circuits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D15FFFCF-CE42-4646-81B6-D31519C5B349}"/>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11319781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1D3DC8A-95DA-4897-A423-E7842A96DE9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ML model: shallow boosted-tree ranking</a:t>
            </a:r>
          </a:p>
        </p:txBody>
      </p:sp>
      <p:sp>
        <p:nvSpPr>
          <p:cNvPr id="2" name="">
            <a:extLst xmlns:a="http://schemas.openxmlformats.org/drawingml/2006/main">
              <a:ext uri="{FF2B5EF4-FFF2-40B4-BE49-F238E27FC236}">
                <a16:creationId xmlns:a16="http://schemas.microsoft.com/office/drawing/2014/main" id="{9763D6C4-0869-47D2-A77D-5159BE798F6F}"/>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0385A132-1C4A-4B38-A10F-128B359F5A5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042074EB-817D-4D17-BAAA-16189DEFEBC3}"/>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5A08C834-DE20-4278-8416-781D303E481C}"/>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35 input features</a:t>
            </a:r>
          </a:p>
        </p:txBody>
      </p:sp>
      <p:sp>
        <p:nvSpPr>
          <p:cNvPr id="6" name="">
            <a:extLst xmlns:a="http://schemas.openxmlformats.org/drawingml/2006/main">
              <a:ext uri="{FF2B5EF4-FFF2-40B4-BE49-F238E27FC236}">
                <a16:creationId xmlns:a16="http://schemas.microsoft.com/office/drawing/2014/main" id="{76CE54D2-B06F-445E-85F1-DA62504B8FF4}"/>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Profile opportunity</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Structure + operations</a:t>
            </a:r>
          </a:p>
        </p:txBody>
      </p:sp>
      <p:sp>
        <p:nvSpPr>
          <p:cNvPr id="7" name="">
            <a:extLst xmlns:a="http://schemas.openxmlformats.org/drawingml/2006/main">
              <a:ext uri="{FF2B5EF4-FFF2-40B4-BE49-F238E27FC236}">
                <a16:creationId xmlns:a16="http://schemas.microsoft.com/office/drawing/2014/main" id="{8EB7F449-577E-4190-8B59-986BD62B5285}"/>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A9861A9-2DFE-42CD-9A65-CFC9249B9F52}"/>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27444114-7D18-4EAE-882F-5CE3F4581764}"/>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80 shallow trees</a:t>
            </a:r>
          </a:p>
        </p:txBody>
      </p:sp>
      <p:sp>
        <p:nvSpPr>
          <p:cNvPr id="10" name="">
            <a:extLst xmlns:a="http://schemas.openxmlformats.org/drawingml/2006/main">
              <a:ext uri="{FF2B5EF4-FFF2-40B4-BE49-F238E27FC236}">
                <a16:creationId xmlns:a16="http://schemas.microsoft.com/office/drawing/2014/main" id="{8E4D76FC-F165-4E6B-B0CD-F9F2B31D23E5}"/>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Depth 2</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Learning rate 0.05</a:t>
            </a:r>
          </a:p>
        </p:txBody>
      </p:sp>
      <p:sp>
        <p:nvSpPr>
          <p:cNvPr id="11" name="">
            <a:extLst xmlns:a="http://schemas.openxmlformats.org/drawingml/2006/main">
              <a:ext uri="{FF2B5EF4-FFF2-40B4-BE49-F238E27FC236}">
                <a16:creationId xmlns:a16="http://schemas.microsoft.com/office/drawing/2014/main" id="{9A1ACE3E-7FA8-44F7-B1D9-6FCC995A8AED}"/>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F6B0D5-DACE-4B87-A911-129F84A9C7A1}"/>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819A3C7C-ACD6-4D3F-ADBF-333463B63573}"/>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Ranking score</a:t>
            </a:r>
          </a:p>
        </p:txBody>
      </p:sp>
      <p:sp>
        <p:nvSpPr>
          <p:cNvPr id="14" name="">
            <a:extLst xmlns:a="http://schemas.openxmlformats.org/drawingml/2006/main">
              <a:ext uri="{FF2B5EF4-FFF2-40B4-BE49-F238E27FC236}">
                <a16:creationId xmlns:a16="http://schemas.microsoft.com/office/drawing/2014/main" id="{05261CFD-56E0-49F1-B9FC-D9C34C67AC06}"/>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Relative ordering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Not a probability</a:t>
            </a:r>
          </a:p>
        </p:txBody>
      </p:sp>
      <p:sp>
        <p:nvSpPr>
          <p:cNvPr id="15" name="">
            <a:extLst xmlns:a="http://schemas.openxmlformats.org/drawingml/2006/main">
              <a:ext uri="{FF2B5EF4-FFF2-40B4-BE49-F238E27FC236}">
                <a16:creationId xmlns:a16="http://schemas.microsoft.com/office/drawing/2014/main" id="{3F293E27-3B30-465B-A85E-3B4BBE0501B4}"/>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47DFA25-F541-469A-846C-63A24D39E422}"/>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476AE2B9-38D5-4DF4-87A5-6EF2DBF75FDC}"/>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Choose queries</a:t>
            </a:r>
          </a:p>
        </p:txBody>
      </p:sp>
      <p:sp>
        <p:nvSpPr>
          <p:cNvPr id="18" name="">
            <a:extLst xmlns:a="http://schemas.openxmlformats.org/drawingml/2006/main">
              <a:ext uri="{FF2B5EF4-FFF2-40B4-BE49-F238E27FC236}">
                <a16:creationId xmlns:a16="http://schemas.microsoft.com/office/drawing/2014/main" id="{CFC8E463-C2D5-4EDD-9D92-1E5C5ECDF4D1}"/>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promising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first</a:t>
            </a:r>
          </a:p>
        </p:txBody>
      </p:sp>
      <p:sp>
        <p:nvSpPr>
          <p:cNvPr id="19" name="">
            <a:extLst xmlns:a="http://schemas.openxmlformats.org/drawingml/2006/main">
              <a:ext uri="{FF2B5EF4-FFF2-40B4-BE49-F238E27FC236}">
                <a16:creationId xmlns:a16="http://schemas.microsoft.com/office/drawing/2014/main" id="{5779660B-893D-45F5-97FB-9FE1DA6BD4A4}"/>
              </a:ext>
            </a:extLst>
          </p:cNvPr>
          <p:cNvSpPr>
            <a:spLocks xmlns:a="http://schemas.openxmlformats.org/drawingml/2006/main" noGrp="1"/>
          </p:cNvSpPr>
          <p:nvPr/>
        </p:nvSpPr>
        <p:spPr>
          <a:xfrm xmlns:a="http://schemas.openxmlformats.org/drawingml/2006/main">
            <a:off x="685800" y="384810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Training signal: measured speedup(A) &gt; measured speedup(B)</a:t>
            </a:r>
          </a:p>
        </p:txBody>
      </p:sp>
      <p:sp>
        <p:nvSpPr>
          <p:cNvPr id="20" name="">
            <a:extLst xmlns:a="http://schemas.openxmlformats.org/drawingml/2006/main">
              <a:ext uri="{FF2B5EF4-FFF2-40B4-BE49-F238E27FC236}">
                <a16:creationId xmlns:a16="http://schemas.microsoft.com/office/drawing/2014/main" id="{2374FBDA-D2A9-45EF-830D-C85F0A748647}"/>
              </a:ext>
            </a:extLst>
          </p:cNvPr>
          <p:cNvSpPr>
            <a:spLocks xmlns:a="http://schemas.openxmlformats.org/drawingml/2006/main" noGrp="1"/>
          </p:cNvSpPr>
          <p:nvPr/>
        </p:nvSpPr>
        <p:spPr>
          <a:xfrm xmlns:a="http://schemas.openxmlformats.org/drawingml/2006/main">
            <a:off x="685800" y="44481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Pairwise objective → encourage score(A) &gt; score(B)</a:t>
            </a:r>
          </a:p>
        </p:txBody>
      </p:sp>
      <p:sp>
        <p:nvSpPr>
          <p:cNvPr id="21" name="">
            <a:extLst xmlns:a="http://schemas.openxmlformats.org/drawingml/2006/main">
              <a:ext uri="{FF2B5EF4-FFF2-40B4-BE49-F238E27FC236}">
                <a16:creationId xmlns:a16="http://schemas.microsoft.com/office/drawing/2014/main" id="{69184C6B-7665-4EF1-8D60-4883BD0600AE}"/>
              </a:ext>
            </a:extLst>
          </p:cNvPr>
          <p:cNvSpPr>
            <a:spLocks xmlns:a="http://schemas.openxmlformats.org/drawingml/2006/main" noGrp="1"/>
          </p:cNvSpPr>
          <p:nvPr/>
        </p:nvSpPr>
        <p:spPr>
          <a:xfrm xmlns:a="http://schemas.openxmlformats.org/drawingml/2006/main">
            <a:off x="685800" y="54387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13 policies tested • 8 learned • 2,925 retrospective replays</a:t>
            </a:r>
          </a:p>
        </p:txBody>
      </p:sp>
    </p:spTree>
    <p:extLst>
      <p:ext uri="{BB962C8B-B14F-4D97-AF65-F5344CB8AC3E}">
        <p14:creationId xmlns:p14="http://schemas.microsoft.com/office/powerpoint/2010/main" val="3593378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FDB08E-BD0D-4074-A28F-1D37F886DE4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Explainability and uncertainty</a:t>
            </a:r>
          </a:p>
        </p:txBody>
      </p:sp>
      <p:sp>
        <p:nvSpPr>
          <p:cNvPr id="2" name="">
            <a:extLst xmlns:a="http://schemas.openxmlformats.org/drawingml/2006/main">
              <a:ext uri="{FF2B5EF4-FFF2-40B4-BE49-F238E27FC236}">
                <a16:creationId xmlns:a16="http://schemas.microsoft.com/office/drawing/2014/main" id="{CC9B74CB-A249-40BD-92BE-B234267F268A}"/>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78C9AC53-088E-40C8-86F4-84A37DB5709E}"/>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02324DD7-68AC-499D-A28A-7D7D78E2BC9C}"/>
              </a:ext>
            </a:extLst>
          </p:cNvPr>
          <p:cNvGraphicFramePr/>
          <p:nvPr/>
        </p:nvGraphicFramePr>
        <p:xfrm>
          <a:off xmlns:a="http://schemas.openxmlformats.org/drawingml/2006/main" x="476250" y="1571625"/>
          <a:ext xmlns:a="http://schemas.openxmlformats.org/drawingml/2006/main" cx="6667500" cy="3619500"/>
        </p:xfrm>
        <a:graphic xmlns:a="http://schemas.openxmlformats.org/drawingml/2006/main">
          <a:graphicData uri="http://schemas.openxmlformats.org/drawingml/2006/chart">
            <c:chart xmlns:r="http://schemas.openxmlformats.org/officeDocument/2006/relationships" xmlns:c="http://schemas.openxmlformats.org/drawingml/2006/chart" r:id="R8bbaf23ee2ab44d8"/>
          </a:graphicData>
        </a:graphic>
      </p:graphicFrame>
      <p:sp>
        <p:nvSpPr>
          <p:cNvPr id="5" name="">
            <a:extLst xmlns:a="http://schemas.openxmlformats.org/drawingml/2006/main">
              <a:ext uri="{FF2B5EF4-FFF2-40B4-BE49-F238E27FC236}">
                <a16:creationId xmlns:a16="http://schemas.microsoft.com/office/drawing/2014/main" id="{CE5BF85E-A7A1-44D7-9D07-204A15D50158}"/>
              </a:ext>
            </a:extLst>
          </p:cNvPr>
          <p:cNvSpPr>
            <a:spLocks xmlns:a="http://schemas.openxmlformats.org/drawingml/2006/main" noGrp="1"/>
          </p:cNvSpPr>
          <p:nvPr/>
        </p:nvSpPr>
        <p:spPr>
          <a:xfrm xmlns:a="http://schemas.openxmlformats.org/drawingml/2006/main">
            <a:off x="7524750" y="1676400"/>
            <a:ext cx="3905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 high rank can still fail</a:t>
            </a:r>
          </a:p>
        </p:txBody>
      </p:sp>
      <p:sp>
        <p:nvSpPr>
          <p:cNvPr id="6" name="">
            <a:extLst xmlns:a="http://schemas.openxmlformats.org/drawingml/2006/main">
              <a:ext uri="{FF2B5EF4-FFF2-40B4-BE49-F238E27FC236}">
                <a16:creationId xmlns:a16="http://schemas.microsoft.com/office/drawing/2014/main" id="{0AF4E014-1D15-4049-BD1F-627131DFBF92}"/>
              </a:ext>
            </a:extLst>
          </p:cNvPr>
          <p:cNvSpPr>
            <a:spLocks xmlns:a="http://schemas.openxmlformats.org/drawingml/2006/main" noGrp="1"/>
          </p:cNvSpPr>
          <p:nvPr/>
        </p:nvSpPr>
        <p:spPr>
          <a:xfrm xmlns:a="http://schemas.openxmlformats.org/drawingml/2006/main">
            <a:off x="7524750" y="2543175"/>
            <a:ext cx="3905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Bitcount: top-ranked</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1.0088× cycle speedup</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+65 LUT4 &gt; +64 cap</a:t>
            </a:r>
          </a:p>
        </p:txBody>
      </p:sp>
      <p:sp>
        <p:nvSpPr>
          <p:cNvPr id="7" name="">
            <a:extLst xmlns:a="http://schemas.openxmlformats.org/drawingml/2006/main">
              <a:ext uri="{FF2B5EF4-FFF2-40B4-BE49-F238E27FC236}">
                <a16:creationId xmlns:a16="http://schemas.microsoft.com/office/drawing/2014/main" id="{3C8FA38F-7C90-4FE1-9242-C3576FAC3924}"/>
              </a:ext>
            </a:extLst>
          </p:cNvPr>
          <p:cNvSpPr>
            <a:spLocks xmlns:a="http://schemas.openxmlformats.org/drawingml/2006/main" noGrp="1"/>
          </p:cNvSpPr>
          <p:nvPr/>
        </p:nvSpPr>
        <p:spPr>
          <a:xfrm xmlns:a="http://schemas.openxmlformats.org/drawingml/2006/main">
            <a:off x="7524750" y="4076700"/>
            <a:ext cx="3905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Correctness passed;</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area made it infeasible.</a:t>
            </a:r>
          </a:p>
        </p:txBody>
      </p:sp>
      <p:sp>
        <p:nvSpPr>
          <p:cNvPr id="8" name="">
            <a:extLst xmlns:a="http://schemas.openxmlformats.org/drawingml/2006/main">
              <a:ext uri="{FF2B5EF4-FFF2-40B4-BE49-F238E27FC236}">
                <a16:creationId xmlns:a16="http://schemas.microsoft.com/office/drawing/2014/main" id="{F0BCFB13-CDFD-4156-89BF-76FDE5658664}"/>
              </a:ext>
            </a:extLst>
          </p:cNvPr>
          <p:cNvSpPr>
            <a:spLocks xmlns:a="http://schemas.openxmlformats.org/drawingml/2006/main" noGrp="1"/>
          </p:cNvSpPr>
          <p:nvPr/>
        </p:nvSpPr>
        <p:spPr>
          <a:xfrm xmlns:a="http://schemas.openxmlformats.org/drawingml/2006/main">
            <a:off x="685800" y="56007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Uncertainty guides questions; measured correctness and feasibility decide.</a:t>
            </a:r>
          </a:p>
        </p:txBody>
      </p:sp>
    </p:spTree>
    <p:extLst>
      <p:ext uri="{BB962C8B-B14F-4D97-AF65-F5344CB8AC3E}">
        <p14:creationId xmlns:p14="http://schemas.microsoft.com/office/powerpoint/2010/main" val="4397584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EFB3799-8D76-470C-B8FC-29B74D07171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LLM agent: choose, measure, respond</a:t>
            </a:r>
          </a:p>
        </p:txBody>
      </p:sp>
      <p:sp>
        <p:nvSpPr>
          <p:cNvPr id="2" name="">
            <a:extLst xmlns:a="http://schemas.openxmlformats.org/drawingml/2006/main">
              <a:ext uri="{FF2B5EF4-FFF2-40B4-BE49-F238E27FC236}">
                <a16:creationId xmlns:a16="http://schemas.microsoft.com/office/drawing/2014/main" id="{881F4926-093B-40E3-80C3-AD59FA5B69A6}"/>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B11AA80-320A-4556-BE0E-DCDE68AEBB7E}"/>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F55B0203-F0F2-46A0-A290-A03E0BD0FB99}"/>
              </a:ext>
            </a:extLst>
          </p:cNvPr>
          <p:cNvSpPr>
            <a:spLocks xmlns:a="http://schemas.openxmlformats.org/drawingml/2006/main" noGrp="1"/>
          </p:cNvSpPr>
          <p:nvPr/>
        </p:nvSpPr>
        <p:spPr>
          <a:xfrm xmlns:a="http://schemas.openxmlformats.org/drawingml/2006/main">
            <a:off x="685800"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C6C7B386-BCB6-4696-B491-31C6E047C6EE}"/>
              </a:ext>
            </a:extLst>
          </p:cNvPr>
          <p:cNvSpPr>
            <a:spLocks xmlns:a="http://schemas.openxmlformats.org/drawingml/2006/main" noGrp="1"/>
          </p:cNvSpPr>
          <p:nvPr/>
        </p:nvSpPr>
        <p:spPr>
          <a:xfrm xmlns:a="http://schemas.openxmlformats.org/drawingml/2006/main">
            <a:off x="819150"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Inspect</a:t>
            </a:r>
          </a:p>
        </p:txBody>
      </p:sp>
      <p:sp>
        <p:nvSpPr>
          <p:cNvPr id="6" name="">
            <a:extLst xmlns:a="http://schemas.openxmlformats.org/drawingml/2006/main">
              <a:ext uri="{FF2B5EF4-FFF2-40B4-BE49-F238E27FC236}">
                <a16:creationId xmlns:a16="http://schemas.microsoft.com/office/drawing/2014/main" id="{10B77955-FA12-4CCE-A571-F9E2E514ADB9}"/>
              </a:ext>
            </a:extLst>
          </p:cNvPr>
          <p:cNvSpPr>
            <a:spLocks xmlns:a="http://schemas.openxmlformats.org/drawingml/2006/main" noGrp="1"/>
          </p:cNvSpPr>
          <p:nvPr/>
        </p:nvSpPr>
        <p:spPr>
          <a:xfrm xmlns:a="http://schemas.openxmlformats.org/drawingml/2006/main">
            <a:off x="819150"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candidates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constraints</a:t>
            </a:r>
          </a:p>
        </p:txBody>
      </p:sp>
      <p:sp>
        <p:nvSpPr>
          <p:cNvPr id="7" name="">
            <a:extLst xmlns:a="http://schemas.openxmlformats.org/drawingml/2006/main">
              <a:ext uri="{FF2B5EF4-FFF2-40B4-BE49-F238E27FC236}">
                <a16:creationId xmlns:a16="http://schemas.microsoft.com/office/drawing/2014/main" id="{B01E42B7-0CB4-4840-99C0-16D9B5C3ABDA}"/>
              </a:ext>
            </a:extLst>
          </p:cNvPr>
          <p:cNvSpPr>
            <a:spLocks xmlns:a="http://schemas.openxmlformats.org/drawingml/2006/main" noGrp="1"/>
          </p:cNvSpPr>
          <p:nvPr/>
        </p:nvSpPr>
        <p:spPr>
          <a:xfrm xmlns:a="http://schemas.openxmlformats.org/drawingml/2006/main">
            <a:off x="3105150"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4D97F5-CE14-4792-8318-EB90F2EFB294}"/>
              </a:ext>
            </a:extLst>
          </p:cNvPr>
          <p:cNvSpPr>
            <a:spLocks xmlns:a="http://schemas.openxmlformats.org/drawingml/2006/main" noGrp="1"/>
          </p:cNvSpPr>
          <p:nvPr/>
        </p:nvSpPr>
        <p:spPr>
          <a:xfrm xmlns:a="http://schemas.openxmlformats.org/drawingml/2006/main">
            <a:off x="3476625"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ED8A6D45-D17A-4808-AFAE-019DBD72F7E8}"/>
              </a:ext>
            </a:extLst>
          </p:cNvPr>
          <p:cNvSpPr>
            <a:spLocks xmlns:a="http://schemas.openxmlformats.org/drawingml/2006/main" noGrp="1"/>
          </p:cNvSpPr>
          <p:nvPr/>
        </p:nvSpPr>
        <p:spPr>
          <a:xfrm xmlns:a="http://schemas.openxmlformats.org/drawingml/2006/main">
            <a:off x="3609975"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Predict</a:t>
            </a:r>
          </a:p>
        </p:txBody>
      </p:sp>
      <p:sp>
        <p:nvSpPr>
          <p:cNvPr id="10" name="">
            <a:extLst xmlns:a="http://schemas.openxmlformats.org/drawingml/2006/main">
              <a:ext uri="{FF2B5EF4-FFF2-40B4-BE49-F238E27FC236}">
                <a16:creationId xmlns:a16="http://schemas.microsoft.com/office/drawing/2014/main" id="{EECEBB33-2B04-454C-B764-A295CA304D40}"/>
              </a:ext>
            </a:extLst>
          </p:cNvPr>
          <p:cNvSpPr>
            <a:spLocks xmlns:a="http://schemas.openxmlformats.org/drawingml/2006/main" noGrp="1"/>
          </p:cNvSpPr>
          <p:nvPr/>
        </p:nvSpPr>
        <p:spPr>
          <a:xfrm xmlns:a="http://schemas.openxmlformats.org/drawingml/2006/main">
            <a:off x="3609975"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ML scores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model diagnostics</a:t>
            </a:r>
          </a:p>
        </p:txBody>
      </p:sp>
      <p:sp>
        <p:nvSpPr>
          <p:cNvPr id="11" name="">
            <a:extLst xmlns:a="http://schemas.openxmlformats.org/drawingml/2006/main">
              <a:ext uri="{FF2B5EF4-FFF2-40B4-BE49-F238E27FC236}">
                <a16:creationId xmlns:a16="http://schemas.microsoft.com/office/drawing/2014/main" id="{15688CC8-D5D0-4BB2-AC5D-7D48DC5F45FA}"/>
              </a:ext>
            </a:extLst>
          </p:cNvPr>
          <p:cNvSpPr>
            <a:spLocks xmlns:a="http://schemas.openxmlformats.org/drawingml/2006/main" noGrp="1"/>
          </p:cNvSpPr>
          <p:nvPr/>
        </p:nvSpPr>
        <p:spPr>
          <a:xfrm xmlns:a="http://schemas.openxmlformats.org/drawingml/2006/main">
            <a:off x="5895975"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7B6675E-CF46-4BCD-8E92-CB1CD6AB6AD6}"/>
              </a:ext>
            </a:extLst>
          </p:cNvPr>
          <p:cNvSpPr>
            <a:spLocks xmlns:a="http://schemas.openxmlformats.org/drawingml/2006/main" noGrp="1"/>
          </p:cNvSpPr>
          <p:nvPr/>
        </p:nvSpPr>
        <p:spPr>
          <a:xfrm xmlns:a="http://schemas.openxmlformats.org/drawingml/2006/main">
            <a:off x="6267450"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34BF9A74-1936-4BD8-990F-3C9EDF3ACD09}"/>
              </a:ext>
            </a:extLst>
          </p:cNvPr>
          <p:cNvSpPr>
            <a:spLocks xmlns:a="http://schemas.openxmlformats.org/drawingml/2006/main" noGrp="1"/>
          </p:cNvSpPr>
          <p:nvPr/>
        </p:nvSpPr>
        <p:spPr>
          <a:xfrm xmlns:a="http://schemas.openxmlformats.org/drawingml/2006/main">
            <a:off x="6400800"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Measure</a:t>
            </a:r>
          </a:p>
        </p:txBody>
      </p:sp>
      <p:sp>
        <p:nvSpPr>
          <p:cNvPr id="14" name="">
            <a:extLst xmlns:a="http://schemas.openxmlformats.org/drawingml/2006/main">
              <a:ext uri="{FF2B5EF4-FFF2-40B4-BE49-F238E27FC236}">
                <a16:creationId xmlns:a16="http://schemas.microsoft.com/office/drawing/2014/main" id="{998FA2CD-222E-47BC-BDC7-BFC3BCCE5259}"/>
              </a:ext>
            </a:extLst>
          </p:cNvPr>
          <p:cNvSpPr>
            <a:spLocks xmlns:a="http://schemas.openxmlformats.org/drawingml/2006/main" noGrp="1"/>
          </p:cNvSpPr>
          <p:nvPr/>
        </p:nvSpPr>
        <p:spPr>
          <a:xfrm xmlns:a="http://schemas.openxmlformats.org/drawingml/2006/main">
            <a:off x="6400800"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One charged attempt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Reveal real outcome</a:t>
            </a:r>
          </a:p>
        </p:txBody>
      </p:sp>
      <p:sp>
        <p:nvSpPr>
          <p:cNvPr id="15" name="">
            <a:extLst xmlns:a="http://schemas.openxmlformats.org/drawingml/2006/main">
              <a:ext uri="{FF2B5EF4-FFF2-40B4-BE49-F238E27FC236}">
                <a16:creationId xmlns:a16="http://schemas.microsoft.com/office/drawing/2014/main" id="{CD491605-0DDB-43AF-BEC9-2BD1E1BC4F4C}"/>
              </a:ext>
            </a:extLst>
          </p:cNvPr>
          <p:cNvSpPr>
            <a:spLocks xmlns:a="http://schemas.openxmlformats.org/drawingml/2006/main" noGrp="1"/>
          </p:cNvSpPr>
          <p:nvPr/>
        </p:nvSpPr>
        <p:spPr>
          <a:xfrm xmlns:a="http://schemas.openxmlformats.org/drawingml/2006/main">
            <a:off x="8686800"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4D5D06D-1CB8-47FD-9826-8951FE102BED}"/>
              </a:ext>
            </a:extLst>
          </p:cNvPr>
          <p:cNvSpPr>
            <a:spLocks xmlns:a="http://schemas.openxmlformats.org/drawingml/2006/main" noGrp="1"/>
          </p:cNvSpPr>
          <p:nvPr/>
        </p:nvSpPr>
        <p:spPr>
          <a:xfrm xmlns:a="http://schemas.openxmlformats.org/drawingml/2006/main">
            <a:off x="9058275"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29CD2DCA-6E31-400B-BE88-0F706A347D56}"/>
              </a:ext>
            </a:extLst>
          </p:cNvPr>
          <p:cNvSpPr>
            <a:spLocks xmlns:a="http://schemas.openxmlformats.org/drawingml/2006/main" noGrp="1"/>
          </p:cNvSpPr>
          <p:nvPr/>
        </p:nvSpPr>
        <p:spPr>
          <a:xfrm xmlns:a="http://schemas.openxmlformats.org/drawingml/2006/main">
            <a:off x="9191625"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Select</a:t>
            </a:r>
          </a:p>
        </p:txBody>
      </p:sp>
      <p:sp>
        <p:nvSpPr>
          <p:cNvPr id="18" name="">
            <a:extLst xmlns:a="http://schemas.openxmlformats.org/drawingml/2006/main">
              <a:ext uri="{FF2B5EF4-FFF2-40B4-BE49-F238E27FC236}">
                <a16:creationId xmlns:a16="http://schemas.microsoft.com/office/drawing/2014/main" id="{EFA92BCD-130F-46C6-AC65-32EB62EC8AF9}"/>
              </a:ext>
            </a:extLst>
          </p:cNvPr>
          <p:cNvSpPr>
            <a:spLocks xmlns:a="http://schemas.openxmlformats.org/drawingml/2006/main" noGrp="1"/>
          </p:cNvSpPr>
          <p:nvPr/>
        </p:nvSpPr>
        <p:spPr>
          <a:xfrm xmlns:a="http://schemas.openxmlformats.org/drawingml/2006/main">
            <a:off x="9191625"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Best verified feasible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result within budget</a:t>
            </a:r>
          </a:p>
        </p:txBody>
      </p:sp>
      <p:sp>
        <p:nvSpPr>
          <p:cNvPr id="19" name="">
            <a:extLst xmlns:a="http://schemas.openxmlformats.org/drawingml/2006/main">
              <a:ext uri="{FF2B5EF4-FFF2-40B4-BE49-F238E27FC236}">
                <a16:creationId xmlns:a16="http://schemas.microsoft.com/office/drawing/2014/main" id="{CC1BEE46-DD5E-4C13-B400-565EA8BCFB3A}"/>
              </a:ext>
            </a:extLst>
          </p:cNvPr>
          <p:cNvSpPr>
            <a:spLocks xmlns:a="http://schemas.openxmlformats.org/drawingml/2006/main" noGrp="1"/>
          </p:cNvSpPr>
          <p:nvPr/>
        </p:nvSpPr>
        <p:spPr>
          <a:xfrm xmlns:a="http://schemas.openxmlformats.org/drawingml/2006/main">
            <a:off x="10477500" y="3286125"/>
            <a:ext cx="0" cy="333375"/>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0" name="">
            <a:extLst xmlns:a="http://schemas.openxmlformats.org/drawingml/2006/main">
              <a:ext uri="{FF2B5EF4-FFF2-40B4-BE49-F238E27FC236}">
                <a16:creationId xmlns:a16="http://schemas.microsoft.com/office/drawing/2014/main" id="{D5B2CB22-DCAC-4C19-97CC-39F10FBB32F1}"/>
              </a:ext>
            </a:extLst>
          </p:cNvPr>
          <p:cNvSpPr>
            <a:spLocks xmlns:a="http://schemas.openxmlformats.org/drawingml/2006/main" noGrp="1"/>
          </p:cNvSpPr>
          <p:nvPr/>
        </p:nvSpPr>
        <p:spPr>
          <a:xfrm xmlns:a="http://schemas.openxmlformats.org/drawingml/2006/main">
            <a:off x="4000500" y="3619500"/>
            <a:ext cx="6477000"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1" name="">
            <a:extLst xmlns:a="http://schemas.openxmlformats.org/drawingml/2006/main">
              <a:ext uri="{FF2B5EF4-FFF2-40B4-BE49-F238E27FC236}">
                <a16:creationId xmlns:a16="http://schemas.microsoft.com/office/drawing/2014/main" id="{A9FB1893-1E61-40C1-BA3D-3AB482539B1E}"/>
              </a:ext>
            </a:extLst>
          </p:cNvPr>
          <p:cNvSpPr>
            <a:spLocks xmlns:a="http://schemas.openxmlformats.org/drawingml/2006/main" noGrp="1"/>
          </p:cNvSpPr>
          <p:nvPr/>
        </p:nvSpPr>
        <p:spPr>
          <a:xfrm xmlns:a="http://schemas.openxmlformats.org/drawingml/2006/main">
            <a:off x="4095750" y="3743325"/>
            <a:ext cx="628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Paid outcomes inform the next query</a:t>
            </a:r>
          </a:p>
        </p:txBody>
      </p:sp>
      <p:sp>
        <p:nvSpPr>
          <p:cNvPr id="22" name="">
            <a:extLst xmlns:a="http://schemas.openxmlformats.org/drawingml/2006/main">
              <a:ext uri="{FF2B5EF4-FFF2-40B4-BE49-F238E27FC236}">
                <a16:creationId xmlns:a16="http://schemas.microsoft.com/office/drawing/2014/main" id="{700FE1F2-317B-488D-B4F9-E50CA4BF8616}"/>
              </a:ext>
            </a:extLst>
          </p:cNvPr>
          <p:cNvSpPr>
            <a:spLocks xmlns:a="http://schemas.openxmlformats.org/drawingml/2006/main" noGrp="1"/>
          </p:cNvSpPr>
          <p:nvPr/>
        </p:nvSpPr>
        <p:spPr>
          <a:xfrm xmlns:a="http://schemas.openxmlformats.org/drawingml/2006/main">
            <a:off x="685800" y="4410075"/>
            <a:ext cx="466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Selector AI</a:t>
            </a:r>
          </a:p>
        </p:txBody>
      </p:sp>
      <p:sp>
        <p:nvSpPr>
          <p:cNvPr id="23" name="">
            <a:extLst xmlns:a="http://schemas.openxmlformats.org/drawingml/2006/main">
              <a:ext uri="{FF2B5EF4-FFF2-40B4-BE49-F238E27FC236}">
                <a16:creationId xmlns:a16="http://schemas.microsoft.com/office/drawing/2014/main" id="{CD89B04E-53FB-45DE-8A9B-2796C6533C76}"/>
              </a:ext>
            </a:extLst>
          </p:cNvPr>
          <p:cNvSpPr>
            <a:spLocks xmlns:a="http://schemas.openxmlformats.org/drawingml/2006/main" noGrp="1"/>
          </p:cNvSpPr>
          <p:nvPr/>
        </p:nvSpPr>
        <p:spPr>
          <a:xfrm xmlns:a="http://schemas.openxmlformats.org/drawingml/2006/main">
            <a:off x="685800" y="4886325"/>
            <a:ext cx="5143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Ascon pilot: 3 measured candidates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Best feasible: 1.0237×, +42 LUT4</a:t>
            </a:r>
          </a:p>
        </p:txBody>
      </p:sp>
      <p:sp>
        <p:nvSpPr>
          <p:cNvPr id="24" name="">
            <a:extLst xmlns:a="http://schemas.openxmlformats.org/drawingml/2006/main">
              <a:ext uri="{FF2B5EF4-FFF2-40B4-BE49-F238E27FC236}">
                <a16:creationId xmlns:a16="http://schemas.microsoft.com/office/drawing/2014/main" id="{118E826C-8932-435B-BD34-E6EAD1F50141}"/>
              </a:ext>
            </a:extLst>
          </p:cNvPr>
          <p:cNvSpPr>
            <a:spLocks xmlns:a="http://schemas.openxmlformats.org/drawingml/2006/main" noGrp="1"/>
          </p:cNvSpPr>
          <p:nvPr/>
        </p:nvSpPr>
        <p:spPr>
          <a:xfrm xmlns:a="http://schemas.openxmlformats.org/drawingml/2006/main">
            <a:off x="6572250" y="4410075"/>
            <a:ext cx="485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Development AI</a:t>
            </a:r>
          </a:p>
        </p:txBody>
      </p:sp>
      <p:sp>
        <p:nvSpPr>
          <p:cNvPr id="25" name="">
            <a:extLst xmlns:a="http://schemas.openxmlformats.org/drawingml/2006/main">
              <a:ext uri="{FF2B5EF4-FFF2-40B4-BE49-F238E27FC236}">
                <a16:creationId xmlns:a16="http://schemas.microsoft.com/office/drawing/2014/main" id="{C437C77C-16B1-4442-A44D-05626998F7B2}"/>
              </a:ext>
            </a:extLst>
          </p:cNvPr>
          <p:cNvSpPr>
            <a:spLocks xmlns:a="http://schemas.openxmlformats.org/drawingml/2006/main" noGrp="1"/>
          </p:cNvSpPr>
          <p:nvPr/>
        </p:nvSpPr>
        <p:spPr>
          <a:xfrm xmlns:a="http://schemas.openxmlformats.org/drawingml/2006/main">
            <a:off x="6572250" y="4886325"/>
            <a:ext cx="4857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AI-assisted scripts, testing and analysis</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Human review owns claims and scope</a:t>
            </a:r>
          </a:p>
        </p:txBody>
      </p:sp>
      <p:sp>
        <p:nvSpPr>
          <p:cNvPr id="26" name="">
            <a:extLst xmlns:a="http://schemas.openxmlformats.org/drawingml/2006/main">
              <a:ext uri="{FF2B5EF4-FFF2-40B4-BE49-F238E27FC236}">
                <a16:creationId xmlns:a16="http://schemas.microsoft.com/office/drawing/2014/main" id="{93402058-22AC-43F7-88AB-25DA43B5FEC5}"/>
              </a:ext>
            </a:extLst>
          </p:cNvPr>
          <p:cNvSpPr>
            <a:spLocks xmlns:a="http://schemas.openxmlformats.org/drawingml/2006/main" noGrp="1"/>
          </p:cNvSpPr>
          <p:nvPr/>
        </p:nvSpPr>
        <p:spPr>
          <a:xfrm xmlns:a="http://schemas.openxmlformats.org/drawingml/2006/main">
            <a:off x="685800" y="5953125"/>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A65A00"/>
                </a:solidFill>
                <a:latin typeface="Arial"/>
                <a:ea typeface="Arial"/>
                <a:cs typeface="Arial"/>
              </a:defRPr>
            </a:defPPr>
            <a:lvl1pPr>
              <a:defRPr sz="1425" b="1">
                <a:solidFill>
                  <a:srgbClr val="A65A00"/>
                </a:solidFill>
                <a:latin typeface="Arial"/>
                <a:ea typeface="Arial"/>
                <a:cs typeface="Arial"/>
              </a:defRPr>
            </a:lvl1pPr>
            <a:lvl2pPr>
              <a:defRPr sz="1425" b="1">
                <a:solidFill>
                  <a:srgbClr val="A65A00"/>
                </a:solidFill>
                <a:latin typeface="Arial"/>
                <a:ea typeface="Arial"/>
                <a:cs typeface="Arial"/>
              </a:defRPr>
            </a:lvl2pPr>
            <a:lvl3pPr>
              <a:defRPr sz="1425" b="1">
                <a:solidFill>
                  <a:srgbClr val="A65A00"/>
                </a:solidFill>
                <a:latin typeface="Arial"/>
                <a:ea typeface="Arial"/>
                <a:cs typeface="Arial"/>
              </a:defRPr>
            </a:lvl3pPr>
            <a:lvl4pPr>
              <a:defRPr sz="1425" b="1">
                <a:solidFill>
                  <a:srgbClr val="A65A00"/>
                </a:solidFill>
                <a:latin typeface="Arial"/>
                <a:ea typeface="Arial"/>
                <a:cs typeface="Arial"/>
              </a:defRPr>
            </a:lvl4pPr>
            <a:lvl5pPr>
              <a:defRPr sz="1425" b="1">
                <a:solidFill>
                  <a:srgbClr val="A65A00"/>
                </a:solidFill>
                <a:latin typeface="Arial"/>
                <a:ea typeface="Arial"/>
                <a:cs typeface="Arial"/>
              </a:defRPr>
            </a:lvl5pPr>
            <a:lvl6pPr>
              <a:defRPr sz="1425" b="1">
                <a:solidFill>
                  <a:srgbClr val="A65A00"/>
                </a:solidFill>
                <a:latin typeface="Arial"/>
                <a:ea typeface="Arial"/>
                <a:cs typeface="Arial"/>
              </a:defRPr>
            </a:lvl6pPr>
            <a:lvl7pPr>
              <a:defRPr sz="1425" b="1">
                <a:solidFill>
                  <a:srgbClr val="A65A00"/>
                </a:solidFill>
                <a:latin typeface="Arial"/>
                <a:ea typeface="Arial"/>
                <a:cs typeface="Arial"/>
              </a:defRPr>
            </a:lvl7pPr>
            <a:lvl8pPr>
              <a:defRPr sz="1425" b="1">
                <a:solidFill>
                  <a:srgbClr val="A65A00"/>
                </a:solidFill>
                <a:latin typeface="Arial"/>
                <a:ea typeface="Arial"/>
                <a:cs typeface="Arial"/>
              </a:defRPr>
            </a:lvl8pPr>
            <a:lvl9pPr>
              <a:defRPr sz="1425" b="1">
                <a:solidFill>
                  <a:srgbClr val="A65A00"/>
                </a:solidFill>
                <a:latin typeface="Arial"/>
                <a:ea typeface="Arial"/>
                <a:cs typeface="Arial"/>
              </a:defRPr>
            </a:lvl9pPr>
          </a:lstStyle>
          <a:p xmlns:a="http://schemas.openxmlformats.org/drawingml/2006/main">
            <a:pPr>
              <a:defRPr sz="1425" b="1">
                <a:solidFill>
                  <a:srgbClr val="A65A00"/>
                </a:solidFill>
                <a:latin typeface="Arial"/>
                <a:ea typeface="Arial"/>
                <a:cs typeface="Arial"/>
              </a:defRPr>
            </a:pPr>
            <a:r>
              <a:rPr sz="1425" b="1">
                <a:solidFill>
                  <a:srgbClr val="A65A00"/>
                </a:solidFill>
                <a:latin typeface="Arial"/>
                <a:ea typeface="Arial"/>
                <a:cs typeface="Arial"/>
              </a:rPr>
              <a:t>No matched agent win yet • live GP update defect disclosed • no dynamic LLM routing</a:t>
            </a:r>
          </a:p>
        </p:txBody>
      </p:sp>
    </p:spTree>
    <p:extLst>
      <p:ext uri="{BB962C8B-B14F-4D97-AF65-F5344CB8AC3E}">
        <p14:creationId xmlns:p14="http://schemas.microsoft.com/office/powerpoint/2010/main" val="7589182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CB975C-A6F9-4CA2-B308-3E1714D3956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F1D632CC-F886-4CD8-8936-0F7A3738DAE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8CA4A4F-5822-4FA6-8FCC-D91CC283FD53}"/>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562CE069-054D-4D5A-88F6-1C603ED94A12}"/>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D2548CA0-66FE-4D72-8285-4E3A79C1D61A}"/>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A46FA2ED-2903-4CDD-BB21-BBD55BB9942F}"/>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6BFE7AC8-90A5-4F08-8B81-F31D3B26C624}"/>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2FABA984-F7B4-476B-A205-264B56581B22}"/>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7373263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581C0D-9D54-406E-A5BC-9A7136BF4F3C}"/>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9A8792D2-62F5-4658-ADC0-1F1AA787C46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B51BDA9C-70B9-407F-BA1A-5CCF4162BD7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E7BB5A51-C31F-4E2A-864D-B8A22DAA26A4}"/>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d718d523413242cd"/>
          </a:graphicData>
        </a:graphic>
      </p:graphicFrame>
      <p:sp>
        <p:nvSpPr>
          <p:cNvPr id="5" name="">
            <a:extLst xmlns:a="http://schemas.openxmlformats.org/drawingml/2006/main">
              <a:ext uri="{FF2B5EF4-FFF2-40B4-BE49-F238E27FC236}">
                <a16:creationId xmlns:a16="http://schemas.microsoft.com/office/drawing/2014/main" id="{9E65921B-B821-481E-8394-67B371A86205}"/>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8172B635-7605-4FFC-BDE3-2DF6967A85FE}"/>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E0AF0C83-5CFE-4459-87F0-E8ADCE0C1AAF}"/>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860BDED1-9C5F-47D6-B963-B7A1CF79488E}"/>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197865853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EE2C31-3030-47B0-84D2-FC30DCA3BDE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B7EC99B5-D270-4EB5-BC92-EBE242089CB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EBC7367A-4A27-4D1F-AE63-8A02DD29884F}"/>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E4AD5BA2-0080-44E9-B179-62D72B8CF9CE}"/>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A99CF495-418B-4B01-A459-C2E1291B2D84}"/>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15354239-8553-4ACB-BED4-ADDF58BA92BA}"/>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807B9610-149C-4A5E-8C1E-3CB04F3811CD}"/>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C85883D3-5395-4547-A511-8821A14E3F4B}"/>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3853605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2026-10-28T03:09:03.4730000Z</dcterms:created>
  <dcterms:modified xsi:type="dcterms:W3CDTF">2026-10-28T03:09:03.4730000Z</dcterms:modified>
</coreProperties>
</file>