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dcf029140374500" /><Relationship Type="http://schemas.openxmlformats.org/officeDocument/2006/relationships/extended-properties" Target="/docProps/app.xml" Id="R8fbd85a38f074f73" /><Relationship Type="http://schemas.openxmlformats.org/officeDocument/2006/relationships/officeDocument" Target="/ppt/presentation.xml" Id="R75bcb755f58942ce" /></Relationships>
</file>

<file path=ppt/presentation.xml><?xml version="1.0" encoding="utf-8"?>
<p:presentation xmlns:p="http://schemas.openxmlformats.org/presentationml/2006/main">
  <p:sldMasterIdLst>
    <p:sldMasterId xmlns:r="http://schemas.openxmlformats.org/officeDocument/2006/relationships" id="2147483648" r:id="R8ebc841738ec473d"/>
  </p:sldMasterIdLst>
  <p:notesMasterIdLst>
    <p:notesMasterId xmlns:r="http://schemas.openxmlformats.org/officeDocument/2006/relationships" r:id="R60c33dc9c5f74c8c"/>
  </p:notesMasterIdLst>
  <p:sldIdLst>
    <p:sldId xmlns:r="http://schemas.openxmlformats.org/officeDocument/2006/relationships" id="256" r:id="R48db7e12abed41f1"/>
    <p:sldId xmlns:r="http://schemas.openxmlformats.org/officeDocument/2006/relationships" id="257" r:id="R7fc2ccb2889d4404"/>
    <p:sldId xmlns:r="http://schemas.openxmlformats.org/officeDocument/2006/relationships" id="258" r:id="R771d43a1639c4355"/>
    <p:sldId xmlns:r="http://schemas.openxmlformats.org/officeDocument/2006/relationships" id="259" r:id="Rd973772c751f4ea7"/>
    <p:sldId xmlns:r="http://schemas.openxmlformats.org/officeDocument/2006/relationships" id="260" r:id="R82e657a477224b46"/>
    <p:sldId xmlns:r="http://schemas.openxmlformats.org/officeDocument/2006/relationships" id="261" r:id="R8eb2d17197ce475c"/>
    <p:sldId xmlns:r="http://schemas.openxmlformats.org/officeDocument/2006/relationships" id="262" r:id="Re5e18ef191724f2a"/>
    <p:sldId xmlns:r="http://schemas.openxmlformats.org/officeDocument/2006/relationships" id="263" r:id="Re19ff4317cec4749"/>
    <p:sldId xmlns:r="http://schemas.openxmlformats.org/officeDocument/2006/relationships" id="264" r:id="R83c88b8e4ab64824"/>
    <p:sldId xmlns:r="http://schemas.openxmlformats.org/officeDocument/2006/relationships" id="265" r:id="Rd05e980fe587428f"/>
    <p:sldId xmlns:r="http://schemas.openxmlformats.org/officeDocument/2006/relationships" id="266" r:id="R2434c7f3d0a14d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78ff6152a3442f8" /><Relationship Type="http://schemas.openxmlformats.org/officeDocument/2006/relationships/slideMaster" Target="/ppt/slideMasters/slideMaster1.xml" Id="R8ebc841738ec473d" /><Relationship Type="http://schemas.openxmlformats.org/officeDocument/2006/relationships/notesMaster" Target="/ppt/notesMasters/notesMaster1.xml" Id="R60c33dc9c5f74c8c" /><Relationship Type="http://schemas.openxmlformats.org/officeDocument/2006/relationships/presProps" Target="/ppt/presProps.xml" Id="Rc954e1f935e74ee1" /><Relationship Type="http://schemas.openxmlformats.org/officeDocument/2006/relationships/tableStyles" Target="/ppt/tableStyles.xml" Id="R7dde019f539748a1" /><Relationship Type="http://schemas.openxmlformats.org/officeDocument/2006/relationships/slide" Target="/ppt/slides/slide1.xml" Id="R48db7e12abed41f1" /><Relationship Type="http://schemas.openxmlformats.org/officeDocument/2006/relationships/slide" Target="/ppt/slides/slide2.xml" Id="R7fc2ccb2889d4404" /><Relationship Type="http://schemas.openxmlformats.org/officeDocument/2006/relationships/slide" Target="/ppt/slides/slide3.xml" Id="R771d43a1639c4355" /><Relationship Type="http://schemas.openxmlformats.org/officeDocument/2006/relationships/slide" Target="/ppt/slides/slide4.xml" Id="Rd973772c751f4ea7" /><Relationship Type="http://schemas.openxmlformats.org/officeDocument/2006/relationships/slide" Target="/ppt/slides/slide5.xml" Id="R82e657a477224b46" /><Relationship Type="http://schemas.openxmlformats.org/officeDocument/2006/relationships/slide" Target="/ppt/slides/slide6.xml" Id="R8eb2d17197ce475c" /><Relationship Type="http://schemas.openxmlformats.org/officeDocument/2006/relationships/slide" Target="/ppt/slides/slide7.xml" Id="Re5e18ef191724f2a" /><Relationship Type="http://schemas.openxmlformats.org/officeDocument/2006/relationships/slide" Target="/ppt/slides/slide8.xml" Id="Re19ff4317cec4749" /><Relationship Type="http://schemas.openxmlformats.org/officeDocument/2006/relationships/slide" Target="/ppt/slides/slide9.xml" Id="R83c88b8e4ab64824" /><Relationship Type="http://schemas.openxmlformats.org/officeDocument/2006/relationships/slide" Target="/ppt/slides/slide10.xml" Id="Rd05e980fe587428f" /><Relationship Type="http://schemas.openxmlformats.org/officeDocument/2006/relationships/slide" Target="/ppt/slides/slide11.xml" Id="R2434c7f3d0a14d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77cb04fdcc41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73f7dbd0284d41" /><Relationship Type="http://schemas.openxmlformats.org/officeDocument/2006/relationships/notesMaster" Target="/ppt/notesMasters/notesMaster1.xml" Id="R02b79ba0c88a41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4e4f23f69e469e" /><Relationship Type="http://schemas.openxmlformats.org/officeDocument/2006/relationships/notesMaster" Target="/ppt/notesMasters/notesMaster1.xml" Id="Rd76b602b22274d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3b8154ce954d23" /><Relationship Type="http://schemas.openxmlformats.org/officeDocument/2006/relationships/notesMaster" Target="/ppt/notesMasters/notesMaster1.xml" Id="R030586dea92f40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2ac7ce782c45c5" /><Relationship Type="http://schemas.openxmlformats.org/officeDocument/2006/relationships/notesMaster" Target="/ppt/notesMasters/notesMaster1.xml" Id="R71f155b92f0d44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f9585bb4ad48f4" /><Relationship Type="http://schemas.openxmlformats.org/officeDocument/2006/relationships/notesMaster" Target="/ppt/notesMasters/notesMaster1.xml" Id="R62f70b17876944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601eefe75a447a" /><Relationship Type="http://schemas.openxmlformats.org/officeDocument/2006/relationships/notesMaster" Target="/ppt/notesMasters/notesMaster1.xml" Id="R8ffaaef8e99c43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094f0ea606477a" /><Relationship Type="http://schemas.openxmlformats.org/officeDocument/2006/relationships/notesMaster" Target="/ppt/notesMasters/notesMaster1.xml" Id="R883c6a63153040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c7b3689cbc43b2" /><Relationship Type="http://schemas.openxmlformats.org/officeDocument/2006/relationships/notesMaster" Target="/ppt/notesMasters/notesMaster1.xml" Id="Rbf8e348667744e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0846ff6a854d6f" /><Relationship Type="http://schemas.openxmlformats.org/officeDocument/2006/relationships/notesMaster" Target="/ppt/notesMasters/notesMaster1.xml" Id="R2c19cf24d8914c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c062433562481c" /><Relationship Type="http://schemas.openxmlformats.org/officeDocument/2006/relationships/notesMaster" Target="/ppt/notesMasters/notesMaster1.xml" Id="R7e7922566624464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f4a6667e5e14498" /><Relationship Type="http://schemas.openxmlformats.org/officeDocument/2006/relationships/notesMaster" Target="/ppt/notesMasters/notesMaster1.xml" Id="R36ba30bdd22245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25 seconds</a:t>
            </a:r>
          </a:p>
          <a:p xmlns:a="http://schemas.openxmlformats.org/drawingml/2006/main">
            <a:r>
              <a:t/>
            </a:r>
          </a:p>
          <a:p xmlns:a="http://schemas.openxmlformats.org/drawingml/2006/main">
            <a:r>
              <a:t>SPOKEN SCRIPT</a:t>
            </a:r>
          </a:p>
          <a:p xmlns:a="http://schemas.openxmlformats.org/drawingml/2006/main">
            <a:r>
              <a:t>ISAForge asks whether learned predictions and an AI selection agent can find better RISC-V custom instructions with fewer expensive evaluations. We optimize verified whole-program performance under hardware constraints. Our contribution is the connection from real programs to measured labels to budgeted selection. Today we have a working pipeline, measured data, and preliminary comparisons—not yet a consistent machine-learning win.</a:t>
            </a:r>
          </a:p>
          <a:p xmlns:a="http://schemas.openxmlformats.org/drawingml/2006/main">
            <a:r>
              <a:t/>
            </a:r>
          </a:p>
          <a:p xmlns:a="http://schemas.openxmlformats.org/drawingml/2006/main">
            <a:r>
              <a:t>SOURCES / Q&amp;A (not part of timed script)</a:t>
            </a:r>
          </a:p>
          <a:p xmlns:a="http://schemas.openxmlformats.org/drawingml/2006/main">
            <a:r>
              <a:t>Scope: README.md; docs/research-foundation.md. Guarded AI-track results are separate from other hardware contexts in the team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30 seconds</a:t>
            </a:r>
          </a:p>
          <a:p xmlns:a="http://schemas.openxmlformats.org/drawingml/2006/main">
            <a:r>
              <a:t/>
            </a:r>
          </a:p>
          <a:p xmlns:a="http://schemas.openxmlformats.org/drawingml/2006/main">
            <a:r>
              <a:t>SPOKEN SCRIPT</a:t>
            </a:r>
          </a:p>
          <a:p xmlns:a="http://schemas.openxmlformats.org/drawingml/2006/main">
            <a:r>
              <a:t>We build on established methods rather than inventing another enumerator. Atasu provides the dataflow and architectural constraints for legal instruction candidates. CIDRE emphasizes that benefits depend on the processor and its timing. AutoTVM motivates ranking alternatives using measured performance. Constrained Bayesian optimization motivates measuring promising candidates while accounting for feasibility. ISAForge tests this combination on whole-program PicoRV32 outcomes; we do not claim to reproduce these complete systems.</a:t>
            </a:r>
          </a:p>
          <a:p xmlns:a="http://schemas.openxmlformats.org/drawingml/2006/main">
            <a:r>
              <a:t/>
            </a:r>
          </a:p>
          <a:p xmlns:a="http://schemas.openxmlformats.org/drawingml/2006/main">
            <a:r>
              <a:t>SOURCES / Q&amp;A (not part of timed script)</a:t>
            </a:r>
          </a:p>
          <a:p xmlns:a="http://schemas.openxmlformats.org/drawingml/2006/main">
            <a:r>
              <a:t>Atasu, Pozzi &amp; Ienne. Automatic Application-Specific Instruction-Set Extensions Under Microarchitectural Constraints. DAC 2003, 256–261. DOI 10.1145/775832.775897; methods §§4–7.</a:t>
            </a:r>
          </a:p>
          <a:p xmlns:a="http://schemas.openxmlformats.org/drawingml/2006/main">
            <a:r>
              <a:t>Rezunov et al. Automatic Microarchitecture-Aware Custom Instruction Design for RISC-V Processors. ICCAD 2025. DOI 10.1109/ICCAD66269.2025.11240781; arxiv.org/html/2509.15782v2, §§II–IV.</a:t>
            </a:r>
          </a:p>
          <a:p xmlns:a="http://schemas.openxmlformats.org/drawingml/2006/main">
            <a:r>
              <a:t>Chen et al. Learning to Optimize Tensor Programs. NeurIPS 2018. arxiv.org/pdf/1805.08166v4, §§3–4, Algorithm 1.</a:t>
            </a:r>
          </a:p>
          <a:p xmlns:a="http://schemas.openxmlformats.org/drawingml/2006/main">
            <a:r>
              <a:t>Gardner et al. Bayesian Optimization with Inequality Constraints. ICML 2014, PMLR32(2):937–945. https://proceedings.mlr.press/v32/gardner14.pdf, §§3.1–3.2.</a:t>
            </a:r>
          </a:p>
          <a:p xmlns:a="http://schemas.openxmlformats.org/drawingml/2006/main">
            <a:r>
              <a:t>Repository method reviews: docs/research-foundation.md; docs/selection-methods-review.md.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20 seconds</a:t>
            </a:r>
          </a:p>
          <a:p xmlns:a="http://schemas.openxmlformats.org/drawingml/2006/main">
            <a:r>
              <a:t/>
            </a:r>
          </a:p>
          <a:p xmlns:a="http://schemas.openxmlformats.org/drawingml/2006/main">
            <a:r>
              <a:t>SPOKEN SCRIPT</a:t>
            </a:r>
          </a:p>
          <a:p xmlns:a="http://schemas.openxmlformats.org/drawingml/2006/main">
            <a:r>
              <a:t>We started by collecting real benchmark traces and synthesizing isolated circuits for a hardware-cost model. Next we connected candidates to whole-program execution on PicoRV32, expanded the dataset, and tested selection policies. Two project chats record about forty-six hours of turn duration, including waits and interruptions, not training time. Team roles are provisional and need confirmation.</a:t>
            </a:r>
          </a:p>
          <a:p xmlns:a="http://schemas.openxmlformats.org/drawingml/2006/main">
            <a:r>
              <a:t/>
            </a:r>
          </a:p>
          <a:p xmlns:a="http://schemas.openxmlformats.org/drawingml/2006/main">
            <a:r>
              <a:t>SOURCES / Q&amp;A (not part of timed script)</a:t>
            </a:r>
          </a:p>
          <a:p xmlns:a="http://schemas.openxmlformats.org/drawingml/2006/main">
            <a:r>
              <a:t>Dated results directories October19–27; git history; docs/original-project-proposal.txt; supplied AgenticRiscPredictor.pdf. Codex history snapshot: two project chats record 15.82 and 29.97 hours of ended turn duration, approximately 45.8 hours combined, including tool waits and interruptions. The earlier 15.82 hours includes 4.51 hours across two interrupted turns. 72 distinct directly spawned subagent threads; activity is not training time or a research outcome. See codex-history-and-baseline.md. Team must confirm roles and aliases; Git alone cannot measure contribution shares.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35 seconds</a:t>
            </a:r>
          </a:p>
          <a:p xmlns:a="http://schemas.openxmlformats.org/drawingml/2006/main">
            <a:r>
              <a:t/>
            </a:r>
          </a:p>
          <a:p xmlns:a="http://schemas.openxmlformats.org/drawingml/2006/main">
            <a:r>
              <a:t>SPOKEN SCRIPT</a:t>
            </a:r>
          </a:p>
          <a:p xmlns:a="http://schemas.openxmlformats.org/drawingml/2006/main">
            <a:r>
              <a:t>We wrote scripts that compile and profile workloads, extract legal candidates, and lower them to custom instructions. The evaluator executes each modified program with Verilator and checks correctness; Yosys and nextpnr measure integrated area and timing. The unmodified CRC32 reference took 32.39 million simulated cycles. The best candidate took 30.82 million, a 1.051 times common-clock speedup. These are simulation and FPGA tool results, not physical-chip stopwatch measurements.</a:t>
            </a:r>
          </a:p>
          <a:p xmlns:a="http://schemas.openxmlformats.org/drawingml/2006/main">
            <a:r>
              <a:t/>
            </a:r>
          </a:p>
          <a:p xmlns:a="http://schemas.openxmlformats.org/drawingml/2006/main">
            <a:r>
              <a:t>SOURCES / Q&amp;A (not part of timed script)</a:t>
            </a:r>
          </a:p>
          <a:p xmlns:a="http://schemas.openxmlformats.org/drawingml/2006/main">
            <a:r>
              <a:t>src/candidates.py extracts legal candidates; isaforge/workload_experiment.py orchestrates workload preparation and collection; isaforge/codesign.py implements ProcessorEvaluator; Verilator simulates, Yosys synthesizes, nextpnr routes. docs/codesign-loop.md; results/2026-10-19-codesign/independent-audit.json. Embench CRC32,170 benchmark repetitions; startup, independent checksum, warm-up and serial reporting excluded from counter window. Same RV32I PicoRV32, 8KiB RAM and 12MHz target. Baseline 32,387,382 cycles,1653 LUT4; index_offset 30,820,662 cycles,1684 LUT4 (+31), 1.050833x. Both correctness checked; same-clock speedup, not measured board runtime. Baseline synth/routing Fmax 68.49–77.16 MHz. Distinguish this unmodified reference from heuristic selection baselines.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40 seconds</a:t>
            </a:r>
          </a:p>
          <a:p xmlns:a="http://schemas.openxmlformats.org/drawingml/2006/main">
            <a:r>
              <a:t/>
            </a:r>
          </a:p>
          <a:p xmlns:a="http://schemas.openxmlformats.org/drawingml/2006/main">
            <a:r>
              <a:t>SPOKEN SCRIPT</a:t>
            </a:r>
          </a:p>
          <a:p xmlns:a="http://schemas.openxmlformats.org/drawingml/2006/main">
            <a:r>
              <a:t>Our first hardware-cost study grew from 301 to 713 distinct synthesized formulas across benchmark collections. Those isolated LUT labels are separate from the current whole-program dataset: 122 candidate-program measurements across fourteen workload groups, plus four charged failures. The chart shows its three benchmark suites. We hold out entire workloads. Our thirteen-policy screen includes 2,925 replays of existing measurements, not new hardware runs.</a:t>
            </a:r>
          </a:p>
          <a:p xmlns:a="http://schemas.openxmlformats.org/drawingml/2006/main">
            <a:r>
              <a:t/>
            </a:r>
          </a:p>
          <a:p xmlns:a="http://schemas.openxmlformats.org/drawingml/2006/main">
            <a:r>
              <a:t>SOURCES / Q&amp;A (not part of timed script)</a:t>
            </a:r>
          </a:p>
          <a:p xmlns:a="http://schemas.openxmlformats.org/drawingml/2006/main">
            <a:r>
              <a:t>Earlier area study: initial 301 formulas, later three collections 1,098 program/formula rows and 713 distinct formulas from 17 candidate-bearing programs; isolated LUT4 labels, not processor cycles. The frozen original-301 model evaluated 331 novel final formulas: structural linear 23.154 LUT4 MAE versus original XGBoost 87.595. Later all-713 deployment refit lacks a fresh independent test. See results/2026-10-13-prospective/README.md and docs/methodology-history.md. Current dataset: submissions/midterm-2026-10-28/dataset/; results/2026-10-27-final-selection-scorecard/scorecard.json. 15 build/input contexts;12 complete measured-pool oracles,2 censored. Embench39 labels/6 groups; BEEBS48/5; TACLeBench35/3. Original teammate hardware-branch data uses a distinct context and is not silently merged.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40 seconds</a:t>
            </a:r>
          </a:p>
          <a:p xmlns:a="http://schemas.openxmlformats.org/drawingml/2006/main">
            <a:r>
              <a:t/>
            </a:r>
          </a:p>
          <a:p xmlns:a="http://schemas.openxmlformats.org/drawingml/2006/main">
            <a:r>
              <a:t>SPOKEN SCRIPT</a:t>
            </a:r>
          </a:p>
          <a:p xmlns:a="http://schemas.openxmlformats.org/drawingml/2006/main">
            <a:r>
              <a:t>Our main challenger is XGBoost pairwise ranking, not a neural network. Thirty-five premeasurement features describe each candidate. We use measured speedup to order pairs within a workload, then fit eighty shallow trees. The output is a relative ranking, not a speedup or confidence probability. We tried eight learned policies in the final screen and five controls. Separate experiments tested Gaussian-process active learning. We assess selection quality, not just prediction error.</a:t>
            </a:r>
          </a:p>
          <a:p xmlns:a="http://schemas.openxmlformats.org/drawingml/2006/main">
            <a:r>
              <a:t/>
            </a:r>
          </a:p>
          <a:p xmlns:a="http://schemas.openxmlformats.org/drawingml/2006/main">
            <a:r>
              <a:t>SOURCES / Q&amp;A (not part of timed script)</a:t>
            </a:r>
          </a:p>
          <a:p xmlns:a="http://schemas.openxmlformats.org/drawingml/2006/main">
            <a:r>
              <a:t>isaforge/ranking.py: XGBRanker rank:pairwise;80 estimators,max_depth2,learning_rate0.05,min_child_weight1,reg_lambda1,subsample1,colsample_bytree1,hist,n_jobs1. isaforge/features.py:35 features. Relevance preserves ties within context. Measured target outcomes excluded from input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40 seconds</a:t>
            </a:r>
          </a:p>
          <a:p xmlns:a="http://schemas.openxmlformats.org/drawingml/2006/main">
            <a:r>
              <a:t/>
            </a:r>
          </a:p>
          <a:p xmlns:a="http://schemas.openxmlformats.org/drawingml/2006/main">
            <a:r>
              <a:t>SPOKEN SCRIPT</a:t>
            </a:r>
          </a:p>
          <a:p xmlns:a="http://schemas.openxmlformats.org/drawingml/2006/main">
            <a:r>
              <a:t>Tree contributions show what drives the ranking: estimated instruction savings alone accounts for about forty-seven percent of normalized attribution. This describes the model’s behavior; it is not a causal explanation. A useful failure case is bitcount’s top-ranked candidate: it passes correctness and speeds up execution, but adds sixty-five LUT4 cells, exceeding the cap by one. Uncertainty should help us choose what to measure next. Ensemble disagreement and Gaussian-process estimates are available, but they are not yet calibrated confidence, and the ranker itself does not provide a confidence interval.</a:t>
            </a:r>
          </a:p>
          <a:p xmlns:a="http://schemas.openxmlformats.org/drawingml/2006/main">
            <a:r>
              <a:t/>
            </a:r>
          </a:p>
          <a:p xmlns:a="http://schemas.openxmlformats.org/drawingml/2006/main">
            <a:r>
              <a:t>SOURCES / Q&amp;A (not part of timed script)</a:t>
            </a:r>
          </a:p>
          <a:p xmlns:a="http://schemas.openxmlformats.org/drawingml/2006/main">
            <a:r>
              <a:t>results/2026-10-27-ranker-explainability/explanation.json; global_feature_contributions.csv. Normalized absolute additive tree contributions macro-averaged over14 held-out workloads; profile opportunity features account for66.39%. Local add(in0,andi(in1,15)) rank1/12;1.008782x,+65LUT4,61.82MHz. Uncertainty calibration remains unproved.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45 seconds</a:t>
            </a:r>
          </a:p>
          <a:p xmlns:a="http://schemas.openxmlformats.org/drawingml/2006/main">
            <a:r>
              <a:t/>
            </a:r>
          </a:p>
          <a:p xmlns:a="http://schemas.openxmlformats.org/drawingml/2006/main">
            <a:r>
              <a:t>SPOKEN SCRIPT</a:t>
            </a:r>
          </a:p>
          <a:p xmlns:a="http://schemas.openxmlformats.org/drawingml/2006/main">
            <a:r>
              <a:t>Our agent has four stages: analyze candidates and query ML predictions, choose a structured action, execute it through host guardrails, and record measured evidence. Paid observations feed the next decision. The lower half shows planned extensions. A bounded context builder would route routine decisions to a smaller language model and escalate difficult cases to a stronger one. Optional retrieval could supply approved historical evidence using chunking, embeddings, hybrid search and reranking. These components are not implemented yet. Across the system, LLMOps would version releases and track quality, tokens, latency and cost. We will judge every addition by verified feasible performance under the same measurement budget.</a:t>
            </a:r>
          </a:p>
          <a:p xmlns:a="http://schemas.openxmlformats.org/drawingml/2006/main">
            <a:r>
              <a:t/>
            </a:r>
          </a:p>
          <a:p xmlns:a="http://schemas.openxmlformats.org/drawingml/2006/main">
            <a:r>
              <a:t>SOURCES / Q&amp;A (not part of timed script)</a:t>
            </a:r>
          </a:p>
          <a:p xmlns:a="http://schemas.openxmlformats.org/drawingml/2006/main">
            <a:r>
              <a:t>Implemented: isaforge/bounded_selector.py, isaforge/selection_provider.py, scripts/run_codex_chat_selector.py; four tools list_candidates, predict, measure, finalize. Remote provider records model, tool calls, usage and latency where returned; active chat does not expose exact deployment ID or model-only usage. EDN consumed replay; Ascon three native measurements and live GP update defect fixed afterward. Proposed: smaller/stronger model routing, context/token budgets, retrieval, and complete cost/quality evaluation. No dynamic LLM routing, RAG/vector database, MCP integration, LangGraph, Ragas or production observability is claimed. See agent-architecture-plan.md.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 35 seconds</a:t>
            </a:r>
          </a:p>
          <a:p xmlns:a="http://schemas.openxmlformats.org/drawingml/2006/main">
            <a:r>
              <a:t/>
            </a:r>
          </a:p>
          <a:p xmlns:a="http://schemas.openxmlformats.org/drawingml/2006/main">
            <a:r>
              <a:t>SPOKEN SCRIPT</a:t>
            </a:r>
          </a:p>
          <a:p xmlns:a="http://schemas.openxmlformats.org/drawingml/2006/main">
            <a:r>
              <a:t>The unmodified program gives the performance reference. A different kind of baseline is a selection policy: frequency counts occurrences, while merit estimates operations eliminated times executions. We compare these with latency-aware heuristics, random search, and learned policies. Every method gets the same pool and one, two, or three charged attempts; unqueried results remain hidden. The measured oracle knows all outcomes and gives a retrospective ceiling, not a deployable policy. Historical training cost is tracked separately.</a:t>
            </a:r>
          </a:p>
          <a:p xmlns:a="http://schemas.openxmlformats.org/drawingml/2006/main">
            <a:r>
              <a:t/>
            </a:r>
          </a:p>
          <a:p xmlns:a="http://schemas.openxmlformats.org/drawingml/2006/main">
            <a:r>
              <a:t>SOURCES / Q&amp;A (not part of timed script)</a:t>
            </a:r>
          </a:p>
          <a:p xmlns:a="http://schemas.openxmlformats.org/drawingml/2006/main">
            <a:r>
              <a:t>Protocol: docs/research-foundation.md; scorecard.json. Simple merit uses projected instruction savings; do not label it a CIDRE reproduction. Primary endpoint best verified feasible cycle reduction; regret only for complete pools. Track target evaluations and elapsed time, historical training cost, fit/inference and agent costs separately. Exact isolated ranker fit/inference timing remains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75 seconds</a:t>
            </a:r>
          </a:p>
          <a:p xmlns:a="http://schemas.openxmlformats.org/drawingml/2006/main">
            <a:r>
              <a:t/>
            </a:r>
          </a:p>
          <a:p xmlns:a="http://schemas.openxmlformats.org/drawingml/2006/main">
            <a:r>
              <a:t>SPOKEN SCRIPT</a:t>
            </a:r>
          </a:p>
          <a:p xmlns:a="http://schemas.openxmlformats.org/drawingml/2006/main">
            <a:r>
              <a:t>Here is the main selection result. The vertical axis is mean cycle-reduction regret relative to the best measured feasible candidate in each complete pool; lower is better. At one attempt, merit has 1.132 percent regret and the ranker has 0.842 percent. At two attempts they are almost tied. At three attempts, merit is better. The paired workload confidence intervals include zero for the early-budget advantages, so we cannot claim consistent superiority. Twelve workload groups have complete pool oracles; two incomplete groups are excluded from this regret calculation. The 2,925 policy-budget replays are dependent analyses of the existing measurements, not new hardware experiments. There is also an important diagnosis: all 122 historical cycle-speedup labels match the independently calibrated processor-latency calculation. This dataset therefore does not demonstrate a residual speedup relationship requiring machine learning. Our remaining challenge is learning which useful designs will be hardware-feasible and worth measuring. A previous three-source blind campaign favored both GP policies over merit at three attempts, but a later bitcount test favored the latency-cost heuristic. Those mixed results do not establish a general advantage. The Ascon pilot has no matched controls.</a:t>
            </a:r>
          </a:p>
          <a:p xmlns:a="http://schemas.openxmlformats.org/drawingml/2006/main">
            <a:r>
              <a:t/>
            </a:r>
          </a:p>
          <a:p xmlns:a="http://schemas.openxmlformats.org/drawingml/2006/main">
            <a:r>
              <a:t>SOURCES / Q&amp;A (not part of timed script)</a:t>
            </a:r>
          </a:p>
          <a:p xmlns:a="http://schemas.openxmlformats.org/drawingml/2006/main">
            <a:r>
              <a:t>results/2026-10-27-final-selection-scorecard/scorecard.json. Paired difference = merit regret minus ranker regret (percentage points): B1 +0.290 [−0.065,+0.849]; B2 +0.027 [−0.097,+0.177]; B3 −0.056 [−0.167,0.000]. Workload bootstrap;12 complete pools.14-group cycle-reduction means merit1.086/1.657/2.043%;ranker1.334/1.680/1.996%. Earlier frozen three-source campaign: GP 1.602185% mean cycle reduction vs merit 1.144539% at B3; only three sources and cooperative replay, no total-cost win established. Later bitcount B3 latency-cost heuristic found 0.174118% improvement while both GP policies returned baseline. docs/blind-source-campaign.md; results/2026-10-22-bitcount-report/results.md. Timing floor weakly tested:minimum selected feasible Fmax59.13MHz vs12MHz. Target mean eval time merit55.67/114.24/169.76s;ranker56.29/115.69/171.46s. No total-cost advantage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 35 seconds</a:t>
            </a:r>
          </a:p>
          <a:p xmlns:a="http://schemas.openxmlformats.org/drawingml/2006/main">
            <a:r>
              <a:t/>
            </a:r>
          </a:p>
          <a:p xmlns:a="http://schemas.openxmlformats.org/drawingml/2006/main">
            <a:r>
              <a:t>SPOKEN SCRIPT</a:t>
            </a:r>
          </a:p>
          <a:p xmlns:a="http://schemas.openxmlformats.org/drawingml/2006/main">
            <a:r>
              <a:t>We now have an end-to-end research system: real workloads, executable custom instructions, measured outcomes, learned ranking, and bounded agent tools. The next step is to freeze the policies before observing new workload results, then compare the agent and non-agent methods under identical budgets. We need better workload diversity and validated uncertainty before adding model complexity. Finally, we must implement and measure the selected one-to-three-instruction combination together. Individual speedups cannot be added. A reproducible heuristic win is still a useful scientific result.</a:t>
            </a:r>
          </a:p>
          <a:p xmlns:a="http://schemas.openxmlformats.org/drawingml/2006/main">
            <a:r>
              <a:t/>
            </a:r>
          </a:p>
          <a:p xmlns:a="http://schemas.openxmlformats.org/drawingml/2006/main">
            <a:r>
              <a:t>SOURCES / Q&amp;A (not part of timed script)</a:t>
            </a:r>
          </a:p>
          <a:p xmlns:a="http://schemas.openxmlformats.org/drawingml/2006/main">
            <a:r>
              <a:t>docs/HANDOFF.md; docs/ACTIVE_GOAL.md. Research paused at presentation checkpoint; no new collection implied by this deck. Next experiments require frozen controllers/policies, legal lowering and blind measurement contracts. Keep the original CRC32 and aha-mont64 experiments and all negative outcomes. No RTL-rewriting optimization agent.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74642519974f4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589dd34428b4f6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6f26153d1d54e2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e15cd658e134df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77b26dbeaa6452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123b1889f0c4d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307348-B6D2-473A-81E8-41787642BBA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53BD86-1243-4B5B-A123-9072B05C299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DE61444-4CAF-4F4B-B134-AD342A152D2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DCD876-0C97-4610-888D-798BCB60C2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D688D27-92CE-433F-8E21-07DB29A8AEA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9A581D9-B3A9-4D4F-8FEB-7671CC135E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9D9C728-2618-4FD1-9A96-47A7EF27DC7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7A23E8C-1D08-418D-A242-462F8626046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037DA8-DFBE-44A1-BEDC-7BFA8D039E5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40825F-7AA3-45B1-B0DA-E23973CA83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8ee28de80e4bc2" /><Relationship Type="http://schemas.openxmlformats.org/officeDocument/2006/relationships/slideLayout" Target="/ppt/slideLayouts/slideLayout1.xml" Id="Ra767641b8df945f7" /><Relationship Type="http://schemas.openxmlformats.org/officeDocument/2006/relationships/slideLayout" Target="/ppt/slideLayouts/slideLayout2.xml" Id="Rddaadcdc26934d02" /><Relationship Type="http://schemas.openxmlformats.org/officeDocument/2006/relationships/slideLayout" Target="/ppt/slideLayouts/slideLayout3.xml" Id="R5c9d73e702b9411d" /><Relationship Type="http://schemas.openxmlformats.org/officeDocument/2006/relationships/slideLayout" Target="/ppt/slideLayouts/slideLayout4.xml" Id="Rdf5d2dc555244f8b" /><Relationship Type="http://schemas.openxmlformats.org/officeDocument/2006/relationships/slideLayout" Target="/ppt/slideLayouts/slideLayout5.xml" Id="R2eb80be27cd14107" /><Relationship Type="http://schemas.openxmlformats.org/officeDocument/2006/relationships/slideLayout" Target="/ppt/slideLayouts/slideLayout6.xml" Id="Rb3a0ec51bb6b4d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67641b8df945f7"/>
    <p:sldLayoutId xmlns:r="http://schemas.openxmlformats.org/officeDocument/2006/relationships" id="2147483650" r:id="Rddaadcdc26934d02"/>
    <p:sldLayoutId xmlns:r="http://schemas.openxmlformats.org/officeDocument/2006/relationships" id="2147483651" r:id="R5c9d73e702b9411d"/>
    <p:sldLayoutId xmlns:r="http://schemas.openxmlformats.org/officeDocument/2006/relationships" id="2147483652" r:id="Rdf5d2dc555244f8b"/>
    <p:sldLayoutId xmlns:r="http://schemas.openxmlformats.org/officeDocument/2006/relationships" id="2147483653" r:id="R2eb80be27cd14107"/>
    <p:sldLayoutId xmlns:r="http://schemas.openxmlformats.org/officeDocument/2006/relationships" id="2147483654" r:id="Rb3a0ec51bb6b4d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25bf6f703fe4fc7" /><Relationship Type="http://schemas.openxmlformats.org/officeDocument/2006/relationships/notesSlide" Target="/ppt/notesSlides/notesSlide1.xml" Id="Rfaee105c838c41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02d5bcfc5694c2f" /><Relationship Type="http://schemas.openxmlformats.org/officeDocument/2006/relationships/notesSlide" Target="/ppt/notesSlides/notesSlide2.xml" Id="R8f5110d28c2844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c40a483df2343d5" /><Relationship Type="http://schemas.openxmlformats.org/officeDocument/2006/relationships/notesSlide" Target="/ppt/notesSlides/notesSlide3.xml" Id="Rf096c28622c143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5c760a10d47460c" /><Relationship Type="http://schemas.openxmlformats.org/officeDocument/2006/relationships/notesSlide" Target="/ppt/notesSlides/notesSlide4.xml" Id="Re792d62f972048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d14dc9a4bc740a0" /><Relationship Type="http://schemas.openxmlformats.org/officeDocument/2006/relationships/chart" Target="/ppt/slides/charts/chart1.xml" Id="Rea2270456c4643af" /><Relationship Type="http://schemas.openxmlformats.org/officeDocument/2006/relationships/notesSlide" Target="/ppt/notesSlides/notesSlide5.xml" Id="R06e6be784fe14f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9875f14c8aa4d82" /><Relationship Type="http://schemas.openxmlformats.org/officeDocument/2006/relationships/notesSlide" Target="/ppt/notesSlides/notesSlide6.xml" Id="R06fa93aa6d75431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a33f804c4114808" /><Relationship Type="http://schemas.openxmlformats.org/officeDocument/2006/relationships/chart" Target="/ppt/slides/charts/chart2.xml" Id="Raffd7ab425ac4ed8" /><Relationship Type="http://schemas.openxmlformats.org/officeDocument/2006/relationships/notesSlide" Target="/ppt/notesSlides/notesSlide7.xml" Id="R66322ec85e174c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85e12e212e34315" /><Relationship Type="http://schemas.openxmlformats.org/officeDocument/2006/relationships/notesSlide" Target="/ppt/notesSlides/notesSlide8.xml" Id="Rbebcaa498f624c1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1af5800e787454a" /><Relationship Type="http://schemas.openxmlformats.org/officeDocument/2006/relationships/notesSlide" Target="/ppt/notesSlides/notesSlide9.xml" Id="R41ca1e984ff7455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b7a7d6239aa45ec" /><Relationship Type="http://schemas.openxmlformats.org/officeDocument/2006/relationships/chart" Target="/ppt/slides/charts/chart3.xml" Id="R52c28a42d3e9481c" /><Relationship Type="http://schemas.openxmlformats.org/officeDocument/2006/relationships/notesSlide" Target="/ppt/notesSlides/notesSlide10.xml" Id="R6ebef0ec0c2b44a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0277828e7ba4086" /><Relationship Type="http://schemas.openxmlformats.org/officeDocument/2006/relationships/notesSlide" Target="/ppt/notesSlides/notesSlide11.xml" Id="R5ba89b24814e4da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Successful labels</c:v>
          </c:tx>
          <c:spPr>
            <a:solidFill xmlns:a="http://schemas.openxmlformats.org/drawingml/2006/main">
              <a:srgbClr val="2878A8"/>
            </a:solidFill>
          </c:spPr>
          <c:invertIfNegative val="0"/>
          <c:cat>
            <c:strRef>
              <c:f>'Chart Data'!$A$2:$A$4</c:f>
              <c:strCache>
                <c:ptCount val="3"/>
                <c:pt idx="0">
                  <c:v>Embench</c:v>
                </c:pt>
                <c:pt idx="1">
                  <c:v>BEEBS</c:v>
                </c:pt>
                <c:pt idx="2">
                  <c:v>TACLeBench</c:v>
                </c:pt>
              </c:strCache>
            </c:strRef>
          </c:cat>
          <c:val>
            <c:numRef>
              <c:f>'Chart Data'!$B$2:$B$4</c:f>
              <c:numCache>
                <c:formatCode>General</c:formatCode>
                <c:ptCount val="3"/>
                <c:pt idx="0">
                  <c:v>39</c:v>
                </c:pt>
                <c:pt idx="1">
                  <c:v>48</c:v>
                </c:pt>
                <c:pt idx="2">
                  <c:v>35</c:v>
                </c:pt>
              </c:numCache>
            </c:numRef>
          </c:val>
        </c:ser>
        <c:dLbls>
          <c:txPr>
            <a:bodyPr xmlns:a="http://schemas.openxmlformats.org/drawingml/2006/main" anchorCtr="1"/>
            <a:lstStyle xmlns:a="http://schemas.openxmlformats.org/drawingml/2006/main"/>
            <a:p xmlns:a="http://schemas.openxmlformats.org/drawingml/2006/main">
              <a:pPr>
                <a:defRPr sz="1500">
                  <a:solidFill>
                    <a:srgbClr val="263648"/>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prstDash val="solid"/>
          </a:ln>
        </c:spPr>
        <c:txPr>
          <a:bodyPr xmlns:a="http://schemas.openxmlformats.org/drawingml/2006/main" anchorCtr="1"/>
          <a:lstStyle xmlns:a="http://schemas.openxmlformats.org/drawingml/2006/main"/>
          <a:p xmlns:a="http://schemas.openxmlformats.org/drawingml/2006/main">
            <a:pPr>
              <a:defRPr sz="1500">
                <a:solidFill>
                  <a:srgbClr val="263648"/>
                </a:solidFill>
                <a:latin typeface="Arial"/>
                <a:ea typeface="Arial"/>
                <a:cs typeface="Arial"/>
              </a:defRPr>
            </a:pPr>
          </a:p>
        </c:txPr>
        <c:crossAx val="48672768"/>
      </c:catAx>
      <c:valAx>
        <c:axId val="48672768"/>
        <c:scaling>
          <c:orientation val="minMax"/>
          <c:max val="60"/>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Measured candidate/program pairs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63648"/>
                </a:solidFill>
                <a:latin typeface="Arial"/>
                <a:ea typeface="Arial"/>
                <a:cs typeface="Arial"/>
              </a:defRPr>
            </a:pPr>
          </a:p>
        </c:txPr>
        <c:crossAx val="48650112"/>
        <c:crossBetween val="between"/>
        <c:majorUnit val="20"/>
      </c:valAx>
      <c:spPr>
        <a:solidFill xmlns:a="http://schemas.openxmlformats.org/drawingml/2006/main">
          <a:srgbClr val="FFFFFF"/>
        </a:solidFill>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Attribution share</c:v>
          </c:tx>
          <c:spPr>
            <a:solidFill xmlns:a="http://schemas.openxmlformats.org/drawingml/2006/main">
              <a:srgbClr val="2878A8"/>
            </a:solidFill>
          </c:spPr>
          <c:invertIfNegative val="0"/>
          <c:cat>
            <c:strRef>
              <c:f>'Chart Data'!$A$2:$A$6</c:f>
              <c:strCache>
                <c:ptCount val="5"/>
                <c:pt idx="0">
                  <c:v>Savings %</c:v>
                </c:pt>
                <c:pt idx="1">
                  <c:v>Locations</c:v>
                </c:pt>
                <c:pt idx="2">
                  <c:v>Size</c:v>
                </c:pt>
                <c:pt idx="3">
                  <c:v>Frequency</c:v>
                </c:pt>
                <c:pt idx="4">
                  <c:v>Other</c:v>
                </c:pt>
              </c:strCache>
            </c:strRef>
          </c:cat>
          <c:val>
            <c:numRef>
              <c:f>'Chart Data'!$B$2:$B$6</c:f>
              <c:numCache>
                <c:formatCode>General</c:formatCode>
                <c:ptCount val="5"/>
                <c:pt idx="0">
                  <c:v>47.1035</c:v>
                </c:pt>
                <c:pt idx="1">
                  <c:v>11.1</c:v>
                </c:pt>
                <c:pt idx="2">
                  <c:v>7.2663</c:v>
                </c:pt>
                <c:pt idx="3">
                  <c:v>5.4586</c:v>
                </c:pt>
                <c:pt idx="4">
                  <c:v>29.0716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a:solidFill>
                    <a:srgbClr val="263648"/>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prstDash val="solid"/>
          </a:ln>
        </c:spPr>
        <c:txPr>
          <a:bodyPr xmlns:a="http://schemas.openxmlformats.org/drawingml/2006/main" anchorCtr="1"/>
          <a:lstStyle xmlns:a="http://schemas.openxmlformats.org/drawingml/2006/main"/>
          <a:p xmlns:a="http://schemas.openxmlformats.org/drawingml/2006/main">
            <a:pPr>
              <a:defRPr sz="1500">
                <a:solidFill>
                  <a:srgbClr val="263648"/>
                </a:solidFill>
                <a:latin typeface="Arial"/>
                <a:ea typeface="Arial"/>
                <a:cs typeface="Arial"/>
              </a:defRPr>
            </a:pPr>
          </a:p>
        </c:txPr>
        <c:crossAx val="48672768"/>
      </c:catAx>
      <c:valAx>
        <c:axId val="48672768"/>
        <c:scaling>
          <c:orientation val="minMax"/>
          <c:max val="60"/>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Normalized contribution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63648"/>
                </a:solidFill>
                <a:latin typeface="Arial"/>
                <a:ea typeface="Arial"/>
                <a:cs typeface="Arial"/>
              </a:defRPr>
            </a:pPr>
          </a:p>
        </c:txPr>
        <c:crossAx val="48650112"/>
        <c:crossBetween val="between"/>
        <c:majorUnit val="20"/>
      </c:valAx>
      <c:spPr>
        <a:solidFill xmlns:a="http://schemas.openxmlformats.org/drawingml/2006/main">
          <a:srgbClr val="FFFFFF"/>
        </a:solidFill>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Merit</c:v>
          </c:tx>
          <c:spPr>
            <a:solidFill xmlns:a="http://schemas.openxmlformats.org/drawingml/2006/main">
              <a:srgbClr val="607286"/>
            </a:solidFill>
          </c:spPr>
          <c:invertIfNegative val="0"/>
          <c:cat>
            <c:strRef>
              <c:f>'Chart Data'!$A$2:$A$4</c:f>
              <c:strCache>
                <c:ptCount val="3"/>
                <c:pt idx="0">
                  <c:v>1 attempt</c:v>
                </c:pt>
                <c:pt idx="1">
                  <c:v>2 attempts</c:v>
                </c:pt>
                <c:pt idx="2">
                  <c:v>3 attempts</c:v>
                </c:pt>
              </c:strCache>
            </c:strRef>
          </c:cat>
          <c:val>
            <c:numRef>
              <c:f>'Chart Data'!$B$2:$B$4</c:f>
              <c:numCache>
                <c:formatCode>0.00</c:formatCode>
                <c:ptCount val="3"/>
                <c:pt idx="0">
                  <c:v>1.132</c:v>
                </c:pt>
                <c:pt idx="1">
                  <c:v>0.465</c:v>
                </c:pt>
                <c:pt idx="2">
                  <c:v>0.015</c:v>
                </c:pt>
              </c:numCache>
            </c:numRef>
          </c:val>
        </c:ser>
        <c:ser>
          <c:idx val="1"/>
          <c:order val="1"/>
          <c:tx>
            <c:v>XGB ranker</c:v>
          </c:tx>
          <c:spPr>
            <a:solidFill xmlns:a="http://schemas.openxmlformats.org/drawingml/2006/main">
              <a:srgbClr val="2878A8"/>
            </a:solidFill>
          </c:spPr>
          <c:invertIfNegative val="0"/>
          <c:cat>
            <c:strRef>
              <c:f>'Chart Data'!$C$2:$C$4</c:f>
              <c:strCache>
                <c:ptCount val="3"/>
                <c:pt idx="0">
                  <c:v>1 attempt</c:v>
                </c:pt>
                <c:pt idx="1">
                  <c:v>2 attempts</c:v>
                </c:pt>
                <c:pt idx="2">
                  <c:v>3 attempts</c:v>
                </c:pt>
              </c:strCache>
            </c:strRef>
          </c:cat>
          <c:val>
            <c:numRef>
              <c:f>'Chart Data'!$D$2:$D$4</c:f>
              <c:numCache>
                <c:formatCode>0.00</c:formatCode>
                <c:ptCount val="3"/>
                <c:pt idx="0">
                  <c:v>0.842</c:v>
                </c:pt>
                <c:pt idx="1">
                  <c:v>0.439</c:v>
                </c:pt>
                <c:pt idx="2">
                  <c:v>0.07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350">
                  <a:solidFill>
                    <a:srgbClr val="263648"/>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prstDash val="solid"/>
          </a:ln>
        </c:spPr>
        <c:txPr>
          <a:bodyPr xmlns:a="http://schemas.openxmlformats.org/drawingml/2006/main" anchorCtr="1"/>
          <a:lstStyle xmlns:a="http://schemas.openxmlformats.org/drawingml/2006/main"/>
          <a:p xmlns:a="http://schemas.openxmlformats.org/drawingml/2006/main">
            <a:pPr>
              <a:defRPr sz="1500">
                <a:solidFill>
                  <a:srgbClr val="263648"/>
                </a:solidFill>
                <a:latin typeface="Arial"/>
                <a:ea typeface="Arial"/>
                <a:cs typeface="Arial"/>
              </a:defRPr>
            </a:pPr>
          </a:p>
        </c:txPr>
        <c:crossAx val="48672768"/>
      </c:catAx>
      <c:valAx>
        <c:axId val="48672768"/>
        <c:scaling>
          <c:orientation val="minMax"/>
          <c:max val="1.4"/>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oracle regret (%)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63648"/>
                </a:solidFill>
                <a:latin typeface="Arial"/>
                <a:ea typeface="Arial"/>
                <a:cs typeface="Arial"/>
              </a:defRPr>
            </a:pPr>
          </a:p>
        </c:txPr>
        <c:crossAx val="48650112"/>
        <c:crossBetween val="between"/>
        <c:majorUnit val="0.35"/>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263648"/>
              </a:solidFill>
              <a:latin typeface="Arial"/>
              <a:ea typeface="Arial"/>
              <a:cs typeface="Arial"/>
            </a:defRPr>
          </a:pPr>
        </a:p>
      </c:txPr>
    </c:legend>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4444A3-D815-4FD0-9B24-C58F48A74036}"/>
              </a:ext>
            </a:extLst>
          </p:cNvPr>
          <p:cNvSpPr>
            <a:spLocks xmlns:a="http://schemas.openxmlformats.org/drawingml/2006/main" noGrp="1"/>
          </p:cNvSpPr>
          <p:nvPr/>
        </p:nvSpPr>
        <p:spPr>
          <a:xfrm xmlns:a="http://schemas.openxmlformats.org/drawingml/2006/main">
            <a:off x="6477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7324D"/>
                </a:solidFill>
                <a:latin typeface="Arial"/>
                <a:ea typeface="Arial"/>
                <a:cs typeface="Arial"/>
              </a:defRPr>
            </a:defPPr>
            <a:lvl1pPr>
              <a:defRPr sz="3225" b="1">
                <a:solidFill>
                  <a:srgbClr val="17324D"/>
                </a:solidFill>
                <a:latin typeface="Arial"/>
                <a:ea typeface="Arial"/>
                <a:cs typeface="Arial"/>
              </a:defRPr>
            </a:lvl1pPr>
            <a:lvl2pPr>
              <a:defRPr sz="3225" b="1">
                <a:solidFill>
                  <a:srgbClr val="17324D"/>
                </a:solidFill>
                <a:latin typeface="Arial"/>
                <a:ea typeface="Arial"/>
                <a:cs typeface="Arial"/>
              </a:defRPr>
            </a:lvl2pPr>
            <a:lvl3pPr>
              <a:defRPr sz="3225" b="1">
                <a:solidFill>
                  <a:srgbClr val="17324D"/>
                </a:solidFill>
                <a:latin typeface="Arial"/>
                <a:ea typeface="Arial"/>
                <a:cs typeface="Arial"/>
              </a:defRPr>
            </a:lvl3pPr>
            <a:lvl4pPr>
              <a:defRPr sz="3225" b="1">
                <a:solidFill>
                  <a:srgbClr val="17324D"/>
                </a:solidFill>
                <a:latin typeface="Arial"/>
                <a:ea typeface="Arial"/>
                <a:cs typeface="Arial"/>
              </a:defRPr>
            </a:lvl4pPr>
            <a:lvl5pPr>
              <a:defRPr sz="3225" b="1">
                <a:solidFill>
                  <a:srgbClr val="17324D"/>
                </a:solidFill>
                <a:latin typeface="Arial"/>
                <a:ea typeface="Arial"/>
                <a:cs typeface="Arial"/>
              </a:defRPr>
            </a:lvl5pPr>
            <a:lvl6pPr>
              <a:defRPr sz="3225" b="1">
                <a:solidFill>
                  <a:srgbClr val="17324D"/>
                </a:solidFill>
                <a:latin typeface="Arial"/>
                <a:ea typeface="Arial"/>
                <a:cs typeface="Arial"/>
              </a:defRPr>
            </a:lvl6pPr>
            <a:lvl7pPr>
              <a:defRPr sz="3225" b="1">
                <a:solidFill>
                  <a:srgbClr val="17324D"/>
                </a:solidFill>
                <a:latin typeface="Arial"/>
                <a:ea typeface="Arial"/>
                <a:cs typeface="Arial"/>
              </a:defRPr>
            </a:lvl7pPr>
            <a:lvl8pPr>
              <a:defRPr sz="3225" b="1">
                <a:solidFill>
                  <a:srgbClr val="17324D"/>
                </a:solidFill>
                <a:latin typeface="Arial"/>
                <a:ea typeface="Arial"/>
                <a:cs typeface="Arial"/>
              </a:defRPr>
            </a:lvl8pPr>
            <a:lvl9pPr>
              <a:defRPr sz="3225" b="1">
                <a:solidFill>
                  <a:srgbClr val="17324D"/>
                </a:solidFill>
                <a:latin typeface="Arial"/>
                <a:ea typeface="Arial"/>
                <a:cs typeface="Arial"/>
              </a:defRPr>
            </a:lvl9pPr>
          </a:lstStyle>
          <a:p xmlns:a="http://schemas.openxmlformats.org/drawingml/2006/main">
            <a:pPr>
              <a:defRPr sz="3225" b="1">
                <a:solidFill>
                  <a:srgbClr val="17324D"/>
                </a:solidFill>
                <a:latin typeface="Arial"/>
                <a:ea typeface="Arial"/>
                <a:cs typeface="Arial"/>
              </a:defRPr>
            </a:pPr>
            <a:r>
              <a:rPr sz="3225" b="1">
                <a:solidFill>
                  <a:srgbClr val="17324D"/>
                </a:solidFill>
                <a:latin typeface="Arial"/>
                <a:ea typeface="Arial"/>
                <a:cs typeface="Arial"/>
              </a:rPr>
              <a:t>ISAForge</a:t>
            </a:r>
          </a:p>
        </p:txBody>
      </p:sp>
      <p:sp>
        <p:nvSpPr>
          <p:cNvPr id="2" name="">
            <a:extLst xmlns:a="http://schemas.openxmlformats.org/drawingml/2006/main">
              <a:ext uri="{FF2B5EF4-FFF2-40B4-BE49-F238E27FC236}">
                <a16:creationId xmlns:a16="http://schemas.microsoft.com/office/drawing/2014/main" id="{50C4A47E-EF77-4EB7-83E0-5B44E61AE895}"/>
              </a:ext>
            </a:extLst>
          </p:cNvPr>
          <p:cNvSpPr>
            <a:spLocks xmlns:a="http://schemas.openxmlformats.org/drawingml/2006/main" noGrp="1"/>
          </p:cNvSpPr>
          <p:nvPr/>
        </p:nvSpPr>
        <p:spPr>
          <a:xfrm xmlns:a="http://schemas.openxmlformats.org/drawingml/2006/main">
            <a:off x="647700" y="1066800"/>
            <a:ext cx="10896600" cy="0"/>
          </a:xfrm>
          <a:prstGeom xmlns:a="http://schemas.openxmlformats.org/drawingml/2006/main" prst="line">
            <a:avLst/>
          </a:prstGeom>
          <a:noFill xmlns:a="http://schemas.openxmlformats.org/drawingml/2006/main"/>
          <a:ln xmlns:a="http://schemas.openxmlformats.org/drawingml/2006/main" w="9525">
            <a:solidFill>
              <a:srgbClr val="D9E1E8"/>
            </a:solidFill>
            <a:prstDash val="solid"/>
          </a:ln>
        </p:spPr>
      </p:sp>
      <p:sp>
        <p:nvSpPr>
          <p:cNvPr id="3" name="">
            <a:extLst xmlns:a="http://schemas.openxmlformats.org/drawingml/2006/main">
              <a:ext uri="{FF2B5EF4-FFF2-40B4-BE49-F238E27FC236}">
                <a16:creationId xmlns:a16="http://schemas.microsoft.com/office/drawing/2014/main" id="{B9850BB5-49B3-4D6A-A1AA-6A392EDEB68F}"/>
              </a:ext>
            </a:extLst>
          </p:cNvPr>
          <p:cNvSpPr>
            <a:spLocks xmlns:a="http://schemas.openxmlformats.org/drawingml/2006/main" noGrp="1"/>
          </p:cNvSpPr>
          <p:nvPr/>
        </p:nvSpPr>
        <p:spPr>
          <a:xfrm xmlns:a="http://schemas.openxmlformats.org/drawingml/2006/main">
            <a:off x="647700" y="6534150"/>
            <a:ext cx="10896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607286"/>
                </a:solidFill>
                <a:latin typeface="Arial"/>
                <a:ea typeface="Arial"/>
                <a:cs typeface="Arial"/>
              </a:defRPr>
            </a:defPPr>
            <a:lvl1pPr>
              <a:defRPr sz="900">
                <a:solidFill>
                  <a:srgbClr val="607286"/>
                </a:solidFill>
                <a:latin typeface="Arial"/>
                <a:ea typeface="Arial"/>
                <a:cs typeface="Arial"/>
              </a:defRPr>
            </a:lvl1pPr>
            <a:lvl2pPr>
              <a:defRPr sz="900">
                <a:solidFill>
                  <a:srgbClr val="607286"/>
                </a:solidFill>
                <a:latin typeface="Arial"/>
                <a:ea typeface="Arial"/>
                <a:cs typeface="Arial"/>
              </a:defRPr>
            </a:lvl2pPr>
            <a:lvl3pPr>
              <a:defRPr sz="900">
                <a:solidFill>
                  <a:srgbClr val="607286"/>
                </a:solidFill>
                <a:latin typeface="Arial"/>
                <a:ea typeface="Arial"/>
                <a:cs typeface="Arial"/>
              </a:defRPr>
            </a:lvl3pPr>
            <a:lvl4pPr>
              <a:defRPr sz="900">
                <a:solidFill>
                  <a:srgbClr val="607286"/>
                </a:solidFill>
                <a:latin typeface="Arial"/>
                <a:ea typeface="Arial"/>
                <a:cs typeface="Arial"/>
              </a:defRPr>
            </a:lvl4pPr>
            <a:lvl5pPr>
              <a:defRPr sz="900">
                <a:solidFill>
                  <a:srgbClr val="607286"/>
                </a:solidFill>
                <a:latin typeface="Arial"/>
                <a:ea typeface="Arial"/>
                <a:cs typeface="Arial"/>
              </a:defRPr>
            </a:lvl5pPr>
            <a:lvl6pPr>
              <a:defRPr sz="900">
                <a:solidFill>
                  <a:srgbClr val="607286"/>
                </a:solidFill>
                <a:latin typeface="Arial"/>
                <a:ea typeface="Arial"/>
                <a:cs typeface="Arial"/>
              </a:defRPr>
            </a:lvl6pPr>
            <a:lvl7pPr>
              <a:defRPr sz="900">
                <a:solidFill>
                  <a:srgbClr val="607286"/>
                </a:solidFill>
                <a:latin typeface="Arial"/>
                <a:ea typeface="Arial"/>
                <a:cs typeface="Arial"/>
              </a:defRPr>
            </a:lvl7pPr>
            <a:lvl8pPr>
              <a:defRPr sz="900">
                <a:solidFill>
                  <a:srgbClr val="607286"/>
                </a:solidFill>
                <a:latin typeface="Arial"/>
                <a:ea typeface="Arial"/>
                <a:cs typeface="Arial"/>
              </a:defRPr>
            </a:lvl8pPr>
            <a:lvl9pPr>
              <a:defRPr sz="900">
                <a:solidFill>
                  <a:srgbClr val="607286"/>
                </a:solidFill>
                <a:latin typeface="Arial"/>
                <a:ea typeface="Arial"/>
                <a:cs typeface="Arial"/>
              </a:defRPr>
            </a:lvl9pPr>
          </a:lstStyle>
          <a:p xmlns:a="http://schemas.openxmlformats.org/drawingml/2006/main">
            <a:pPr>
              <a:defRPr sz="900">
                <a:solidFill>
                  <a:srgbClr val="607286"/>
                </a:solidFill>
                <a:latin typeface="Arial"/>
                <a:ea typeface="Arial"/>
                <a:cs typeface="Arial"/>
              </a:defRPr>
            </a:pPr>
            <a:r>
              <a:rPr sz="900">
                <a:solidFill>
                  <a:srgbClr val="607286"/>
                </a:solidFill>
                <a:latin typeface="Arial"/>
                <a:ea typeface="Arial"/>
                <a:cs typeface="Arial"/>
              </a:rPr>
              <a:t>ISAForge  /  ECE 4803                                    1</a:t>
            </a:r>
          </a:p>
        </p:txBody>
      </p:sp>
      <p:sp>
        <p:nvSpPr>
          <p:cNvPr id="4" name="">
            <a:extLst xmlns:a="http://schemas.openxmlformats.org/drawingml/2006/main">
              <a:ext uri="{FF2B5EF4-FFF2-40B4-BE49-F238E27FC236}">
                <a16:creationId xmlns:a16="http://schemas.microsoft.com/office/drawing/2014/main" id="{4FED64FA-7EDA-4806-B12B-64F95EF58E44}"/>
              </a:ext>
            </a:extLst>
          </p:cNvPr>
          <p:cNvSpPr>
            <a:spLocks xmlns:a="http://schemas.openxmlformats.org/drawingml/2006/main" noGrp="1"/>
          </p:cNvSpPr>
          <p:nvPr/>
        </p:nvSpPr>
        <p:spPr>
          <a:xfrm xmlns:a="http://schemas.openxmlformats.org/drawingml/2006/main">
            <a:off x="685800" y="15621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2878A8"/>
                </a:solidFill>
                <a:latin typeface="Arial"/>
                <a:ea typeface="Arial"/>
                <a:cs typeface="Arial"/>
              </a:defRPr>
            </a:defPPr>
            <a:lvl1pPr>
              <a:defRPr sz="3300" b="1">
                <a:solidFill>
                  <a:srgbClr val="2878A8"/>
                </a:solidFill>
                <a:latin typeface="Arial"/>
                <a:ea typeface="Arial"/>
                <a:cs typeface="Arial"/>
              </a:defRPr>
            </a:lvl1pPr>
            <a:lvl2pPr>
              <a:defRPr sz="3300" b="1">
                <a:solidFill>
                  <a:srgbClr val="2878A8"/>
                </a:solidFill>
                <a:latin typeface="Arial"/>
                <a:ea typeface="Arial"/>
                <a:cs typeface="Arial"/>
              </a:defRPr>
            </a:lvl2pPr>
            <a:lvl3pPr>
              <a:defRPr sz="3300" b="1">
                <a:solidFill>
                  <a:srgbClr val="2878A8"/>
                </a:solidFill>
                <a:latin typeface="Arial"/>
                <a:ea typeface="Arial"/>
                <a:cs typeface="Arial"/>
              </a:defRPr>
            </a:lvl3pPr>
            <a:lvl4pPr>
              <a:defRPr sz="3300" b="1">
                <a:solidFill>
                  <a:srgbClr val="2878A8"/>
                </a:solidFill>
                <a:latin typeface="Arial"/>
                <a:ea typeface="Arial"/>
                <a:cs typeface="Arial"/>
              </a:defRPr>
            </a:lvl4pPr>
            <a:lvl5pPr>
              <a:defRPr sz="3300" b="1">
                <a:solidFill>
                  <a:srgbClr val="2878A8"/>
                </a:solidFill>
                <a:latin typeface="Arial"/>
                <a:ea typeface="Arial"/>
                <a:cs typeface="Arial"/>
              </a:defRPr>
            </a:lvl5pPr>
            <a:lvl6pPr>
              <a:defRPr sz="3300" b="1">
                <a:solidFill>
                  <a:srgbClr val="2878A8"/>
                </a:solidFill>
                <a:latin typeface="Arial"/>
                <a:ea typeface="Arial"/>
                <a:cs typeface="Arial"/>
              </a:defRPr>
            </a:lvl6pPr>
            <a:lvl7pPr>
              <a:defRPr sz="3300" b="1">
                <a:solidFill>
                  <a:srgbClr val="2878A8"/>
                </a:solidFill>
                <a:latin typeface="Arial"/>
                <a:ea typeface="Arial"/>
                <a:cs typeface="Arial"/>
              </a:defRPr>
            </a:lvl7pPr>
            <a:lvl8pPr>
              <a:defRPr sz="3300" b="1">
                <a:solidFill>
                  <a:srgbClr val="2878A8"/>
                </a:solidFill>
                <a:latin typeface="Arial"/>
                <a:ea typeface="Arial"/>
                <a:cs typeface="Arial"/>
              </a:defRPr>
            </a:lvl8pPr>
            <a:lvl9pPr>
              <a:defRPr sz="3300" b="1">
                <a:solidFill>
                  <a:srgbClr val="2878A8"/>
                </a:solidFill>
                <a:latin typeface="Arial"/>
                <a:ea typeface="Arial"/>
                <a:cs typeface="Arial"/>
              </a:defRPr>
            </a:lvl9pPr>
          </a:lstStyle>
          <a:p xmlns:a="http://schemas.openxmlformats.org/drawingml/2006/main">
            <a:pPr>
              <a:defRPr sz="3300" b="1">
                <a:solidFill>
                  <a:srgbClr val="2878A8"/>
                </a:solidFill>
                <a:latin typeface="Arial"/>
                <a:ea typeface="Arial"/>
                <a:cs typeface="Arial"/>
              </a:defRPr>
            </a:pPr>
            <a:r>
              <a:rPr sz="3300" b="1">
                <a:solidFill>
                  <a:srgbClr val="2878A8"/>
                </a:solidFill>
                <a:latin typeface="Arial"/>
                <a:ea typeface="Arial"/>
                <a:cs typeface="Arial"/>
              </a:rPr>
              <a:t>AI-guided RISC-V program optimization</a:t>
            </a:r>
          </a:p>
        </p:txBody>
      </p:sp>
      <p:sp>
        <p:nvSpPr>
          <p:cNvPr id="5" name="">
            <a:extLst xmlns:a="http://schemas.openxmlformats.org/drawingml/2006/main">
              <a:ext uri="{FF2B5EF4-FFF2-40B4-BE49-F238E27FC236}">
                <a16:creationId xmlns:a16="http://schemas.microsoft.com/office/drawing/2014/main" id="{31DE9723-1CC9-4295-AA61-42900C7AB9C9}"/>
              </a:ext>
            </a:extLst>
          </p:cNvPr>
          <p:cNvSpPr>
            <a:spLocks xmlns:a="http://schemas.openxmlformats.org/drawingml/2006/main" noGrp="1"/>
          </p:cNvSpPr>
          <p:nvPr/>
        </p:nvSpPr>
        <p:spPr>
          <a:xfrm xmlns:a="http://schemas.openxmlformats.org/drawingml/2006/main">
            <a:off x="685800" y="2667000"/>
            <a:ext cx="10477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17324D"/>
                </a:solidFill>
                <a:latin typeface="Arial"/>
                <a:ea typeface="Arial"/>
                <a:cs typeface="Arial"/>
              </a:defRPr>
            </a:defPPr>
            <a:lvl1pPr>
              <a:defRPr sz="2850" b="1">
                <a:solidFill>
                  <a:srgbClr val="17324D"/>
                </a:solidFill>
                <a:latin typeface="Arial"/>
                <a:ea typeface="Arial"/>
                <a:cs typeface="Arial"/>
              </a:defRPr>
            </a:lvl1pPr>
            <a:lvl2pPr>
              <a:defRPr sz="2850" b="1">
                <a:solidFill>
                  <a:srgbClr val="17324D"/>
                </a:solidFill>
                <a:latin typeface="Arial"/>
                <a:ea typeface="Arial"/>
                <a:cs typeface="Arial"/>
              </a:defRPr>
            </a:lvl2pPr>
            <a:lvl3pPr>
              <a:defRPr sz="2850" b="1">
                <a:solidFill>
                  <a:srgbClr val="17324D"/>
                </a:solidFill>
                <a:latin typeface="Arial"/>
                <a:ea typeface="Arial"/>
                <a:cs typeface="Arial"/>
              </a:defRPr>
            </a:lvl3pPr>
            <a:lvl4pPr>
              <a:defRPr sz="2850" b="1">
                <a:solidFill>
                  <a:srgbClr val="17324D"/>
                </a:solidFill>
                <a:latin typeface="Arial"/>
                <a:ea typeface="Arial"/>
                <a:cs typeface="Arial"/>
              </a:defRPr>
            </a:lvl4pPr>
            <a:lvl5pPr>
              <a:defRPr sz="2850" b="1">
                <a:solidFill>
                  <a:srgbClr val="17324D"/>
                </a:solidFill>
                <a:latin typeface="Arial"/>
                <a:ea typeface="Arial"/>
                <a:cs typeface="Arial"/>
              </a:defRPr>
            </a:lvl5pPr>
            <a:lvl6pPr>
              <a:defRPr sz="2850" b="1">
                <a:solidFill>
                  <a:srgbClr val="17324D"/>
                </a:solidFill>
                <a:latin typeface="Arial"/>
                <a:ea typeface="Arial"/>
                <a:cs typeface="Arial"/>
              </a:defRPr>
            </a:lvl6pPr>
            <a:lvl7pPr>
              <a:defRPr sz="2850" b="1">
                <a:solidFill>
                  <a:srgbClr val="17324D"/>
                </a:solidFill>
                <a:latin typeface="Arial"/>
                <a:ea typeface="Arial"/>
                <a:cs typeface="Arial"/>
              </a:defRPr>
            </a:lvl7pPr>
            <a:lvl8pPr>
              <a:defRPr sz="2850" b="1">
                <a:solidFill>
                  <a:srgbClr val="17324D"/>
                </a:solidFill>
                <a:latin typeface="Arial"/>
                <a:ea typeface="Arial"/>
                <a:cs typeface="Arial"/>
              </a:defRPr>
            </a:lvl8pPr>
            <a:lvl9pPr>
              <a:defRPr sz="2850" b="1">
                <a:solidFill>
                  <a:srgbClr val="17324D"/>
                </a:solidFill>
                <a:latin typeface="Arial"/>
                <a:ea typeface="Arial"/>
                <a:cs typeface="Arial"/>
              </a:defRPr>
            </a:lvl9pPr>
          </a:lstStyle>
          <a:p xmlns:a="http://schemas.openxmlformats.org/drawingml/2006/main">
            <a:pPr>
              <a:defRPr sz="2850" b="1">
                <a:solidFill>
                  <a:srgbClr val="17324D"/>
                </a:solidFill>
                <a:latin typeface="Arial"/>
                <a:ea typeface="Arial"/>
                <a:cs typeface="Arial"/>
              </a:defRPr>
            </a:pPr>
            <a:r>
              <a:rPr sz="2850" b="1">
                <a:solidFill>
                  <a:srgbClr val="17324D"/>
                </a:solidFill>
                <a:latin typeface="Arial"/>
                <a:ea typeface="Arial"/>
                <a:cs typeface="Arial"/>
              </a:rPr>
              <a:t>Can learned selection find better feasible designs</a:t>
            </a:r>
          </a:p>
          <a:p xmlns:a="http://schemas.openxmlformats.org/drawingml/2006/main">
            <a:pPr>
              <a:defRPr sz="2850" b="1">
                <a:solidFill>
                  <a:srgbClr val="17324D"/>
                </a:solidFill>
                <a:latin typeface="Arial"/>
                <a:ea typeface="Arial"/>
                <a:cs typeface="Arial"/>
              </a:defRPr>
            </a:pPr>
            <a:r>
              <a:rPr sz="2850" b="1">
                <a:solidFill>
                  <a:srgbClr val="17324D"/>
                </a:solidFill>
                <a:latin typeface="Arial"/>
                <a:ea typeface="Arial"/>
                <a:cs typeface="Arial"/>
              </a:rPr>
              <a:t>with fewer hardware evaluations?</a:t>
            </a:r>
          </a:p>
        </p:txBody>
      </p:sp>
      <p:sp>
        <p:nvSpPr>
          <p:cNvPr id="6" name="">
            <a:extLst xmlns:a="http://schemas.openxmlformats.org/drawingml/2006/main">
              <a:ext uri="{FF2B5EF4-FFF2-40B4-BE49-F238E27FC236}">
                <a16:creationId xmlns:a16="http://schemas.microsoft.com/office/drawing/2014/main" id="{8FD39306-4A0A-4276-B751-51409E0FB316}"/>
              </a:ext>
            </a:extLst>
          </p:cNvPr>
          <p:cNvSpPr>
            <a:spLocks xmlns:a="http://schemas.openxmlformats.org/drawingml/2006/main" noGrp="1"/>
          </p:cNvSpPr>
          <p:nvPr/>
        </p:nvSpPr>
        <p:spPr>
          <a:xfrm xmlns:a="http://schemas.openxmlformats.org/drawingml/2006/main">
            <a:off x="685800" y="437197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263648"/>
                </a:solidFill>
                <a:latin typeface="Arial"/>
                <a:ea typeface="Arial"/>
                <a:cs typeface="Arial"/>
              </a:defRPr>
            </a:defPPr>
            <a:lvl1pPr>
              <a:defRPr sz="2100" b="0">
                <a:solidFill>
                  <a:srgbClr val="263648"/>
                </a:solidFill>
                <a:latin typeface="Arial"/>
                <a:ea typeface="Arial"/>
                <a:cs typeface="Arial"/>
              </a:defRPr>
            </a:lvl1pPr>
            <a:lvl2pPr>
              <a:defRPr sz="2100" b="0">
                <a:solidFill>
                  <a:srgbClr val="263648"/>
                </a:solidFill>
                <a:latin typeface="Arial"/>
                <a:ea typeface="Arial"/>
                <a:cs typeface="Arial"/>
              </a:defRPr>
            </a:lvl2pPr>
            <a:lvl3pPr>
              <a:defRPr sz="2100" b="0">
                <a:solidFill>
                  <a:srgbClr val="263648"/>
                </a:solidFill>
                <a:latin typeface="Arial"/>
                <a:ea typeface="Arial"/>
                <a:cs typeface="Arial"/>
              </a:defRPr>
            </a:lvl3pPr>
            <a:lvl4pPr>
              <a:defRPr sz="2100" b="0">
                <a:solidFill>
                  <a:srgbClr val="263648"/>
                </a:solidFill>
                <a:latin typeface="Arial"/>
                <a:ea typeface="Arial"/>
                <a:cs typeface="Arial"/>
              </a:defRPr>
            </a:lvl4pPr>
            <a:lvl5pPr>
              <a:defRPr sz="2100" b="0">
                <a:solidFill>
                  <a:srgbClr val="263648"/>
                </a:solidFill>
                <a:latin typeface="Arial"/>
                <a:ea typeface="Arial"/>
                <a:cs typeface="Arial"/>
              </a:defRPr>
            </a:lvl5pPr>
            <a:lvl6pPr>
              <a:defRPr sz="2100" b="0">
                <a:solidFill>
                  <a:srgbClr val="263648"/>
                </a:solidFill>
                <a:latin typeface="Arial"/>
                <a:ea typeface="Arial"/>
                <a:cs typeface="Arial"/>
              </a:defRPr>
            </a:lvl6pPr>
            <a:lvl7pPr>
              <a:defRPr sz="2100" b="0">
                <a:solidFill>
                  <a:srgbClr val="263648"/>
                </a:solidFill>
                <a:latin typeface="Arial"/>
                <a:ea typeface="Arial"/>
                <a:cs typeface="Arial"/>
              </a:defRPr>
            </a:lvl7pPr>
            <a:lvl8pPr>
              <a:defRPr sz="2100" b="0">
                <a:solidFill>
                  <a:srgbClr val="263648"/>
                </a:solidFill>
                <a:latin typeface="Arial"/>
                <a:ea typeface="Arial"/>
                <a:cs typeface="Arial"/>
              </a:defRPr>
            </a:lvl8pPr>
            <a:lvl9pPr>
              <a:defRPr sz="2100" b="0">
                <a:solidFill>
                  <a:srgbClr val="263648"/>
                </a:solidFill>
                <a:latin typeface="Arial"/>
                <a:ea typeface="Arial"/>
                <a:cs typeface="Arial"/>
              </a:defRPr>
            </a:lvl9pPr>
          </a:lstStyle>
          <a:p xmlns:a="http://schemas.openxmlformats.org/drawingml/2006/main">
            <a:pPr>
              <a:defRPr sz="2100" b="0">
                <a:solidFill>
                  <a:srgbClr val="263648"/>
                </a:solidFill>
                <a:latin typeface="Arial"/>
                <a:ea typeface="Arial"/>
                <a:cs typeface="Arial"/>
              </a:defRPr>
            </a:pPr>
            <a:r>
              <a:rPr sz="2100" b="0">
                <a:solidFill>
                  <a:srgbClr val="263648"/>
                </a:solidFill>
                <a:latin typeface="Arial"/>
                <a:ea typeface="Arial"/>
                <a:cs typeface="Arial"/>
              </a:rPr>
              <a:t>Real workloads → measured outcomes → intelligent selection</a:t>
            </a:r>
          </a:p>
        </p:txBody>
      </p:sp>
      <p:sp>
        <p:nvSpPr>
          <p:cNvPr id="7" name="">
            <a:extLst xmlns:a="http://schemas.openxmlformats.org/drawingml/2006/main">
              <a:ext uri="{FF2B5EF4-FFF2-40B4-BE49-F238E27FC236}">
                <a16:creationId xmlns:a16="http://schemas.microsoft.com/office/drawing/2014/main" id="{790F2771-130E-48AC-A457-5B08B11BF7BD}"/>
              </a:ext>
            </a:extLst>
          </p:cNvPr>
          <p:cNvSpPr>
            <a:spLocks xmlns:a="http://schemas.openxmlformats.org/drawingml/2006/main" noGrp="1"/>
          </p:cNvSpPr>
          <p:nvPr/>
        </p:nvSpPr>
        <p:spPr>
          <a:xfrm xmlns:a="http://schemas.openxmlformats.org/drawingml/2006/main">
            <a:off x="685800" y="5495925"/>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607286"/>
                </a:solidFill>
                <a:latin typeface="Arial"/>
                <a:ea typeface="Arial"/>
                <a:cs typeface="Arial"/>
              </a:defRPr>
            </a:defPPr>
            <a:lvl1pPr>
              <a:defRPr sz="1725" b="0">
                <a:solidFill>
                  <a:srgbClr val="607286"/>
                </a:solidFill>
                <a:latin typeface="Arial"/>
                <a:ea typeface="Arial"/>
                <a:cs typeface="Arial"/>
              </a:defRPr>
            </a:lvl1pPr>
            <a:lvl2pPr>
              <a:defRPr sz="1725" b="0">
                <a:solidFill>
                  <a:srgbClr val="607286"/>
                </a:solidFill>
                <a:latin typeface="Arial"/>
                <a:ea typeface="Arial"/>
                <a:cs typeface="Arial"/>
              </a:defRPr>
            </a:lvl2pPr>
            <a:lvl3pPr>
              <a:defRPr sz="1725" b="0">
                <a:solidFill>
                  <a:srgbClr val="607286"/>
                </a:solidFill>
                <a:latin typeface="Arial"/>
                <a:ea typeface="Arial"/>
                <a:cs typeface="Arial"/>
              </a:defRPr>
            </a:lvl3pPr>
            <a:lvl4pPr>
              <a:defRPr sz="1725" b="0">
                <a:solidFill>
                  <a:srgbClr val="607286"/>
                </a:solidFill>
                <a:latin typeface="Arial"/>
                <a:ea typeface="Arial"/>
                <a:cs typeface="Arial"/>
              </a:defRPr>
            </a:lvl4pPr>
            <a:lvl5pPr>
              <a:defRPr sz="1725" b="0">
                <a:solidFill>
                  <a:srgbClr val="607286"/>
                </a:solidFill>
                <a:latin typeface="Arial"/>
                <a:ea typeface="Arial"/>
                <a:cs typeface="Arial"/>
              </a:defRPr>
            </a:lvl5pPr>
            <a:lvl6pPr>
              <a:defRPr sz="1725" b="0">
                <a:solidFill>
                  <a:srgbClr val="607286"/>
                </a:solidFill>
                <a:latin typeface="Arial"/>
                <a:ea typeface="Arial"/>
                <a:cs typeface="Arial"/>
              </a:defRPr>
            </a:lvl6pPr>
            <a:lvl7pPr>
              <a:defRPr sz="1725" b="0">
                <a:solidFill>
                  <a:srgbClr val="607286"/>
                </a:solidFill>
                <a:latin typeface="Arial"/>
                <a:ea typeface="Arial"/>
                <a:cs typeface="Arial"/>
              </a:defRPr>
            </a:lvl7pPr>
            <a:lvl8pPr>
              <a:defRPr sz="1725" b="0">
                <a:solidFill>
                  <a:srgbClr val="607286"/>
                </a:solidFill>
                <a:latin typeface="Arial"/>
                <a:ea typeface="Arial"/>
                <a:cs typeface="Arial"/>
              </a:defRPr>
            </a:lvl8pPr>
            <a:lvl9pPr>
              <a:defRPr sz="1725" b="0">
                <a:solidFill>
                  <a:srgbClr val="607286"/>
                </a:solidFill>
                <a:latin typeface="Arial"/>
                <a:ea typeface="Arial"/>
                <a:cs typeface="Arial"/>
              </a:defRPr>
            </a:lvl9pPr>
          </a:lstStyle>
          <a:p xmlns:a="http://schemas.openxmlformats.org/drawingml/2006/main">
            <a:pPr>
              <a:defRPr sz="1725" b="0">
                <a:solidFill>
                  <a:srgbClr val="607286"/>
                </a:solidFill>
                <a:latin typeface="Arial"/>
                <a:ea typeface="Arial"/>
                <a:cs typeface="Arial"/>
              </a:defRPr>
            </a:pPr>
            <a:r>
              <a:rPr sz="1725" b="0">
                <a:solidFill>
                  <a:srgbClr val="607286"/>
                </a:solidFill>
                <a:latin typeface="Arial"/>
                <a:ea typeface="Arial"/>
                <a:cs typeface="Arial"/>
              </a:rPr>
              <a:t>Midterm progress • ECE 4803 • October 28, 2026</a:t>
            </a:r>
          </a:p>
        </p:txBody>
      </p:sp>
    </p:spTree>
    <p:extLst>
      <p:ext uri="{BB962C8B-B14F-4D97-AF65-F5344CB8AC3E}">
        <p14:creationId xmlns:p14="http://schemas.microsoft.com/office/powerpoint/2010/main" val="12958153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A5124AC-1D9E-4C71-9941-B5727905B126}"/>
              </a:ext>
            </a:extLst>
          </p:cNvPr>
          <p:cNvSpPr>
            <a:spLocks xmlns:a="http://schemas.openxmlformats.org/drawingml/2006/main" noGrp="1"/>
          </p:cNvSpPr>
          <p:nvPr/>
        </p:nvSpPr>
        <p:spPr>
          <a:xfrm xmlns:a="http://schemas.openxmlformats.org/drawingml/2006/main">
            <a:off x="6477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7324D"/>
                </a:solidFill>
                <a:latin typeface="Arial"/>
                <a:ea typeface="Arial"/>
                <a:cs typeface="Arial"/>
              </a:defRPr>
            </a:defPPr>
            <a:lvl1pPr>
              <a:defRPr sz="3225" b="1">
                <a:solidFill>
                  <a:srgbClr val="17324D"/>
                </a:solidFill>
                <a:latin typeface="Arial"/>
                <a:ea typeface="Arial"/>
                <a:cs typeface="Arial"/>
              </a:defRPr>
            </a:lvl1pPr>
            <a:lvl2pPr>
              <a:defRPr sz="3225" b="1">
                <a:solidFill>
                  <a:srgbClr val="17324D"/>
                </a:solidFill>
                <a:latin typeface="Arial"/>
                <a:ea typeface="Arial"/>
                <a:cs typeface="Arial"/>
              </a:defRPr>
            </a:lvl2pPr>
            <a:lvl3pPr>
              <a:defRPr sz="3225" b="1">
                <a:solidFill>
                  <a:srgbClr val="17324D"/>
                </a:solidFill>
                <a:latin typeface="Arial"/>
                <a:ea typeface="Arial"/>
                <a:cs typeface="Arial"/>
              </a:defRPr>
            </a:lvl3pPr>
            <a:lvl4pPr>
              <a:defRPr sz="3225" b="1">
                <a:solidFill>
                  <a:srgbClr val="17324D"/>
                </a:solidFill>
                <a:latin typeface="Arial"/>
                <a:ea typeface="Arial"/>
                <a:cs typeface="Arial"/>
              </a:defRPr>
            </a:lvl4pPr>
            <a:lvl5pPr>
              <a:defRPr sz="3225" b="1">
                <a:solidFill>
                  <a:srgbClr val="17324D"/>
                </a:solidFill>
                <a:latin typeface="Arial"/>
                <a:ea typeface="Arial"/>
                <a:cs typeface="Arial"/>
              </a:defRPr>
            </a:lvl5pPr>
            <a:lvl6pPr>
              <a:defRPr sz="3225" b="1">
                <a:solidFill>
                  <a:srgbClr val="17324D"/>
                </a:solidFill>
                <a:latin typeface="Arial"/>
                <a:ea typeface="Arial"/>
                <a:cs typeface="Arial"/>
              </a:defRPr>
            </a:lvl6pPr>
            <a:lvl7pPr>
              <a:defRPr sz="3225" b="1">
                <a:solidFill>
                  <a:srgbClr val="17324D"/>
                </a:solidFill>
                <a:latin typeface="Arial"/>
                <a:ea typeface="Arial"/>
                <a:cs typeface="Arial"/>
              </a:defRPr>
            </a:lvl7pPr>
            <a:lvl8pPr>
              <a:defRPr sz="3225" b="1">
                <a:solidFill>
                  <a:srgbClr val="17324D"/>
                </a:solidFill>
                <a:latin typeface="Arial"/>
                <a:ea typeface="Arial"/>
                <a:cs typeface="Arial"/>
              </a:defRPr>
            </a:lvl8pPr>
            <a:lvl9pPr>
              <a:defRPr sz="3225" b="1">
                <a:solidFill>
                  <a:srgbClr val="17324D"/>
                </a:solidFill>
                <a:latin typeface="Arial"/>
                <a:ea typeface="Arial"/>
                <a:cs typeface="Arial"/>
              </a:defRPr>
            </a:lvl9pPr>
          </a:lstStyle>
          <a:p xmlns:a="http://schemas.openxmlformats.org/drawingml/2006/main">
            <a:pPr>
              <a:defRPr sz="3225" b="1">
                <a:solidFill>
                  <a:srgbClr val="17324D"/>
                </a:solidFill>
                <a:latin typeface="Arial"/>
                <a:ea typeface="Arial"/>
                <a:cs typeface="Arial"/>
              </a:defRPr>
            </a:pPr>
            <a:r>
              <a:rPr sz="3225" b="1">
                <a:solidFill>
                  <a:srgbClr val="17324D"/>
                </a:solidFill>
                <a:latin typeface="Arial"/>
                <a:ea typeface="Arial"/>
                <a:cs typeface="Arial"/>
              </a:rPr>
              <a:t>Research foundations</a:t>
            </a:r>
          </a:p>
        </p:txBody>
      </p:sp>
      <p:sp>
        <p:nvSpPr>
          <p:cNvPr id="2" name="">
            <a:extLst xmlns:a="http://schemas.openxmlformats.org/drawingml/2006/main">
              <a:ext uri="{FF2B5EF4-FFF2-40B4-BE49-F238E27FC236}">
                <a16:creationId xmlns:a16="http://schemas.microsoft.com/office/drawing/2014/main" id="{C2744CB8-80CB-45FD-AC34-E984FCBA8906}"/>
              </a:ext>
            </a:extLst>
          </p:cNvPr>
          <p:cNvSpPr>
            <a:spLocks xmlns:a="http://schemas.openxmlformats.org/drawingml/2006/main" noGrp="1"/>
          </p:cNvSpPr>
          <p:nvPr/>
        </p:nvSpPr>
        <p:spPr>
          <a:xfrm xmlns:a="http://schemas.openxmlformats.org/drawingml/2006/main">
            <a:off x="647700" y="1066800"/>
            <a:ext cx="10896600" cy="0"/>
          </a:xfrm>
          <a:prstGeom xmlns:a="http://schemas.openxmlformats.org/drawingml/2006/main" prst="line">
            <a:avLst/>
          </a:prstGeom>
          <a:noFill xmlns:a="http://schemas.openxmlformats.org/drawingml/2006/main"/>
          <a:ln xmlns:a="http://schemas.openxmlformats.org/drawingml/2006/main" w="9525">
            <a:solidFill>
              <a:srgbClr val="D9E1E8"/>
            </a:solidFill>
            <a:prstDash val="solid"/>
          </a:ln>
        </p:spPr>
      </p:sp>
      <p:sp>
        <p:nvSpPr>
          <p:cNvPr id="3" name="">
            <a:extLst xmlns:a="http://schemas.openxmlformats.org/drawingml/2006/main">
              <a:ext uri="{FF2B5EF4-FFF2-40B4-BE49-F238E27FC236}">
                <a16:creationId xmlns:a16="http://schemas.microsoft.com/office/drawing/2014/main" id="{ADFDC56E-4523-487B-9638-6C8EC671FAF4}"/>
              </a:ext>
            </a:extLst>
          </p:cNvPr>
          <p:cNvSpPr>
            <a:spLocks xmlns:a="http://schemas.openxmlformats.org/drawingml/2006/main" noGrp="1"/>
          </p:cNvSpPr>
          <p:nvPr/>
        </p:nvSpPr>
        <p:spPr>
          <a:xfrm xmlns:a="http://schemas.openxmlformats.org/drawingml/2006/main">
            <a:off x="647700" y="6534150"/>
            <a:ext cx="10896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607286"/>
                </a:solidFill>
                <a:latin typeface="Arial"/>
                <a:ea typeface="Arial"/>
                <a:cs typeface="Arial"/>
              </a:defRPr>
            </a:defPPr>
            <a:lvl1pPr>
              <a:defRPr sz="900">
                <a:solidFill>
                  <a:srgbClr val="607286"/>
                </a:solidFill>
                <a:latin typeface="Arial"/>
                <a:ea typeface="Arial"/>
                <a:cs typeface="Arial"/>
              </a:defRPr>
            </a:lvl1pPr>
            <a:lvl2pPr>
              <a:defRPr sz="900">
                <a:solidFill>
                  <a:srgbClr val="607286"/>
                </a:solidFill>
                <a:latin typeface="Arial"/>
                <a:ea typeface="Arial"/>
                <a:cs typeface="Arial"/>
              </a:defRPr>
            </a:lvl2pPr>
            <a:lvl3pPr>
              <a:defRPr sz="900">
                <a:solidFill>
                  <a:srgbClr val="607286"/>
                </a:solidFill>
                <a:latin typeface="Arial"/>
                <a:ea typeface="Arial"/>
                <a:cs typeface="Arial"/>
              </a:defRPr>
            </a:lvl3pPr>
            <a:lvl4pPr>
              <a:defRPr sz="900">
                <a:solidFill>
                  <a:srgbClr val="607286"/>
                </a:solidFill>
                <a:latin typeface="Arial"/>
                <a:ea typeface="Arial"/>
                <a:cs typeface="Arial"/>
              </a:defRPr>
            </a:lvl4pPr>
            <a:lvl5pPr>
              <a:defRPr sz="900">
                <a:solidFill>
                  <a:srgbClr val="607286"/>
                </a:solidFill>
                <a:latin typeface="Arial"/>
                <a:ea typeface="Arial"/>
                <a:cs typeface="Arial"/>
              </a:defRPr>
            </a:lvl5pPr>
            <a:lvl6pPr>
              <a:defRPr sz="900">
                <a:solidFill>
                  <a:srgbClr val="607286"/>
                </a:solidFill>
                <a:latin typeface="Arial"/>
                <a:ea typeface="Arial"/>
                <a:cs typeface="Arial"/>
              </a:defRPr>
            </a:lvl6pPr>
            <a:lvl7pPr>
              <a:defRPr sz="900">
                <a:solidFill>
                  <a:srgbClr val="607286"/>
                </a:solidFill>
                <a:latin typeface="Arial"/>
                <a:ea typeface="Arial"/>
                <a:cs typeface="Arial"/>
              </a:defRPr>
            </a:lvl7pPr>
            <a:lvl8pPr>
              <a:defRPr sz="900">
                <a:solidFill>
                  <a:srgbClr val="607286"/>
                </a:solidFill>
                <a:latin typeface="Arial"/>
                <a:ea typeface="Arial"/>
                <a:cs typeface="Arial"/>
              </a:defRPr>
            </a:lvl8pPr>
            <a:lvl9pPr>
              <a:defRPr sz="900">
                <a:solidFill>
                  <a:srgbClr val="607286"/>
                </a:solidFill>
                <a:latin typeface="Arial"/>
                <a:ea typeface="Arial"/>
                <a:cs typeface="Arial"/>
              </a:defRPr>
            </a:lvl9pPr>
          </a:lstStyle>
          <a:p xmlns:a="http://schemas.openxmlformats.org/drawingml/2006/main">
            <a:pPr>
              <a:defRPr sz="900">
                <a:solidFill>
                  <a:srgbClr val="607286"/>
                </a:solidFill>
                <a:latin typeface="Arial"/>
                <a:ea typeface="Arial"/>
                <a:cs typeface="Arial"/>
              </a:defRPr>
            </a:pPr>
            <a:r>
              <a:rPr sz="900">
                <a:solidFill>
                  <a:srgbClr val="607286"/>
                </a:solidFill>
                <a:latin typeface="Arial"/>
                <a:ea typeface="Arial"/>
                <a:cs typeface="Arial"/>
              </a:rPr>
              <a:t>ISAForge  /  ECE 4803                                    2</a:t>
            </a:r>
          </a:p>
        </p:txBody>
      </p:sp>
      <p:sp>
        <p:nvSpPr>
          <p:cNvPr id="4" name="">
            <a:extLst xmlns:a="http://schemas.openxmlformats.org/drawingml/2006/main">
              <a:ext uri="{FF2B5EF4-FFF2-40B4-BE49-F238E27FC236}">
                <a16:creationId xmlns:a16="http://schemas.microsoft.com/office/drawing/2014/main" id="{BD6A92DA-FAC3-472F-9670-0E15CF94D5E1}"/>
              </a:ext>
            </a:extLst>
          </p:cNvPr>
          <p:cNvSpPr>
            <a:spLocks xmlns:a="http://schemas.openxmlformats.org/drawingml/2006/main" noGrp="1"/>
          </p:cNvSpPr>
          <p:nvPr/>
        </p:nvSpPr>
        <p:spPr>
          <a:xfrm xmlns:a="http://schemas.openxmlformats.org/drawingml/2006/main">
            <a:off x="685800" y="1457325"/>
            <a:ext cx="419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17324D"/>
                </a:solidFill>
                <a:latin typeface="Arial"/>
                <a:ea typeface="Arial"/>
                <a:cs typeface="Arial"/>
              </a:defRPr>
            </a:defPPr>
            <a:lvl1pPr>
              <a:defRPr sz="1875" b="1">
                <a:solidFill>
                  <a:srgbClr val="17324D"/>
                </a:solidFill>
                <a:latin typeface="Arial"/>
                <a:ea typeface="Arial"/>
                <a:cs typeface="Arial"/>
              </a:defRPr>
            </a:lvl1pPr>
            <a:lvl2pPr>
              <a:defRPr sz="1875" b="1">
                <a:solidFill>
                  <a:srgbClr val="17324D"/>
                </a:solidFill>
                <a:latin typeface="Arial"/>
                <a:ea typeface="Arial"/>
                <a:cs typeface="Arial"/>
              </a:defRPr>
            </a:lvl2pPr>
            <a:lvl3pPr>
              <a:defRPr sz="1875" b="1">
                <a:solidFill>
                  <a:srgbClr val="17324D"/>
                </a:solidFill>
                <a:latin typeface="Arial"/>
                <a:ea typeface="Arial"/>
                <a:cs typeface="Arial"/>
              </a:defRPr>
            </a:lvl3pPr>
            <a:lvl4pPr>
              <a:defRPr sz="1875" b="1">
                <a:solidFill>
                  <a:srgbClr val="17324D"/>
                </a:solidFill>
                <a:latin typeface="Arial"/>
                <a:ea typeface="Arial"/>
                <a:cs typeface="Arial"/>
              </a:defRPr>
            </a:lvl4pPr>
            <a:lvl5pPr>
              <a:defRPr sz="1875" b="1">
                <a:solidFill>
                  <a:srgbClr val="17324D"/>
                </a:solidFill>
                <a:latin typeface="Arial"/>
                <a:ea typeface="Arial"/>
                <a:cs typeface="Arial"/>
              </a:defRPr>
            </a:lvl5pPr>
            <a:lvl6pPr>
              <a:defRPr sz="1875" b="1">
                <a:solidFill>
                  <a:srgbClr val="17324D"/>
                </a:solidFill>
                <a:latin typeface="Arial"/>
                <a:ea typeface="Arial"/>
                <a:cs typeface="Arial"/>
              </a:defRPr>
            </a:lvl6pPr>
            <a:lvl7pPr>
              <a:defRPr sz="1875" b="1">
                <a:solidFill>
                  <a:srgbClr val="17324D"/>
                </a:solidFill>
                <a:latin typeface="Arial"/>
                <a:ea typeface="Arial"/>
                <a:cs typeface="Arial"/>
              </a:defRPr>
            </a:lvl7pPr>
            <a:lvl8pPr>
              <a:defRPr sz="1875" b="1">
                <a:solidFill>
                  <a:srgbClr val="17324D"/>
                </a:solidFill>
                <a:latin typeface="Arial"/>
                <a:ea typeface="Arial"/>
                <a:cs typeface="Arial"/>
              </a:defRPr>
            </a:lvl8pPr>
            <a:lvl9pPr>
              <a:defRPr sz="1875" b="1">
                <a:solidFill>
                  <a:srgbClr val="17324D"/>
                </a:solidFill>
                <a:latin typeface="Arial"/>
                <a:ea typeface="Arial"/>
                <a:cs typeface="Arial"/>
              </a:defRPr>
            </a:lvl9pPr>
          </a:lstStyle>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Atasu et al. • DAC 2003</a:t>
            </a:r>
          </a:p>
        </p:txBody>
      </p:sp>
      <p:sp>
        <p:nvSpPr>
          <p:cNvPr id="5" name="">
            <a:extLst xmlns:a="http://schemas.openxmlformats.org/drawingml/2006/main">
              <a:ext uri="{FF2B5EF4-FFF2-40B4-BE49-F238E27FC236}">
                <a16:creationId xmlns:a16="http://schemas.microsoft.com/office/drawing/2014/main" id="{0B5AC5C5-6EB7-42DA-8688-937AA722630C}"/>
              </a:ext>
            </a:extLst>
          </p:cNvPr>
          <p:cNvSpPr>
            <a:spLocks xmlns:a="http://schemas.openxmlformats.org/drawingml/2006/main" noGrp="1"/>
          </p:cNvSpPr>
          <p:nvPr/>
        </p:nvSpPr>
        <p:spPr>
          <a:xfrm xmlns:a="http://schemas.openxmlformats.org/drawingml/2006/main">
            <a:off x="5143500" y="1457325"/>
            <a:ext cx="619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2878A8"/>
                </a:solidFill>
                <a:latin typeface="Arial"/>
                <a:ea typeface="Arial"/>
                <a:cs typeface="Arial"/>
              </a:defRPr>
            </a:defPPr>
            <a:lvl1pPr>
              <a:defRPr sz="2025" b="1">
                <a:solidFill>
                  <a:srgbClr val="2878A8"/>
                </a:solidFill>
                <a:latin typeface="Arial"/>
                <a:ea typeface="Arial"/>
                <a:cs typeface="Arial"/>
              </a:defRPr>
            </a:lvl1pPr>
            <a:lvl2pPr>
              <a:defRPr sz="2025" b="1">
                <a:solidFill>
                  <a:srgbClr val="2878A8"/>
                </a:solidFill>
                <a:latin typeface="Arial"/>
                <a:ea typeface="Arial"/>
                <a:cs typeface="Arial"/>
              </a:defRPr>
            </a:lvl2pPr>
            <a:lvl3pPr>
              <a:defRPr sz="2025" b="1">
                <a:solidFill>
                  <a:srgbClr val="2878A8"/>
                </a:solidFill>
                <a:latin typeface="Arial"/>
                <a:ea typeface="Arial"/>
                <a:cs typeface="Arial"/>
              </a:defRPr>
            </a:lvl3pPr>
            <a:lvl4pPr>
              <a:defRPr sz="2025" b="1">
                <a:solidFill>
                  <a:srgbClr val="2878A8"/>
                </a:solidFill>
                <a:latin typeface="Arial"/>
                <a:ea typeface="Arial"/>
                <a:cs typeface="Arial"/>
              </a:defRPr>
            </a:lvl4pPr>
            <a:lvl5pPr>
              <a:defRPr sz="2025" b="1">
                <a:solidFill>
                  <a:srgbClr val="2878A8"/>
                </a:solidFill>
                <a:latin typeface="Arial"/>
                <a:ea typeface="Arial"/>
                <a:cs typeface="Arial"/>
              </a:defRPr>
            </a:lvl5pPr>
            <a:lvl6pPr>
              <a:defRPr sz="2025" b="1">
                <a:solidFill>
                  <a:srgbClr val="2878A8"/>
                </a:solidFill>
                <a:latin typeface="Arial"/>
                <a:ea typeface="Arial"/>
                <a:cs typeface="Arial"/>
              </a:defRPr>
            </a:lvl6pPr>
            <a:lvl7pPr>
              <a:defRPr sz="2025" b="1">
                <a:solidFill>
                  <a:srgbClr val="2878A8"/>
                </a:solidFill>
                <a:latin typeface="Arial"/>
                <a:ea typeface="Arial"/>
                <a:cs typeface="Arial"/>
              </a:defRPr>
            </a:lvl7pPr>
            <a:lvl8pPr>
              <a:defRPr sz="2025" b="1">
                <a:solidFill>
                  <a:srgbClr val="2878A8"/>
                </a:solidFill>
                <a:latin typeface="Arial"/>
                <a:ea typeface="Arial"/>
                <a:cs typeface="Arial"/>
              </a:defRPr>
            </a:lvl8pPr>
            <a:lvl9pPr>
              <a:defRPr sz="2025" b="1">
                <a:solidFill>
                  <a:srgbClr val="2878A8"/>
                </a:solidFill>
                <a:latin typeface="Arial"/>
                <a:ea typeface="Arial"/>
                <a:cs typeface="Arial"/>
              </a:defRPr>
            </a:lvl9pPr>
          </a:lstStyle>
          <a:p xmlns:a="http://schemas.openxmlformats.org/drawingml/2006/main">
            <a:pPr>
              <a:defRPr sz="2025" b="1">
                <a:solidFill>
                  <a:srgbClr val="2878A8"/>
                </a:solidFill>
                <a:latin typeface="Arial"/>
                <a:ea typeface="Arial"/>
                <a:cs typeface="Arial"/>
              </a:defRPr>
            </a:pPr>
            <a:r>
              <a:rPr sz="2025" b="1">
                <a:solidFill>
                  <a:srgbClr val="2878A8"/>
                </a:solidFill>
                <a:latin typeface="Arial"/>
                <a:ea typeface="Arial"/>
                <a:cs typeface="Arial"/>
              </a:rPr>
              <a:t>Legal dataflow candidates</a:t>
            </a:r>
          </a:p>
        </p:txBody>
      </p:sp>
      <p:sp>
        <p:nvSpPr>
          <p:cNvPr id="6" name="">
            <a:extLst xmlns:a="http://schemas.openxmlformats.org/drawingml/2006/main">
              <a:ext uri="{FF2B5EF4-FFF2-40B4-BE49-F238E27FC236}">
                <a16:creationId xmlns:a16="http://schemas.microsoft.com/office/drawing/2014/main" id="{9D3213FA-0E95-4FB0-B9ED-E52BBB061AE5}"/>
              </a:ext>
            </a:extLst>
          </p:cNvPr>
          <p:cNvSpPr>
            <a:spLocks xmlns:a="http://schemas.openxmlformats.org/drawingml/2006/main" noGrp="1"/>
          </p:cNvSpPr>
          <p:nvPr/>
        </p:nvSpPr>
        <p:spPr>
          <a:xfrm xmlns:a="http://schemas.openxmlformats.org/drawingml/2006/main">
            <a:off x="5143500" y="1838325"/>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263648"/>
                </a:solidFill>
                <a:latin typeface="Arial"/>
                <a:ea typeface="Arial"/>
                <a:cs typeface="Arial"/>
              </a:defRPr>
            </a:defPPr>
            <a:lvl1pPr>
              <a:defRPr sz="1725" b="0">
                <a:solidFill>
                  <a:srgbClr val="263648"/>
                </a:solidFill>
                <a:latin typeface="Arial"/>
                <a:ea typeface="Arial"/>
                <a:cs typeface="Arial"/>
              </a:defRPr>
            </a:lvl1pPr>
            <a:lvl2pPr>
              <a:defRPr sz="1725" b="0">
                <a:solidFill>
                  <a:srgbClr val="263648"/>
                </a:solidFill>
                <a:latin typeface="Arial"/>
                <a:ea typeface="Arial"/>
                <a:cs typeface="Arial"/>
              </a:defRPr>
            </a:lvl2pPr>
            <a:lvl3pPr>
              <a:defRPr sz="1725" b="0">
                <a:solidFill>
                  <a:srgbClr val="263648"/>
                </a:solidFill>
                <a:latin typeface="Arial"/>
                <a:ea typeface="Arial"/>
                <a:cs typeface="Arial"/>
              </a:defRPr>
            </a:lvl3pPr>
            <a:lvl4pPr>
              <a:defRPr sz="1725" b="0">
                <a:solidFill>
                  <a:srgbClr val="263648"/>
                </a:solidFill>
                <a:latin typeface="Arial"/>
                <a:ea typeface="Arial"/>
                <a:cs typeface="Arial"/>
              </a:defRPr>
            </a:lvl4pPr>
            <a:lvl5pPr>
              <a:defRPr sz="1725" b="0">
                <a:solidFill>
                  <a:srgbClr val="263648"/>
                </a:solidFill>
                <a:latin typeface="Arial"/>
                <a:ea typeface="Arial"/>
                <a:cs typeface="Arial"/>
              </a:defRPr>
            </a:lvl5pPr>
            <a:lvl6pPr>
              <a:defRPr sz="1725" b="0">
                <a:solidFill>
                  <a:srgbClr val="263648"/>
                </a:solidFill>
                <a:latin typeface="Arial"/>
                <a:ea typeface="Arial"/>
                <a:cs typeface="Arial"/>
              </a:defRPr>
            </a:lvl6pPr>
            <a:lvl7pPr>
              <a:defRPr sz="1725" b="0">
                <a:solidFill>
                  <a:srgbClr val="263648"/>
                </a:solidFill>
                <a:latin typeface="Arial"/>
                <a:ea typeface="Arial"/>
                <a:cs typeface="Arial"/>
              </a:defRPr>
            </a:lvl7pPr>
            <a:lvl8pPr>
              <a:defRPr sz="1725" b="0">
                <a:solidFill>
                  <a:srgbClr val="263648"/>
                </a:solidFill>
                <a:latin typeface="Arial"/>
                <a:ea typeface="Arial"/>
                <a:cs typeface="Arial"/>
              </a:defRPr>
            </a:lvl8pPr>
            <a:lvl9pPr>
              <a:defRPr sz="1725" b="0">
                <a:solidFill>
                  <a:srgbClr val="263648"/>
                </a:solidFill>
                <a:latin typeface="Arial"/>
                <a:ea typeface="Arial"/>
                <a:cs typeface="Arial"/>
              </a:defRPr>
            </a:lvl9pPr>
          </a:lstStyle>
          <a:p xmlns:a="http://schemas.openxmlformats.org/drawingml/2006/main">
            <a:pPr>
              <a:defRPr sz="1725" b="0">
                <a:solidFill>
                  <a:srgbClr val="263648"/>
                </a:solidFill>
                <a:latin typeface="Arial"/>
                <a:ea typeface="Arial"/>
                <a:cs typeface="Arial"/>
              </a:defRPr>
            </a:pPr>
            <a:r>
              <a:rPr sz="1725" b="0">
                <a:solidFill>
                  <a:srgbClr val="263648"/>
                </a:solidFill>
                <a:latin typeface="Arial"/>
                <a:ea typeface="Arial"/>
                <a:cs typeface="Arial"/>
              </a:rPr>
              <a:t>Input/output limits and convexity</a:t>
            </a:r>
          </a:p>
        </p:txBody>
      </p:sp>
      <p:sp>
        <p:nvSpPr>
          <p:cNvPr id="7" name="">
            <a:extLst xmlns:a="http://schemas.openxmlformats.org/drawingml/2006/main">
              <a:ext uri="{FF2B5EF4-FFF2-40B4-BE49-F238E27FC236}">
                <a16:creationId xmlns:a16="http://schemas.microsoft.com/office/drawing/2014/main" id="{1BF04074-6CDF-42E9-8AEA-6BA3D87850D7}"/>
              </a:ext>
            </a:extLst>
          </p:cNvPr>
          <p:cNvSpPr>
            <a:spLocks xmlns:a="http://schemas.openxmlformats.org/drawingml/2006/main" noGrp="1"/>
          </p:cNvSpPr>
          <p:nvPr/>
        </p:nvSpPr>
        <p:spPr>
          <a:xfrm xmlns:a="http://schemas.openxmlformats.org/drawingml/2006/main">
            <a:off x="685800" y="2276475"/>
            <a:ext cx="10820400" cy="0"/>
          </a:xfrm>
          <a:prstGeom xmlns:a="http://schemas.openxmlformats.org/drawingml/2006/main" prst="line">
            <a:avLst/>
          </a:prstGeom>
          <a:noFill xmlns:a="http://schemas.openxmlformats.org/drawingml/2006/main"/>
          <a:ln xmlns:a="http://schemas.openxmlformats.org/drawingml/2006/main" w="9525">
            <a:solidFill>
              <a:srgbClr val="D9E1E8"/>
            </a:solidFill>
            <a:prstDash val="solid"/>
          </a:ln>
        </p:spPr>
      </p:sp>
      <p:sp>
        <p:nvSpPr>
          <p:cNvPr id="8" name="">
            <a:extLst xmlns:a="http://schemas.openxmlformats.org/drawingml/2006/main">
              <a:ext uri="{FF2B5EF4-FFF2-40B4-BE49-F238E27FC236}">
                <a16:creationId xmlns:a16="http://schemas.microsoft.com/office/drawing/2014/main" id="{7DC99C30-0B9B-4F0B-9EC6-5FCD53761A33}"/>
              </a:ext>
            </a:extLst>
          </p:cNvPr>
          <p:cNvSpPr>
            <a:spLocks xmlns:a="http://schemas.openxmlformats.org/drawingml/2006/main" noGrp="1"/>
          </p:cNvSpPr>
          <p:nvPr/>
        </p:nvSpPr>
        <p:spPr>
          <a:xfrm xmlns:a="http://schemas.openxmlformats.org/drawingml/2006/main">
            <a:off x="685800" y="2457450"/>
            <a:ext cx="419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17324D"/>
                </a:solidFill>
                <a:latin typeface="Arial"/>
                <a:ea typeface="Arial"/>
                <a:cs typeface="Arial"/>
              </a:defRPr>
            </a:defPPr>
            <a:lvl1pPr>
              <a:defRPr sz="1875" b="1">
                <a:solidFill>
                  <a:srgbClr val="17324D"/>
                </a:solidFill>
                <a:latin typeface="Arial"/>
                <a:ea typeface="Arial"/>
                <a:cs typeface="Arial"/>
              </a:defRPr>
            </a:lvl1pPr>
            <a:lvl2pPr>
              <a:defRPr sz="1875" b="1">
                <a:solidFill>
                  <a:srgbClr val="17324D"/>
                </a:solidFill>
                <a:latin typeface="Arial"/>
                <a:ea typeface="Arial"/>
                <a:cs typeface="Arial"/>
              </a:defRPr>
            </a:lvl2pPr>
            <a:lvl3pPr>
              <a:defRPr sz="1875" b="1">
                <a:solidFill>
                  <a:srgbClr val="17324D"/>
                </a:solidFill>
                <a:latin typeface="Arial"/>
                <a:ea typeface="Arial"/>
                <a:cs typeface="Arial"/>
              </a:defRPr>
            </a:lvl3pPr>
            <a:lvl4pPr>
              <a:defRPr sz="1875" b="1">
                <a:solidFill>
                  <a:srgbClr val="17324D"/>
                </a:solidFill>
                <a:latin typeface="Arial"/>
                <a:ea typeface="Arial"/>
                <a:cs typeface="Arial"/>
              </a:defRPr>
            </a:lvl4pPr>
            <a:lvl5pPr>
              <a:defRPr sz="1875" b="1">
                <a:solidFill>
                  <a:srgbClr val="17324D"/>
                </a:solidFill>
                <a:latin typeface="Arial"/>
                <a:ea typeface="Arial"/>
                <a:cs typeface="Arial"/>
              </a:defRPr>
            </a:lvl5pPr>
            <a:lvl6pPr>
              <a:defRPr sz="1875" b="1">
                <a:solidFill>
                  <a:srgbClr val="17324D"/>
                </a:solidFill>
                <a:latin typeface="Arial"/>
                <a:ea typeface="Arial"/>
                <a:cs typeface="Arial"/>
              </a:defRPr>
            </a:lvl6pPr>
            <a:lvl7pPr>
              <a:defRPr sz="1875" b="1">
                <a:solidFill>
                  <a:srgbClr val="17324D"/>
                </a:solidFill>
                <a:latin typeface="Arial"/>
                <a:ea typeface="Arial"/>
                <a:cs typeface="Arial"/>
              </a:defRPr>
            </a:lvl7pPr>
            <a:lvl8pPr>
              <a:defRPr sz="1875" b="1">
                <a:solidFill>
                  <a:srgbClr val="17324D"/>
                </a:solidFill>
                <a:latin typeface="Arial"/>
                <a:ea typeface="Arial"/>
                <a:cs typeface="Arial"/>
              </a:defRPr>
            </a:lvl8pPr>
            <a:lvl9pPr>
              <a:defRPr sz="1875" b="1">
                <a:solidFill>
                  <a:srgbClr val="17324D"/>
                </a:solidFill>
                <a:latin typeface="Arial"/>
                <a:ea typeface="Arial"/>
                <a:cs typeface="Arial"/>
              </a:defRPr>
            </a:lvl9pPr>
          </a:lstStyle>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CIDRE • ICCAD 2025</a:t>
            </a:r>
          </a:p>
        </p:txBody>
      </p:sp>
      <p:sp>
        <p:nvSpPr>
          <p:cNvPr id="9" name="">
            <a:extLst xmlns:a="http://schemas.openxmlformats.org/drawingml/2006/main">
              <a:ext uri="{FF2B5EF4-FFF2-40B4-BE49-F238E27FC236}">
                <a16:creationId xmlns:a16="http://schemas.microsoft.com/office/drawing/2014/main" id="{688E743D-481B-413A-8E71-F85F602D536C}"/>
              </a:ext>
            </a:extLst>
          </p:cNvPr>
          <p:cNvSpPr>
            <a:spLocks xmlns:a="http://schemas.openxmlformats.org/drawingml/2006/main" noGrp="1"/>
          </p:cNvSpPr>
          <p:nvPr/>
        </p:nvSpPr>
        <p:spPr>
          <a:xfrm xmlns:a="http://schemas.openxmlformats.org/drawingml/2006/main">
            <a:off x="5143500" y="2457450"/>
            <a:ext cx="619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2878A8"/>
                </a:solidFill>
                <a:latin typeface="Arial"/>
                <a:ea typeface="Arial"/>
                <a:cs typeface="Arial"/>
              </a:defRPr>
            </a:defPPr>
            <a:lvl1pPr>
              <a:defRPr sz="2025" b="1">
                <a:solidFill>
                  <a:srgbClr val="2878A8"/>
                </a:solidFill>
                <a:latin typeface="Arial"/>
                <a:ea typeface="Arial"/>
                <a:cs typeface="Arial"/>
              </a:defRPr>
            </a:lvl1pPr>
            <a:lvl2pPr>
              <a:defRPr sz="2025" b="1">
                <a:solidFill>
                  <a:srgbClr val="2878A8"/>
                </a:solidFill>
                <a:latin typeface="Arial"/>
                <a:ea typeface="Arial"/>
                <a:cs typeface="Arial"/>
              </a:defRPr>
            </a:lvl2pPr>
            <a:lvl3pPr>
              <a:defRPr sz="2025" b="1">
                <a:solidFill>
                  <a:srgbClr val="2878A8"/>
                </a:solidFill>
                <a:latin typeface="Arial"/>
                <a:ea typeface="Arial"/>
                <a:cs typeface="Arial"/>
              </a:defRPr>
            </a:lvl3pPr>
            <a:lvl4pPr>
              <a:defRPr sz="2025" b="1">
                <a:solidFill>
                  <a:srgbClr val="2878A8"/>
                </a:solidFill>
                <a:latin typeface="Arial"/>
                <a:ea typeface="Arial"/>
                <a:cs typeface="Arial"/>
              </a:defRPr>
            </a:lvl4pPr>
            <a:lvl5pPr>
              <a:defRPr sz="2025" b="1">
                <a:solidFill>
                  <a:srgbClr val="2878A8"/>
                </a:solidFill>
                <a:latin typeface="Arial"/>
                <a:ea typeface="Arial"/>
                <a:cs typeface="Arial"/>
              </a:defRPr>
            </a:lvl5pPr>
            <a:lvl6pPr>
              <a:defRPr sz="2025" b="1">
                <a:solidFill>
                  <a:srgbClr val="2878A8"/>
                </a:solidFill>
                <a:latin typeface="Arial"/>
                <a:ea typeface="Arial"/>
                <a:cs typeface="Arial"/>
              </a:defRPr>
            </a:lvl6pPr>
            <a:lvl7pPr>
              <a:defRPr sz="2025" b="1">
                <a:solidFill>
                  <a:srgbClr val="2878A8"/>
                </a:solidFill>
                <a:latin typeface="Arial"/>
                <a:ea typeface="Arial"/>
                <a:cs typeface="Arial"/>
              </a:defRPr>
            </a:lvl7pPr>
            <a:lvl8pPr>
              <a:defRPr sz="2025" b="1">
                <a:solidFill>
                  <a:srgbClr val="2878A8"/>
                </a:solidFill>
                <a:latin typeface="Arial"/>
                <a:ea typeface="Arial"/>
                <a:cs typeface="Arial"/>
              </a:defRPr>
            </a:lvl8pPr>
            <a:lvl9pPr>
              <a:defRPr sz="2025" b="1">
                <a:solidFill>
                  <a:srgbClr val="2878A8"/>
                </a:solidFill>
                <a:latin typeface="Arial"/>
                <a:ea typeface="Arial"/>
                <a:cs typeface="Arial"/>
              </a:defRPr>
            </a:lvl9pPr>
          </a:lstStyle>
          <a:p xmlns:a="http://schemas.openxmlformats.org/drawingml/2006/main">
            <a:pPr>
              <a:defRPr sz="2025" b="1">
                <a:solidFill>
                  <a:srgbClr val="2878A8"/>
                </a:solidFill>
                <a:latin typeface="Arial"/>
                <a:ea typeface="Arial"/>
                <a:cs typeface="Arial"/>
              </a:defRPr>
            </a:pPr>
            <a:r>
              <a:rPr sz="2025" b="1">
                <a:solidFill>
                  <a:srgbClr val="2878A8"/>
                </a:solidFill>
                <a:latin typeface="Arial"/>
                <a:ea typeface="Arial"/>
                <a:cs typeface="Arial"/>
              </a:rPr>
              <a:t>Architecture-aware evaluation</a:t>
            </a:r>
          </a:p>
        </p:txBody>
      </p:sp>
      <p:sp>
        <p:nvSpPr>
          <p:cNvPr id="10" name="">
            <a:extLst xmlns:a="http://schemas.openxmlformats.org/drawingml/2006/main">
              <a:ext uri="{FF2B5EF4-FFF2-40B4-BE49-F238E27FC236}">
                <a16:creationId xmlns:a16="http://schemas.microsoft.com/office/drawing/2014/main" id="{F5500841-BDAE-46DC-A7BC-9AEA43DBF2D1}"/>
              </a:ext>
            </a:extLst>
          </p:cNvPr>
          <p:cNvSpPr>
            <a:spLocks xmlns:a="http://schemas.openxmlformats.org/drawingml/2006/main" noGrp="1"/>
          </p:cNvSpPr>
          <p:nvPr/>
        </p:nvSpPr>
        <p:spPr>
          <a:xfrm xmlns:a="http://schemas.openxmlformats.org/drawingml/2006/main">
            <a:off x="5143500" y="283845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263648"/>
                </a:solidFill>
                <a:latin typeface="Arial"/>
                <a:ea typeface="Arial"/>
                <a:cs typeface="Arial"/>
              </a:defRPr>
            </a:defPPr>
            <a:lvl1pPr>
              <a:defRPr sz="1725" b="0">
                <a:solidFill>
                  <a:srgbClr val="263648"/>
                </a:solidFill>
                <a:latin typeface="Arial"/>
                <a:ea typeface="Arial"/>
                <a:cs typeface="Arial"/>
              </a:defRPr>
            </a:lvl1pPr>
            <a:lvl2pPr>
              <a:defRPr sz="1725" b="0">
                <a:solidFill>
                  <a:srgbClr val="263648"/>
                </a:solidFill>
                <a:latin typeface="Arial"/>
                <a:ea typeface="Arial"/>
                <a:cs typeface="Arial"/>
              </a:defRPr>
            </a:lvl2pPr>
            <a:lvl3pPr>
              <a:defRPr sz="1725" b="0">
                <a:solidFill>
                  <a:srgbClr val="263648"/>
                </a:solidFill>
                <a:latin typeface="Arial"/>
                <a:ea typeface="Arial"/>
                <a:cs typeface="Arial"/>
              </a:defRPr>
            </a:lvl3pPr>
            <a:lvl4pPr>
              <a:defRPr sz="1725" b="0">
                <a:solidFill>
                  <a:srgbClr val="263648"/>
                </a:solidFill>
                <a:latin typeface="Arial"/>
                <a:ea typeface="Arial"/>
                <a:cs typeface="Arial"/>
              </a:defRPr>
            </a:lvl4pPr>
            <a:lvl5pPr>
              <a:defRPr sz="1725" b="0">
                <a:solidFill>
                  <a:srgbClr val="263648"/>
                </a:solidFill>
                <a:latin typeface="Arial"/>
                <a:ea typeface="Arial"/>
                <a:cs typeface="Arial"/>
              </a:defRPr>
            </a:lvl5pPr>
            <a:lvl6pPr>
              <a:defRPr sz="1725" b="0">
                <a:solidFill>
                  <a:srgbClr val="263648"/>
                </a:solidFill>
                <a:latin typeface="Arial"/>
                <a:ea typeface="Arial"/>
                <a:cs typeface="Arial"/>
              </a:defRPr>
            </a:lvl6pPr>
            <a:lvl7pPr>
              <a:defRPr sz="1725" b="0">
                <a:solidFill>
                  <a:srgbClr val="263648"/>
                </a:solidFill>
                <a:latin typeface="Arial"/>
                <a:ea typeface="Arial"/>
                <a:cs typeface="Arial"/>
              </a:defRPr>
            </a:lvl7pPr>
            <a:lvl8pPr>
              <a:defRPr sz="1725" b="0">
                <a:solidFill>
                  <a:srgbClr val="263648"/>
                </a:solidFill>
                <a:latin typeface="Arial"/>
                <a:ea typeface="Arial"/>
                <a:cs typeface="Arial"/>
              </a:defRPr>
            </a:lvl8pPr>
            <a:lvl9pPr>
              <a:defRPr sz="1725" b="0">
                <a:solidFill>
                  <a:srgbClr val="263648"/>
                </a:solidFill>
                <a:latin typeface="Arial"/>
                <a:ea typeface="Arial"/>
                <a:cs typeface="Arial"/>
              </a:defRPr>
            </a:lvl9pPr>
          </a:lstStyle>
          <a:p xmlns:a="http://schemas.openxmlformats.org/drawingml/2006/main">
            <a:pPr>
              <a:defRPr sz="1725" b="0">
                <a:solidFill>
                  <a:srgbClr val="263648"/>
                </a:solidFill>
                <a:latin typeface="Arial"/>
                <a:ea typeface="Arial"/>
                <a:cs typeface="Arial"/>
              </a:defRPr>
            </a:pPr>
            <a:r>
              <a:rPr sz="1725" b="0">
                <a:solidFill>
                  <a:srgbClr val="263648"/>
                </a:solidFill>
                <a:latin typeface="Arial"/>
                <a:ea typeface="Arial"/>
                <a:cs typeface="Arial"/>
              </a:rPr>
              <a:t>Account for processor latency and timing</a:t>
            </a:r>
          </a:p>
        </p:txBody>
      </p:sp>
      <p:sp>
        <p:nvSpPr>
          <p:cNvPr id="11" name="">
            <a:extLst xmlns:a="http://schemas.openxmlformats.org/drawingml/2006/main">
              <a:ext uri="{FF2B5EF4-FFF2-40B4-BE49-F238E27FC236}">
                <a16:creationId xmlns:a16="http://schemas.microsoft.com/office/drawing/2014/main" id="{6EADE166-3170-41B9-9625-7E860196B2E6}"/>
              </a:ext>
            </a:extLst>
          </p:cNvPr>
          <p:cNvSpPr>
            <a:spLocks xmlns:a="http://schemas.openxmlformats.org/drawingml/2006/main" noGrp="1"/>
          </p:cNvSpPr>
          <p:nvPr/>
        </p:nvSpPr>
        <p:spPr>
          <a:xfrm xmlns:a="http://schemas.openxmlformats.org/drawingml/2006/main">
            <a:off x="685800" y="3276600"/>
            <a:ext cx="10820400" cy="0"/>
          </a:xfrm>
          <a:prstGeom xmlns:a="http://schemas.openxmlformats.org/drawingml/2006/main" prst="line">
            <a:avLst/>
          </a:prstGeom>
          <a:noFill xmlns:a="http://schemas.openxmlformats.org/drawingml/2006/main"/>
          <a:ln xmlns:a="http://schemas.openxmlformats.org/drawingml/2006/main" w="9525">
            <a:solidFill>
              <a:srgbClr val="D9E1E8"/>
            </a:solidFill>
            <a:prstDash val="solid"/>
          </a:ln>
        </p:spPr>
      </p:sp>
      <p:sp>
        <p:nvSpPr>
          <p:cNvPr id="12" name="">
            <a:extLst xmlns:a="http://schemas.openxmlformats.org/drawingml/2006/main">
              <a:ext uri="{FF2B5EF4-FFF2-40B4-BE49-F238E27FC236}">
                <a16:creationId xmlns:a16="http://schemas.microsoft.com/office/drawing/2014/main" id="{CAF29F5F-54CA-43A5-A7F1-CB727520709B}"/>
              </a:ext>
            </a:extLst>
          </p:cNvPr>
          <p:cNvSpPr>
            <a:spLocks xmlns:a="http://schemas.openxmlformats.org/drawingml/2006/main" noGrp="1"/>
          </p:cNvSpPr>
          <p:nvPr/>
        </p:nvSpPr>
        <p:spPr>
          <a:xfrm xmlns:a="http://schemas.openxmlformats.org/drawingml/2006/main">
            <a:off x="685800" y="3457575"/>
            <a:ext cx="419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17324D"/>
                </a:solidFill>
                <a:latin typeface="Arial"/>
                <a:ea typeface="Arial"/>
                <a:cs typeface="Arial"/>
              </a:defRPr>
            </a:defPPr>
            <a:lvl1pPr>
              <a:defRPr sz="1875" b="1">
                <a:solidFill>
                  <a:srgbClr val="17324D"/>
                </a:solidFill>
                <a:latin typeface="Arial"/>
                <a:ea typeface="Arial"/>
                <a:cs typeface="Arial"/>
              </a:defRPr>
            </a:lvl1pPr>
            <a:lvl2pPr>
              <a:defRPr sz="1875" b="1">
                <a:solidFill>
                  <a:srgbClr val="17324D"/>
                </a:solidFill>
                <a:latin typeface="Arial"/>
                <a:ea typeface="Arial"/>
                <a:cs typeface="Arial"/>
              </a:defRPr>
            </a:lvl2pPr>
            <a:lvl3pPr>
              <a:defRPr sz="1875" b="1">
                <a:solidFill>
                  <a:srgbClr val="17324D"/>
                </a:solidFill>
                <a:latin typeface="Arial"/>
                <a:ea typeface="Arial"/>
                <a:cs typeface="Arial"/>
              </a:defRPr>
            </a:lvl3pPr>
            <a:lvl4pPr>
              <a:defRPr sz="1875" b="1">
                <a:solidFill>
                  <a:srgbClr val="17324D"/>
                </a:solidFill>
                <a:latin typeface="Arial"/>
                <a:ea typeface="Arial"/>
                <a:cs typeface="Arial"/>
              </a:defRPr>
            </a:lvl4pPr>
            <a:lvl5pPr>
              <a:defRPr sz="1875" b="1">
                <a:solidFill>
                  <a:srgbClr val="17324D"/>
                </a:solidFill>
                <a:latin typeface="Arial"/>
                <a:ea typeface="Arial"/>
                <a:cs typeface="Arial"/>
              </a:defRPr>
            </a:lvl5pPr>
            <a:lvl6pPr>
              <a:defRPr sz="1875" b="1">
                <a:solidFill>
                  <a:srgbClr val="17324D"/>
                </a:solidFill>
                <a:latin typeface="Arial"/>
                <a:ea typeface="Arial"/>
                <a:cs typeface="Arial"/>
              </a:defRPr>
            </a:lvl6pPr>
            <a:lvl7pPr>
              <a:defRPr sz="1875" b="1">
                <a:solidFill>
                  <a:srgbClr val="17324D"/>
                </a:solidFill>
                <a:latin typeface="Arial"/>
                <a:ea typeface="Arial"/>
                <a:cs typeface="Arial"/>
              </a:defRPr>
            </a:lvl7pPr>
            <a:lvl8pPr>
              <a:defRPr sz="1875" b="1">
                <a:solidFill>
                  <a:srgbClr val="17324D"/>
                </a:solidFill>
                <a:latin typeface="Arial"/>
                <a:ea typeface="Arial"/>
                <a:cs typeface="Arial"/>
              </a:defRPr>
            </a:lvl8pPr>
            <a:lvl9pPr>
              <a:defRPr sz="1875" b="1">
                <a:solidFill>
                  <a:srgbClr val="17324D"/>
                </a:solidFill>
                <a:latin typeface="Arial"/>
                <a:ea typeface="Arial"/>
                <a:cs typeface="Arial"/>
              </a:defRPr>
            </a:lvl9pPr>
          </a:lstStyle>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AutoTVM • NeurIPS 2018</a:t>
            </a:r>
          </a:p>
        </p:txBody>
      </p:sp>
      <p:sp>
        <p:nvSpPr>
          <p:cNvPr id="13" name="">
            <a:extLst xmlns:a="http://schemas.openxmlformats.org/drawingml/2006/main">
              <a:ext uri="{FF2B5EF4-FFF2-40B4-BE49-F238E27FC236}">
                <a16:creationId xmlns:a16="http://schemas.microsoft.com/office/drawing/2014/main" id="{D9214BE0-9A4B-4738-A49D-043499C43636}"/>
              </a:ext>
            </a:extLst>
          </p:cNvPr>
          <p:cNvSpPr>
            <a:spLocks xmlns:a="http://schemas.openxmlformats.org/drawingml/2006/main" noGrp="1"/>
          </p:cNvSpPr>
          <p:nvPr/>
        </p:nvSpPr>
        <p:spPr>
          <a:xfrm xmlns:a="http://schemas.openxmlformats.org/drawingml/2006/main">
            <a:off x="5143500" y="3457575"/>
            <a:ext cx="619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2878A8"/>
                </a:solidFill>
                <a:latin typeface="Arial"/>
                <a:ea typeface="Arial"/>
                <a:cs typeface="Arial"/>
              </a:defRPr>
            </a:defPPr>
            <a:lvl1pPr>
              <a:defRPr sz="2025" b="1">
                <a:solidFill>
                  <a:srgbClr val="2878A8"/>
                </a:solidFill>
                <a:latin typeface="Arial"/>
                <a:ea typeface="Arial"/>
                <a:cs typeface="Arial"/>
              </a:defRPr>
            </a:lvl1pPr>
            <a:lvl2pPr>
              <a:defRPr sz="2025" b="1">
                <a:solidFill>
                  <a:srgbClr val="2878A8"/>
                </a:solidFill>
                <a:latin typeface="Arial"/>
                <a:ea typeface="Arial"/>
                <a:cs typeface="Arial"/>
              </a:defRPr>
            </a:lvl2pPr>
            <a:lvl3pPr>
              <a:defRPr sz="2025" b="1">
                <a:solidFill>
                  <a:srgbClr val="2878A8"/>
                </a:solidFill>
                <a:latin typeface="Arial"/>
                <a:ea typeface="Arial"/>
                <a:cs typeface="Arial"/>
              </a:defRPr>
            </a:lvl3pPr>
            <a:lvl4pPr>
              <a:defRPr sz="2025" b="1">
                <a:solidFill>
                  <a:srgbClr val="2878A8"/>
                </a:solidFill>
                <a:latin typeface="Arial"/>
                <a:ea typeface="Arial"/>
                <a:cs typeface="Arial"/>
              </a:defRPr>
            </a:lvl4pPr>
            <a:lvl5pPr>
              <a:defRPr sz="2025" b="1">
                <a:solidFill>
                  <a:srgbClr val="2878A8"/>
                </a:solidFill>
                <a:latin typeface="Arial"/>
                <a:ea typeface="Arial"/>
                <a:cs typeface="Arial"/>
              </a:defRPr>
            </a:lvl5pPr>
            <a:lvl6pPr>
              <a:defRPr sz="2025" b="1">
                <a:solidFill>
                  <a:srgbClr val="2878A8"/>
                </a:solidFill>
                <a:latin typeface="Arial"/>
                <a:ea typeface="Arial"/>
                <a:cs typeface="Arial"/>
              </a:defRPr>
            </a:lvl6pPr>
            <a:lvl7pPr>
              <a:defRPr sz="2025" b="1">
                <a:solidFill>
                  <a:srgbClr val="2878A8"/>
                </a:solidFill>
                <a:latin typeface="Arial"/>
                <a:ea typeface="Arial"/>
                <a:cs typeface="Arial"/>
              </a:defRPr>
            </a:lvl7pPr>
            <a:lvl8pPr>
              <a:defRPr sz="2025" b="1">
                <a:solidFill>
                  <a:srgbClr val="2878A8"/>
                </a:solidFill>
                <a:latin typeface="Arial"/>
                <a:ea typeface="Arial"/>
                <a:cs typeface="Arial"/>
              </a:defRPr>
            </a:lvl8pPr>
            <a:lvl9pPr>
              <a:defRPr sz="2025" b="1">
                <a:solidFill>
                  <a:srgbClr val="2878A8"/>
                </a:solidFill>
                <a:latin typeface="Arial"/>
                <a:ea typeface="Arial"/>
                <a:cs typeface="Arial"/>
              </a:defRPr>
            </a:lvl9pPr>
          </a:lstStyle>
          <a:p xmlns:a="http://schemas.openxmlformats.org/drawingml/2006/main">
            <a:pPr>
              <a:defRPr sz="2025" b="1">
                <a:solidFill>
                  <a:srgbClr val="2878A8"/>
                </a:solidFill>
                <a:latin typeface="Arial"/>
                <a:ea typeface="Arial"/>
                <a:cs typeface="Arial"/>
              </a:defRPr>
            </a:pPr>
            <a:r>
              <a:rPr sz="2025" b="1">
                <a:solidFill>
                  <a:srgbClr val="2878A8"/>
                </a:solidFill>
                <a:latin typeface="Arial"/>
                <a:ea typeface="Arial"/>
                <a:cs typeface="Arial"/>
              </a:rPr>
              <a:t>Learn from measured performance</a:t>
            </a:r>
          </a:p>
        </p:txBody>
      </p:sp>
      <p:sp>
        <p:nvSpPr>
          <p:cNvPr id="14" name="">
            <a:extLst xmlns:a="http://schemas.openxmlformats.org/drawingml/2006/main">
              <a:ext uri="{FF2B5EF4-FFF2-40B4-BE49-F238E27FC236}">
                <a16:creationId xmlns:a16="http://schemas.microsoft.com/office/drawing/2014/main" id="{5CD8EE5E-98D5-4ED5-B8CD-4BCA57C81F40}"/>
              </a:ext>
            </a:extLst>
          </p:cNvPr>
          <p:cNvSpPr>
            <a:spLocks xmlns:a="http://schemas.openxmlformats.org/drawingml/2006/main" noGrp="1"/>
          </p:cNvSpPr>
          <p:nvPr/>
        </p:nvSpPr>
        <p:spPr>
          <a:xfrm xmlns:a="http://schemas.openxmlformats.org/drawingml/2006/main">
            <a:off x="5143500" y="3838575"/>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263648"/>
                </a:solidFill>
                <a:latin typeface="Arial"/>
                <a:ea typeface="Arial"/>
                <a:cs typeface="Arial"/>
              </a:defRPr>
            </a:defPPr>
            <a:lvl1pPr>
              <a:defRPr sz="1725" b="0">
                <a:solidFill>
                  <a:srgbClr val="263648"/>
                </a:solidFill>
                <a:latin typeface="Arial"/>
                <a:ea typeface="Arial"/>
                <a:cs typeface="Arial"/>
              </a:defRPr>
            </a:lvl1pPr>
            <a:lvl2pPr>
              <a:defRPr sz="1725" b="0">
                <a:solidFill>
                  <a:srgbClr val="263648"/>
                </a:solidFill>
                <a:latin typeface="Arial"/>
                <a:ea typeface="Arial"/>
                <a:cs typeface="Arial"/>
              </a:defRPr>
            </a:lvl2pPr>
            <a:lvl3pPr>
              <a:defRPr sz="1725" b="0">
                <a:solidFill>
                  <a:srgbClr val="263648"/>
                </a:solidFill>
                <a:latin typeface="Arial"/>
                <a:ea typeface="Arial"/>
                <a:cs typeface="Arial"/>
              </a:defRPr>
            </a:lvl3pPr>
            <a:lvl4pPr>
              <a:defRPr sz="1725" b="0">
                <a:solidFill>
                  <a:srgbClr val="263648"/>
                </a:solidFill>
                <a:latin typeface="Arial"/>
                <a:ea typeface="Arial"/>
                <a:cs typeface="Arial"/>
              </a:defRPr>
            </a:lvl4pPr>
            <a:lvl5pPr>
              <a:defRPr sz="1725" b="0">
                <a:solidFill>
                  <a:srgbClr val="263648"/>
                </a:solidFill>
                <a:latin typeface="Arial"/>
                <a:ea typeface="Arial"/>
                <a:cs typeface="Arial"/>
              </a:defRPr>
            </a:lvl5pPr>
            <a:lvl6pPr>
              <a:defRPr sz="1725" b="0">
                <a:solidFill>
                  <a:srgbClr val="263648"/>
                </a:solidFill>
                <a:latin typeface="Arial"/>
                <a:ea typeface="Arial"/>
                <a:cs typeface="Arial"/>
              </a:defRPr>
            </a:lvl6pPr>
            <a:lvl7pPr>
              <a:defRPr sz="1725" b="0">
                <a:solidFill>
                  <a:srgbClr val="263648"/>
                </a:solidFill>
                <a:latin typeface="Arial"/>
                <a:ea typeface="Arial"/>
                <a:cs typeface="Arial"/>
              </a:defRPr>
            </a:lvl7pPr>
            <a:lvl8pPr>
              <a:defRPr sz="1725" b="0">
                <a:solidFill>
                  <a:srgbClr val="263648"/>
                </a:solidFill>
                <a:latin typeface="Arial"/>
                <a:ea typeface="Arial"/>
                <a:cs typeface="Arial"/>
              </a:defRPr>
            </a:lvl8pPr>
            <a:lvl9pPr>
              <a:defRPr sz="1725" b="0">
                <a:solidFill>
                  <a:srgbClr val="263648"/>
                </a:solidFill>
                <a:latin typeface="Arial"/>
                <a:ea typeface="Arial"/>
                <a:cs typeface="Arial"/>
              </a:defRPr>
            </a:lvl9pPr>
          </a:lstStyle>
          <a:p xmlns:a="http://schemas.openxmlformats.org/drawingml/2006/main">
            <a:pPr>
              <a:defRPr sz="1725" b="0">
                <a:solidFill>
                  <a:srgbClr val="263648"/>
                </a:solidFill>
                <a:latin typeface="Arial"/>
                <a:ea typeface="Arial"/>
                <a:cs typeface="Arial"/>
              </a:defRPr>
            </a:pPr>
            <a:r>
              <a:rPr sz="1725" b="0">
                <a:solidFill>
                  <a:srgbClr val="263648"/>
                </a:solidFill>
                <a:latin typeface="Arial"/>
                <a:ea typeface="Arial"/>
                <a:cs typeface="Arial"/>
              </a:rPr>
              <a:t>Pairwise ranking of alternatives</a:t>
            </a:r>
          </a:p>
        </p:txBody>
      </p:sp>
      <p:sp>
        <p:nvSpPr>
          <p:cNvPr id="15" name="">
            <a:extLst xmlns:a="http://schemas.openxmlformats.org/drawingml/2006/main">
              <a:ext uri="{FF2B5EF4-FFF2-40B4-BE49-F238E27FC236}">
                <a16:creationId xmlns:a16="http://schemas.microsoft.com/office/drawing/2014/main" id="{8199F29C-C446-4FBC-8871-1DD5E35C30FF}"/>
              </a:ext>
            </a:extLst>
          </p:cNvPr>
          <p:cNvSpPr>
            <a:spLocks xmlns:a="http://schemas.openxmlformats.org/drawingml/2006/main" noGrp="1"/>
          </p:cNvSpPr>
          <p:nvPr/>
        </p:nvSpPr>
        <p:spPr>
          <a:xfrm xmlns:a="http://schemas.openxmlformats.org/drawingml/2006/main">
            <a:off x="685800" y="4276725"/>
            <a:ext cx="10820400" cy="0"/>
          </a:xfrm>
          <a:prstGeom xmlns:a="http://schemas.openxmlformats.org/drawingml/2006/main" prst="line">
            <a:avLst/>
          </a:prstGeom>
          <a:noFill xmlns:a="http://schemas.openxmlformats.org/drawingml/2006/main"/>
          <a:ln xmlns:a="http://schemas.openxmlformats.org/drawingml/2006/main" w="9525">
            <a:solidFill>
              <a:srgbClr val="D9E1E8"/>
            </a:solidFill>
            <a:prstDash val="solid"/>
          </a:ln>
        </p:spPr>
      </p:sp>
      <p:sp>
        <p:nvSpPr>
          <p:cNvPr id="16" name="">
            <a:extLst xmlns:a="http://schemas.openxmlformats.org/drawingml/2006/main">
              <a:ext uri="{FF2B5EF4-FFF2-40B4-BE49-F238E27FC236}">
                <a16:creationId xmlns:a16="http://schemas.microsoft.com/office/drawing/2014/main" id="{40BCD80A-8F23-4481-8591-8FC7F8E9CCA8}"/>
              </a:ext>
            </a:extLst>
          </p:cNvPr>
          <p:cNvSpPr>
            <a:spLocks xmlns:a="http://schemas.openxmlformats.org/drawingml/2006/main" noGrp="1"/>
          </p:cNvSpPr>
          <p:nvPr/>
        </p:nvSpPr>
        <p:spPr>
          <a:xfrm xmlns:a="http://schemas.openxmlformats.org/drawingml/2006/main">
            <a:off x="685800" y="4457700"/>
            <a:ext cx="419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17324D"/>
                </a:solidFill>
                <a:latin typeface="Arial"/>
                <a:ea typeface="Arial"/>
                <a:cs typeface="Arial"/>
              </a:defRPr>
            </a:defPPr>
            <a:lvl1pPr>
              <a:defRPr sz="1875" b="1">
                <a:solidFill>
                  <a:srgbClr val="17324D"/>
                </a:solidFill>
                <a:latin typeface="Arial"/>
                <a:ea typeface="Arial"/>
                <a:cs typeface="Arial"/>
              </a:defRPr>
            </a:lvl1pPr>
            <a:lvl2pPr>
              <a:defRPr sz="1875" b="1">
                <a:solidFill>
                  <a:srgbClr val="17324D"/>
                </a:solidFill>
                <a:latin typeface="Arial"/>
                <a:ea typeface="Arial"/>
                <a:cs typeface="Arial"/>
              </a:defRPr>
            </a:lvl2pPr>
            <a:lvl3pPr>
              <a:defRPr sz="1875" b="1">
                <a:solidFill>
                  <a:srgbClr val="17324D"/>
                </a:solidFill>
                <a:latin typeface="Arial"/>
                <a:ea typeface="Arial"/>
                <a:cs typeface="Arial"/>
              </a:defRPr>
            </a:lvl3pPr>
            <a:lvl4pPr>
              <a:defRPr sz="1875" b="1">
                <a:solidFill>
                  <a:srgbClr val="17324D"/>
                </a:solidFill>
                <a:latin typeface="Arial"/>
                <a:ea typeface="Arial"/>
                <a:cs typeface="Arial"/>
              </a:defRPr>
            </a:lvl4pPr>
            <a:lvl5pPr>
              <a:defRPr sz="1875" b="1">
                <a:solidFill>
                  <a:srgbClr val="17324D"/>
                </a:solidFill>
                <a:latin typeface="Arial"/>
                <a:ea typeface="Arial"/>
                <a:cs typeface="Arial"/>
              </a:defRPr>
            </a:lvl5pPr>
            <a:lvl6pPr>
              <a:defRPr sz="1875" b="1">
                <a:solidFill>
                  <a:srgbClr val="17324D"/>
                </a:solidFill>
                <a:latin typeface="Arial"/>
                <a:ea typeface="Arial"/>
                <a:cs typeface="Arial"/>
              </a:defRPr>
            </a:lvl6pPr>
            <a:lvl7pPr>
              <a:defRPr sz="1875" b="1">
                <a:solidFill>
                  <a:srgbClr val="17324D"/>
                </a:solidFill>
                <a:latin typeface="Arial"/>
                <a:ea typeface="Arial"/>
                <a:cs typeface="Arial"/>
              </a:defRPr>
            </a:lvl7pPr>
            <a:lvl8pPr>
              <a:defRPr sz="1875" b="1">
                <a:solidFill>
                  <a:srgbClr val="17324D"/>
                </a:solidFill>
                <a:latin typeface="Arial"/>
                <a:ea typeface="Arial"/>
                <a:cs typeface="Arial"/>
              </a:defRPr>
            </a:lvl8pPr>
            <a:lvl9pPr>
              <a:defRPr sz="1875" b="1">
                <a:solidFill>
                  <a:srgbClr val="17324D"/>
                </a:solidFill>
                <a:latin typeface="Arial"/>
                <a:ea typeface="Arial"/>
                <a:cs typeface="Arial"/>
              </a:defRPr>
            </a:lvl9pPr>
          </a:lstStyle>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Gardner et al. • ICML 2014</a:t>
            </a:r>
          </a:p>
        </p:txBody>
      </p:sp>
      <p:sp>
        <p:nvSpPr>
          <p:cNvPr id="17" name="">
            <a:extLst xmlns:a="http://schemas.openxmlformats.org/drawingml/2006/main">
              <a:ext uri="{FF2B5EF4-FFF2-40B4-BE49-F238E27FC236}">
                <a16:creationId xmlns:a16="http://schemas.microsoft.com/office/drawing/2014/main" id="{DD9E2C47-7A92-4E01-824F-D8A41384DEDF}"/>
              </a:ext>
            </a:extLst>
          </p:cNvPr>
          <p:cNvSpPr>
            <a:spLocks xmlns:a="http://schemas.openxmlformats.org/drawingml/2006/main" noGrp="1"/>
          </p:cNvSpPr>
          <p:nvPr/>
        </p:nvSpPr>
        <p:spPr>
          <a:xfrm xmlns:a="http://schemas.openxmlformats.org/drawingml/2006/main">
            <a:off x="5143500" y="4457700"/>
            <a:ext cx="619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2878A8"/>
                </a:solidFill>
                <a:latin typeface="Arial"/>
                <a:ea typeface="Arial"/>
                <a:cs typeface="Arial"/>
              </a:defRPr>
            </a:defPPr>
            <a:lvl1pPr>
              <a:defRPr sz="2025" b="1">
                <a:solidFill>
                  <a:srgbClr val="2878A8"/>
                </a:solidFill>
                <a:latin typeface="Arial"/>
                <a:ea typeface="Arial"/>
                <a:cs typeface="Arial"/>
              </a:defRPr>
            </a:lvl1pPr>
            <a:lvl2pPr>
              <a:defRPr sz="2025" b="1">
                <a:solidFill>
                  <a:srgbClr val="2878A8"/>
                </a:solidFill>
                <a:latin typeface="Arial"/>
                <a:ea typeface="Arial"/>
                <a:cs typeface="Arial"/>
              </a:defRPr>
            </a:lvl2pPr>
            <a:lvl3pPr>
              <a:defRPr sz="2025" b="1">
                <a:solidFill>
                  <a:srgbClr val="2878A8"/>
                </a:solidFill>
                <a:latin typeface="Arial"/>
                <a:ea typeface="Arial"/>
                <a:cs typeface="Arial"/>
              </a:defRPr>
            </a:lvl3pPr>
            <a:lvl4pPr>
              <a:defRPr sz="2025" b="1">
                <a:solidFill>
                  <a:srgbClr val="2878A8"/>
                </a:solidFill>
                <a:latin typeface="Arial"/>
                <a:ea typeface="Arial"/>
                <a:cs typeface="Arial"/>
              </a:defRPr>
            </a:lvl4pPr>
            <a:lvl5pPr>
              <a:defRPr sz="2025" b="1">
                <a:solidFill>
                  <a:srgbClr val="2878A8"/>
                </a:solidFill>
                <a:latin typeface="Arial"/>
                <a:ea typeface="Arial"/>
                <a:cs typeface="Arial"/>
              </a:defRPr>
            </a:lvl5pPr>
            <a:lvl6pPr>
              <a:defRPr sz="2025" b="1">
                <a:solidFill>
                  <a:srgbClr val="2878A8"/>
                </a:solidFill>
                <a:latin typeface="Arial"/>
                <a:ea typeface="Arial"/>
                <a:cs typeface="Arial"/>
              </a:defRPr>
            </a:lvl6pPr>
            <a:lvl7pPr>
              <a:defRPr sz="2025" b="1">
                <a:solidFill>
                  <a:srgbClr val="2878A8"/>
                </a:solidFill>
                <a:latin typeface="Arial"/>
                <a:ea typeface="Arial"/>
                <a:cs typeface="Arial"/>
              </a:defRPr>
            </a:lvl7pPr>
            <a:lvl8pPr>
              <a:defRPr sz="2025" b="1">
                <a:solidFill>
                  <a:srgbClr val="2878A8"/>
                </a:solidFill>
                <a:latin typeface="Arial"/>
                <a:ea typeface="Arial"/>
                <a:cs typeface="Arial"/>
              </a:defRPr>
            </a:lvl8pPr>
            <a:lvl9pPr>
              <a:defRPr sz="2025" b="1">
                <a:solidFill>
                  <a:srgbClr val="2878A8"/>
                </a:solidFill>
                <a:latin typeface="Arial"/>
                <a:ea typeface="Arial"/>
                <a:cs typeface="Arial"/>
              </a:defRPr>
            </a:lvl9pPr>
          </a:lstStyle>
          <a:p xmlns:a="http://schemas.openxmlformats.org/drawingml/2006/main">
            <a:pPr>
              <a:defRPr sz="2025" b="1">
                <a:solidFill>
                  <a:srgbClr val="2878A8"/>
                </a:solidFill>
                <a:latin typeface="Arial"/>
                <a:ea typeface="Arial"/>
                <a:cs typeface="Arial"/>
              </a:defRPr>
            </a:pPr>
            <a:r>
              <a:rPr sz="2025" b="1">
                <a:solidFill>
                  <a:srgbClr val="2878A8"/>
                </a:solidFill>
                <a:latin typeface="Arial"/>
                <a:ea typeface="Arial"/>
                <a:cs typeface="Arial"/>
              </a:rPr>
              <a:t>Constrained Bayesian optimization</a:t>
            </a:r>
          </a:p>
        </p:txBody>
      </p:sp>
      <p:sp>
        <p:nvSpPr>
          <p:cNvPr id="18" name="">
            <a:extLst xmlns:a="http://schemas.openxmlformats.org/drawingml/2006/main">
              <a:ext uri="{FF2B5EF4-FFF2-40B4-BE49-F238E27FC236}">
                <a16:creationId xmlns:a16="http://schemas.microsoft.com/office/drawing/2014/main" id="{27F0BC98-2BCC-4F62-981C-37A12018D659}"/>
              </a:ext>
            </a:extLst>
          </p:cNvPr>
          <p:cNvSpPr>
            <a:spLocks xmlns:a="http://schemas.openxmlformats.org/drawingml/2006/main" noGrp="1"/>
          </p:cNvSpPr>
          <p:nvPr/>
        </p:nvSpPr>
        <p:spPr>
          <a:xfrm xmlns:a="http://schemas.openxmlformats.org/drawingml/2006/main">
            <a:off x="5143500" y="483870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263648"/>
                </a:solidFill>
                <a:latin typeface="Arial"/>
                <a:ea typeface="Arial"/>
                <a:cs typeface="Arial"/>
              </a:defRPr>
            </a:defPPr>
            <a:lvl1pPr>
              <a:defRPr sz="1725" b="0">
                <a:solidFill>
                  <a:srgbClr val="263648"/>
                </a:solidFill>
                <a:latin typeface="Arial"/>
                <a:ea typeface="Arial"/>
                <a:cs typeface="Arial"/>
              </a:defRPr>
            </a:lvl1pPr>
            <a:lvl2pPr>
              <a:defRPr sz="1725" b="0">
                <a:solidFill>
                  <a:srgbClr val="263648"/>
                </a:solidFill>
                <a:latin typeface="Arial"/>
                <a:ea typeface="Arial"/>
                <a:cs typeface="Arial"/>
              </a:defRPr>
            </a:lvl2pPr>
            <a:lvl3pPr>
              <a:defRPr sz="1725" b="0">
                <a:solidFill>
                  <a:srgbClr val="263648"/>
                </a:solidFill>
                <a:latin typeface="Arial"/>
                <a:ea typeface="Arial"/>
                <a:cs typeface="Arial"/>
              </a:defRPr>
            </a:lvl3pPr>
            <a:lvl4pPr>
              <a:defRPr sz="1725" b="0">
                <a:solidFill>
                  <a:srgbClr val="263648"/>
                </a:solidFill>
                <a:latin typeface="Arial"/>
                <a:ea typeface="Arial"/>
                <a:cs typeface="Arial"/>
              </a:defRPr>
            </a:lvl4pPr>
            <a:lvl5pPr>
              <a:defRPr sz="1725" b="0">
                <a:solidFill>
                  <a:srgbClr val="263648"/>
                </a:solidFill>
                <a:latin typeface="Arial"/>
                <a:ea typeface="Arial"/>
                <a:cs typeface="Arial"/>
              </a:defRPr>
            </a:lvl5pPr>
            <a:lvl6pPr>
              <a:defRPr sz="1725" b="0">
                <a:solidFill>
                  <a:srgbClr val="263648"/>
                </a:solidFill>
                <a:latin typeface="Arial"/>
                <a:ea typeface="Arial"/>
                <a:cs typeface="Arial"/>
              </a:defRPr>
            </a:lvl6pPr>
            <a:lvl7pPr>
              <a:defRPr sz="1725" b="0">
                <a:solidFill>
                  <a:srgbClr val="263648"/>
                </a:solidFill>
                <a:latin typeface="Arial"/>
                <a:ea typeface="Arial"/>
                <a:cs typeface="Arial"/>
              </a:defRPr>
            </a:lvl7pPr>
            <a:lvl8pPr>
              <a:defRPr sz="1725" b="0">
                <a:solidFill>
                  <a:srgbClr val="263648"/>
                </a:solidFill>
                <a:latin typeface="Arial"/>
                <a:ea typeface="Arial"/>
                <a:cs typeface="Arial"/>
              </a:defRPr>
            </a:lvl8pPr>
            <a:lvl9pPr>
              <a:defRPr sz="1725" b="0">
                <a:solidFill>
                  <a:srgbClr val="263648"/>
                </a:solidFill>
                <a:latin typeface="Arial"/>
                <a:ea typeface="Arial"/>
                <a:cs typeface="Arial"/>
              </a:defRPr>
            </a:lvl9pPr>
          </a:lstStyle>
          <a:p xmlns:a="http://schemas.openxmlformats.org/drawingml/2006/main">
            <a:pPr>
              <a:defRPr sz="1725" b="0">
                <a:solidFill>
                  <a:srgbClr val="263648"/>
                </a:solidFill>
                <a:latin typeface="Arial"/>
                <a:ea typeface="Arial"/>
                <a:cs typeface="Arial"/>
              </a:defRPr>
            </a:pPr>
            <a:r>
              <a:rPr sz="1725" b="0">
                <a:solidFill>
                  <a:srgbClr val="263648"/>
                </a:solidFill>
                <a:latin typeface="Arial"/>
                <a:ea typeface="Arial"/>
                <a:cs typeface="Arial"/>
              </a:rPr>
              <a:t>Balance benefit, feasibility, and measurement</a:t>
            </a:r>
          </a:p>
        </p:txBody>
      </p:sp>
      <p:sp>
        <p:nvSpPr>
          <p:cNvPr id="19" name="">
            <a:extLst xmlns:a="http://schemas.openxmlformats.org/drawingml/2006/main">
              <a:ext uri="{FF2B5EF4-FFF2-40B4-BE49-F238E27FC236}">
                <a16:creationId xmlns:a16="http://schemas.microsoft.com/office/drawing/2014/main" id="{17C56CF3-15A0-42C8-852C-3E678DFC7BCA}"/>
              </a:ext>
            </a:extLst>
          </p:cNvPr>
          <p:cNvSpPr>
            <a:spLocks xmlns:a="http://schemas.openxmlformats.org/drawingml/2006/main" noGrp="1"/>
          </p:cNvSpPr>
          <p:nvPr/>
        </p:nvSpPr>
        <p:spPr>
          <a:xfrm xmlns:a="http://schemas.openxmlformats.org/drawingml/2006/main">
            <a:off x="685800" y="5724525"/>
            <a:ext cx="10810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17324D"/>
                </a:solidFill>
                <a:latin typeface="Arial"/>
                <a:ea typeface="Arial"/>
                <a:cs typeface="Arial"/>
              </a:defRPr>
            </a:defPPr>
            <a:lvl1pPr>
              <a:defRPr sz="1875" b="1">
                <a:solidFill>
                  <a:srgbClr val="17324D"/>
                </a:solidFill>
                <a:latin typeface="Arial"/>
                <a:ea typeface="Arial"/>
                <a:cs typeface="Arial"/>
              </a:defRPr>
            </a:lvl1pPr>
            <a:lvl2pPr>
              <a:defRPr sz="1875" b="1">
                <a:solidFill>
                  <a:srgbClr val="17324D"/>
                </a:solidFill>
                <a:latin typeface="Arial"/>
                <a:ea typeface="Arial"/>
                <a:cs typeface="Arial"/>
              </a:defRPr>
            </a:lvl2pPr>
            <a:lvl3pPr>
              <a:defRPr sz="1875" b="1">
                <a:solidFill>
                  <a:srgbClr val="17324D"/>
                </a:solidFill>
                <a:latin typeface="Arial"/>
                <a:ea typeface="Arial"/>
                <a:cs typeface="Arial"/>
              </a:defRPr>
            </a:lvl3pPr>
            <a:lvl4pPr>
              <a:defRPr sz="1875" b="1">
                <a:solidFill>
                  <a:srgbClr val="17324D"/>
                </a:solidFill>
                <a:latin typeface="Arial"/>
                <a:ea typeface="Arial"/>
                <a:cs typeface="Arial"/>
              </a:defRPr>
            </a:lvl4pPr>
            <a:lvl5pPr>
              <a:defRPr sz="1875" b="1">
                <a:solidFill>
                  <a:srgbClr val="17324D"/>
                </a:solidFill>
                <a:latin typeface="Arial"/>
                <a:ea typeface="Arial"/>
                <a:cs typeface="Arial"/>
              </a:defRPr>
            </a:lvl5pPr>
            <a:lvl6pPr>
              <a:defRPr sz="1875" b="1">
                <a:solidFill>
                  <a:srgbClr val="17324D"/>
                </a:solidFill>
                <a:latin typeface="Arial"/>
                <a:ea typeface="Arial"/>
                <a:cs typeface="Arial"/>
              </a:defRPr>
            </a:lvl6pPr>
            <a:lvl7pPr>
              <a:defRPr sz="1875" b="1">
                <a:solidFill>
                  <a:srgbClr val="17324D"/>
                </a:solidFill>
                <a:latin typeface="Arial"/>
                <a:ea typeface="Arial"/>
                <a:cs typeface="Arial"/>
              </a:defRPr>
            </a:lvl7pPr>
            <a:lvl8pPr>
              <a:defRPr sz="1875" b="1">
                <a:solidFill>
                  <a:srgbClr val="17324D"/>
                </a:solidFill>
                <a:latin typeface="Arial"/>
                <a:ea typeface="Arial"/>
                <a:cs typeface="Arial"/>
              </a:defRPr>
            </a:lvl8pPr>
            <a:lvl9pPr>
              <a:defRPr sz="1875" b="1">
                <a:solidFill>
                  <a:srgbClr val="17324D"/>
                </a:solidFill>
                <a:latin typeface="Arial"/>
                <a:ea typeface="Arial"/>
                <a:cs typeface="Arial"/>
              </a:defRPr>
            </a:lvl9pPr>
          </a:lstStyle>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Our test: measurement-efficient selection, validated on real processor outcomes.</a:t>
            </a:r>
          </a:p>
        </p:txBody>
      </p:sp>
    </p:spTree>
    <p:extLst>
      <p:ext uri="{BB962C8B-B14F-4D97-AF65-F5344CB8AC3E}">
        <p14:creationId xmlns:p14="http://schemas.microsoft.com/office/powerpoint/2010/main" val="19751623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9BE1A81-483C-4207-B51E-C1959D253096}"/>
              </a:ext>
            </a:extLst>
          </p:cNvPr>
          <p:cNvSpPr>
            <a:spLocks xmlns:a="http://schemas.openxmlformats.org/drawingml/2006/main" noGrp="1"/>
          </p:cNvSpPr>
          <p:nvPr/>
        </p:nvSpPr>
        <p:spPr>
          <a:xfrm xmlns:a="http://schemas.openxmlformats.org/drawingml/2006/main">
            <a:off x="6477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7324D"/>
                </a:solidFill>
                <a:latin typeface="Arial"/>
                <a:ea typeface="Arial"/>
                <a:cs typeface="Arial"/>
              </a:defRPr>
            </a:defPPr>
            <a:lvl1pPr>
              <a:defRPr sz="3225" b="1">
                <a:solidFill>
                  <a:srgbClr val="17324D"/>
                </a:solidFill>
                <a:latin typeface="Arial"/>
                <a:ea typeface="Arial"/>
                <a:cs typeface="Arial"/>
              </a:defRPr>
            </a:lvl1pPr>
            <a:lvl2pPr>
              <a:defRPr sz="3225" b="1">
                <a:solidFill>
                  <a:srgbClr val="17324D"/>
                </a:solidFill>
                <a:latin typeface="Arial"/>
                <a:ea typeface="Arial"/>
                <a:cs typeface="Arial"/>
              </a:defRPr>
            </a:lvl2pPr>
            <a:lvl3pPr>
              <a:defRPr sz="3225" b="1">
                <a:solidFill>
                  <a:srgbClr val="17324D"/>
                </a:solidFill>
                <a:latin typeface="Arial"/>
                <a:ea typeface="Arial"/>
                <a:cs typeface="Arial"/>
              </a:defRPr>
            </a:lvl3pPr>
            <a:lvl4pPr>
              <a:defRPr sz="3225" b="1">
                <a:solidFill>
                  <a:srgbClr val="17324D"/>
                </a:solidFill>
                <a:latin typeface="Arial"/>
                <a:ea typeface="Arial"/>
                <a:cs typeface="Arial"/>
              </a:defRPr>
            </a:lvl4pPr>
            <a:lvl5pPr>
              <a:defRPr sz="3225" b="1">
                <a:solidFill>
                  <a:srgbClr val="17324D"/>
                </a:solidFill>
                <a:latin typeface="Arial"/>
                <a:ea typeface="Arial"/>
                <a:cs typeface="Arial"/>
              </a:defRPr>
            </a:lvl5pPr>
            <a:lvl6pPr>
              <a:defRPr sz="3225" b="1">
                <a:solidFill>
                  <a:srgbClr val="17324D"/>
                </a:solidFill>
                <a:latin typeface="Arial"/>
                <a:ea typeface="Arial"/>
                <a:cs typeface="Arial"/>
              </a:defRPr>
            </a:lvl6pPr>
            <a:lvl7pPr>
              <a:defRPr sz="3225" b="1">
                <a:solidFill>
                  <a:srgbClr val="17324D"/>
                </a:solidFill>
                <a:latin typeface="Arial"/>
                <a:ea typeface="Arial"/>
                <a:cs typeface="Arial"/>
              </a:defRPr>
            </a:lvl7pPr>
            <a:lvl8pPr>
              <a:defRPr sz="3225" b="1">
                <a:solidFill>
                  <a:srgbClr val="17324D"/>
                </a:solidFill>
                <a:latin typeface="Arial"/>
                <a:ea typeface="Arial"/>
                <a:cs typeface="Arial"/>
              </a:defRPr>
            </a:lvl8pPr>
            <a:lvl9pPr>
              <a:defRPr sz="3225" b="1">
                <a:solidFill>
                  <a:srgbClr val="17324D"/>
                </a:solidFill>
                <a:latin typeface="Arial"/>
                <a:ea typeface="Arial"/>
                <a:cs typeface="Arial"/>
              </a:defRPr>
            </a:lvl9pPr>
          </a:lstStyle>
          <a:p xmlns:a="http://schemas.openxmlformats.org/drawingml/2006/main">
            <a:pPr>
              <a:defRPr sz="3225" b="1">
                <a:solidFill>
                  <a:srgbClr val="17324D"/>
                </a:solidFill>
                <a:latin typeface="Arial"/>
                <a:ea typeface="Arial"/>
                <a:cs typeface="Arial"/>
              </a:defRPr>
            </a:pPr>
            <a:r>
              <a:rPr sz="3225" b="1">
                <a:solidFill>
                  <a:srgbClr val="17324D"/>
                </a:solidFill>
                <a:latin typeface="Arial"/>
                <a:ea typeface="Arial"/>
                <a:cs typeface="Arial"/>
              </a:rPr>
              <a:t>Timeline and team contributions</a:t>
            </a:r>
          </a:p>
        </p:txBody>
      </p:sp>
      <p:sp>
        <p:nvSpPr>
          <p:cNvPr id="2" name="">
            <a:extLst xmlns:a="http://schemas.openxmlformats.org/drawingml/2006/main">
              <a:ext uri="{FF2B5EF4-FFF2-40B4-BE49-F238E27FC236}">
                <a16:creationId xmlns:a16="http://schemas.microsoft.com/office/drawing/2014/main" id="{C2A7CB12-7ABF-4289-8FD1-C35D6225F3D6}"/>
              </a:ext>
            </a:extLst>
          </p:cNvPr>
          <p:cNvSpPr>
            <a:spLocks xmlns:a="http://schemas.openxmlformats.org/drawingml/2006/main" noGrp="1"/>
          </p:cNvSpPr>
          <p:nvPr/>
        </p:nvSpPr>
        <p:spPr>
          <a:xfrm xmlns:a="http://schemas.openxmlformats.org/drawingml/2006/main">
            <a:off x="647700" y="1066800"/>
            <a:ext cx="10896600" cy="0"/>
          </a:xfrm>
          <a:prstGeom xmlns:a="http://schemas.openxmlformats.org/drawingml/2006/main" prst="line">
            <a:avLst/>
          </a:prstGeom>
          <a:noFill xmlns:a="http://schemas.openxmlformats.org/drawingml/2006/main"/>
          <a:ln xmlns:a="http://schemas.openxmlformats.org/drawingml/2006/main" w="9525">
            <a:solidFill>
              <a:srgbClr val="D9E1E8"/>
            </a:solidFill>
            <a:prstDash val="solid"/>
          </a:ln>
        </p:spPr>
      </p:sp>
      <p:sp>
        <p:nvSpPr>
          <p:cNvPr id="3" name="">
            <a:extLst xmlns:a="http://schemas.openxmlformats.org/drawingml/2006/main">
              <a:ext uri="{FF2B5EF4-FFF2-40B4-BE49-F238E27FC236}">
                <a16:creationId xmlns:a16="http://schemas.microsoft.com/office/drawing/2014/main" id="{5AFBE873-BD6A-4BE2-BC2D-58D5C01FBF88}"/>
              </a:ext>
            </a:extLst>
          </p:cNvPr>
          <p:cNvSpPr>
            <a:spLocks xmlns:a="http://schemas.openxmlformats.org/drawingml/2006/main" noGrp="1"/>
          </p:cNvSpPr>
          <p:nvPr/>
        </p:nvSpPr>
        <p:spPr>
          <a:xfrm xmlns:a="http://schemas.openxmlformats.org/drawingml/2006/main">
            <a:off x="647700" y="6534150"/>
            <a:ext cx="10896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607286"/>
                </a:solidFill>
                <a:latin typeface="Arial"/>
                <a:ea typeface="Arial"/>
                <a:cs typeface="Arial"/>
              </a:defRPr>
            </a:defPPr>
            <a:lvl1pPr>
              <a:defRPr sz="900">
                <a:solidFill>
                  <a:srgbClr val="607286"/>
                </a:solidFill>
                <a:latin typeface="Arial"/>
                <a:ea typeface="Arial"/>
                <a:cs typeface="Arial"/>
              </a:defRPr>
            </a:lvl1pPr>
            <a:lvl2pPr>
              <a:defRPr sz="900">
                <a:solidFill>
                  <a:srgbClr val="607286"/>
                </a:solidFill>
                <a:latin typeface="Arial"/>
                <a:ea typeface="Arial"/>
                <a:cs typeface="Arial"/>
              </a:defRPr>
            </a:lvl2pPr>
            <a:lvl3pPr>
              <a:defRPr sz="900">
                <a:solidFill>
                  <a:srgbClr val="607286"/>
                </a:solidFill>
                <a:latin typeface="Arial"/>
                <a:ea typeface="Arial"/>
                <a:cs typeface="Arial"/>
              </a:defRPr>
            </a:lvl3pPr>
            <a:lvl4pPr>
              <a:defRPr sz="900">
                <a:solidFill>
                  <a:srgbClr val="607286"/>
                </a:solidFill>
                <a:latin typeface="Arial"/>
                <a:ea typeface="Arial"/>
                <a:cs typeface="Arial"/>
              </a:defRPr>
            </a:lvl4pPr>
            <a:lvl5pPr>
              <a:defRPr sz="900">
                <a:solidFill>
                  <a:srgbClr val="607286"/>
                </a:solidFill>
                <a:latin typeface="Arial"/>
                <a:ea typeface="Arial"/>
                <a:cs typeface="Arial"/>
              </a:defRPr>
            </a:lvl5pPr>
            <a:lvl6pPr>
              <a:defRPr sz="900">
                <a:solidFill>
                  <a:srgbClr val="607286"/>
                </a:solidFill>
                <a:latin typeface="Arial"/>
                <a:ea typeface="Arial"/>
                <a:cs typeface="Arial"/>
              </a:defRPr>
            </a:lvl6pPr>
            <a:lvl7pPr>
              <a:defRPr sz="900">
                <a:solidFill>
                  <a:srgbClr val="607286"/>
                </a:solidFill>
                <a:latin typeface="Arial"/>
                <a:ea typeface="Arial"/>
                <a:cs typeface="Arial"/>
              </a:defRPr>
            </a:lvl7pPr>
            <a:lvl8pPr>
              <a:defRPr sz="900">
                <a:solidFill>
                  <a:srgbClr val="607286"/>
                </a:solidFill>
                <a:latin typeface="Arial"/>
                <a:ea typeface="Arial"/>
                <a:cs typeface="Arial"/>
              </a:defRPr>
            </a:lvl8pPr>
            <a:lvl9pPr>
              <a:defRPr sz="900">
                <a:solidFill>
                  <a:srgbClr val="607286"/>
                </a:solidFill>
                <a:latin typeface="Arial"/>
                <a:ea typeface="Arial"/>
                <a:cs typeface="Arial"/>
              </a:defRPr>
            </a:lvl9pPr>
          </a:lstStyle>
          <a:p xmlns:a="http://schemas.openxmlformats.org/drawingml/2006/main">
            <a:pPr>
              <a:defRPr sz="900">
                <a:solidFill>
                  <a:srgbClr val="607286"/>
                </a:solidFill>
                <a:latin typeface="Arial"/>
                <a:ea typeface="Arial"/>
                <a:cs typeface="Arial"/>
              </a:defRPr>
            </a:pPr>
            <a:r>
              <a:rPr sz="900">
                <a:solidFill>
                  <a:srgbClr val="607286"/>
                </a:solidFill>
                <a:latin typeface="Arial"/>
                <a:ea typeface="Arial"/>
                <a:cs typeface="Arial"/>
              </a:rPr>
              <a:t>ISAForge  /  ECE 4803                                    3</a:t>
            </a:r>
          </a:p>
        </p:txBody>
      </p:sp>
      <p:sp>
        <p:nvSpPr>
          <p:cNvPr id="4" name="">
            <a:extLst xmlns:a="http://schemas.openxmlformats.org/drawingml/2006/main">
              <a:ext uri="{FF2B5EF4-FFF2-40B4-BE49-F238E27FC236}">
                <a16:creationId xmlns:a16="http://schemas.microsoft.com/office/drawing/2014/main" id="{EA8E970D-8772-4A1B-87BD-85C4E225B6EF}"/>
              </a:ext>
            </a:extLst>
          </p:cNvPr>
          <p:cNvSpPr>
            <a:spLocks xmlns:a="http://schemas.openxmlformats.org/drawingml/2006/main" noGrp="1"/>
          </p:cNvSpPr>
          <p:nvPr/>
        </p:nvSpPr>
        <p:spPr>
          <a:xfrm xmlns:a="http://schemas.openxmlformats.org/drawingml/2006/main">
            <a:off x="904875" y="2000250"/>
            <a:ext cx="10239375" cy="0"/>
          </a:xfrm>
          <a:prstGeom xmlns:a="http://schemas.openxmlformats.org/drawingml/2006/main" prst="line">
            <a:avLst/>
          </a:prstGeom>
          <a:noFill xmlns:a="http://schemas.openxmlformats.org/drawingml/2006/main"/>
          <a:ln xmlns:a="http://schemas.openxmlformats.org/drawingml/2006/main" w="38100">
            <a:solidFill>
              <a:srgbClr val="2878A8"/>
            </a:solidFill>
            <a:prstDash val="solid"/>
          </a:ln>
        </p:spPr>
      </p:sp>
      <p:sp>
        <p:nvSpPr>
          <p:cNvPr id="5" name="">
            <a:extLst xmlns:a="http://schemas.openxmlformats.org/drawingml/2006/main">
              <a:ext uri="{FF2B5EF4-FFF2-40B4-BE49-F238E27FC236}">
                <a16:creationId xmlns:a16="http://schemas.microsoft.com/office/drawing/2014/main" id="{58E62A5D-99EE-42CC-957B-B6F9FAEDEFF1}"/>
              </a:ext>
            </a:extLst>
          </p:cNvPr>
          <p:cNvSpPr>
            <a:spLocks xmlns:a="http://schemas.openxmlformats.org/drawingml/2006/main" noGrp="1"/>
          </p:cNvSpPr>
          <p:nvPr/>
        </p:nvSpPr>
        <p:spPr>
          <a:xfrm xmlns:a="http://schemas.openxmlformats.org/drawingml/2006/main">
            <a:off x="685800" y="14668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2878A8"/>
                </a:solidFill>
                <a:latin typeface="Arial"/>
                <a:ea typeface="Arial"/>
                <a:cs typeface="Arial"/>
              </a:defRPr>
            </a:defPPr>
            <a:lvl1pPr>
              <a:defRPr sz="1800" b="1">
                <a:solidFill>
                  <a:srgbClr val="2878A8"/>
                </a:solidFill>
                <a:latin typeface="Arial"/>
                <a:ea typeface="Arial"/>
                <a:cs typeface="Arial"/>
              </a:defRPr>
            </a:lvl1pPr>
            <a:lvl2pPr>
              <a:defRPr sz="1800" b="1">
                <a:solidFill>
                  <a:srgbClr val="2878A8"/>
                </a:solidFill>
                <a:latin typeface="Arial"/>
                <a:ea typeface="Arial"/>
                <a:cs typeface="Arial"/>
              </a:defRPr>
            </a:lvl2pPr>
            <a:lvl3pPr>
              <a:defRPr sz="1800" b="1">
                <a:solidFill>
                  <a:srgbClr val="2878A8"/>
                </a:solidFill>
                <a:latin typeface="Arial"/>
                <a:ea typeface="Arial"/>
                <a:cs typeface="Arial"/>
              </a:defRPr>
            </a:lvl3pPr>
            <a:lvl4pPr>
              <a:defRPr sz="1800" b="1">
                <a:solidFill>
                  <a:srgbClr val="2878A8"/>
                </a:solidFill>
                <a:latin typeface="Arial"/>
                <a:ea typeface="Arial"/>
                <a:cs typeface="Arial"/>
              </a:defRPr>
            </a:lvl4pPr>
            <a:lvl5pPr>
              <a:defRPr sz="1800" b="1">
                <a:solidFill>
                  <a:srgbClr val="2878A8"/>
                </a:solidFill>
                <a:latin typeface="Arial"/>
                <a:ea typeface="Arial"/>
                <a:cs typeface="Arial"/>
              </a:defRPr>
            </a:lvl5pPr>
            <a:lvl6pPr>
              <a:defRPr sz="1800" b="1">
                <a:solidFill>
                  <a:srgbClr val="2878A8"/>
                </a:solidFill>
                <a:latin typeface="Arial"/>
                <a:ea typeface="Arial"/>
                <a:cs typeface="Arial"/>
              </a:defRPr>
            </a:lvl6pPr>
            <a:lvl7pPr>
              <a:defRPr sz="1800" b="1">
                <a:solidFill>
                  <a:srgbClr val="2878A8"/>
                </a:solidFill>
                <a:latin typeface="Arial"/>
                <a:ea typeface="Arial"/>
                <a:cs typeface="Arial"/>
              </a:defRPr>
            </a:lvl7pPr>
            <a:lvl8pPr>
              <a:defRPr sz="1800" b="1">
                <a:solidFill>
                  <a:srgbClr val="2878A8"/>
                </a:solidFill>
                <a:latin typeface="Arial"/>
                <a:ea typeface="Arial"/>
                <a:cs typeface="Arial"/>
              </a:defRPr>
            </a:lvl8pPr>
            <a:lvl9pPr>
              <a:defRPr sz="1800" b="1">
                <a:solidFill>
                  <a:srgbClr val="2878A8"/>
                </a:solidFill>
                <a:latin typeface="Arial"/>
                <a:ea typeface="Arial"/>
                <a:cs typeface="Arial"/>
              </a:defRPr>
            </a:lvl9pPr>
          </a:lstStyle>
          <a:p xmlns:a="http://schemas.openxmlformats.org/drawingml/2006/main">
            <a:pPr>
              <a:defRPr sz="1800" b="1">
                <a:solidFill>
                  <a:srgbClr val="2878A8"/>
                </a:solidFill>
                <a:latin typeface="Arial"/>
                <a:ea typeface="Arial"/>
                <a:cs typeface="Arial"/>
              </a:defRPr>
            </a:pPr>
            <a:r>
              <a:rPr sz="1800" b="1">
                <a:solidFill>
                  <a:srgbClr val="2878A8"/>
                </a:solidFill>
                <a:latin typeface="Arial"/>
                <a:ea typeface="Arial"/>
                <a:cs typeface="Arial"/>
              </a:rPr>
              <a:t>OCT 13–18</a:t>
            </a:r>
          </a:p>
        </p:txBody>
      </p:sp>
      <p:sp>
        <p:nvSpPr>
          <p:cNvPr id="6" name="">
            <a:extLst xmlns:a="http://schemas.openxmlformats.org/drawingml/2006/main">
              <a:ext uri="{FF2B5EF4-FFF2-40B4-BE49-F238E27FC236}">
                <a16:creationId xmlns:a16="http://schemas.microsoft.com/office/drawing/2014/main" id="{8C2DB62B-A619-4621-9EFC-CE8001E0D9DF}"/>
              </a:ext>
            </a:extLst>
          </p:cNvPr>
          <p:cNvSpPr>
            <a:spLocks xmlns:a="http://schemas.openxmlformats.org/drawingml/2006/main" noGrp="1"/>
          </p:cNvSpPr>
          <p:nvPr/>
        </p:nvSpPr>
        <p:spPr>
          <a:xfrm xmlns:a="http://schemas.openxmlformats.org/drawingml/2006/main">
            <a:off x="800100" y="1914525"/>
            <a:ext cx="171450" cy="171450"/>
          </a:xfrm>
          <a:prstGeom xmlns:a="http://schemas.openxmlformats.org/drawingml/2006/main" prst="ellipse">
            <a:avLst/>
          </a:prstGeom>
          <a:solidFill xmlns:a="http://schemas.openxmlformats.org/drawingml/2006/main">
            <a:srgbClr val="2878A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2570FBF-5D40-481C-906F-416B2C1E0D67}"/>
              </a:ext>
            </a:extLst>
          </p:cNvPr>
          <p:cNvSpPr>
            <a:spLocks xmlns:a="http://schemas.openxmlformats.org/drawingml/2006/main" noGrp="1"/>
          </p:cNvSpPr>
          <p:nvPr/>
        </p:nvSpPr>
        <p:spPr>
          <a:xfrm xmlns:a="http://schemas.openxmlformats.org/drawingml/2006/main">
            <a:off x="685800" y="2324100"/>
            <a:ext cx="2476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17324D"/>
                </a:solidFill>
                <a:latin typeface="Arial"/>
                <a:ea typeface="Arial"/>
                <a:cs typeface="Arial"/>
              </a:defRPr>
            </a:defPPr>
            <a:lvl1pPr>
              <a:defRPr sz="1875" b="1">
                <a:solidFill>
                  <a:srgbClr val="17324D"/>
                </a:solidFill>
                <a:latin typeface="Arial"/>
                <a:ea typeface="Arial"/>
                <a:cs typeface="Arial"/>
              </a:defRPr>
            </a:lvl1pPr>
            <a:lvl2pPr>
              <a:defRPr sz="1875" b="1">
                <a:solidFill>
                  <a:srgbClr val="17324D"/>
                </a:solidFill>
                <a:latin typeface="Arial"/>
                <a:ea typeface="Arial"/>
                <a:cs typeface="Arial"/>
              </a:defRPr>
            </a:lvl2pPr>
            <a:lvl3pPr>
              <a:defRPr sz="1875" b="1">
                <a:solidFill>
                  <a:srgbClr val="17324D"/>
                </a:solidFill>
                <a:latin typeface="Arial"/>
                <a:ea typeface="Arial"/>
                <a:cs typeface="Arial"/>
              </a:defRPr>
            </a:lvl3pPr>
            <a:lvl4pPr>
              <a:defRPr sz="1875" b="1">
                <a:solidFill>
                  <a:srgbClr val="17324D"/>
                </a:solidFill>
                <a:latin typeface="Arial"/>
                <a:ea typeface="Arial"/>
                <a:cs typeface="Arial"/>
              </a:defRPr>
            </a:lvl4pPr>
            <a:lvl5pPr>
              <a:defRPr sz="1875" b="1">
                <a:solidFill>
                  <a:srgbClr val="17324D"/>
                </a:solidFill>
                <a:latin typeface="Arial"/>
                <a:ea typeface="Arial"/>
                <a:cs typeface="Arial"/>
              </a:defRPr>
            </a:lvl5pPr>
            <a:lvl6pPr>
              <a:defRPr sz="1875" b="1">
                <a:solidFill>
                  <a:srgbClr val="17324D"/>
                </a:solidFill>
                <a:latin typeface="Arial"/>
                <a:ea typeface="Arial"/>
                <a:cs typeface="Arial"/>
              </a:defRPr>
            </a:lvl6pPr>
            <a:lvl7pPr>
              <a:defRPr sz="1875" b="1">
                <a:solidFill>
                  <a:srgbClr val="17324D"/>
                </a:solidFill>
                <a:latin typeface="Arial"/>
                <a:ea typeface="Arial"/>
                <a:cs typeface="Arial"/>
              </a:defRPr>
            </a:lvl7pPr>
            <a:lvl8pPr>
              <a:defRPr sz="1875" b="1">
                <a:solidFill>
                  <a:srgbClr val="17324D"/>
                </a:solidFill>
                <a:latin typeface="Arial"/>
                <a:ea typeface="Arial"/>
                <a:cs typeface="Arial"/>
              </a:defRPr>
            </a:lvl8pPr>
            <a:lvl9pPr>
              <a:defRPr sz="1875" b="1">
                <a:solidFill>
                  <a:srgbClr val="17324D"/>
                </a:solidFill>
                <a:latin typeface="Arial"/>
                <a:ea typeface="Arial"/>
                <a:cs typeface="Arial"/>
              </a:defRPr>
            </a:lvl9pPr>
          </a:lstStyle>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Traces + synthesis</a:t>
            </a:r>
          </a:p>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early cost models</a:t>
            </a:r>
          </a:p>
        </p:txBody>
      </p:sp>
      <p:sp>
        <p:nvSpPr>
          <p:cNvPr id="8" name="">
            <a:extLst xmlns:a="http://schemas.openxmlformats.org/drawingml/2006/main">
              <a:ext uri="{FF2B5EF4-FFF2-40B4-BE49-F238E27FC236}">
                <a16:creationId xmlns:a16="http://schemas.microsoft.com/office/drawing/2014/main" id="{FFB41E35-88E9-41F1-9B0F-1F2B90656553}"/>
              </a:ext>
            </a:extLst>
          </p:cNvPr>
          <p:cNvSpPr>
            <a:spLocks xmlns:a="http://schemas.openxmlformats.org/drawingml/2006/main" noGrp="1"/>
          </p:cNvSpPr>
          <p:nvPr/>
        </p:nvSpPr>
        <p:spPr>
          <a:xfrm xmlns:a="http://schemas.openxmlformats.org/drawingml/2006/main">
            <a:off x="3476625" y="14668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2878A8"/>
                </a:solidFill>
                <a:latin typeface="Arial"/>
                <a:ea typeface="Arial"/>
                <a:cs typeface="Arial"/>
              </a:defRPr>
            </a:defPPr>
            <a:lvl1pPr>
              <a:defRPr sz="1800" b="1">
                <a:solidFill>
                  <a:srgbClr val="2878A8"/>
                </a:solidFill>
                <a:latin typeface="Arial"/>
                <a:ea typeface="Arial"/>
                <a:cs typeface="Arial"/>
              </a:defRPr>
            </a:lvl1pPr>
            <a:lvl2pPr>
              <a:defRPr sz="1800" b="1">
                <a:solidFill>
                  <a:srgbClr val="2878A8"/>
                </a:solidFill>
                <a:latin typeface="Arial"/>
                <a:ea typeface="Arial"/>
                <a:cs typeface="Arial"/>
              </a:defRPr>
            </a:lvl2pPr>
            <a:lvl3pPr>
              <a:defRPr sz="1800" b="1">
                <a:solidFill>
                  <a:srgbClr val="2878A8"/>
                </a:solidFill>
                <a:latin typeface="Arial"/>
                <a:ea typeface="Arial"/>
                <a:cs typeface="Arial"/>
              </a:defRPr>
            </a:lvl3pPr>
            <a:lvl4pPr>
              <a:defRPr sz="1800" b="1">
                <a:solidFill>
                  <a:srgbClr val="2878A8"/>
                </a:solidFill>
                <a:latin typeface="Arial"/>
                <a:ea typeface="Arial"/>
                <a:cs typeface="Arial"/>
              </a:defRPr>
            </a:lvl4pPr>
            <a:lvl5pPr>
              <a:defRPr sz="1800" b="1">
                <a:solidFill>
                  <a:srgbClr val="2878A8"/>
                </a:solidFill>
                <a:latin typeface="Arial"/>
                <a:ea typeface="Arial"/>
                <a:cs typeface="Arial"/>
              </a:defRPr>
            </a:lvl5pPr>
            <a:lvl6pPr>
              <a:defRPr sz="1800" b="1">
                <a:solidFill>
                  <a:srgbClr val="2878A8"/>
                </a:solidFill>
                <a:latin typeface="Arial"/>
                <a:ea typeface="Arial"/>
                <a:cs typeface="Arial"/>
              </a:defRPr>
            </a:lvl6pPr>
            <a:lvl7pPr>
              <a:defRPr sz="1800" b="1">
                <a:solidFill>
                  <a:srgbClr val="2878A8"/>
                </a:solidFill>
                <a:latin typeface="Arial"/>
                <a:ea typeface="Arial"/>
                <a:cs typeface="Arial"/>
              </a:defRPr>
            </a:lvl7pPr>
            <a:lvl8pPr>
              <a:defRPr sz="1800" b="1">
                <a:solidFill>
                  <a:srgbClr val="2878A8"/>
                </a:solidFill>
                <a:latin typeface="Arial"/>
                <a:ea typeface="Arial"/>
                <a:cs typeface="Arial"/>
              </a:defRPr>
            </a:lvl8pPr>
            <a:lvl9pPr>
              <a:defRPr sz="1800" b="1">
                <a:solidFill>
                  <a:srgbClr val="2878A8"/>
                </a:solidFill>
                <a:latin typeface="Arial"/>
                <a:ea typeface="Arial"/>
                <a:cs typeface="Arial"/>
              </a:defRPr>
            </a:lvl9pPr>
          </a:lstStyle>
          <a:p xmlns:a="http://schemas.openxmlformats.org/drawingml/2006/main">
            <a:pPr>
              <a:defRPr sz="1800" b="1">
                <a:solidFill>
                  <a:srgbClr val="2878A8"/>
                </a:solidFill>
                <a:latin typeface="Arial"/>
                <a:ea typeface="Arial"/>
                <a:cs typeface="Arial"/>
              </a:defRPr>
            </a:pPr>
            <a:r>
              <a:rPr sz="1800" b="1">
                <a:solidFill>
                  <a:srgbClr val="2878A8"/>
                </a:solidFill>
                <a:latin typeface="Arial"/>
                <a:ea typeface="Arial"/>
                <a:cs typeface="Arial"/>
              </a:rPr>
              <a:t>OCT 19</a:t>
            </a:r>
          </a:p>
        </p:txBody>
      </p:sp>
      <p:sp>
        <p:nvSpPr>
          <p:cNvPr id="9" name="">
            <a:extLst xmlns:a="http://schemas.openxmlformats.org/drawingml/2006/main">
              <a:ext uri="{FF2B5EF4-FFF2-40B4-BE49-F238E27FC236}">
                <a16:creationId xmlns:a16="http://schemas.microsoft.com/office/drawing/2014/main" id="{E2FC2F1E-D091-4E15-891E-9D6B9D508515}"/>
              </a:ext>
            </a:extLst>
          </p:cNvPr>
          <p:cNvSpPr>
            <a:spLocks xmlns:a="http://schemas.openxmlformats.org/drawingml/2006/main" noGrp="1"/>
          </p:cNvSpPr>
          <p:nvPr/>
        </p:nvSpPr>
        <p:spPr>
          <a:xfrm xmlns:a="http://schemas.openxmlformats.org/drawingml/2006/main">
            <a:off x="3590925" y="1914525"/>
            <a:ext cx="171450" cy="171450"/>
          </a:xfrm>
          <a:prstGeom xmlns:a="http://schemas.openxmlformats.org/drawingml/2006/main" prst="ellipse">
            <a:avLst/>
          </a:prstGeom>
          <a:solidFill xmlns:a="http://schemas.openxmlformats.org/drawingml/2006/main">
            <a:srgbClr val="2878A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DC48254-C1DC-4FDC-8E05-B0553A1FD2EC}"/>
              </a:ext>
            </a:extLst>
          </p:cNvPr>
          <p:cNvSpPr>
            <a:spLocks xmlns:a="http://schemas.openxmlformats.org/drawingml/2006/main" noGrp="1"/>
          </p:cNvSpPr>
          <p:nvPr/>
        </p:nvSpPr>
        <p:spPr>
          <a:xfrm xmlns:a="http://schemas.openxmlformats.org/drawingml/2006/main">
            <a:off x="3476625" y="2324100"/>
            <a:ext cx="2476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17324D"/>
                </a:solidFill>
                <a:latin typeface="Arial"/>
                <a:ea typeface="Arial"/>
                <a:cs typeface="Arial"/>
              </a:defRPr>
            </a:defPPr>
            <a:lvl1pPr>
              <a:defRPr sz="1875" b="1">
                <a:solidFill>
                  <a:srgbClr val="17324D"/>
                </a:solidFill>
                <a:latin typeface="Arial"/>
                <a:ea typeface="Arial"/>
                <a:cs typeface="Arial"/>
              </a:defRPr>
            </a:lvl1pPr>
            <a:lvl2pPr>
              <a:defRPr sz="1875" b="1">
                <a:solidFill>
                  <a:srgbClr val="17324D"/>
                </a:solidFill>
                <a:latin typeface="Arial"/>
                <a:ea typeface="Arial"/>
                <a:cs typeface="Arial"/>
              </a:defRPr>
            </a:lvl2pPr>
            <a:lvl3pPr>
              <a:defRPr sz="1875" b="1">
                <a:solidFill>
                  <a:srgbClr val="17324D"/>
                </a:solidFill>
                <a:latin typeface="Arial"/>
                <a:ea typeface="Arial"/>
                <a:cs typeface="Arial"/>
              </a:defRPr>
            </a:lvl3pPr>
            <a:lvl4pPr>
              <a:defRPr sz="1875" b="1">
                <a:solidFill>
                  <a:srgbClr val="17324D"/>
                </a:solidFill>
                <a:latin typeface="Arial"/>
                <a:ea typeface="Arial"/>
                <a:cs typeface="Arial"/>
              </a:defRPr>
            </a:lvl4pPr>
            <a:lvl5pPr>
              <a:defRPr sz="1875" b="1">
                <a:solidFill>
                  <a:srgbClr val="17324D"/>
                </a:solidFill>
                <a:latin typeface="Arial"/>
                <a:ea typeface="Arial"/>
                <a:cs typeface="Arial"/>
              </a:defRPr>
            </a:lvl5pPr>
            <a:lvl6pPr>
              <a:defRPr sz="1875" b="1">
                <a:solidFill>
                  <a:srgbClr val="17324D"/>
                </a:solidFill>
                <a:latin typeface="Arial"/>
                <a:ea typeface="Arial"/>
                <a:cs typeface="Arial"/>
              </a:defRPr>
            </a:lvl6pPr>
            <a:lvl7pPr>
              <a:defRPr sz="1875" b="1">
                <a:solidFill>
                  <a:srgbClr val="17324D"/>
                </a:solidFill>
                <a:latin typeface="Arial"/>
                <a:ea typeface="Arial"/>
                <a:cs typeface="Arial"/>
              </a:defRPr>
            </a:lvl7pPr>
            <a:lvl8pPr>
              <a:defRPr sz="1875" b="1">
                <a:solidFill>
                  <a:srgbClr val="17324D"/>
                </a:solidFill>
                <a:latin typeface="Arial"/>
                <a:ea typeface="Arial"/>
                <a:cs typeface="Arial"/>
              </a:defRPr>
            </a:lvl8pPr>
            <a:lvl9pPr>
              <a:defRPr sz="1875" b="1">
                <a:solidFill>
                  <a:srgbClr val="17324D"/>
                </a:solidFill>
                <a:latin typeface="Arial"/>
                <a:ea typeface="Arial"/>
                <a:cs typeface="Arial"/>
              </a:defRPr>
            </a:lvl9pPr>
          </a:lstStyle>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CRC32 + aha</a:t>
            </a:r>
          </a:p>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processor pipeline</a:t>
            </a:r>
          </a:p>
        </p:txBody>
      </p:sp>
      <p:sp>
        <p:nvSpPr>
          <p:cNvPr id="11" name="">
            <a:extLst xmlns:a="http://schemas.openxmlformats.org/drawingml/2006/main">
              <a:ext uri="{FF2B5EF4-FFF2-40B4-BE49-F238E27FC236}">
                <a16:creationId xmlns:a16="http://schemas.microsoft.com/office/drawing/2014/main" id="{0CE808C4-BA93-4D12-8288-EB55F8B718AE}"/>
              </a:ext>
            </a:extLst>
          </p:cNvPr>
          <p:cNvSpPr>
            <a:spLocks xmlns:a="http://schemas.openxmlformats.org/drawingml/2006/main" noGrp="1"/>
          </p:cNvSpPr>
          <p:nvPr/>
        </p:nvSpPr>
        <p:spPr>
          <a:xfrm xmlns:a="http://schemas.openxmlformats.org/drawingml/2006/main">
            <a:off x="6267450" y="14668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2878A8"/>
                </a:solidFill>
                <a:latin typeface="Arial"/>
                <a:ea typeface="Arial"/>
                <a:cs typeface="Arial"/>
              </a:defRPr>
            </a:defPPr>
            <a:lvl1pPr>
              <a:defRPr sz="1800" b="1">
                <a:solidFill>
                  <a:srgbClr val="2878A8"/>
                </a:solidFill>
                <a:latin typeface="Arial"/>
                <a:ea typeface="Arial"/>
                <a:cs typeface="Arial"/>
              </a:defRPr>
            </a:lvl1pPr>
            <a:lvl2pPr>
              <a:defRPr sz="1800" b="1">
                <a:solidFill>
                  <a:srgbClr val="2878A8"/>
                </a:solidFill>
                <a:latin typeface="Arial"/>
                <a:ea typeface="Arial"/>
                <a:cs typeface="Arial"/>
              </a:defRPr>
            </a:lvl2pPr>
            <a:lvl3pPr>
              <a:defRPr sz="1800" b="1">
                <a:solidFill>
                  <a:srgbClr val="2878A8"/>
                </a:solidFill>
                <a:latin typeface="Arial"/>
                <a:ea typeface="Arial"/>
                <a:cs typeface="Arial"/>
              </a:defRPr>
            </a:lvl3pPr>
            <a:lvl4pPr>
              <a:defRPr sz="1800" b="1">
                <a:solidFill>
                  <a:srgbClr val="2878A8"/>
                </a:solidFill>
                <a:latin typeface="Arial"/>
                <a:ea typeface="Arial"/>
                <a:cs typeface="Arial"/>
              </a:defRPr>
            </a:lvl4pPr>
            <a:lvl5pPr>
              <a:defRPr sz="1800" b="1">
                <a:solidFill>
                  <a:srgbClr val="2878A8"/>
                </a:solidFill>
                <a:latin typeface="Arial"/>
                <a:ea typeface="Arial"/>
                <a:cs typeface="Arial"/>
              </a:defRPr>
            </a:lvl5pPr>
            <a:lvl6pPr>
              <a:defRPr sz="1800" b="1">
                <a:solidFill>
                  <a:srgbClr val="2878A8"/>
                </a:solidFill>
                <a:latin typeface="Arial"/>
                <a:ea typeface="Arial"/>
                <a:cs typeface="Arial"/>
              </a:defRPr>
            </a:lvl6pPr>
            <a:lvl7pPr>
              <a:defRPr sz="1800" b="1">
                <a:solidFill>
                  <a:srgbClr val="2878A8"/>
                </a:solidFill>
                <a:latin typeface="Arial"/>
                <a:ea typeface="Arial"/>
                <a:cs typeface="Arial"/>
              </a:defRPr>
            </a:lvl7pPr>
            <a:lvl8pPr>
              <a:defRPr sz="1800" b="1">
                <a:solidFill>
                  <a:srgbClr val="2878A8"/>
                </a:solidFill>
                <a:latin typeface="Arial"/>
                <a:ea typeface="Arial"/>
                <a:cs typeface="Arial"/>
              </a:defRPr>
            </a:lvl8pPr>
            <a:lvl9pPr>
              <a:defRPr sz="1800" b="1">
                <a:solidFill>
                  <a:srgbClr val="2878A8"/>
                </a:solidFill>
                <a:latin typeface="Arial"/>
                <a:ea typeface="Arial"/>
                <a:cs typeface="Arial"/>
              </a:defRPr>
            </a:lvl9pPr>
          </a:lstStyle>
          <a:p xmlns:a="http://schemas.openxmlformats.org/drawingml/2006/main">
            <a:pPr>
              <a:defRPr sz="1800" b="1">
                <a:solidFill>
                  <a:srgbClr val="2878A8"/>
                </a:solidFill>
                <a:latin typeface="Arial"/>
                <a:ea typeface="Arial"/>
                <a:cs typeface="Arial"/>
              </a:defRPr>
            </a:pPr>
            <a:r>
              <a:rPr sz="1800" b="1">
                <a:solidFill>
                  <a:srgbClr val="2878A8"/>
                </a:solidFill>
                <a:latin typeface="Arial"/>
                <a:ea typeface="Arial"/>
                <a:cs typeface="Arial"/>
              </a:rPr>
              <a:t>OCT 20–26</a:t>
            </a:r>
          </a:p>
        </p:txBody>
      </p:sp>
      <p:sp>
        <p:nvSpPr>
          <p:cNvPr id="12" name="">
            <a:extLst xmlns:a="http://schemas.openxmlformats.org/drawingml/2006/main">
              <a:ext uri="{FF2B5EF4-FFF2-40B4-BE49-F238E27FC236}">
                <a16:creationId xmlns:a16="http://schemas.microsoft.com/office/drawing/2014/main" id="{6F55058D-E9DF-45A1-A723-F8381E5FF006}"/>
              </a:ext>
            </a:extLst>
          </p:cNvPr>
          <p:cNvSpPr>
            <a:spLocks xmlns:a="http://schemas.openxmlformats.org/drawingml/2006/main" noGrp="1"/>
          </p:cNvSpPr>
          <p:nvPr/>
        </p:nvSpPr>
        <p:spPr>
          <a:xfrm xmlns:a="http://schemas.openxmlformats.org/drawingml/2006/main">
            <a:off x="6381750" y="1914525"/>
            <a:ext cx="171450" cy="171450"/>
          </a:xfrm>
          <a:prstGeom xmlns:a="http://schemas.openxmlformats.org/drawingml/2006/main" prst="ellipse">
            <a:avLst/>
          </a:prstGeom>
          <a:solidFill xmlns:a="http://schemas.openxmlformats.org/drawingml/2006/main">
            <a:srgbClr val="287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FA3C39B-3707-4DA4-A304-CEA6A86F744D}"/>
              </a:ext>
            </a:extLst>
          </p:cNvPr>
          <p:cNvSpPr>
            <a:spLocks xmlns:a="http://schemas.openxmlformats.org/drawingml/2006/main" noGrp="1"/>
          </p:cNvSpPr>
          <p:nvPr/>
        </p:nvSpPr>
        <p:spPr>
          <a:xfrm xmlns:a="http://schemas.openxmlformats.org/drawingml/2006/main">
            <a:off x="6267450" y="2324100"/>
            <a:ext cx="2476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17324D"/>
                </a:solidFill>
                <a:latin typeface="Arial"/>
                <a:ea typeface="Arial"/>
                <a:cs typeface="Arial"/>
              </a:defRPr>
            </a:defPPr>
            <a:lvl1pPr>
              <a:defRPr sz="1875" b="1">
                <a:solidFill>
                  <a:srgbClr val="17324D"/>
                </a:solidFill>
                <a:latin typeface="Arial"/>
                <a:ea typeface="Arial"/>
                <a:cs typeface="Arial"/>
              </a:defRPr>
            </a:lvl1pPr>
            <a:lvl2pPr>
              <a:defRPr sz="1875" b="1">
                <a:solidFill>
                  <a:srgbClr val="17324D"/>
                </a:solidFill>
                <a:latin typeface="Arial"/>
                <a:ea typeface="Arial"/>
                <a:cs typeface="Arial"/>
              </a:defRPr>
            </a:lvl2pPr>
            <a:lvl3pPr>
              <a:defRPr sz="1875" b="1">
                <a:solidFill>
                  <a:srgbClr val="17324D"/>
                </a:solidFill>
                <a:latin typeface="Arial"/>
                <a:ea typeface="Arial"/>
                <a:cs typeface="Arial"/>
              </a:defRPr>
            </a:lvl3pPr>
            <a:lvl4pPr>
              <a:defRPr sz="1875" b="1">
                <a:solidFill>
                  <a:srgbClr val="17324D"/>
                </a:solidFill>
                <a:latin typeface="Arial"/>
                <a:ea typeface="Arial"/>
                <a:cs typeface="Arial"/>
              </a:defRPr>
            </a:lvl4pPr>
            <a:lvl5pPr>
              <a:defRPr sz="1875" b="1">
                <a:solidFill>
                  <a:srgbClr val="17324D"/>
                </a:solidFill>
                <a:latin typeface="Arial"/>
                <a:ea typeface="Arial"/>
                <a:cs typeface="Arial"/>
              </a:defRPr>
            </a:lvl5pPr>
            <a:lvl6pPr>
              <a:defRPr sz="1875" b="1">
                <a:solidFill>
                  <a:srgbClr val="17324D"/>
                </a:solidFill>
                <a:latin typeface="Arial"/>
                <a:ea typeface="Arial"/>
                <a:cs typeface="Arial"/>
              </a:defRPr>
            </a:lvl6pPr>
            <a:lvl7pPr>
              <a:defRPr sz="1875" b="1">
                <a:solidFill>
                  <a:srgbClr val="17324D"/>
                </a:solidFill>
                <a:latin typeface="Arial"/>
                <a:ea typeface="Arial"/>
                <a:cs typeface="Arial"/>
              </a:defRPr>
            </a:lvl7pPr>
            <a:lvl8pPr>
              <a:defRPr sz="1875" b="1">
                <a:solidFill>
                  <a:srgbClr val="17324D"/>
                </a:solidFill>
                <a:latin typeface="Arial"/>
                <a:ea typeface="Arial"/>
                <a:cs typeface="Arial"/>
              </a:defRPr>
            </a:lvl8pPr>
            <a:lvl9pPr>
              <a:defRPr sz="1875" b="1">
                <a:solidFill>
                  <a:srgbClr val="17324D"/>
                </a:solidFill>
                <a:latin typeface="Arial"/>
                <a:ea typeface="Arial"/>
                <a:cs typeface="Arial"/>
              </a:defRPr>
            </a:lvl9pPr>
          </a:lstStyle>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More workloads</a:t>
            </a:r>
          </a:p>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 selection tests</a:t>
            </a:r>
          </a:p>
        </p:txBody>
      </p:sp>
      <p:sp>
        <p:nvSpPr>
          <p:cNvPr id="14" name="">
            <a:extLst xmlns:a="http://schemas.openxmlformats.org/drawingml/2006/main">
              <a:ext uri="{FF2B5EF4-FFF2-40B4-BE49-F238E27FC236}">
                <a16:creationId xmlns:a16="http://schemas.microsoft.com/office/drawing/2014/main" id="{D1B2B2E2-C7B2-4461-A029-C83BA86D8F43}"/>
              </a:ext>
            </a:extLst>
          </p:cNvPr>
          <p:cNvSpPr>
            <a:spLocks xmlns:a="http://schemas.openxmlformats.org/drawingml/2006/main" noGrp="1"/>
          </p:cNvSpPr>
          <p:nvPr/>
        </p:nvSpPr>
        <p:spPr>
          <a:xfrm xmlns:a="http://schemas.openxmlformats.org/drawingml/2006/main">
            <a:off x="9058275" y="14668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2878A8"/>
                </a:solidFill>
                <a:latin typeface="Arial"/>
                <a:ea typeface="Arial"/>
                <a:cs typeface="Arial"/>
              </a:defRPr>
            </a:defPPr>
            <a:lvl1pPr>
              <a:defRPr sz="1800" b="1">
                <a:solidFill>
                  <a:srgbClr val="2878A8"/>
                </a:solidFill>
                <a:latin typeface="Arial"/>
                <a:ea typeface="Arial"/>
                <a:cs typeface="Arial"/>
              </a:defRPr>
            </a:lvl1pPr>
            <a:lvl2pPr>
              <a:defRPr sz="1800" b="1">
                <a:solidFill>
                  <a:srgbClr val="2878A8"/>
                </a:solidFill>
                <a:latin typeface="Arial"/>
                <a:ea typeface="Arial"/>
                <a:cs typeface="Arial"/>
              </a:defRPr>
            </a:lvl2pPr>
            <a:lvl3pPr>
              <a:defRPr sz="1800" b="1">
                <a:solidFill>
                  <a:srgbClr val="2878A8"/>
                </a:solidFill>
                <a:latin typeface="Arial"/>
                <a:ea typeface="Arial"/>
                <a:cs typeface="Arial"/>
              </a:defRPr>
            </a:lvl3pPr>
            <a:lvl4pPr>
              <a:defRPr sz="1800" b="1">
                <a:solidFill>
                  <a:srgbClr val="2878A8"/>
                </a:solidFill>
                <a:latin typeface="Arial"/>
                <a:ea typeface="Arial"/>
                <a:cs typeface="Arial"/>
              </a:defRPr>
            </a:lvl4pPr>
            <a:lvl5pPr>
              <a:defRPr sz="1800" b="1">
                <a:solidFill>
                  <a:srgbClr val="2878A8"/>
                </a:solidFill>
                <a:latin typeface="Arial"/>
                <a:ea typeface="Arial"/>
                <a:cs typeface="Arial"/>
              </a:defRPr>
            </a:lvl5pPr>
            <a:lvl6pPr>
              <a:defRPr sz="1800" b="1">
                <a:solidFill>
                  <a:srgbClr val="2878A8"/>
                </a:solidFill>
                <a:latin typeface="Arial"/>
                <a:ea typeface="Arial"/>
                <a:cs typeface="Arial"/>
              </a:defRPr>
            </a:lvl6pPr>
            <a:lvl7pPr>
              <a:defRPr sz="1800" b="1">
                <a:solidFill>
                  <a:srgbClr val="2878A8"/>
                </a:solidFill>
                <a:latin typeface="Arial"/>
                <a:ea typeface="Arial"/>
                <a:cs typeface="Arial"/>
              </a:defRPr>
            </a:lvl7pPr>
            <a:lvl8pPr>
              <a:defRPr sz="1800" b="1">
                <a:solidFill>
                  <a:srgbClr val="2878A8"/>
                </a:solidFill>
                <a:latin typeface="Arial"/>
                <a:ea typeface="Arial"/>
                <a:cs typeface="Arial"/>
              </a:defRPr>
            </a:lvl8pPr>
            <a:lvl9pPr>
              <a:defRPr sz="1800" b="1">
                <a:solidFill>
                  <a:srgbClr val="2878A8"/>
                </a:solidFill>
                <a:latin typeface="Arial"/>
                <a:ea typeface="Arial"/>
                <a:cs typeface="Arial"/>
              </a:defRPr>
            </a:lvl9pPr>
          </a:lstStyle>
          <a:p xmlns:a="http://schemas.openxmlformats.org/drawingml/2006/main">
            <a:pPr>
              <a:defRPr sz="1800" b="1">
                <a:solidFill>
                  <a:srgbClr val="2878A8"/>
                </a:solidFill>
                <a:latin typeface="Arial"/>
                <a:ea typeface="Arial"/>
                <a:cs typeface="Arial"/>
              </a:defRPr>
            </a:pPr>
            <a:r>
              <a:rPr sz="1800" b="1">
                <a:solidFill>
                  <a:srgbClr val="2878A8"/>
                </a:solidFill>
                <a:latin typeface="Arial"/>
                <a:ea typeface="Arial"/>
                <a:cs typeface="Arial"/>
              </a:rPr>
              <a:t>OCT 27</a:t>
            </a:r>
          </a:p>
        </p:txBody>
      </p:sp>
      <p:sp>
        <p:nvSpPr>
          <p:cNvPr id="15" name="">
            <a:extLst xmlns:a="http://schemas.openxmlformats.org/drawingml/2006/main">
              <a:ext uri="{FF2B5EF4-FFF2-40B4-BE49-F238E27FC236}">
                <a16:creationId xmlns:a16="http://schemas.microsoft.com/office/drawing/2014/main" id="{2C41F1FE-7A72-4C78-B01C-14D12799219C}"/>
              </a:ext>
            </a:extLst>
          </p:cNvPr>
          <p:cNvSpPr>
            <a:spLocks xmlns:a="http://schemas.openxmlformats.org/drawingml/2006/main" noGrp="1"/>
          </p:cNvSpPr>
          <p:nvPr/>
        </p:nvSpPr>
        <p:spPr>
          <a:xfrm xmlns:a="http://schemas.openxmlformats.org/drawingml/2006/main">
            <a:off x="9172575" y="1914525"/>
            <a:ext cx="171450" cy="171450"/>
          </a:xfrm>
          <a:prstGeom xmlns:a="http://schemas.openxmlformats.org/drawingml/2006/main" prst="ellipse">
            <a:avLst/>
          </a:prstGeom>
          <a:solidFill xmlns:a="http://schemas.openxmlformats.org/drawingml/2006/main">
            <a:srgbClr val="2878A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FF326C6-1EDB-4D00-8E0B-FB5B4FBCED6D}"/>
              </a:ext>
            </a:extLst>
          </p:cNvPr>
          <p:cNvSpPr>
            <a:spLocks xmlns:a="http://schemas.openxmlformats.org/drawingml/2006/main" noGrp="1"/>
          </p:cNvSpPr>
          <p:nvPr/>
        </p:nvSpPr>
        <p:spPr>
          <a:xfrm xmlns:a="http://schemas.openxmlformats.org/drawingml/2006/main">
            <a:off x="9058275" y="2324100"/>
            <a:ext cx="2476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17324D"/>
                </a:solidFill>
                <a:latin typeface="Arial"/>
                <a:ea typeface="Arial"/>
                <a:cs typeface="Arial"/>
              </a:defRPr>
            </a:defPPr>
            <a:lvl1pPr>
              <a:defRPr sz="1875" b="1">
                <a:solidFill>
                  <a:srgbClr val="17324D"/>
                </a:solidFill>
                <a:latin typeface="Arial"/>
                <a:ea typeface="Arial"/>
                <a:cs typeface="Arial"/>
              </a:defRPr>
            </a:lvl1pPr>
            <a:lvl2pPr>
              <a:defRPr sz="1875" b="1">
                <a:solidFill>
                  <a:srgbClr val="17324D"/>
                </a:solidFill>
                <a:latin typeface="Arial"/>
                <a:ea typeface="Arial"/>
                <a:cs typeface="Arial"/>
              </a:defRPr>
            </a:lvl2pPr>
            <a:lvl3pPr>
              <a:defRPr sz="1875" b="1">
                <a:solidFill>
                  <a:srgbClr val="17324D"/>
                </a:solidFill>
                <a:latin typeface="Arial"/>
                <a:ea typeface="Arial"/>
                <a:cs typeface="Arial"/>
              </a:defRPr>
            </a:lvl3pPr>
            <a:lvl4pPr>
              <a:defRPr sz="1875" b="1">
                <a:solidFill>
                  <a:srgbClr val="17324D"/>
                </a:solidFill>
                <a:latin typeface="Arial"/>
                <a:ea typeface="Arial"/>
                <a:cs typeface="Arial"/>
              </a:defRPr>
            </a:lvl4pPr>
            <a:lvl5pPr>
              <a:defRPr sz="1875" b="1">
                <a:solidFill>
                  <a:srgbClr val="17324D"/>
                </a:solidFill>
                <a:latin typeface="Arial"/>
                <a:ea typeface="Arial"/>
                <a:cs typeface="Arial"/>
              </a:defRPr>
            </a:lvl5pPr>
            <a:lvl6pPr>
              <a:defRPr sz="1875" b="1">
                <a:solidFill>
                  <a:srgbClr val="17324D"/>
                </a:solidFill>
                <a:latin typeface="Arial"/>
                <a:ea typeface="Arial"/>
                <a:cs typeface="Arial"/>
              </a:defRPr>
            </a:lvl6pPr>
            <a:lvl7pPr>
              <a:defRPr sz="1875" b="1">
                <a:solidFill>
                  <a:srgbClr val="17324D"/>
                </a:solidFill>
                <a:latin typeface="Arial"/>
                <a:ea typeface="Arial"/>
                <a:cs typeface="Arial"/>
              </a:defRPr>
            </a:lvl7pPr>
            <a:lvl8pPr>
              <a:defRPr sz="1875" b="1">
                <a:solidFill>
                  <a:srgbClr val="17324D"/>
                </a:solidFill>
                <a:latin typeface="Arial"/>
                <a:ea typeface="Arial"/>
                <a:cs typeface="Arial"/>
              </a:defRPr>
            </a:lvl8pPr>
            <a:lvl9pPr>
              <a:defRPr sz="1875" b="1">
                <a:solidFill>
                  <a:srgbClr val="17324D"/>
                </a:solidFill>
                <a:latin typeface="Arial"/>
                <a:ea typeface="Arial"/>
                <a:cs typeface="Arial"/>
              </a:defRPr>
            </a:lvl9pPr>
          </a:lstStyle>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122-label scorecard</a:t>
            </a:r>
          </a:p>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 agent pilot</a:t>
            </a:r>
          </a:p>
        </p:txBody>
      </p:sp>
      <p:graphicFrame>
        <p:nvGraphicFramePr>
          <p:cNvPr id="17" name="">
            <a:extLst xmlns:a="http://schemas.openxmlformats.org/drawingml/2006/main">
              <a:ext uri="{FF2B5EF4-FFF2-40B4-BE49-F238E27FC236}">
                <a16:creationId xmlns:a16="http://schemas.microsoft.com/office/drawing/2014/main" id="{FBAF4E65-A2AE-46DC-91E7-3048A42B56F4}"/>
              </a:ext>
            </a:extLst>
          </p:cNvPr>
          <p:cNvGraphicFramePr/>
          <p:nvPr/>
        </p:nvGraphicFramePr>
        <p:xfrm>
          <a:off xmlns:a="http://schemas.openxmlformats.org/drawingml/2006/main" x="685800" y="3486150"/>
          <a:ext xmlns:a="http://schemas.openxmlformats.org/drawingml/2006/main" cx="10820400" cy="2171700"/>
        </p:xfrm>
        <a:graphic xmlns:a="http://schemas.openxmlformats.org/drawingml/2006/main">
          <a:graphicData uri="http://schemas.openxmlformats.org/drawingml/2006/table">
            <a:tbl>
              <a:tblPr firstRow="0" bandRow="0"/>
              <a:tblGrid>
                <a:gridCol w="3714750"/>
                <a:gridCol w="7105650"/>
              </a:tblGrid>
              <a:tr h="542925">
                <a:tc>
                  <a:txBody>
                    <a:bodyPr/>
                    <a:lstStyle/>
                    <a:p>
                      <a:r>
                        <a:rPr sz="1800" b="1">
                          <a:solidFill>
                            <a:srgbClr val="FFFFFF"/>
                          </a:solidFill>
                          <a:latin typeface="Arial"/>
                          <a:ea typeface="Arial"/>
                          <a:cs typeface="Arial"/>
                        </a:rPr>
                        <a:t>Contributor / evidence</a:t>
                      </a:r>
                    </a:p>
                  </a:txBody>
                  <a:tcPr marL="91440" marR="91440" marT="45720" marB="45720">
                    <a:lnL w="9525">
                      <a:solidFill>
                        <a:srgbClr val="D9E1E8"/>
                      </a:solidFill>
                      <a:prstDash val="solid"/>
                    </a:lnL>
                    <a:lnR w="9525">
                      <a:solidFill>
                        <a:srgbClr val="D9E1E8"/>
                      </a:solidFill>
                      <a:prstDash val="solid"/>
                    </a:lnR>
                    <a:lnT w="9525">
                      <a:solidFill>
                        <a:srgbClr val="D9E1E8"/>
                      </a:solidFill>
                      <a:prstDash val="solid"/>
                    </a:lnT>
                    <a:lnB w="9525">
                      <a:solidFill>
                        <a:srgbClr val="D9E1E8"/>
                      </a:solidFill>
                      <a:prstDash val="solid"/>
                    </a:lnB>
                    <a:solidFill>
                      <a:srgbClr val="17324D"/>
                    </a:solidFill>
                  </a:tcPr>
                </a:tc>
                <a:tc>
                  <a:txBody>
                    <a:bodyPr/>
                    <a:lstStyle/>
                    <a:p>
                      <a:r>
                        <a:rPr sz="1800" b="1">
                          <a:solidFill>
                            <a:srgbClr val="FFFFFF"/>
                          </a:solidFill>
                          <a:latin typeface="Arial"/>
                          <a:ea typeface="Arial"/>
                          <a:cs typeface="Arial"/>
                        </a:rPr>
                        <a:t>Primary contribution area</a:t>
                      </a:r>
                    </a:p>
                  </a:txBody>
                  <a:tcPr marL="91440" marR="91440" marT="45720" marB="45720">
                    <a:lnR w="9525">
                      <a:solidFill>
                        <a:srgbClr val="D9E1E8"/>
                      </a:solidFill>
                      <a:prstDash val="solid"/>
                    </a:lnR>
                    <a:lnT w="9525">
                      <a:solidFill>
                        <a:srgbClr val="D9E1E8"/>
                      </a:solidFill>
                      <a:prstDash val="solid"/>
                    </a:lnT>
                    <a:lnB w="9525">
                      <a:solidFill>
                        <a:srgbClr val="D9E1E8"/>
                      </a:solidFill>
                      <a:prstDash val="solid"/>
                    </a:lnB>
                    <a:solidFill>
                      <a:srgbClr val="17324D"/>
                    </a:solidFill>
                  </a:tcPr>
                </a:tc>
              </a:tr>
              <a:tr h="542925">
                <a:tc>
                  <a:txBody>
                    <a:bodyPr/>
                    <a:lstStyle/>
                    <a:p>
                      <a:r>
                        <a:rPr sz="1725" b="0">
                          <a:solidFill>
                            <a:srgbClr val="263648"/>
                          </a:solidFill>
                          <a:latin typeface="Arial"/>
                          <a:ea typeface="Arial"/>
                          <a:cs typeface="Arial"/>
                        </a:rPr>
                        <a:t>Jason • Git evidence</a:t>
                      </a:r>
                    </a:p>
                  </a:txBody>
                  <a:tcPr marL="91440" marR="91440" marT="45720" marB="45720">
                    <a:lnL w="9525">
                      <a:solidFill>
                        <a:srgbClr val="D9E1E8"/>
                      </a:solidFill>
                      <a:prstDash val="solid"/>
                    </a:lnL>
                    <a:lnR w="9525">
                      <a:solidFill>
                        <a:srgbClr val="D9E1E8"/>
                      </a:solidFill>
                      <a:prstDash val="solid"/>
                    </a:lnR>
                    <a:lnB w="9525">
                      <a:solidFill>
                        <a:srgbClr val="D9E1E8"/>
                      </a:solidFill>
                      <a:prstDash val="solid"/>
                    </a:lnB>
                    <a:solidFill>
                      <a:srgbClr val="FFFFFF"/>
                    </a:solidFill>
                  </a:tcPr>
                </a:tc>
                <a:tc>
                  <a:txBody>
                    <a:bodyPr/>
                    <a:lstStyle/>
                    <a:p>
                      <a:r>
                        <a:rPr sz="1725" b="0">
                          <a:solidFill>
                            <a:srgbClr val="263648"/>
                          </a:solidFill>
                          <a:latin typeface="Arial"/>
                          <a:ea typeface="Arial"/>
                          <a:cs typeface="Arial"/>
                        </a:rPr>
                        <a:t>ML, budgeted selection, agent tools, analysis</a:t>
                      </a:r>
                    </a:p>
                  </a:txBody>
                  <a:tcPr marL="91440" marR="91440" marT="45720" marB="45720">
                    <a:lnR w="9525">
                      <a:solidFill>
                        <a:srgbClr val="D9E1E8"/>
                      </a:solidFill>
                      <a:prstDash val="solid"/>
                    </a:lnR>
                    <a:lnB w="9525">
                      <a:solidFill>
                        <a:srgbClr val="D9E1E8"/>
                      </a:solidFill>
                      <a:prstDash val="solid"/>
                    </a:lnB>
                    <a:solidFill>
                      <a:srgbClr val="FFFFFF"/>
                    </a:solidFill>
                  </a:tcPr>
                </a:tc>
              </a:tr>
              <a:tr h="542925">
                <a:tc>
                  <a:txBody>
                    <a:bodyPr/>
                    <a:lstStyle/>
                    <a:p>
                      <a:r>
                        <a:rPr sz="1725" b="0">
                          <a:solidFill>
                            <a:srgbClr val="263648"/>
                          </a:solidFill>
                          <a:latin typeface="Arial"/>
                          <a:ea typeface="Arial"/>
                          <a:cs typeface="Arial"/>
                        </a:rPr>
                        <a:t>Yuuto • Git evidence</a:t>
                      </a:r>
                    </a:p>
                  </a:txBody>
                  <a:tcPr marL="91440" marR="91440" marT="45720" marB="45720">
                    <a:lnL w="9525">
                      <a:solidFill>
                        <a:srgbClr val="D9E1E8"/>
                      </a:solidFill>
                      <a:prstDash val="solid"/>
                    </a:lnL>
                    <a:lnR w="9525">
                      <a:solidFill>
                        <a:srgbClr val="D9E1E8"/>
                      </a:solidFill>
                      <a:prstDash val="solid"/>
                    </a:lnR>
                    <a:lnB w="9525">
                      <a:solidFill>
                        <a:srgbClr val="D9E1E8"/>
                      </a:solidFill>
                      <a:prstDash val="solid"/>
                    </a:lnB>
                    <a:solidFill>
                      <a:srgbClr val="F4F7FA"/>
                    </a:solidFill>
                  </a:tcPr>
                </a:tc>
                <a:tc>
                  <a:txBody>
                    <a:bodyPr/>
                    <a:lstStyle/>
                    <a:p>
                      <a:r>
                        <a:rPr sz="1725" b="0">
                          <a:solidFill>
                            <a:srgbClr val="263648"/>
                          </a:solidFill>
                          <a:latin typeface="Arial"/>
                          <a:ea typeface="Arial"/>
                          <a:cs typeface="Arial"/>
                        </a:rPr>
                        <a:t>Hardware, selection engine, measurement tests</a:t>
                      </a:r>
                    </a:p>
                  </a:txBody>
                  <a:tcPr marL="91440" marR="91440" marT="45720" marB="45720">
                    <a:lnR w="9525">
                      <a:solidFill>
                        <a:srgbClr val="D9E1E8"/>
                      </a:solidFill>
                      <a:prstDash val="solid"/>
                    </a:lnR>
                    <a:lnB w="9525">
                      <a:solidFill>
                        <a:srgbClr val="D9E1E8"/>
                      </a:solidFill>
                      <a:prstDash val="solid"/>
                    </a:lnB>
                    <a:solidFill>
                      <a:srgbClr val="F4F7FA"/>
                    </a:solidFill>
                  </a:tcPr>
                </a:tc>
              </a:tr>
              <a:tr h="542925">
                <a:tc>
                  <a:txBody>
                    <a:bodyPr/>
                    <a:lstStyle/>
                    <a:p>
                      <a:r>
                        <a:rPr sz="1725" b="0">
                          <a:solidFill>
                            <a:srgbClr val="263648"/>
                          </a:solidFill>
                          <a:latin typeface="Arial"/>
                          <a:ea typeface="Arial"/>
                          <a:cs typeface="Arial"/>
                        </a:rPr>
                        <a:t>Sooraj • report attribution</a:t>
                      </a:r>
                    </a:p>
                  </a:txBody>
                  <a:tcPr marL="91440" marR="91440" marT="45720" marB="45720">
                    <a:lnL w="9525">
                      <a:solidFill>
                        <a:srgbClr val="D9E1E8"/>
                      </a:solidFill>
                      <a:prstDash val="solid"/>
                    </a:lnL>
                    <a:lnR w="9525">
                      <a:solidFill>
                        <a:srgbClr val="D9E1E8"/>
                      </a:solidFill>
                      <a:prstDash val="solid"/>
                    </a:lnR>
                    <a:lnB w="9525">
                      <a:solidFill>
                        <a:srgbClr val="D9E1E8"/>
                      </a:solidFill>
                      <a:prstDash val="solid"/>
                    </a:lnB>
                    <a:solidFill>
                      <a:srgbClr val="FFFFFF"/>
                    </a:solidFill>
                  </a:tcPr>
                </a:tc>
                <a:tc>
                  <a:txBody>
                    <a:bodyPr/>
                    <a:lstStyle/>
                    <a:p>
                      <a:r>
                        <a:rPr sz="1725" b="0">
                          <a:solidFill>
                            <a:srgbClr val="263648"/>
                          </a:solidFill>
                          <a:latin typeface="Arial"/>
                          <a:ea typeface="Arial"/>
                          <a:cs typeface="Arial"/>
                        </a:rPr>
                        <a:t>Compiler, tracing, extraction and toolchain</a:t>
                      </a:r>
                    </a:p>
                  </a:txBody>
                  <a:tcPr marL="91440" marR="91440" marT="45720" marB="45720">
                    <a:lnR w="9525">
                      <a:solidFill>
                        <a:srgbClr val="D9E1E8"/>
                      </a:solidFill>
                      <a:prstDash val="solid"/>
                    </a:lnR>
                    <a:lnB w="9525">
                      <a:solidFill>
                        <a:srgbClr val="D9E1E8"/>
                      </a:solidFill>
                      <a:prstDash val="solid"/>
                    </a:lnB>
                    <a:solidFill>
                      <a:srgbClr val="FFFFFF"/>
                    </a:solidFill>
                  </a:tcPr>
                </a:tc>
              </a:tr>
            </a:tbl>
          </a:graphicData>
        </a:graphic>
      </p:graphicFrame>
      <p:sp>
        <p:nvSpPr>
          <p:cNvPr id="18" name="">
            <a:extLst xmlns:a="http://schemas.openxmlformats.org/drawingml/2006/main">
              <a:ext uri="{FF2B5EF4-FFF2-40B4-BE49-F238E27FC236}">
                <a16:creationId xmlns:a16="http://schemas.microsoft.com/office/drawing/2014/main" id="{0533ED10-9146-4E03-A969-193DD665765D}"/>
              </a:ext>
            </a:extLst>
          </p:cNvPr>
          <p:cNvSpPr>
            <a:spLocks xmlns:a="http://schemas.openxmlformats.org/drawingml/2006/main" noGrp="1"/>
          </p:cNvSpPr>
          <p:nvPr/>
        </p:nvSpPr>
        <p:spPr>
          <a:xfrm xmlns:a="http://schemas.openxmlformats.org/drawingml/2006/main">
            <a:off x="685800" y="5895975"/>
            <a:ext cx="108204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607286"/>
                </a:solidFill>
                <a:latin typeface="Arial"/>
                <a:ea typeface="Arial"/>
                <a:cs typeface="Arial"/>
              </a:defRPr>
            </a:defPPr>
            <a:lvl1pPr>
              <a:defRPr sz="1500" b="0">
                <a:solidFill>
                  <a:srgbClr val="607286"/>
                </a:solidFill>
                <a:latin typeface="Arial"/>
                <a:ea typeface="Arial"/>
                <a:cs typeface="Arial"/>
              </a:defRPr>
            </a:lvl1pPr>
            <a:lvl2pPr>
              <a:defRPr sz="1500" b="0">
                <a:solidFill>
                  <a:srgbClr val="607286"/>
                </a:solidFill>
                <a:latin typeface="Arial"/>
                <a:ea typeface="Arial"/>
                <a:cs typeface="Arial"/>
              </a:defRPr>
            </a:lvl2pPr>
            <a:lvl3pPr>
              <a:defRPr sz="1500" b="0">
                <a:solidFill>
                  <a:srgbClr val="607286"/>
                </a:solidFill>
                <a:latin typeface="Arial"/>
                <a:ea typeface="Arial"/>
                <a:cs typeface="Arial"/>
              </a:defRPr>
            </a:lvl3pPr>
            <a:lvl4pPr>
              <a:defRPr sz="1500" b="0">
                <a:solidFill>
                  <a:srgbClr val="607286"/>
                </a:solidFill>
                <a:latin typeface="Arial"/>
                <a:ea typeface="Arial"/>
                <a:cs typeface="Arial"/>
              </a:defRPr>
            </a:lvl4pPr>
            <a:lvl5pPr>
              <a:defRPr sz="1500" b="0">
                <a:solidFill>
                  <a:srgbClr val="607286"/>
                </a:solidFill>
                <a:latin typeface="Arial"/>
                <a:ea typeface="Arial"/>
                <a:cs typeface="Arial"/>
              </a:defRPr>
            </a:lvl5pPr>
            <a:lvl6pPr>
              <a:defRPr sz="1500" b="0">
                <a:solidFill>
                  <a:srgbClr val="607286"/>
                </a:solidFill>
                <a:latin typeface="Arial"/>
                <a:ea typeface="Arial"/>
                <a:cs typeface="Arial"/>
              </a:defRPr>
            </a:lvl6pPr>
            <a:lvl7pPr>
              <a:defRPr sz="1500" b="0">
                <a:solidFill>
                  <a:srgbClr val="607286"/>
                </a:solidFill>
                <a:latin typeface="Arial"/>
                <a:ea typeface="Arial"/>
                <a:cs typeface="Arial"/>
              </a:defRPr>
            </a:lvl7pPr>
            <a:lvl8pPr>
              <a:defRPr sz="1500" b="0">
                <a:solidFill>
                  <a:srgbClr val="607286"/>
                </a:solidFill>
                <a:latin typeface="Arial"/>
                <a:ea typeface="Arial"/>
                <a:cs typeface="Arial"/>
              </a:defRPr>
            </a:lvl8pPr>
            <a:lvl9pPr>
              <a:defRPr sz="1500" b="0">
                <a:solidFill>
                  <a:srgbClr val="607286"/>
                </a:solidFill>
                <a:latin typeface="Arial"/>
                <a:ea typeface="Arial"/>
                <a:cs typeface="Arial"/>
              </a:defRPr>
            </a:lvl9pPr>
          </a:lstStyle>
          <a:p xmlns:a="http://schemas.openxmlformats.org/drawingml/2006/main">
            <a:pPr>
              <a:defRPr sz="1500" b="0">
                <a:solidFill>
                  <a:srgbClr val="607286"/>
                </a:solidFill>
                <a:latin typeface="Arial"/>
                <a:ea typeface="Arial"/>
                <a:cs typeface="Arial"/>
              </a:defRPr>
            </a:pPr>
            <a:r>
              <a:rPr sz="1500" b="0">
                <a:solidFill>
                  <a:srgbClr val="607286"/>
                </a:solidFill>
                <a:latin typeface="Arial"/>
                <a:ea typeface="Arial"/>
                <a:cs typeface="Arial"/>
              </a:rPr>
              <a:t>Two project chats: ~46 h recorded turn time • roles need confirmation</a:t>
            </a:r>
          </a:p>
        </p:txBody>
      </p:sp>
    </p:spTree>
    <p:extLst>
      <p:ext uri="{BB962C8B-B14F-4D97-AF65-F5344CB8AC3E}">
        <p14:creationId xmlns:p14="http://schemas.microsoft.com/office/powerpoint/2010/main" val="8878392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A6AAAA5-8A81-404D-869A-1530C6BEF761}"/>
              </a:ext>
            </a:extLst>
          </p:cNvPr>
          <p:cNvSpPr>
            <a:spLocks xmlns:a="http://schemas.openxmlformats.org/drawingml/2006/main" noGrp="1"/>
          </p:cNvSpPr>
          <p:nvPr/>
        </p:nvSpPr>
        <p:spPr>
          <a:xfrm xmlns:a="http://schemas.openxmlformats.org/drawingml/2006/main">
            <a:off x="6477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7324D"/>
                </a:solidFill>
                <a:latin typeface="Arial"/>
                <a:ea typeface="Arial"/>
                <a:cs typeface="Arial"/>
              </a:defRPr>
            </a:defPPr>
            <a:lvl1pPr>
              <a:defRPr sz="3225" b="1">
                <a:solidFill>
                  <a:srgbClr val="17324D"/>
                </a:solidFill>
                <a:latin typeface="Arial"/>
                <a:ea typeface="Arial"/>
                <a:cs typeface="Arial"/>
              </a:defRPr>
            </a:lvl1pPr>
            <a:lvl2pPr>
              <a:defRPr sz="3225" b="1">
                <a:solidFill>
                  <a:srgbClr val="17324D"/>
                </a:solidFill>
                <a:latin typeface="Arial"/>
                <a:ea typeface="Arial"/>
                <a:cs typeface="Arial"/>
              </a:defRPr>
            </a:lvl2pPr>
            <a:lvl3pPr>
              <a:defRPr sz="3225" b="1">
                <a:solidFill>
                  <a:srgbClr val="17324D"/>
                </a:solidFill>
                <a:latin typeface="Arial"/>
                <a:ea typeface="Arial"/>
                <a:cs typeface="Arial"/>
              </a:defRPr>
            </a:lvl3pPr>
            <a:lvl4pPr>
              <a:defRPr sz="3225" b="1">
                <a:solidFill>
                  <a:srgbClr val="17324D"/>
                </a:solidFill>
                <a:latin typeface="Arial"/>
                <a:ea typeface="Arial"/>
                <a:cs typeface="Arial"/>
              </a:defRPr>
            </a:lvl4pPr>
            <a:lvl5pPr>
              <a:defRPr sz="3225" b="1">
                <a:solidFill>
                  <a:srgbClr val="17324D"/>
                </a:solidFill>
                <a:latin typeface="Arial"/>
                <a:ea typeface="Arial"/>
                <a:cs typeface="Arial"/>
              </a:defRPr>
            </a:lvl5pPr>
            <a:lvl6pPr>
              <a:defRPr sz="3225" b="1">
                <a:solidFill>
                  <a:srgbClr val="17324D"/>
                </a:solidFill>
                <a:latin typeface="Arial"/>
                <a:ea typeface="Arial"/>
                <a:cs typeface="Arial"/>
              </a:defRPr>
            </a:lvl6pPr>
            <a:lvl7pPr>
              <a:defRPr sz="3225" b="1">
                <a:solidFill>
                  <a:srgbClr val="17324D"/>
                </a:solidFill>
                <a:latin typeface="Arial"/>
                <a:ea typeface="Arial"/>
                <a:cs typeface="Arial"/>
              </a:defRPr>
            </a:lvl7pPr>
            <a:lvl8pPr>
              <a:defRPr sz="3225" b="1">
                <a:solidFill>
                  <a:srgbClr val="17324D"/>
                </a:solidFill>
                <a:latin typeface="Arial"/>
                <a:ea typeface="Arial"/>
                <a:cs typeface="Arial"/>
              </a:defRPr>
            </a:lvl8pPr>
            <a:lvl9pPr>
              <a:defRPr sz="3225" b="1">
                <a:solidFill>
                  <a:srgbClr val="17324D"/>
                </a:solidFill>
                <a:latin typeface="Arial"/>
                <a:ea typeface="Arial"/>
                <a:cs typeface="Arial"/>
              </a:defRPr>
            </a:lvl9pPr>
          </a:lstStyle>
          <a:p xmlns:a="http://schemas.openxmlformats.org/drawingml/2006/main">
            <a:pPr>
              <a:defRPr sz="3225" b="1">
                <a:solidFill>
                  <a:srgbClr val="17324D"/>
                </a:solidFill>
                <a:latin typeface="Arial"/>
                <a:ea typeface="Arial"/>
                <a:cs typeface="Arial"/>
              </a:defRPr>
            </a:pPr>
            <a:r>
              <a:rPr sz="3225" b="1">
                <a:solidFill>
                  <a:srgbClr val="17324D"/>
                </a:solidFill>
                <a:latin typeface="Arial"/>
                <a:ea typeface="Arial"/>
                <a:cs typeface="Arial"/>
              </a:rPr>
              <a:t>From workload to verified improvement</a:t>
            </a:r>
          </a:p>
        </p:txBody>
      </p:sp>
      <p:sp>
        <p:nvSpPr>
          <p:cNvPr id="2" name="">
            <a:extLst xmlns:a="http://schemas.openxmlformats.org/drawingml/2006/main">
              <a:ext uri="{FF2B5EF4-FFF2-40B4-BE49-F238E27FC236}">
                <a16:creationId xmlns:a16="http://schemas.microsoft.com/office/drawing/2014/main" id="{49F9F680-E2D0-4128-A289-3EC56C92B8FE}"/>
              </a:ext>
            </a:extLst>
          </p:cNvPr>
          <p:cNvSpPr>
            <a:spLocks xmlns:a="http://schemas.openxmlformats.org/drawingml/2006/main" noGrp="1"/>
          </p:cNvSpPr>
          <p:nvPr/>
        </p:nvSpPr>
        <p:spPr>
          <a:xfrm xmlns:a="http://schemas.openxmlformats.org/drawingml/2006/main">
            <a:off x="647700" y="1066800"/>
            <a:ext cx="10896600" cy="0"/>
          </a:xfrm>
          <a:prstGeom xmlns:a="http://schemas.openxmlformats.org/drawingml/2006/main" prst="line">
            <a:avLst/>
          </a:prstGeom>
          <a:noFill xmlns:a="http://schemas.openxmlformats.org/drawingml/2006/main"/>
          <a:ln xmlns:a="http://schemas.openxmlformats.org/drawingml/2006/main" w="9525">
            <a:solidFill>
              <a:srgbClr val="D9E1E8"/>
            </a:solidFill>
            <a:prstDash val="solid"/>
          </a:ln>
        </p:spPr>
      </p:sp>
      <p:sp>
        <p:nvSpPr>
          <p:cNvPr id="3" name="">
            <a:extLst xmlns:a="http://schemas.openxmlformats.org/drawingml/2006/main">
              <a:ext uri="{FF2B5EF4-FFF2-40B4-BE49-F238E27FC236}">
                <a16:creationId xmlns:a16="http://schemas.microsoft.com/office/drawing/2014/main" id="{9CF89B9C-AF2F-4F57-BF57-7DD4BD461FF7}"/>
              </a:ext>
            </a:extLst>
          </p:cNvPr>
          <p:cNvSpPr>
            <a:spLocks xmlns:a="http://schemas.openxmlformats.org/drawingml/2006/main" noGrp="1"/>
          </p:cNvSpPr>
          <p:nvPr/>
        </p:nvSpPr>
        <p:spPr>
          <a:xfrm xmlns:a="http://schemas.openxmlformats.org/drawingml/2006/main">
            <a:off x="647700" y="6534150"/>
            <a:ext cx="10896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607286"/>
                </a:solidFill>
                <a:latin typeface="Arial"/>
                <a:ea typeface="Arial"/>
                <a:cs typeface="Arial"/>
              </a:defRPr>
            </a:defPPr>
            <a:lvl1pPr>
              <a:defRPr sz="900">
                <a:solidFill>
                  <a:srgbClr val="607286"/>
                </a:solidFill>
                <a:latin typeface="Arial"/>
                <a:ea typeface="Arial"/>
                <a:cs typeface="Arial"/>
              </a:defRPr>
            </a:lvl1pPr>
            <a:lvl2pPr>
              <a:defRPr sz="900">
                <a:solidFill>
                  <a:srgbClr val="607286"/>
                </a:solidFill>
                <a:latin typeface="Arial"/>
                <a:ea typeface="Arial"/>
                <a:cs typeface="Arial"/>
              </a:defRPr>
            </a:lvl2pPr>
            <a:lvl3pPr>
              <a:defRPr sz="900">
                <a:solidFill>
                  <a:srgbClr val="607286"/>
                </a:solidFill>
                <a:latin typeface="Arial"/>
                <a:ea typeface="Arial"/>
                <a:cs typeface="Arial"/>
              </a:defRPr>
            </a:lvl3pPr>
            <a:lvl4pPr>
              <a:defRPr sz="900">
                <a:solidFill>
                  <a:srgbClr val="607286"/>
                </a:solidFill>
                <a:latin typeface="Arial"/>
                <a:ea typeface="Arial"/>
                <a:cs typeface="Arial"/>
              </a:defRPr>
            </a:lvl4pPr>
            <a:lvl5pPr>
              <a:defRPr sz="900">
                <a:solidFill>
                  <a:srgbClr val="607286"/>
                </a:solidFill>
                <a:latin typeface="Arial"/>
                <a:ea typeface="Arial"/>
                <a:cs typeface="Arial"/>
              </a:defRPr>
            </a:lvl5pPr>
            <a:lvl6pPr>
              <a:defRPr sz="900">
                <a:solidFill>
                  <a:srgbClr val="607286"/>
                </a:solidFill>
                <a:latin typeface="Arial"/>
                <a:ea typeface="Arial"/>
                <a:cs typeface="Arial"/>
              </a:defRPr>
            </a:lvl6pPr>
            <a:lvl7pPr>
              <a:defRPr sz="900">
                <a:solidFill>
                  <a:srgbClr val="607286"/>
                </a:solidFill>
                <a:latin typeface="Arial"/>
                <a:ea typeface="Arial"/>
                <a:cs typeface="Arial"/>
              </a:defRPr>
            </a:lvl7pPr>
            <a:lvl8pPr>
              <a:defRPr sz="900">
                <a:solidFill>
                  <a:srgbClr val="607286"/>
                </a:solidFill>
                <a:latin typeface="Arial"/>
                <a:ea typeface="Arial"/>
                <a:cs typeface="Arial"/>
              </a:defRPr>
            </a:lvl8pPr>
            <a:lvl9pPr>
              <a:defRPr sz="900">
                <a:solidFill>
                  <a:srgbClr val="607286"/>
                </a:solidFill>
                <a:latin typeface="Arial"/>
                <a:ea typeface="Arial"/>
                <a:cs typeface="Arial"/>
              </a:defRPr>
            </a:lvl9pPr>
          </a:lstStyle>
          <a:p xmlns:a="http://schemas.openxmlformats.org/drawingml/2006/main">
            <a:pPr>
              <a:defRPr sz="900">
                <a:solidFill>
                  <a:srgbClr val="607286"/>
                </a:solidFill>
                <a:latin typeface="Arial"/>
                <a:ea typeface="Arial"/>
                <a:cs typeface="Arial"/>
              </a:defRPr>
            </a:pPr>
            <a:r>
              <a:rPr sz="900">
                <a:solidFill>
                  <a:srgbClr val="607286"/>
                </a:solidFill>
                <a:latin typeface="Arial"/>
                <a:ea typeface="Arial"/>
                <a:cs typeface="Arial"/>
              </a:rPr>
              <a:t>ISAForge  /  ECE 4803                                    4</a:t>
            </a:r>
          </a:p>
        </p:txBody>
      </p:sp>
      <p:sp>
        <p:nvSpPr>
          <p:cNvPr id="4" name="">
            <a:extLst xmlns:a="http://schemas.openxmlformats.org/drawingml/2006/main">
              <a:ext uri="{FF2B5EF4-FFF2-40B4-BE49-F238E27FC236}">
                <a16:creationId xmlns:a16="http://schemas.microsoft.com/office/drawing/2014/main" id="{68EB617C-500B-4820-9C80-90353321A234}"/>
              </a:ext>
            </a:extLst>
          </p:cNvPr>
          <p:cNvSpPr>
            <a:spLocks xmlns:a="http://schemas.openxmlformats.org/drawingml/2006/main" noGrp="1"/>
          </p:cNvSpPr>
          <p:nvPr/>
        </p:nvSpPr>
        <p:spPr>
          <a:xfrm xmlns:a="http://schemas.openxmlformats.org/drawingml/2006/main">
            <a:off x="685800" y="2047875"/>
            <a:ext cx="2333625" cy="1238250"/>
          </a:xfrm>
          <a:prstGeom xmlns:a="http://schemas.openxmlformats.org/drawingml/2006/main" prst="rect">
            <a:avLst/>
          </a:prstGeom>
          <a:solidFill xmlns:a="http://schemas.openxmlformats.org/drawingml/2006/main">
            <a:srgbClr val="F4F7FA"/>
          </a:solidFill>
          <a:ln xmlns:a="http://schemas.openxmlformats.org/drawingml/2006/main" w="9525">
            <a:solidFill>
              <a:srgbClr val="D9E1E8"/>
            </a:solidFill>
            <a:prstDash val="solid"/>
          </a:ln>
        </p:spPr>
      </p:sp>
      <p:sp>
        <p:nvSpPr>
          <p:cNvPr id="5" name="">
            <a:extLst xmlns:a="http://schemas.openxmlformats.org/drawingml/2006/main">
              <a:ext uri="{FF2B5EF4-FFF2-40B4-BE49-F238E27FC236}">
                <a16:creationId xmlns:a16="http://schemas.microsoft.com/office/drawing/2014/main" id="{84FE4167-8D13-43EB-BCFD-255503E158D6}"/>
              </a:ext>
            </a:extLst>
          </p:cNvPr>
          <p:cNvSpPr>
            <a:spLocks xmlns:a="http://schemas.openxmlformats.org/drawingml/2006/main" noGrp="1"/>
          </p:cNvSpPr>
          <p:nvPr/>
        </p:nvSpPr>
        <p:spPr>
          <a:xfrm xmlns:a="http://schemas.openxmlformats.org/drawingml/2006/main">
            <a:off x="819150" y="2181225"/>
            <a:ext cx="20669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878A8"/>
                </a:solidFill>
                <a:latin typeface="Arial"/>
                <a:ea typeface="Arial"/>
                <a:cs typeface="Arial"/>
              </a:defRPr>
            </a:defPPr>
            <a:lvl1pPr>
              <a:defRPr sz="1875" b="1">
                <a:solidFill>
                  <a:srgbClr val="2878A8"/>
                </a:solidFill>
                <a:latin typeface="Arial"/>
                <a:ea typeface="Arial"/>
                <a:cs typeface="Arial"/>
              </a:defRPr>
            </a:lvl1pPr>
            <a:lvl2pPr>
              <a:defRPr sz="1875" b="1">
                <a:solidFill>
                  <a:srgbClr val="2878A8"/>
                </a:solidFill>
                <a:latin typeface="Arial"/>
                <a:ea typeface="Arial"/>
                <a:cs typeface="Arial"/>
              </a:defRPr>
            </a:lvl2pPr>
            <a:lvl3pPr>
              <a:defRPr sz="1875" b="1">
                <a:solidFill>
                  <a:srgbClr val="2878A8"/>
                </a:solidFill>
                <a:latin typeface="Arial"/>
                <a:ea typeface="Arial"/>
                <a:cs typeface="Arial"/>
              </a:defRPr>
            </a:lvl3pPr>
            <a:lvl4pPr>
              <a:defRPr sz="1875" b="1">
                <a:solidFill>
                  <a:srgbClr val="2878A8"/>
                </a:solidFill>
                <a:latin typeface="Arial"/>
                <a:ea typeface="Arial"/>
                <a:cs typeface="Arial"/>
              </a:defRPr>
            </a:lvl4pPr>
            <a:lvl5pPr>
              <a:defRPr sz="1875" b="1">
                <a:solidFill>
                  <a:srgbClr val="2878A8"/>
                </a:solidFill>
                <a:latin typeface="Arial"/>
                <a:ea typeface="Arial"/>
                <a:cs typeface="Arial"/>
              </a:defRPr>
            </a:lvl5pPr>
            <a:lvl6pPr>
              <a:defRPr sz="1875" b="1">
                <a:solidFill>
                  <a:srgbClr val="2878A8"/>
                </a:solidFill>
                <a:latin typeface="Arial"/>
                <a:ea typeface="Arial"/>
                <a:cs typeface="Arial"/>
              </a:defRPr>
            </a:lvl6pPr>
            <a:lvl7pPr>
              <a:defRPr sz="1875" b="1">
                <a:solidFill>
                  <a:srgbClr val="2878A8"/>
                </a:solidFill>
                <a:latin typeface="Arial"/>
                <a:ea typeface="Arial"/>
                <a:cs typeface="Arial"/>
              </a:defRPr>
            </a:lvl7pPr>
            <a:lvl8pPr>
              <a:defRPr sz="1875" b="1">
                <a:solidFill>
                  <a:srgbClr val="2878A8"/>
                </a:solidFill>
                <a:latin typeface="Arial"/>
                <a:ea typeface="Arial"/>
                <a:cs typeface="Arial"/>
              </a:defRPr>
            </a:lvl8pPr>
            <a:lvl9pPr>
              <a:defRPr sz="1875" b="1">
                <a:solidFill>
                  <a:srgbClr val="2878A8"/>
                </a:solidFill>
                <a:latin typeface="Arial"/>
                <a:ea typeface="Arial"/>
                <a:cs typeface="Arial"/>
              </a:defRPr>
            </a:lvl9pPr>
          </a:lstStyle>
          <a:p xmlns:a="http://schemas.openxmlformats.org/drawingml/2006/main">
            <a:pPr>
              <a:defRPr sz="1875" b="1">
                <a:solidFill>
                  <a:srgbClr val="2878A8"/>
                </a:solidFill>
                <a:latin typeface="Arial"/>
                <a:ea typeface="Arial"/>
                <a:cs typeface="Arial"/>
              </a:defRPr>
            </a:pPr>
            <a:r>
              <a:rPr sz="1875" b="1">
                <a:solidFill>
                  <a:srgbClr val="2878A8"/>
                </a:solidFill>
                <a:latin typeface="Arial"/>
                <a:ea typeface="Arial"/>
                <a:cs typeface="Arial"/>
              </a:rPr>
              <a:t>1  Discover</a:t>
            </a:r>
          </a:p>
        </p:txBody>
      </p:sp>
      <p:sp>
        <p:nvSpPr>
          <p:cNvPr id="6" name="">
            <a:extLst xmlns:a="http://schemas.openxmlformats.org/drawingml/2006/main">
              <a:ext uri="{FF2B5EF4-FFF2-40B4-BE49-F238E27FC236}">
                <a16:creationId xmlns:a16="http://schemas.microsoft.com/office/drawing/2014/main" id="{CA2CFBB4-CDA7-478F-A861-6BEE78FB5A89}"/>
              </a:ext>
            </a:extLst>
          </p:cNvPr>
          <p:cNvSpPr>
            <a:spLocks xmlns:a="http://schemas.openxmlformats.org/drawingml/2006/main" noGrp="1"/>
          </p:cNvSpPr>
          <p:nvPr/>
        </p:nvSpPr>
        <p:spPr>
          <a:xfrm xmlns:a="http://schemas.openxmlformats.org/drawingml/2006/main">
            <a:off x="819150" y="2590800"/>
            <a:ext cx="2066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263648"/>
                </a:solidFill>
                <a:latin typeface="Arial"/>
                <a:ea typeface="Arial"/>
                <a:cs typeface="Arial"/>
              </a:defRPr>
            </a:defPPr>
            <a:lvl1pPr>
              <a:defRPr sz="1650" b="0">
                <a:solidFill>
                  <a:srgbClr val="263648"/>
                </a:solidFill>
                <a:latin typeface="Arial"/>
                <a:ea typeface="Arial"/>
                <a:cs typeface="Arial"/>
              </a:defRPr>
            </a:lvl1pPr>
            <a:lvl2pPr>
              <a:defRPr sz="1650" b="0">
                <a:solidFill>
                  <a:srgbClr val="263648"/>
                </a:solidFill>
                <a:latin typeface="Arial"/>
                <a:ea typeface="Arial"/>
                <a:cs typeface="Arial"/>
              </a:defRPr>
            </a:lvl2pPr>
            <a:lvl3pPr>
              <a:defRPr sz="1650" b="0">
                <a:solidFill>
                  <a:srgbClr val="263648"/>
                </a:solidFill>
                <a:latin typeface="Arial"/>
                <a:ea typeface="Arial"/>
                <a:cs typeface="Arial"/>
              </a:defRPr>
            </a:lvl3pPr>
            <a:lvl4pPr>
              <a:defRPr sz="1650" b="0">
                <a:solidFill>
                  <a:srgbClr val="263648"/>
                </a:solidFill>
                <a:latin typeface="Arial"/>
                <a:ea typeface="Arial"/>
                <a:cs typeface="Arial"/>
              </a:defRPr>
            </a:lvl4pPr>
            <a:lvl5pPr>
              <a:defRPr sz="1650" b="0">
                <a:solidFill>
                  <a:srgbClr val="263648"/>
                </a:solidFill>
                <a:latin typeface="Arial"/>
                <a:ea typeface="Arial"/>
                <a:cs typeface="Arial"/>
              </a:defRPr>
            </a:lvl5pPr>
            <a:lvl6pPr>
              <a:defRPr sz="1650" b="0">
                <a:solidFill>
                  <a:srgbClr val="263648"/>
                </a:solidFill>
                <a:latin typeface="Arial"/>
                <a:ea typeface="Arial"/>
                <a:cs typeface="Arial"/>
              </a:defRPr>
            </a:lvl6pPr>
            <a:lvl7pPr>
              <a:defRPr sz="1650" b="0">
                <a:solidFill>
                  <a:srgbClr val="263648"/>
                </a:solidFill>
                <a:latin typeface="Arial"/>
                <a:ea typeface="Arial"/>
                <a:cs typeface="Arial"/>
              </a:defRPr>
            </a:lvl7pPr>
            <a:lvl8pPr>
              <a:defRPr sz="1650" b="0">
                <a:solidFill>
                  <a:srgbClr val="263648"/>
                </a:solidFill>
                <a:latin typeface="Arial"/>
                <a:ea typeface="Arial"/>
                <a:cs typeface="Arial"/>
              </a:defRPr>
            </a:lvl8pPr>
            <a:lvl9pPr>
              <a:defRPr sz="1650" b="0">
                <a:solidFill>
                  <a:srgbClr val="263648"/>
                </a:solidFill>
                <a:latin typeface="Arial"/>
                <a:ea typeface="Arial"/>
                <a:cs typeface="Arial"/>
              </a:defRPr>
            </a:lvl9pPr>
          </a:lstStyle>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Compile + trace</a:t>
            </a:r>
          </a:p>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legal dataflow</a:t>
            </a:r>
          </a:p>
        </p:txBody>
      </p:sp>
      <p:sp>
        <p:nvSpPr>
          <p:cNvPr id="7" name="">
            <a:extLst xmlns:a="http://schemas.openxmlformats.org/drawingml/2006/main">
              <a:ext uri="{FF2B5EF4-FFF2-40B4-BE49-F238E27FC236}">
                <a16:creationId xmlns:a16="http://schemas.microsoft.com/office/drawing/2014/main" id="{7F814513-A9B6-4BDF-A5C6-A88733040A7C}"/>
              </a:ext>
            </a:extLst>
          </p:cNvPr>
          <p:cNvSpPr>
            <a:spLocks xmlns:a="http://schemas.openxmlformats.org/drawingml/2006/main" noGrp="1"/>
          </p:cNvSpPr>
          <p:nvPr/>
        </p:nvSpPr>
        <p:spPr>
          <a:xfrm xmlns:a="http://schemas.openxmlformats.org/drawingml/2006/main">
            <a:off x="3105150" y="2552700"/>
            <a:ext cx="285750" cy="228600"/>
          </a:xfrm>
          <a:prstGeom xmlns:a="http://schemas.openxmlformats.org/drawingml/2006/main" prst="rightArrow">
            <a:avLst/>
          </a:prstGeom>
          <a:solidFill xmlns:a="http://schemas.openxmlformats.org/drawingml/2006/main">
            <a:srgbClr val="2878A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9142216-456F-4880-9374-9B2891577593}"/>
              </a:ext>
            </a:extLst>
          </p:cNvPr>
          <p:cNvSpPr>
            <a:spLocks xmlns:a="http://schemas.openxmlformats.org/drawingml/2006/main" noGrp="1"/>
          </p:cNvSpPr>
          <p:nvPr/>
        </p:nvSpPr>
        <p:spPr>
          <a:xfrm xmlns:a="http://schemas.openxmlformats.org/drawingml/2006/main">
            <a:off x="3476625" y="2047875"/>
            <a:ext cx="2333625" cy="1238250"/>
          </a:xfrm>
          <a:prstGeom xmlns:a="http://schemas.openxmlformats.org/drawingml/2006/main" prst="rect">
            <a:avLst/>
          </a:prstGeom>
          <a:solidFill xmlns:a="http://schemas.openxmlformats.org/drawingml/2006/main">
            <a:srgbClr val="F4F7FA"/>
          </a:solidFill>
          <a:ln xmlns:a="http://schemas.openxmlformats.org/drawingml/2006/main" w="9525">
            <a:solidFill>
              <a:srgbClr val="D9E1E8"/>
            </a:solidFill>
            <a:prstDash val="solid"/>
          </a:ln>
        </p:spPr>
      </p:sp>
      <p:sp>
        <p:nvSpPr>
          <p:cNvPr id="9" name="">
            <a:extLst xmlns:a="http://schemas.openxmlformats.org/drawingml/2006/main">
              <a:ext uri="{FF2B5EF4-FFF2-40B4-BE49-F238E27FC236}">
                <a16:creationId xmlns:a16="http://schemas.microsoft.com/office/drawing/2014/main" id="{DEF1C42D-798C-423E-ACAC-9D25D88C12F7}"/>
              </a:ext>
            </a:extLst>
          </p:cNvPr>
          <p:cNvSpPr>
            <a:spLocks xmlns:a="http://schemas.openxmlformats.org/drawingml/2006/main" noGrp="1"/>
          </p:cNvSpPr>
          <p:nvPr/>
        </p:nvSpPr>
        <p:spPr>
          <a:xfrm xmlns:a="http://schemas.openxmlformats.org/drawingml/2006/main">
            <a:off x="3609975" y="2181225"/>
            <a:ext cx="20669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878A8"/>
                </a:solidFill>
                <a:latin typeface="Arial"/>
                <a:ea typeface="Arial"/>
                <a:cs typeface="Arial"/>
              </a:defRPr>
            </a:defPPr>
            <a:lvl1pPr>
              <a:defRPr sz="1875" b="1">
                <a:solidFill>
                  <a:srgbClr val="2878A8"/>
                </a:solidFill>
                <a:latin typeface="Arial"/>
                <a:ea typeface="Arial"/>
                <a:cs typeface="Arial"/>
              </a:defRPr>
            </a:lvl1pPr>
            <a:lvl2pPr>
              <a:defRPr sz="1875" b="1">
                <a:solidFill>
                  <a:srgbClr val="2878A8"/>
                </a:solidFill>
                <a:latin typeface="Arial"/>
                <a:ea typeface="Arial"/>
                <a:cs typeface="Arial"/>
              </a:defRPr>
            </a:lvl2pPr>
            <a:lvl3pPr>
              <a:defRPr sz="1875" b="1">
                <a:solidFill>
                  <a:srgbClr val="2878A8"/>
                </a:solidFill>
                <a:latin typeface="Arial"/>
                <a:ea typeface="Arial"/>
                <a:cs typeface="Arial"/>
              </a:defRPr>
            </a:lvl3pPr>
            <a:lvl4pPr>
              <a:defRPr sz="1875" b="1">
                <a:solidFill>
                  <a:srgbClr val="2878A8"/>
                </a:solidFill>
                <a:latin typeface="Arial"/>
                <a:ea typeface="Arial"/>
                <a:cs typeface="Arial"/>
              </a:defRPr>
            </a:lvl4pPr>
            <a:lvl5pPr>
              <a:defRPr sz="1875" b="1">
                <a:solidFill>
                  <a:srgbClr val="2878A8"/>
                </a:solidFill>
                <a:latin typeface="Arial"/>
                <a:ea typeface="Arial"/>
                <a:cs typeface="Arial"/>
              </a:defRPr>
            </a:lvl5pPr>
            <a:lvl6pPr>
              <a:defRPr sz="1875" b="1">
                <a:solidFill>
                  <a:srgbClr val="2878A8"/>
                </a:solidFill>
                <a:latin typeface="Arial"/>
                <a:ea typeface="Arial"/>
                <a:cs typeface="Arial"/>
              </a:defRPr>
            </a:lvl6pPr>
            <a:lvl7pPr>
              <a:defRPr sz="1875" b="1">
                <a:solidFill>
                  <a:srgbClr val="2878A8"/>
                </a:solidFill>
                <a:latin typeface="Arial"/>
                <a:ea typeface="Arial"/>
                <a:cs typeface="Arial"/>
              </a:defRPr>
            </a:lvl7pPr>
            <a:lvl8pPr>
              <a:defRPr sz="1875" b="1">
                <a:solidFill>
                  <a:srgbClr val="2878A8"/>
                </a:solidFill>
                <a:latin typeface="Arial"/>
                <a:ea typeface="Arial"/>
                <a:cs typeface="Arial"/>
              </a:defRPr>
            </a:lvl8pPr>
            <a:lvl9pPr>
              <a:defRPr sz="1875" b="1">
                <a:solidFill>
                  <a:srgbClr val="2878A8"/>
                </a:solidFill>
                <a:latin typeface="Arial"/>
                <a:ea typeface="Arial"/>
                <a:cs typeface="Arial"/>
              </a:defRPr>
            </a:lvl9pPr>
          </a:lstStyle>
          <a:p xmlns:a="http://schemas.openxmlformats.org/drawingml/2006/main">
            <a:pPr>
              <a:defRPr sz="1875" b="1">
                <a:solidFill>
                  <a:srgbClr val="2878A8"/>
                </a:solidFill>
                <a:latin typeface="Arial"/>
                <a:ea typeface="Arial"/>
                <a:cs typeface="Arial"/>
              </a:defRPr>
            </a:pPr>
            <a:r>
              <a:rPr sz="1875" b="1">
                <a:solidFill>
                  <a:srgbClr val="2878A8"/>
                </a:solidFill>
                <a:latin typeface="Arial"/>
                <a:ea typeface="Arial"/>
                <a:cs typeface="Arial"/>
              </a:rPr>
              <a:t>2  Implement</a:t>
            </a:r>
          </a:p>
        </p:txBody>
      </p:sp>
      <p:sp>
        <p:nvSpPr>
          <p:cNvPr id="10" name="">
            <a:extLst xmlns:a="http://schemas.openxmlformats.org/drawingml/2006/main">
              <a:ext uri="{FF2B5EF4-FFF2-40B4-BE49-F238E27FC236}">
                <a16:creationId xmlns:a16="http://schemas.microsoft.com/office/drawing/2014/main" id="{011DCD78-B12E-4CBF-BA8E-643DDB68814A}"/>
              </a:ext>
            </a:extLst>
          </p:cNvPr>
          <p:cNvSpPr>
            <a:spLocks xmlns:a="http://schemas.openxmlformats.org/drawingml/2006/main" noGrp="1"/>
          </p:cNvSpPr>
          <p:nvPr/>
        </p:nvSpPr>
        <p:spPr>
          <a:xfrm xmlns:a="http://schemas.openxmlformats.org/drawingml/2006/main">
            <a:off x="3609975" y="2590800"/>
            <a:ext cx="2066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263648"/>
                </a:solidFill>
                <a:latin typeface="Arial"/>
                <a:ea typeface="Arial"/>
                <a:cs typeface="Arial"/>
              </a:defRPr>
            </a:defPPr>
            <a:lvl1pPr>
              <a:defRPr sz="1650" b="0">
                <a:solidFill>
                  <a:srgbClr val="263648"/>
                </a:solidFill>
                <a:latin typeface="Arial"/>
                <a:ea typeface="Arial"/>
                <a:cs typeface="Arial"/>
              </a:defRPr>
            </a:lvl1pPr>
            <a:lvl2pPr>
              <a:defRPr sz="1650" b="0">
                <a:solidFill>
                  <a:srgbClr val="263648"/>
                </a:solidFill>
                <a:latin typeface="Arial"/>
                <a:ea typeface="Arial"/>
                <a:cs typeface="Arial"/>
              </a:defRPr>
            </a:lvl2pPr>
            <a:lvl3pPr>
              <a:defRPr sz="1650" b="0">
                <a:solidFill>
                  <a:srgbClr val="263648"/>
                </a:solidFill>
                <a:latin typeface="Arial"/>
                <a:ea typeface="Arial"/>
                <a:cs typeface="Arial"/>
              </a:defRPr>
            </a:lvl3pPr>
            <a:lvl4pPr>
              <a:defRPr sz="1650" b="0">
                <a:solidFill>
                  <a:srgbClr val="263648"/>
                </a:solidFill>
                <a:latin typeface="Arial"/>
                <a:ea typeface="Arial"/>
                <a:cs typeface="Arial"/>
              </a:defRPr>
            </a:lvl4pPr>
            <a:lvl5pPr>
              <a:defRPr sz="1650" b="0">
                <a:solidFill>
                  <a:srgbClr val="263648"/>
                </a:solidFill>
                <a:latin typeface="Arial"/>
                <a:ea typeface="Arial"/>
                <a:cs typeface="Arial"/>
              </a:defRPr>
            </a:lvl5pPr>
            <a:lvl6pPr>
              <a:defRPr sz="1650" b="0">
                <a:solidFill>
                  <a:srgbClr val="263648"/>
                </a:solidFill>
                <a:latin typeface="Arial"/>
                <a:ea typeface="Arial"/>
                <a:cs typeface="Arial"/>
              </a:defRPr>
            </a:lvl6pPr>
            <a:lvl7pPr>
              <a:defRPr sz="1650" b="0">
                <a:solidFill>
                  <a:srgbClr val="263648"/>
                </a:solidFill>
                <a:latin typeface="Arial"/>
                <a:ea typeface="Arial"/>
                <a:cs typeface="Arial"/>
              </a:defRPr>
            </a:lvl7pPr>
            <a:lvl8pPr>
              <a:defRPr sz="1650" b="0">
                <a:solidFill>
                  <a:srgbClr val="263648"/>
                </a:solidFill>
                <a:latin typeface="Arial"/>
                <a:ea typeface="Arial"/>
                <a:cs typeface="Arial"/>
              </a:defRPr>
            </a:lvl8pPr>
            <a:lvl9pPr>
              <a:defRPr sz="1650" b="0">
                <a:solidFill>
                  <a:srgbClr val="263648"/>
                </a:solidFill>
                <a:latin typeface="Arial"/>
                <a:ea typeface="Arial"/>
                <a:cs typeface="Arial"/>
              </a:defRPr>
            </a:lvl9pPr>
          </a:lstStyle>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Lower custom opcode</a:t>
            </a:r>
          </a:p>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PicoRV32 PCPI</a:t>
            </a:r>
          </a:p>
        </p:txBody>
      </p:sp>
      <p:sp>
        <p:nvSpPr>
          <p:cNvPr id="11" name="">
            <a:extLst xmlns:a="http://schemas.openxmlformats.org/drawingml/2006/main">
              <a:ext uri="{FF2B5EF4-FFF2-40B4-BE49-F238E27FC236}">
                <a16:creationId xmlns:a16="http://schemas.microsoft.com/office/drawing/2014/main" id="{9F05C906-3EE0-4D9C-A760-0D1080DE0403}"/>
              </a:ext>
            </a:extLst>
          </p:cNvPr>
          <p:cNvSpPr>
            <a:spLocks xmlns:a="http://schemas.openxmlformats.org/drawingml/2006/main" noGrp="1"/>
          </p:cNvSpPr>
          <p:nvPr/>
        </p:nvSpPr>
        <p:spPr>
          <a:xfrm xmlns:a="http://schemas.openxmlformats.org/drawingml/2006/main">
            <a:off x="5895975" y="2552700"/>
            <a:ext cx="285750" cy="228600"/>
          </a:xfrm>
          <a:prstGeom xmlns:a="http://schemas.openxmlformats.org/drawingml/2006/main" prst="rightArrow">
            <a:avLst/>
          </a:prstGeom>
          <a:solidFill xmlns:a="http://schemas.openxmlformats.org/drawingml/2006/main">
            <a:srgbClr val="2878A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C956702-670C-4726-932A-0DC167881E22}"/>
              </a:ext>
            </a:extLst>
          </p:cNvPr>
          <p:cNvSpPr>
            <a:spLocks xmlns:a="http://schemas.openxmlformats.org/drawingml/2006/main" noGrp="1"/>
          </p:cNvSpPr>
          <p:nvPr/>
        </p:nvSpPr>
        <p:spPr>
          <a:xfrm xmlns:a="http://schemas.openxmlformats.org/drawingml/2006/main">
            <a:off x="6267450" y="2047875"/>
            <a:ext cx="2333625" cy="1238250"/>
          </a:xfrm>
          <a:prstGeom xmlns:a="http://schemas.openxmlformats.org/drawingml/2006/main" prst="rect">
            <a:avLst/>
          </a:prstGeom>
          <a:solidFill xmlns:a="http://schemas.openxmlformats.org/drawingml/2006/main">
            <a:srgbClr val="F4F7FA"/>
          </a:solidFill>
          <a:ln xmlns:a="http://schemas.openxmlformats.org/drawingml/2006/main" w="9525">
            <a:solidFill>
              <a:srgbClr val="D9E1E8"/>
            </a:solidFill>
            <a:prstDash val="solid"/>
          </a:ln>
        </p:spPr>
      </p:sp>
      <p:sp>
        <p:nvSpPr>
          <p:cNvPr id="13" name="">
            <a:extLst xmlns:a="http://schemas.openxmlformats.org/drawingml/2006/main">
              <a:ext uri="{FF2B5EF4-FFF2-40B4-BE49-F238E27FC236}">
                <a16:creationId xmlns:a16="http://schemas.microsoft.com/office/drawing/2014/main" id="{6F32E454-C378-4049-ACF3-D7B6F2A30D37}"/>
              </a:ext>
            </a:extLst>
          </p:cNvPr>
          <p:cNvSpPr>
            <a:spLocks xmlns:a="http://schemas.openxmlformats.org/drawingml/2006/main" noGrp="1"/>
          </p:cNvSpPr>
          <p:nvPr/>
        </p:nvSpPr>
        <p:spPr>
          <a:xfrm xmlns:a="http://schemas.openxmlformats.org/drawingml/2006/main">
            <a:off x="6400800" y="2181225"/>
            <a:ext cx="20669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878A8"/>
                </a:solidFill>
                <a:latin typeface="Arial"/>
                <a:ea typeface="Arial"/>
                <a:cs typeface="Arial"/>
              </a:defRPr>
            </a:defPPr>
            <a:lvl1pPr>
              <a:defRPr sz="1875" b="1">
                <a:solidFill>
                  <a:srgbClr val="2878A8"/>
                </a:solidFill>
                <a:latin typeface="Arial"/>
                <a:ea typeface="Arial"/>
                <a:cs typeface="Arial"/>
              </a:defRPr>
            </a:lvl1pPr>
            <a:lvl2pPr>
              <a:defRPr sz="1875" b="1">
                <a:solidFill>
                  <a:srgbClr val="2878A8"/>
                </a:solidFill>
                <a:latin typeface="Arial"/>
                <a:ea typeface="Arial"/>
                <a:cs typeface="Arial"/>
              </a:defRPr>
            </a:lvl2pPr>
            <a:lvl3pPr>
              <a:defRPr sz="1875" b="1">
                <a:solidFill>
                  <a:srgbClr val="2878A8"/>
                </a:solidFill>
                <a:latin typeface="Arial"/>
                <a:ea typeface="Arial"/>
                <a:cs typeface="Arial"/>
              </a:defRPr>
            </a:lvl3pPr>
            <a:lvl4pPr>
              <a:defRPr sz="1875" b="1">
                <a:solidFill>
                  <a:srgbClr val="2878A8"/>
                </a:solidFill>
                <a:latin typeface="Arial"/>
                <a:ea typeface="Arial"/>
                <a:cs typeface="Arial"/>
              </a:defRPr>
            </a:lvl4pPr>
            <a:lvl5pPr>
              <a:defRPr sz="1875" b="1">
                <a:solidFill>
                  <a:srgbClr val="2878A8"/>
                </a:solidFill>
                <a:latin typeface="Arial"/>
                <a:ea typeface="Arial"/>
                <a:cs typeface="Arial"/>
              </a:defRPr>
            </a:lvl5pPr>
            <a:lvl6pPr>
              <a:defRPr sz="1875" b="1">
                <a:solidFill>
                  <a:srgbClr val="2878A8"/>
                </a:solidFill>
                <a:latin typeface="Arial"/>
                <a:ea typeface="Arial"/>
                <a:cs typeface="Arial"/>
              </a:defRPr>
            </a:lvl6pPr>
            <a:lvl7pPr>
              <a:defRPr sz="1875" b="1">
                <a:solidFill>
                  <a:srgbClr val="2878A8"/>
                </a:solidFill>
                <a:latin typeface="Arial"/>
                <a:ea typeface="Arial"/>
                <a:cs typeface="Arial"/>
              </a:defRPr>
            </a:lvl7pPr>
            <a:lvl8pPr>
              <a:defRPr sz="1875" b="1">
                <a:solidFill>
                  <a:srgbClr val="2878A8"/>
                </a:solidFill>
                <a:latin typeface="Arial"/>
                <a:ea typeface="Arial"/>
                <a:cs typeface="Arial"/>
              </a:defRPr>
            </a:lvl8pPr>
            <a:lvl9pPr>
              <a:defRPr sz="1875" b="1">
                <a:solidFill>
                  <a:srgbClr val="2878A8"/>
                </a:solidFill>
                <a:latin typeface="Arial"/>
                <a:ea typeface="Arial"/>
                <a:cs typeface="Arial"/>
              </a:defRPr>
            </a:lvl9pPr>
          </a:lstStyle>
          <a:p xmlns:a="http://schemas.openxmlformats.org/drawingml/2006/main">
            <a:pPr>
              <a:defRPr sz="1875" b="1">
                <a:solidFill>
                  <a:srgbClr val="2878A8"/>
                </a:solidFill>
                <a:latin typeface="Arial"/>
                <a:ea typeface="Arial"/>
                <a:cs typeface="Arial"/>
              </a:defRPr>
            </a:pPr>
            <a:r>
              <a:rPr sz="1875" b="1">
                <a:solidFill>
                  <a:srgbClr val="2878A8"/>
                </a:solidFill>
                <a:latin typeface="Arial"/>
                <a:ea typeface="Arial"/>
                <a:cs typeface="Arial"/>
              </a:rPr>
              <a:t>3  Verify</a:t>
            </a:r>
          </a:p>
        </p:txBody>
      </p:sp>
      <p:sp>
        <p:nvSpPr>
          <p:cNvPr id="14" name="">
            <a:extLst xmlns:a="http://schemas.openxmlformats.org/drawingml/2006/main">
              <a:ext uri="{FF2B5EF4-FFF2-40B4-BE49-F238E27FC236}">
                <a16:creationId xmlns:a16="http://schemas.microsoft.com/office/drawing/2014/main" id="{DE6CA61B-C77E-4D2E-92D5-DF4054819DE2}"/>
              </a:ext>
            </a:extLst>
          </p:cNvPr>
          <p:cNvSpPr>
            <a:spLocks xmlns:a="http://schemas.openxmlformats.org/drawingml/2006/main" noGrp="1"/>
          </p:cNvSpPr>
          <p:nvPr/>
        </p:nvSpPr>
        <p:spPr>
          <a:xfrm xmlns:a="http://schemas.openxmlformats.org/drawingml/2006/main">
            <a:off x="6400800" y="2590800"/>
            <a:ext cx="2066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263648"/>
                </a:solidFill>
                <a:latin typeface="Arial"/>
                <a:ea typeface="Arial"/>
                <a:cs typeface="Arial"/>
              </a:defRPr>
            </a:defPPr>
            <a:lvl1pPr>
              <a:defRPr sz="1650" b="0">
                <a:solidFill>
                  <a:srgbClr val="263648"/>
                </a:solidFill>
                <a:latin typeface="Arial"/>
                <a:ea typeface="Arial"/>
                <a:cs typeface="Arial"/>
              </a:defRPr>
            </a:lvl1pPr>
            <a:lvl2pPr>
              <a:defRPr sz="1650" b="0">
                <a:solidFill>
                  <a:srgbClr val="263648"/>
                </a:solidFill>
                <a:latin typeface="Arial"/>
                <a:ea typeface="Arial"/>
                <a:cs typeface="Arial"/>
              </a:defRPr>
            </a:lvl2pPr>
            <a:lvl3pPr>
              <a:defRPr sz="1650" b="0">
                <a:solidFill>
                  <a:srgbClr val="263648"/>
                </a:solidFill>
                <a:latin typeface="Arial"/>
                <a:ea typeface="Arial"/>
                <a:cs typeface="Arial"/>
              </a:defRPr>
            </a:lvl3pPr>
            <a:lvl4pPr>
              <a:defRPr sz="1650" b="0">
                <a:solidFill>
                  <a:srgbClr val="263648"/>
                </a:solidFill>
                <a:latin typeface="Arial"/>
                <a:ea typeface="Arial"/>
                <a:cs typeface="Arial"/>
              </a:defRPr>
            </a:lvl4pPr>
            <a:lvl5pPr>
              <a:defRPr sz="1650" b="0">
                <a:solidFill>
                  <a:srgbClr val="263648"/>
                </a:solidFill>
                <a:latin typeface="Arial"/>
                <a:ea typeface="Arial"/>
                <a:cs typeface="Arial"/>
              </a:defRPr>
            </a:lvl5pPr>
            <a:lvl6pPr>
              <a:defRPr sz="1650" b="0">
                <a:solidFill>
                  <a:srgbClr val="263648"/>
                </a:solidFill>
                <a:latin typeface="Arial"/>
                <a:ea typeface="Arial"/>
                <a:cs typeface="Arial"/>
              </a:defRPr>
            </a:lvl6pPr>
            <a:lvl7pPr>
              <a:defRPr sz="1650" b="0">
                <a:solidFill>
                  <a:srgbClr val="263648"/>
                </a:solidFill>
                <a:latin typeface="Arial"/>
                <a:ea typeface="Arial"/>
                <a:cs typeface="Arial"/>
              </a:defRPr>
            </a:lvl7pPr>
            <a:lvl8pPr>
              <a:defRPr sz="1650" b="0">
                <a:solidFill>
                  <a:srgbClr val="263648"/>
                </a:solidFill>
                <a:latin typeface="Arial"/>
                <a:ea typeface="Arial"/>
                <a:cs typeface="Arial"/>
              </a:defRPr>
            </a:lvl8pPr>
            <a:lvl9pPr>
              <a:defRPr sz="1650" b="0">
                <a:solidFill>
                  <a:srgbClr val="263648"/>
                </a:solidFill>
                <a:latin typeface="Arial"/>
                <a:ea typeface="Arial"/>
                <a:cs typeface="Arial"/>
              </a:defRPr>
            </a:lvl9pPr>
          </a:lstStyle>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Program output</a:t>
            </a:r>
          </a:p>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 cycle count</a:t>
            </a:r>
          </a:p>
        </p:txBody>
      </p:sp>
      <p:sp>
        <p:nvSpPr>
          <p:cNvPr id="15" name="">
            <a:extLst xmlns:a="http://schemas.openxmlformats.org/drawingml/2006/main">
              <a:ext uri="{FF2B5EF4-FFF2-40B4-BE49-F238E27FC236}">
                <a16:creationId xmlns:a16="http://schemas.microsoft.com/office/drawing/2014/main" id="{22185392-B8B1-43F2-BA18-FB90F9F5B26E}"/>
              </a:ext>
            </a:extLst>
          </p:cNvPr>
          <p:cNvSpPr>
            <a:spLocks xmlns:a="http://schemas.openxmlformats.org/drawingml/2006/main" noGrp="1"/>
          </p:cNvSpPr>
          <p:nvPr/>
        </p:nvSpPr>
        <p:spPr>
          <a:xfrm xmlns:a="http://schemas.openxmlformats.org/drawingml/2006/main">
            <a:off x="8686800" y="2552700"/>
            <a:ext cx="285750" cy="228600"/>
          </a:xfrm>
          <a:prstGeom xmlns:a="http://schemas.openxmlformats.org/drawingml/2006/main" prst="rightArrow">
            <a:avLst/>
          </a:prstGeom>
          <a:solidFill xmlns:a="http://schemas.openxmlformats.org/drawingml/2006/main">
            <a:srgbClr val="2878A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F689F70-6776-4695-AF83-D604A29D1576}"/>
              </a:ext>
            </a:extLst>
          </p:cNvPr>
          <p:cNvSpPr>
            <a:spLocks xmlns:a="http://schemas.openxmlformats.org/drawingml/2006/main" noGrp="1"/>
          </p:cNvSpPr>
          <p:nvPr/>
        </p:nvSpPr>
        <p:spPr>
          <a:xfrm xmlns:a="http://schemas.openxmlformats.org/drawingml/2006/main">
            <a:off x="9058275" y="2047875"/>
            <a:ext cx="2333625" cy="1238250"/>
          </a:xfrm>
          <a:prstGeom xmlns:a="http://schemas.openxmlformats.org/drawingml/2006/main" prst="rect">
            <a:avLst/>
          </a:prstGeom>
          <a:solidFill xmlns:a="http://schemas.openxmlformats.org/drawingml/2006/main">
            <a:srgbClr val="F4F7FA"/>
          </a:solidFill>
          <a:ln xmlns:a="http://schemas.openxmlformats.org/drawingml/2006/main" w="9525">
            <a:solidFill>
              <a:srgbClr val="D9E1E8"/>
            </a:solidFill>
            <a:prstDash val="solid"/>
          </a:ln>
        </p:spPr>
      </p:sp>
      <p:sp>
        <p:nvSpPr>
          <p:cNvPr id="17" name="">
            <a:extLst xmlns:a="http://schemas.openxmlformats.org/drawingml/2006/main">
              <a:ext uri="{FF2B5EF4-FFF2-40B4-BE49-F238E27FC236}">
                <a16:creationId xmlns:a16="http://schemas.microsoft.com/office/drawing/2014/main" id="{98E06B08-7ADF-4859-8855-D497B72EF748}"/>
              </a:ext>
            </a:extLst>
          </p:cNvPr>
          <p:cNvSpPr>
            <a:spLocks xmlns:a="http://schemas.openxmlformats.org/drawingml/2006/main" noGrp="1"/>
          </p:cNvSpPr>
          <p:nvPr/>
        </p:nvSpPr>
        <p:spPr>
          <a:xfrm xmlns:a="http://schemas.openxmlformats.org/drawingml/2006/main">
            <a:off x="9191625" y="2181225"/>
            <a:ext cx="20669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878A8"/>
                </a:solidFill>
                <a:latin typeface="Arial"/>
                <a:ea typeface="Arial"/>
                <a:cs typeface="Arial"/>
              </a:defRPr>
            </a:defPPr>
            <a:lvl1pPr>
              <a:defRPr sz="1875" b="1">
                <a:solidFill>
                  <a:srgbClr val="2878A8"/>
                </a:solidFill>
                <a:latin typeface="Arial"/>
                <a:ea typeface="Arial"/>
                <a:cs typeface="Arial"/>
              </a:defRPr>
            </a:lvl1pPr>
            <a:lvl2pPr>
              <a:defRPr sz="1875" b="1">
                <a:solidFill>
                  <a:srgbClr val="2878A8"/>
                </a:solidFill>
                <a:latin typeface="Arial"/>
                <a:ea typeface="Arial"/>
                <a:cs typeface="Arial"/>
              </a:defRPr>
            </a:lvl2pPr>
            <a:lvl3pPr>
              <a:defRPr sz="1875" b="1">
                <a:solidFill>
                  <a:srgbClr val="2878A8"/>
                </a:solidFill>
                <a:latin typeface="Arial"/>
                <a:ea typeface="Arial"/>
                <a:cs typeface="Arial"/>
              </a:defRPr>
            </a:lvl3pPr>
            <a:lvl4pPr>
              <a:defRPr sz="1875" b="1">
                <a:solidFill>
                  <a:srgbClr val="2878A8"/>
                </a:solidFill>
                <a:latin typeface="Arial"/>
                <a:ea typeface="Arial"/>
                <a:cs typeface="Arial"/>
              </a:defRPr>
            </a:lvl4pPr>
            <a:lvl5pPr>
              <a:defRPr sz="1875" b="1">
                <a:solidFill>
                  <a:srgbClr val="2878A8"/>
                </a:solidFill>
                <a:latin typeface="Arial"/>
                <a:ea typeface="Arial"/>
                <a:cs typeface="Arial"/>
              </a:defRPr>
            </a:lvl5pPr>
            <a:lvl6pPr>
              <a:defRPr sz="1875" b="1">
                <a:solidFill>
                  <a:srgbClr val="2878A8"/>
                </a:solidFill>
                <a:latin typeface="Arial"/>
                <a:ea typeface="Arial"/>
                <a:cs typeface="Arial"/>
              </a:defRPr>
            </a:lvl6pPr>
            <a:lvl7pPr>
              <a:defRPr sz="1875" b="1">
                <a:solidFill>
                  <a:srgbClr val="2878A8"/>
                </a:solidFill>
                <a:latin typeface="Arial"/>
                <a:ea typeface="Arial"/>
                <a:cs typeface="Arial"/>
              </a:defRPr>
            </a:lvl7pPr>
            <a:lvl8pPr>
              <a:defRPr sz="1875" b="1">
                <a:solidFill>
                  <a:srgbClr val="2878A8"/>
                </a:solidFill>
                <a:latin typeface="Arial"/>
                <a:ea typeface="Arial"/>
                <a:cs typeface="Arial"/>
              </a:defRPr>
            </a:lvl8pPr>
            <a:lvl9pPr>
              <a:defRPr sz="1875" b="1">
                <a:solidFill>
                  <a:srgbClr val="2878A8"/>
                </a:solidFill>
                <a:latin typeface="Arial"/>
                <a:ea typeface="Arial"/>
                <a:cs typeface="Arial"/>
              </a:defRPr>
            </a:lvl9pPr>
          </a:lstStyle>
          <a:p xmlns:a="http://schemas.openxmlformats.org/drawingml/2006/main">
            <a:pPr>
              <a:defRPr sz="1875" b="1">
                <a:solidFill>
                  <a:srgbClr val="2878A8"/>
                </a:solidFill>
                <a:latin typeface="Arial"/>
                <a:ea typeface="Arial"/>
                <a:cs typeface="Arial"/>
              </a:defRPr>
            </a:pPr>
            <a:r>
              <a:rPr sz="1875" b="1">
                <a:solidFill>
                  <a:srgbClr val="2878A8"/>
                </a:solidFill>
                <a:latin typeface="Arial"/>
                <a:ea typeface="Arial"/>
                <a:cs typeface="Arial"/>
              </a:rPr>
              <a:t>4  Measure</a:t>
            </a:r>
          </a:p>
        </p:txBody>
      </p:sp>
      <p:sp>
        <p:nvSpPr>
          <p:cNvPr id="18" name="">
            <a:extLst xmlns:a="http://schemas.openxmlformats.org/drawingml/2006/main">
              <a:ext uri="{FF2B5EF4-FFF2-40B4-BE49-F238E27FC236}">
                <a16:creationId xmlns:a16="http://schemas.microsoft.com/office/drawing/2014/main" id="{41CBC1F0-4C0A-46D4-8A68-4E935BDFC655}"/>
              </a:ext>
            </a:extLst>
          </p:cNvPr>
          <p:cNvSpPr>
            <a:spLocks xmlns:a="http://schemas.openxmlformats.org/drawingml/2006/main" noGrp="1"/>
          </p:cNvSpPr>
          <p:nvPr/>
        </p:nvSpPr>
        <p:spPr>
          <a:xfrm xmlns:a="http://schemas.openxmlformats.org/drawingml/2006/main">
            <a:off x="9191625" y="2590800"/>
            <a:ext cx="2066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263648"/>
                </a:solidFill>
                <a:latin typeface="Arial"/>
                <a:ea typeface="Arial"/>
                <a:cs typeface="Arial"/>
              </a:defRPr>
            </a:defPPr>
            <a:lvl1pPr>
              <a:defRPr sz="1650" b="0">
                <a:solidFill>
                  <a:srgbClr val="263648"/>
                </a:solidFill>
                <a:latin typeface="Arial"/>
                <a:ea typeface="Arial"/>
                <a:cs typeface="Arial"/>
              </a:defRPr>
            </a:lvl1pPr>
            <a:lvl2pPr>
              <a:defRPr sz="1650" b="0">
                <a:solidFill>
                  <a:srgbClr val="263648"/>
                </a:solidFill>
                <a:latin typeface="Arial"/>
                <a:ea typeface="Arial"/>
                <a:cs typeface="Arial"/>
              </a:defRPr>
            </a:lvl2pPr>
            <a:lvl3pPr>
              <a:defRPr sz="1650" b="0">
                <a:solidFill>
                  <a:srgbClr val="263648"/>
                </a:solidFill>
                <a:latin typeface="Arial"/>
                <a:ea typeface="Arial"/>
                <a:cs typeface="Arial"/>
              </a:defRPr>
            </a:lvl3pPr>
            <a:lvl4pPr>
              <a:defRPr sz="1650" b="0">
                <a:solidFill>
                  <a:srgbClr val="263648"/>
                </a:solidFill>
                <a:latin typeface="Arial"/>
                <a:ea typeface="Arial"/>
                <a:cs typeface="Arial"/>
              </a:defRPr>
            </a:lvl4pPr>
            <a:lvl5pPr>
              <a:defRPr sz="1650" b="0">
                <a:solidFill>
                  <a:srgbClr val="263648"/>
                </a:solidFill>
                <a:latin typeface="Arial"/>
                <a:ea typeface="Arial"/>
                <a:cs typeface="Arial"/>
              </a:defRPr>
            </a:lvl5pPr>
            <a:lvl6pPr>
              <a:defRPr sz="1650" b="0">
                <a:solidFill>
                  <a:srgbClr val="263648"/>
                </a:solidFill>
                <a:latin typeface="Arial"/>
                <a:ea typeface="Arial"/>
                <a:cs typeface="Arial"/>
              </a:defRPr>
            </a:lvl6pPr>
            <a:lvl7pPr>
              <a:defRPr sz="1650" b="0">
                <a:solidFill>
                  <a:srgbClr val="263648"/>
                </a:solidFill>
                <a:latin typeface="Arial"/>
                <a:ea typeface="Arial"/>
                <a:cs typeface="Arial"/>
              </a:defRPr>
            </a:lvl7pPr>
            <a:lvl8pPr>
              <a:defRPr sz="1650" b="0">
                <a:solidFill>
                  <a:srgbClr val="263648"/>
                </a:solidFill>
                <a:latin typeface="Arial"/>
                <a:ea typeface="Arial"/>
                <a:cs typeface="Arial"/>
              </a:defRPr>
            </a:lvl8pPr>
            <a:lvl9pPr>
              <a:defRPr sz="1650" b="0">
                <a:solidFill>
                  <a:srgbClr val="263648"/>
                </a:solidFill>
                <a:latin typeface="Arial"/>
                <a:ea typeface="Arial"/>
                <a:cs typeface="Arial"/>
              </a:defRPr>
            </a:lvl9pPr>
          </a:lstStyle>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Integrated LUT4</a:t>
            </a:r>
          </a:p>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 routed Fmax</a:t>
            </a:r>
          </a:p>
        </p:txBody>
      </p:sp>
      <p:sp>
        <p:nvSpPr>
          <p:cNvPr id="19" name="">
            <a:extLst xmlns:a="http://schemas.openxmlformats.org/drawingml/2006/main">
              <a:ext uri="{FF2B5EF4-FFF2-40B4-BE49-F238E27FC236}">
                <a16:creationId xmlns:a16="http://schemas.microsoft.com/office/drawing/2014/main" id="{100955FA-7BEA-414F-90D4-3EB79131816F}"/>
              </a:ext>
            </a:extLst>
          </p:cNvPr>
          <p:cNvSpPr>
            <a:spLocks xmlns:a="http://schemas.openxmlformats.org/drawingml/2006/main" noGrp="1"/>
          </p:cNvSpPr>
          <p:nvPr/>
        </p:nvSpPr>
        <p:spPr>
          <a:xfrm xmlns:a="http://schemas.openxmlformats.org/drawingml/2006/main">
            <a:off x="685800" y="338137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a:solidFill>
                  <a:srgbClr val="607286"/>
                </a:solidFill>
                <a:latin typeface="Arial"/>
                <a:ea typeface="Arial"/>
                <a:cs typeface="Arial"/>
              </a:defRPr>
            </a:defPPr>
            <a:lvl1pPr algn="ctr">
              <a:defRPr sz="1350">
                <a:solidFill>
                  <a:srgbClr val="607286"/>
                </a:solidFill>
                <a:latin typeface="Arial"/>
                <a:ea typeface="Arial"/>
                <a:cs typeface="Arial"/>
              </a:defRPr>
            </a:lvl1pPr>
            <a:lvl2pPr algn="ctr">
              <a:defRPr sz="1350">
                <a:solidFill>
                  <a:srgbClr val="607286"/>
                </a:solidFill>
                <a:latin typeface="Arial"/>
                <a:ea typeface="Arial"/>
                <a:cs typeface="Arial"/>
              </a:defRPr>
            </a:lvl2pPr>
            <a:lvl3pPr algn="ctr">
              <a:defRPr sz="1350">
                <a:solidFill>
                  <a:srgbClr val="607286"/>
                </a:solidFill>
                <a:latin typeface="Arial"/>
                <a:ea typeface="Arial"/>
                <a:cs typeface="Arial"/>
              </a:defRPr>
            </a:lvl3pPr>
            <a:lvl4pPr algn="ctr">
              <a:defRPr sz="1350">
                <a:solidFill>
                  <a:srgbClr val="607286"/>
                </a:solidFill>
                <a:latin typeface="Arial"/>
                <a:ea typeface="Arial"/>
                <a:cs typeface="Arial"/>
              </a:defRPr>
            </a:lvl4pPr>
            <a:lvl5pPr algn="ctr">
              <a:defRPr sz="1350">
                <a:solidFill>
                  <a:srgbClr val="607286"/>
                </a:solidFill>
                <a:latin typeface="Arial"/>
                <a:ea typeface="Arial"/>
                <a:cs typeface="Arial"/>
              </a:defRPr>
            </a:lvl5pPr>
            <a:lvl6pPr algn="ctr">
              <a:defRPr sz="1350">
                <a:solidFill>
                  <a:srgbClr val="607286"/>
                </a:solidFill>
                <a:latin typeface="Arial"/>
                <a:ea typeface="Arial"/>
                <a:cs typeface="Arial"/>
              </a:defRPr>
            </a:lvl6pPr>
            <a:lvl7pPr algn="ctr">
              <a:defRPr sz="1350">
                <a:solidFill>
                  <a:srgbClr val="607286"/>
                </a:solidFill>
                <a:latin typeface="Arial"/>
                <a:ea typeface="Arial"/>
                <a:cs typeface="Arial"/>
              </a:defRPr>
            </a:lvl7pPr>
            <a:lvl8pPr algn="ctr">
              <a:defRPr sz="1350">
                <a:solidFill>
                  <a:srgbClr val="607286"/>
                </a:solidFill>
                <a:latin typeface="Arial"/>
                <a:ea typeface="Arial"/>
                <a:cs typeface="Arial"/>
              </a:defRPr>
            </a:lvl8pPr>
            <a:lvl9pPr algn="ctr">
              <a:defRPr sz="1350">
                <a:solidFill>
                  <a:srgbClr val="607286"/>
                </a:solidFill>
                <a:latin typeface="Arial"/>
                <a:ea typeface="Arial"/>
                <a:cs typeface="Arial"/>
              </a:defRPr>
            </a:lvl9pPr>
          </a:lstStyle>
          <a:p xmlns:a="http://schemas.openxmlformats.org/drawingml/2006/main">
            <a:pPr algn="ctr">
              <a:defRPr sz="1350">
                <a:solidFill>
                  <a:srgbClr val="607286"/>
                </a:solidFill>
                <a:latin typeface="Arial"/>
                <a:ea typeface="Arial"/>
                <a:cs typeface="Arial"/>
              </a:defRPr>
            </a:pPr>
            <a:r>
              <a:rPr sz="1350">
                <a:solidFill>
                  <a:srgbClr val="607286"/>
                </a:solidFill>
                <a:latin typeface="Arial"/>
                <a:ea typeface="Arial"/>
                <a:cs typeface="Arial"/>
              </a:rPr>
              <a:t>candidates.py</a:t>
            </a:r>
          </a:p>
        </p:txBody>
      </p:sp>
      <p:sp>
        <p:nvSpPr>
          <p:cNvPr id="20" name="">
            <a:extLst xmlns:a="http://schemas.openxmlformats.org/drawingml/2006/main">
              <a:ext uri="{FF2B5EF4-FFF2-40B4-BE49-F238E27FC236}">
                <a16:creationId xmlns:a16="http://schemas.microsoft.com/office/drawing/2014/main" id="{F327A761-63B2-41A5-A8A4-E771DAD3C47F}"/>
              </a:ext>
            </a:extLst>
          </p:cNvPr>
          <p:cNvSpPr>
            <a:spLocks xmlns:a="http://schemas.openxmlformats.org/drawingml/2006/main" noGrp="1"/>
          </p:cNvSpPr>
          <p:nvPr/>
        </p:nvSpPr>
        <p:spPr>
          <a:xfrm xmlns:a="http://schemas.openxmlformats.org/drawingml/2006/main">
            <a:off x="3476625" y="338137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a:solidFill>
                  <a:srgbClr val="607286"/>
                </a:solidFill>
                <a:latin typeface="Arial"/>
                <a:ea typeface="Arial"/>
                <a:cs typeface="Arial"/>
              </a:defRPr>
            </a:defPPr>
            <a:lvl1pPr algn="ctr">
              <a:defRPr sz="1350">
                <a:solidFill>
                  <a:srgbClr val="607286"/>
                </a:solidFill>
                <a:latin typeface="Arial"/>
                <a:ea typeface="Arial"/>
                <a:cs typeface="Arial"/>
              </a:defRPr>
            </a:lvl1pPr>
            <a:lvl2pPr algn="ctr">
              <a:defRPr sz="1350">
                <a:solidFill>
                  <a:srgbClr val="607286"/>
                </a:solidFill>
                <a:latin typeface="Arial"/>
                <a:ea typeface="Arial"/>
                <a:cs typeface="Arial"/>
              </a:defRPr>
            </a:lvl2pPr>
            <a:lvl3pPr algn="ctr">
              <a:defRPr sz="1350">
                <a:solidFill>
                  <a:srgbClr val="607286"/>
                </a:solidFill>
                <a:latin typeface="Arial"/>
                <a:ea typeface="Arial"/>
                <a:cs typeface="Arial"/>
              </a:defRPr>
            </a:lvl3pPr>
            <a:lvl4pPr algn="ctr">
              <a:defRPr sz="1350">
                <a:solidFill>
                  <a:srgbClr val="607286"/>
                </a:solidFill>
                <a:latin typeface="Arial"/>
                <a:ea typeface="Arial"/>
                <a:cs typeface="Arial"/>
              </a:defRPr>
            </a:lvl4pPr>
            <a:lvl5pPr algn="ctr">
              <a:defRPr sz="1350">
                <a:solidFill>
                  <a:srgbClr val="607286"/>
                </a:solidFill>
                <a:latin typeface="Arial"/>
                <a:ea typeface="Arial"/>
                <a:cs typeface="Arial"/>
              </a:defRPr>
            </a:lvl5pPr>
            <a:lvl6pPr algn="ctr">
              <a:defRPr sz="1350">
                <a:solidFill>
                  <a:srgbClr val="607286"/>
                </a:solidFill>
                <a:latin typeface="Arial"/>
                <a:ea typeface="Arial"/>
                <a:cs typeface="Arial"/>
              </a:defRPr>
            </a:lvl6pPr>
            <a:lvl7pPr algn="ctr">
              <a:defRPr sz="1350">
                <a:solidFill>
                  <a:srgbClr val="607286"/>
                </a:solidFill>
                <a:latin typeface="Arial"/>
                <a:ea typeface="Arial"/>
                <a:cs typeface="Arial"/>
              </a:defRPr>
            </a:lvl7pPr>
            <a:lvl8pPr algn="ctr">
              <a:defRPr sz="1350">
                <a:solidFill>
                  <a:srgbClr val="607286"/>
                </a:solidFill>
                <a:latin typeface="Arial"/>
                <a:ea typeface="Arial"/>
                <a:cs typeface="Arial"/>
              </a:defRPr>
            </a:lvl8pPr>
            <a:lvl9pPr algn="ctr">
              <a:defRPr sz="1350">
                <a:solidFill>
                  <a:srgbClr val="607286"/>
                </a:solidFill>
                <a:latin typeface="Arial"/>
                <a:ea typeface="Arial"/>
                <a:cs typeface="Arial"/>
              </a:defRPr>
            </a:lvl9pPr>
          </a:lstStyle>
          <a:p xmlns:a="http://schemas.openxmlformats.org/drawingml/2006/main">
            <a:pPr algn="ctr">
              <a:defRPr sz="1350">
                <a:solidFill>
                  <a:srgbClr val="607286"/>
                </a:solidFill>
                <a:latin typeface="Arial"/>
                <a:ea typeface="Arial"/>
                <a:cs typeface="Arial"/>
              </a:defRPr>
            </a:pPr>
            <a:r>
              <a:rPr sz="1350">
                <a:solidFill>
                  <a:srgbClr val="607286"/>
                </a:solidFill>
                <a:latin typeface="Arial"/>
                <a:ea typeface="Arial"/>
                <a:cs typeface="Arial"/>
              </a:rPr>
              <a:t>workload_experiment.py</a:t>
            </a:r>
          </a:p>
        </p:txBody>
      </p:sp>
      <p:sp>
        <p:nvSpPr>
          <p:cNvPr id="21" name="">
            <a:extLst xmlns:a="http://schemas.openxmlformats.org/drawingml/2006/main">
              <a:ext uri="{FF2B5EF4-FFF2-40B4-BE49-F238E27FC236}">
                <a16:creationId xmlns:a16="http://schemas.microsoft.com/office/drawing/2014/main" id="{4D1FE740-07BD-4F31-A429-7736ACDC3572}"/>
              </a:ext>
            </a:extLst>
          </p:cNvPr>
          <p:cNvSpPr>
            <a:spLocks xmlns:a="http://schemas.openxmlformats.org/drawingml/2006/main" noGrp="1"/>
          </p:cNvSpPr>
          <p:nvPr/>
        </p:nvSpPr>
        <p:spPr>
          <a:xfrm xmlns:a="http://schemas.openxmlformats.org/drawingml/2006/main">
            <a:off x="6267450" y="338137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a:solidFill>
                  <a:srgbClr val="607286"/>
                </a:solidFill>
                <a:latin typeface="Arial"/>
                <a:ea typeface="Arial"/>
                <a:cs typeface="Arial"/>
              </a:defRPr>
            </a:defPPr>
            <a:lvl1pPr algn="ctr">
              <a:defRPr sz="1350">
                <a:solidFill>
                  <a:srgbClr val="607286"/>
                </a:solidFill>
                <a:latin typeface="Arial"/>
                <a:ea typeface="Arial"/>
                <a:cs typeface="Arial"/>
              </a:defRPr>
            </a:lvl1pPr>
            <a:lvl2pPr algn="ctr">
              <a:defRPr sz="1350">
                <a:solidFill>
                  <a:srgbClr val="607286"/>
                </a:solidFill>
                <a:latin typeface="Arial"/>
                <a:ea typeface="Arial"/>
                <a:cs typeface="Arial"/>
              </a:defRPr>
            </a:lvl2pPr>
            <a:lvl3pPr algn="ctr">
              <a:defRPr sz="1350">
                <a:solidFill>
                  <a:srgbClr val="607286"/>
                </a:solidFill>
                <a:latin typeface="Arial"/>
                <a:ea typeface="Arial"/>
                <a:cs typeface="Arial"/>
              </a:defRPr>
            </a:lvl3pPr>
            <a:lvl4pPr algn="ctr">
              <a:defRPr sz="1350">
                <a:solidFill>
                  <a:srgbClr val="607286"/>
                </a:solidFill>
                <a:latin typeface="Arial"/>
                <a:ea typeface="Arial"/>
                <a:cs typeface="Arial"/>
              </a:defRPr>
            </a:lvl4pPr>
            <a:lvl5pPr algn="ctr">
              <a:defRPr sz="1350">
                <a:solidFill>
                  <a:srgbClr val="607286"/>
                </a:solidFill>
                <a:latin typeface="Arial"/>
                <a:ea typeface="Arial"/>
                <a:cs typeface="Arial"/>
              </a:defRPr>
            </a:lvl5pPr>
            <a:lvl6pPr algn="ctr">
              <a:defRPr sz="1350">
                <a:solidFill>
                  <a:srgbClr val="607286"/>
                </a:solidFill>
                <a:latin typeface="Arial"/>
                <a:ea typeface="Arial"/>
                <a:cs typeface="Arial"/>
              </a:defRPr>
            </a:lvl6pPr>
            <a:lvl7pPr algn="ctr">
              <a:defRPr sz="1350">
                <a:solidFill>
                  <a:srgbClr val="607286"/>
                </a:solidFill>
                <a:latin typeface="Arial"/>
                <a:ea typeface="Arial"/>
                <a:cs typeface="Arial"/>
              </a:defRPr>
            </a:lvl7pPr>
            <a:lvl8pPr algn="ctr">
              <a:defRPr sz="1350">
                <a:solidFill>
                  <a:srgbClr val="607286"/>
                </a:solidFill>
                <a:latin typeface="Arial"/>
                <a:ea typeface="Arial"/>
                <a:cs typeface="Arial"/>
              </a:defRPr>
            </a:lvl8pPr>
            <a:lvl9pPr algn="ctr">
              <a:defRPr sz="1350">
                <a:solidFill>
                  <a:srgbClr val="607286"/>
                </a:solidFill>
                <a:latin typeface="Arial"/>
                <a:ea typeface="Arial"/>
                <a:cs typeface="Arial"/>
              </a:defRPr>
            </a:lvl9pPr>
          </a:lstStyle>
          <a:p xmlns:a="http://schemas.openxmlformats.org/drawingml/2006/main">
            <a:pPr algn="ctr">
              <a:defRPr sz="1350">
                <a:solidFill>
                  <a:srgbClr val="607286"/>
                </a:solidFill>
                <a:latin typeface="Arial"/>
                <a:ea typeface="Arial"/>
                <a:cs typeface="Arial"/>
              </a:defRPr>
            </a:pPr>
            <a:r>
              <a:rPr sz="1350">
                <a:solidFill>
                  <a:srgbClr val="607286"/>
                </a:solidFill>
                <a:latin typeface="Arial"/>
                <a:ea typeface="Arial"/>
                <a:cs typeface="Arial"/>
              </a:rPr>
              <a:t>Verilator</a:t>
            </a:r>
          </a:p>
        </p:txBody>
      </p:sp>
      <p:sp>
        <p:nvSpPr>
          <p:cNvPr id="22" name="">
            <a:extLst xmlns:a="http://schemas.openxmlformats.org/drawingml/2006/main">
              <a:ext uri="{FF2B5EF4-FFF2-40B4-BE49-F238E27FC236}">
                <a16:creationId xmlns:a16="http://schemas.microsoft.com/office/drawing/2014/main" id="{A88D7CC2-634C-4FB3-97CD-5298B2987476}"/>
              </a:ext>
            </a:extLst>
          </p:cNvPr>
          <p:cNvSpPr>
            <a:spLocks xmlns:a="http://schemas.openxmlformats.org/drawingml/2006/main" noGrp="1"/>
          </p:cNvSpPr>
          <p:nvPr/>
        </p:nvSpPr>
        <p:spPr>
          <a:xfrm xmlns:a="http://schemas.openxmlformats.org/drawingml/2006/main">
            <a:off x="9058275" y="338137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350">
                <a:solidFill>
                  <a:srgbClr val="607286"/>
                </a:solidFill>
                <a:latin typeface="Arial"/>
                <a:ea typeface="Arial"/>
                <a:cs typeface="Arial"/>
              </a:defRPr>
            </a:defPPr>
            <a:lvl1pPr algn="ctr">
              <a:defRPr sz="1350">
                <a:solidFill>
                  <a:srgbClr val="607286"/>
                </a:solidFill>
                <a:latin typeface="Arial"/>
                <a:ea typeface="Arial"/>
                <a:cs typeface="Arial"/>
              </a:defRPr>
            </a:lvl1pPr>
            <a:lvl2pPr algn="ctr">
              <a:defRPr sz="1350">
                <a:solidFill>
                  <a:srgbClr val="607286"/>
                </a:solidFill>
                <a:latin typeface="Arial"/>
                <a:ea typeface="Arial"/>
                <a:cs typeface="Arial"/>
              </a:defRPr>
            </a:lvl2pPr>
            <a:lvl3pPr algn="ctr">
              <a:defRPr sz="1350">
                <a:solidFill>
                  <a:srgbClr val="607286"/>
                </a:solidFill>
                <a:latin typeface="Arial"/>
                <a:ea typeface="Arial"/>
                <a:cs typeface="Arial"/>
              </a:defRPr>
            </a:lvl3pPr>
            <a:lvl4pPr algn="ctr">
              <a:defRPr sz="1350">
                <a:solidFill>
                  <a:srgbClr val="607286"/>
                </a:solidFill>
                <a:latin typeface="Arial"/>
                <a:ea typeface="Arial"/>
                <a:cs typeface="Arial"/>
              </a:defRPr>
            </a:lvl4pPr>
            <a:lvl5pPr algn="ctr">
              <a:defRPr sz="1350">
                <a:solidFill>
                  <a:srgbClr val="607286"/>
                </a:solidFill>
                <a:latin typeface="Arial"/>
                <a:ea typeface="Arial"/>
                <a:cs typeface="Arial"/>
              </a:defRPr>
            </a:lvl5pPr>
            <a:lvl6pPr algn="ctr">
              <a:defRPr sz="1350">
                <a:solidFill>
                  <a:srgbClr val="607286"/>
                </a:solidFill>
                <a:latin typeface="Arial"/>
                <a:ea typeface="Arial"/>
                <a:cs typeface="Arial"/>
              </a:defRPr>
            </a:lvl6pPr>
            <a:lvl7pPr algn="ctr">
              <a:defRPr sz="1350">
                <a:solidFill>
                  <a:srgbClr val="607286"/>
                </a:solidFill>
                <a:latin typeface="Arial"/>
                <a:ea typeface="Arial"/>
                <a:cs typeface="Arial"/>
              </a:defRPr>
            </a:lvl7pPr>
            <a:lvl8pPr algn="ctr">
              <a:defRPr sz="1350">
                <a:solidFill>
                  <a:srgbClr val="607286"/>
                </a:solidFill>
                <a:latin typeface="Arial"/>
                <a:ea typeface="Arial"/>
                <a:cs typeface="Arial"/>
              </a:defRPr>
            </a:lvl8pPr>
            <a:lvl9pPr algn="ctr">
              <a:defRPr sz="1350">
                <a:solidFill>
                  <a:srgbClr val="607286"/>
                </a:solidFill>
                <a:latin typeface="Arial"/>
                <a:ea typeface="Arial"/>
                <a:cs typeface="Arial"/>
              </a:defRPr>
            </a:lvl9pPr>
          </a:lstStyle>
          <a:p xmlns:a="http://schemas.openxmlformats.org/drawingml/2006/main">
            <a:pPr algn="ctr">
              <a:defRPr sz="1350">
                <a:solidFill>
                  <a:srgbClr val="607286"/>
                </a:solidFill>
                <a:latin typeface="Arial"/>
                <a:ea typeface="Arial"/>
                <a:cs typeface="Arial"/>
              </a:defRPr>
            </a:pPr>
            <a:r>
              <a:rPr sz="1350">
                <a:solidFill>
                  <a:srgbClr val="607286"/>
                </a:solidFill>
                <a:latin typeface="Arial"/>
                <a:ea typeface="Arial"/>
                <a:cs typeface="Arial"/>
              </a:rPr>
              <a:t>Yosys + nextpnr</a:t>
            </a:r>
          </a:p>
        </p:txBody>
      </p:sp>
      <p:sp>
        <p:nvSpPr>
          <p:cNvPr id="23" name="">
            <a:extLst xmlns:a="http://schemas.openxmlformats.org/drawingml/2006/main">
              <a:ext uri="{FF2B5EF4-FFF2-40B4-BE49-F238E27FC236}">
                <a16:creationId xmlns:a16="http://schemas.microsoft.com/office/drawing/2014/main" id="{6FD7E6D3-8D13-4660-AC5A-5378837E6BED}"/>
              </a:ext>
            </a:extLst>
          </p:cNvPr>
          <p:cNvSpPr>
            <a:spLocks xmlns:a="http://schemas.openxmlformats.org/drawingml/2006/main" noGrp="1"/>
          </p:cNvSpPr>
          <p:nvPr/>
        </p:nvSpPr>
        <p:spPr>
          <a:xfrm xmlns:a="http://schemas.openxmlformats.org/drawingml/2006/main">
            <a:off x="685800" y="3819525"/>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7324D"/>
                </a:solidFill>
                <a:latin typeface="Arial"/>
                <a:ea typeface="Arial"/>
                <a:cs typeface="Arial"/>
              </a:defRPr>
            </a:defPPr>
            <a:lvl1pPr>
              <a:defRPr sz="2250" b="1">
                <a:solidFill>
                  <a:srgbClr val="17324D"/>
                </a:solidFill>
                <a:latin typeface="Arial"/>
                <a:ea typeface="Arial"/>
                <a:cs typeface="Arial"/>
              </a:defRPr>
            </a:lvl1pPr>
            <a:lvl2pPr>
              <a:defRPr sz="2250" b="1">
                <a:solidFill>
                  <a:srgbClr val="17324D"/>
                </a:solidFill>
                <a:latin typeface="Arial"/>
                <a:ea typeface="Arial"/>
                <a:cs typeface="Arial"/>
              </a:defRPr>
            </a:lvl2pPr>
            <a:lvl3pPr>
              <a:defRPr sz="2250" b="1">
                <a:solidFill>
                  <a:srgbClr val="17324D"/>
                </a:solidFill>
                <a:latin typeface="Arial"/>
                <a:ea typeface="Arial"/>
                <a:cs typeface="Arial"/>
              </a:defRPr>
            </a:lvl3pPr>
            <a:lvl4pPr>
              <a:defRPr sz="2250" b="1">
                <a:solidFill>
                  <a:srgbClr val="17324D"/>
                </a:solidFill>
                <a:latin typeface="Arial"/>
                <a:ea typeface="Arial"/>
                <a:cs typeface="Arial"/>
              </a:defRPr>
            </a:lvl4pPr>
            <a:lvl5pPr>
              <a:defRPr sz="2250" b="1">
                <a:solidFill>
                  <a:srgbClr val="17324D"/>
                </a:solidFill>
                <a:latin typeface="Arial"/>
                <a:ea typeface="Arial"/>
                <a:cs typeface="Arial"/>
              </a:defRPr>
            </a:lvl5pPr>
            <a:lvl6pPr>
              <a:defRPr sz="2250" b="1">
                <a:solidFill>
                  <a:srgbClr val="17324D"/>
                </a:solidFill>
                <a:latin typeface="Arial"/>
                <a:ea typeface="Arial"/>
                <a:cs typeface="Arial"/>
              </a:defRPr>
            </a:lvl6pPr>
            <a:lvl7pPr>
              <a:defRPr sz="2250" b="1">
                <a:solidFill>
                  <a:srgbClr val="17324D"/>
                </a:solidFill>
                <a:latin typeface="Arial"/>
                <a:ea typeface="Arial"/>
                <a:cs typeface="Arial"/>
              </a:defRPr>
            </a:lvl7pPr>
            <a:lvl8pPr>
              <a:defRPr sz="2250" b="1">
                <a:solidFill>
                  <a:srgbClr val="17324D"/>
                </a:solidFill>
                <a:latin typeface="Arial"/>
                <a:ea typeface="Arial"/>
                <a:cs typeface="Arial"/>
              </a:defRPr>
            </a:lvl8pPr>
            <a:lvl9pPr>
              <a:defRPr sz="2250" b="1">
                <a:solidFill>
                  <a:srgbClr val="17324D"/>
                </a:solidFill>
                <a:latin typeface="Arial"/>
                <a:ea typeface="Arial"/>
                <a:cs typeface="Arial"/>
              </a:defRPr>
            </a:lvl9pPr>
          </a:lstStyle>
          <a:p xmlns:a="http://schemas.openxmlformats.org/drawingml/2006/main">
            <a:pPr>
              <a:defRPr sz="2250" b="1">
                <a:solidFill>
                  <a:srgbClr val="17324D"/>
                </a:solidFill>
                <a:latin typeface="Arial"/>
                <a:ea typeface="Arial"/>
                <a:cs typeface="Arial"/>
              </a:defRPr>
            </a:pPr>
            <a:r>
              <a:rPr sz="2250" b="1">
                <a:solidFill>
                  <a:srgbClr val="17324D"/>
                </a:solidFill>
                <a:latin typeface="Arial"/>
                <a:ea typeface="Arial"/>
                <a:cs typeface="Arial"/>
              </a:rPr>
              <a:t>CRC32 reference: 32.39M cycles → 30.82M cycles = 1.051×</a:t>
            </a:r>
          </a:p>
        </p:txBody>
      </p:sp>
      <p:sp>
        <p:nvSpPr>
          <p:cNvPr id="24" name="">
            <a:extLst xmlns:a="http://schemas.openxmlformats.org/drawingml/2006/main">
              <a:ext uri="{FF2B5EF4-FFF2-40B4-BE49-F238E27FC236}">
                <a16:creationId xmlns:a16="http://schemas.microsoft.com/office/drawing/2014/main" id="{2E5D38BC-04CF-466C-AF4E-9D56666E97B5}"/>
              </a:ext>
            </a:extLst>
          </p:cNvPr>
          <p:cNvSpPr>
            <a:spLocks xmlns:a="http://schemas.openxmlformats.org/drawingml/2006/main" noGrp="1"/>
          </p:cNvSpPr>
          <p:nvPr/>
        </p:nvSpPr>
        <p:spPr>
          <a:xfrm xmlns:a="http://schemas.openxmlformats.org/drawingml/2006/main">
            <a:off x="685800" y="4762500"/>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8856B"/>
                </a:solidFill>
                <a:latin typeface="Arial"/>
                <a:ea typeface="Arial"/>
                <a:cs typeface="Arial"/>
              </a:defRPr>
            </a:defPPr>
            <a:lvl1pPr>
              <a:defRPr sz="2175" b="1">
                <a:solidFill>
                  <a:srgbClr val="18856B"/>
                </a:solidFill>
                <a:latin typeface="Arial"/>
                <a:ea typeface="Arial"/>
                <a:cs typeface="Arial"/>
              </a:defRPr>
            </a:lvl1pPr>
            <a:lvl2pPr>
              <a:defRPr sz="2175" b="1">
                <a:solidFill>
                  <a:srgbClr val="18856B"/>
                </a:solidFill>
                <a:latin typeface="Arial"/>
                <a:ea typeface="Arial"/>
                <a:cs typeface="Arial"/>
              </a:defRPr>
            </a:lvl2pPr>
            <a:lvl3pPr>
              <a:defRPr sz="2175" b="1">
                <a:solidFill>
                  <a:srgbClr val="18856B"/>
                </a:solidFill>
                <a:latin typeface="Arial"/>
                <a:ea typeface="Arial"/>
                <a:cs typeface="Arial"/>
              </a:defRPr>
            </a:lvl3pPr>
            <a:lvl4pPr>
              <a:defRPr sz="2175" b="1">
                <a:solidFill>
                  <a:srgbClr val="18856B"/>
                </a:solidFill>
                <a:latin typeface="Arial"/>
                <a:ea typeface="Arial"/>
                <a:cs typeface="Arial"/>
              </a:defRPr>
            </a:lvl4pPr>
            <a:lvl5pPr>
              <a:defRPr sz="2175" b="1">
                <a:solidFill>
                  <a:srgbClr val="18856B"/>
                </a:solidFill>
                <a:latin typeface="Arial"/>
                <a:ea typeface="Arial"/>
                <a:cs typeface="Arial"/>
              </a:defRPr>
            </a:lvl5pPr>
            <a:lvl6pPr>
              <a:defRPr sz="2175" b="1">
                <a:solidFill>
                  <a:srgbClr val="18856B"/>
                </a:solidFill>
                <a:latin typeface="Arial"/>
                <a:ea typeface="Arial"/>
                <a:cs typeface="Arial"/>
              </a:defRPr>
            </a:lvl6pPr>
            <a:lvl7pPr>
              <a:defRPr sz="2175" b="1">
                <a:solidFill>
                  <a:srgbClr val="18856B"/>
                </a:solidFill>
                <a:latin typeface="Arial"/>
                <a:ea typeface="Arial"/>
                <a:cs typeface="Arial"/>
              </a:defRPr>
            </a:lvl7pPr>
            <a:lvl8pPr>
              <a:defRPr sz="2175" b="1">
                <a:solidFill>
                  <a:srgbClr val="18856B"/>
                </a:solidFill>
                <a:latin typeface="Arial"/>
                <a:ea typeface="Arial"/>
                <a:cs typeface="Arial"/>
              </a:defRPr>
            </a:lvl8pPr>
            <a:lvl9pPr>
              <a:defRPr sz="2175" b="1">
                <a:solidFill>
                  <a:srgbClr val="18856B"/>
                </a:solidFill>
                <a:latin typeface="Arial"/>
                <a:ea typeface="Arial"/>
                <a:cs typeface="Arial"/>
              </a:defRPr>
            </a:lvl9pPr>
          </a:lstStyle>
          <a:p xmlns:a="http://schemas.openxmlformats.org/drawingml/2006/main">
            <a:pPr>
              <a:defRPr sz="2175" b="1">
                <a:solidFill>
                  <a:srgbClr val="18856B"/>
                </a:solidFill>
                <a:latin typeface="Arial"/>
                <a:ea typeface="Arial"/>
                <a:cs typeface="Arial"/>
              </a:defRPr>
            </a:pPr>
            <a:r>
              <a:rPr sz="2175" b="1">
                <a:solidFill>
                  <a:srgbClr val="18856B"/>
                </a:solidFill>
                <a:latin typeface="Arial"/>
                <a:ea typeface="Arial"/>
                <a:cs typeface="Arial"/>
              </a:rPr>
              <a:t>Unmodified program/core → compare cycles → verify area and timing</a:t>
            </a:r>
          </a:p>
        </p:txBody>
      </p:sp>
      <p:sp>
        <p:nvSpPr>
          <p:cNvPr id="25" name="">
            <a:extLst xmlns:a="http://schemas.openxmlformats.org/drawingml/2006/main">
              <a:ext uri="{FF2B5EF4-FFF2-40B4-BE49-F238E27FC236}">
                <a16:creationId xmlns:a16="http://schemas.microsoft.com/office/drawing/2014/main" id="{98318B96-8611-4B20-AE9E-4DF387E6E98F}"/>
              </a:ext>
            </a:extLst>
          </p:cNvPr>
          <p:cNvSpPr>
            <a:spLocks xmlns:a="http://schemas.openxmlformats.org/drawingml/2006/main" noGrp="1"/>
          </p:cNvSpPr>
          <p:nvPr/>
        </p:nvSpPr>
        <p:spPr>
          <a:xfrm xmlns:a="http://schemas.openxmlformats.org/drawingml/2006/main">
            <a:off x="685800" y="5553075"/>
            <a:ext cx="10820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607286"/>
                </a:solidFill>
                <a:latin typeface="Arial"/>
                <a:ea typeface="Arial"/>
                <a:cs typeface="Arial"/>
              </a:defRPr>
            </a:defPPr>
            <a:lvl1pPr>
              <a:defRPr sz="1725" b="0">
                <a:solidFill>
                  <a:srgbClr val="607286"/>
                </a:solidFill>
                <a:latin typeface="Arial"/>
                <a:ea typeface="Arial"/>
                <a:cs typeface="Arial"/>
              </a:defRPr>
            </a:lvl1pPr>
            <a:lvl2pPr>
              <a:defRPr sz="1725" b="0">
                <a:solidFill>
                  <a:srgbClr val="607286"/>
                </a:solidFill>
                <a:latin typeface="Arial"/>
                <a:ea typeface="Arial"/>
                <a:cs typeface="Arial"/>
              </a:defRPr>
            </a:lvl2pPr>
            <a:lvl3pPr>
              <a:defRPr sz="1725" b="0">
                <a:solidFill>
                  <a:srgbClr val="607286"/>
                </a:solidFill>
                <a:latin typeface="Arial"/>
                <a:ea typeface="Arial"/>
                <a:cs typeface="Arial"/>
              </a:defRPr>
            </a:lvl3pPr>
            <a:lvl4pPr>
              <a:defRPr sz="1725" b="0">
                <a:solidFill>
                  <a:srgbClr val="607286"/>
                </a:solidFill>
                <a:latin typeface="Arial"/>
                <a:ea typeface="Arial"/>
                <a:cs typeface="Arial"/>
              </a:defRPr>
            </a:lvl4pPr>
            <a:lvl5pPr>
              <a:defRPr sz="1725" b="0">
                <a:solidFill>
                  <a:srgbClr val="607286"/>
                </a:solidFill>
                <a:latin typeface="Arial"/>
                <a:ea typeface="Arial"/>
                <a:cs typeface="Arial"/>
              </a:defRPr>
            </a:lvl5pPr>
            <a:lvl6pPr>
              <a:defRPr sz="1725" b="0">
                <a:solidFill>
                  <a:srgbClr val="607286"/>
                </a:solidFill>
                <a:latin typeface="Arial"/>
                <a:ea typeface="Arial"/>
                <a:cs typeface="Arial"/>
              </a:defRPr>
            </a:lvl6pPr>
            <a:lvl7pPr>
              <a:defRPr sz="1725" b="0">
                <a:solidFill>
                  <a:srgbClr val="607286"/>
                </a:solidFill>
                <a:latin typeface="Arial"/>
                <a:ea typeface="Arial"/>
                <a:cs typeface="Arial"/>
              </a:defRPr>
            </a:lvl7pPr>
            <a:lvl8pPr>
              <a:defRPr sz="1725" b="0">
                <a:solidFill>
                  <a:srgbClr val="607286"/>
                </a:solidFill>
                <a:latin typeface="Arial"/>
                <a:ea typeface="Arial"/>
                <a:cs typeface="Arial"/>
              </a:defRPr>
            </a:lvl8pPr>
            <a:lvl9pPr>
              <a:defRPr sz="1725" b="0">
                <a:solidFill>
                  <a:srgbClr val="607286"/>
                </a:solidFill>
                <a:latin typeface="Arial"/>
                <a:ea typeface="Arial"/>
                <a:cs typeface="Arial"/>
              </a:defRPr>
            </a:lvl9pPr>
          </a:lstStyle>
          <a:p xmlns:a="http://schemas.openxmlformats.org/drawingml/2006/main">
            <a:pPr>
              <a:defRPr sz="1725" b="0">
                <a:solidFill>
                  <a:srgbClr val="607286"/>
                </a:solidFill>
                <a:latin typeface="Arial"/>
                <a:ea typeface="Arial"/>
                <a:cs typeface="Arial"/>
              </a:defRPr>
            </a:pPr>
            <a:r>
              <a:rPr sz="1725" b="0">
                <a:solidFill>
                  <a:srgbClr val="607286"/>
                </a:solidFill>
                <a:latin typeface="Arial"/>
                <a:ea typeface="Arial"/>
                <a:cs typeface="Arial"/>
              </a:rPr>
              <a:t>Restricted RV32 integer support • RTL simulation + FPGA synthesis/routing</a:t>
            </a:r>
          </a:p>
        </p:txBody>
      </p:sp>
    </p:spTree>
    <p:extLst>
      <p:ext uri="{BB962C8B-B14F-4D97-AF65-F5344CB8AC3E}">
        <p14:creationId xmlns:p14="http://schemas.microsoft.com/office/powerpoint/2010/main" val="8226813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27E1D44-52B2-4DD6-B323-96469FED7AC5}"/>
              </a:ext>
            </a:extLst>
          </p:cNvPr>
          <p:cNvSpPr>
            <a:spLocks xmlns:a="http://schemas.openxmlformats.org/drawingml/2006/main" noGrp="1"/>
          </p:cNvSpPr>
          <p:nvPr/>
        </p:nvSpPr>
        <p:spPr>
          <a:xfrm xmlns:a="http://schemas.openxmlformats.org/drawingml/2006/main">
            <a:off x="6477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7324D"/>
                </a:solidFill>
                <a:latin typeface="Arial"/>
                <a:ea typeface="Arial"/>
                <a:cs typeface="Arial"/>
              </a:defRPr>
            </a:defPPr>
            <a:lvl1pPr>
              <a:defRPr sz="3225" b="1">
                <a:solidFill>
                  <a:srgbClr val="17324D"/>
                </a:solidFill>
                <a:latin typeface="Arial"/>
                <a:ea typeface="Arial"/>
                <a:cs typeface="Arial"/>
              </a:defRPr>
            </a:lvl1pPr>
            <a:lvl2pPr>
              <a:defRPr sz="3225" b="1">
                <a:solidFill>
                  <a:srgbClr val="17324D"/>
                </a:solidFill>
                <a:latin typeface="Arial"/>
                <a:ea typeface="Arial"/>
                <a:cs typeface="Arial"/>
              </a:defRPr>
            </a:lvl2pPr>
            <a:lvl3pPr>
              <a:defRPr sz="3225" b="1">
                <a:solidFill>
                  <a:srgbClr val="17324D"/>
                </a:solidFill>
                <a:latin typeface="Arial"/>
                <a:ea typeface="Arial"/>
                <a:cs typeface="Arial"/>
              </a:defRPr>
            </a:lvl3pPr>
            <a:lvl4pPr>
              <a:defRPr sz="3225" b="1">
                <a:solidFill>
                  <a:srgbClr val="17324D"/>
                </a:solidFill>
                <a:latin typeface="Arial"/>
                <a:ea typeface="Arial"/>
                <a:cs typeface="Arial"/>
              </a:defRPr>
            </a:lvl4pPr>
            <a:lvl5pPr>
              <a:defRPr sz="3225" b="1">
                <a:solidFill>
                  <a:srgbClr val="17324D"/>
                </a:solidFill>
                <a:latin typeface="Arial"/>
                <a:ea typeface="Arial"/>
                <a:cs typeface="Arial"/>
              </a:defRPr>
            </a:lvl5pPr>
            <a:lvl6pPr>
              <a:defRPr sz="3225" b="1">
                <a:solidFill>
                  <a:srgbClr val="17324D"/>
                </a:solidFill>
                <a:latin typeface="Arial"/>
                <a:ea typeface="Arial"/>
                <a:cs typeface="Arial"/>
              </a:defRPr>
            </a:lvl6pPr>
            <a:lvl7pPr>
              <a:defRPr sz="3225" b="1">
                <a:solidFill>
                  <a:srgbClr val="17324D"/>
                </a:solidFill>
                <a:latin typeface="Arial"/>
                <a:ea typeface="Arial"/>
                <a:cs typeface="Arial"/>
              </a:defRPr>
            </a:lvl7pPr>
            <a:lvl8pPr>
              <a:defRPr sz="3225" b="1">
                <a:solidFill>
                  <a:srgbClr val="17324D"/>
                </a:solidFill>
                <a:latin typeface="Arial"/>
                <a:ea typeface="Arial"/>
                <a:cs typeface="Arial"/>
              </a:defRPr>
            </a:lvl8pPr>
            <a:lvl9pPr>
              <a:defRPr sz="3225" b="1">
                <a:solidFill>
                  <a:srgbClr val="17324D"/>
                </a:solidFill>
                <a:latin typeface="Arial"/>
                <a:ea typeface="Arial"/>
                <a:cs typeface="Arial"/>
              </a:defRPr>
            </a:lvl9pPr>
          </a:lstStyle>
          <a:p xmlns:a="http://schemas.openxmlformats.org/drawingml/2006/main">
            <a:pPr>
              <a:defRPr sz="3225" b="1">
                <a:solidFill>
                  <a:srgbClr val="17324D"/>
                </a:solidFill>
                <a:latin typeface="Arial"/>
                <a:ea typeface="Arial"/>
                <a:cs typeface="Arial"/>
              </a:defRPr>
            </a:pPr>
            <a:r>
              <a:rPr sz="3225" b="1">
                <a:solidFill>
                  <a:srgbClr val="17324D"/>
                </a:solidFill>
                <a:latin typeface="Arial"/>
                <a:ea typeface="Arial"/>
                <a:cs typeface="Arial"/>
              </a:rPr>
              <a:t>Dataset: measured programs, not synthetic labels</a:t>
            </a:r>
          </a:p>
        </p:txBody>
      </p:sp>
      <p:sp>
        <p:nvSpPr>
          <p:cNvPr id="2" name="">
            <a:extLst xmlns:a="http://schemas.openxmlformats.org/drawingml/2006/main">
              <a:ext uri="{FF2B5EF4-FFF2-40B4-BE49-F238E27FC236}">
                <a16:creationId xmlns:a16="http://schemas.microsoft.com/office/drawing/2014/main" id="{C25FBDE0-CAED-4B13-8CA4-EFA74F3105C8}"/>
              </a:ext>
            </a:extLst>
          </p:cNvPr>
          <p:cNvSpPr>
            <a:spLocks xmlns:a="http://schemas.openxmlformats.org/drawingml/2006/main" noGrp="1"/>
          </p:cNvSpPr>
          <p:nvPr/>
        </p:nvSpPr>
        <p:spPr>
          <a:xfrm xmlns:a="http://schemas.openxmlformats.org/drawingml/2006/main">
            <a:off x="647700" y="1066800"/>
            <a:ext cx="10896600" cy="0"/>
          </a:xfrm>
          <a:prstGeom xmlns:a="http://schemas.openxmlformats.org/drawingml/2006/main" prst="line">
            <a:avLst/>
          </a:prstGeom>
          <a:noFill xmlns:a="http://schemas.openxmlformats.org/drawingml/2006/main"/>
          <a:ln xmlns:a="http://schemas.openxmlformats.org/drawingml/2006/main" w="9525">
            <a:solidFill>
              <a:srgbClr val="D9E1E8"/>
            </a:solidFill>
            <a:prstDash val="solid"/>
          </a:ln>
        </p:spPr>
      </p:sp>
      <p:sp>
        <p:nvSpPr>
          <p:cNvPr id="3" name="">
            <a:extLst xmlns:a="http://schemas.openxmlformats.org/drawingml/2006/main">
              <a:ext uri="{FF2B5EF4-FFF2-40B4-BE49-F238E27FC236}">
                <a16:creationId xmlns:a16="http://schemas.microsoft.com/office/drawing/2014/main" id="{C4F2A122-EA6C-493A-B3D2-04A04FB5B013}"/>
              </a:ext>
            </a:extLst>
          </p:cNvPr>
          <p:cNvSpPr>
            <a:spLocks xmlns:a="http://schemas.openxmlformats.org/drawingml/2006/main" noGrp="1"/>
          </p:cNvSpPr>
          <p:nvPr/>
        </p:nvSpPr>
        <p:spPr>
          <a:xfrm xmlns:a="http://schemas.openxmlformats.org/drawingml/2006/main">
            <a:off x="647700" y="6534150"/>
            <a:ext cx="10896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607286"/>
                </a:solidFill>
                <a:latin typeface="Arial"/>
                <a:ea typeface="Arial"/>
                <a:cs typeface="Arial"/>
              </a:defRPr>
            </a:defPPr>
            <a:lvl1pPr>
              <a:defRPr sz="900">
                <a:solidFill>
                  <a:srgbClr val="607286"/>
                </a:solidFill>
                <a:latin typeface="Arial"/>
                <a:ea typeface="Arial"/>
                <a:cs typeface="Arial"/>
              </a:defRPr>
            </a:lvl1pPr>
            <a:lvl2pPr>
              <a:defRPr sz="900">
                <a:solidFill>
                  <a:srgbClr val="607286"/>
                </a:solidFill>
                <a:latin typeface="Arial"/>
                <a:ea typeface="Arial"/>
                <a:cs typeface="Arial"/>
              </a:defRPr>
            </a:lvl2pPr>
            <a:lvl3pPr>
              <a:defRPr sz="900">
                <a:solidFill>
                  <a:srgbClr val="607286"/>
                </a:solidFill>
                <a:latin typeface="Arial"/>
                <a:ea typeface="Arial"/>
                <a:cs typeface="Arial"/>
              </a:defRPr>
            </a:lvl3pPr>
            <a:lvl4pPr>
              <a:defRPr sz="900">
                <a:solidFill>
                  <a:srgbClr val="607286"/>
                </a:solidFill>
                <a:latin typeface="Arial"/>
                <a:ea typeface="Arial"/>
                <a:cs typeface="Arial"/>
              </a:defRPr>
            </a:lvl4pPr>
            <a:lvl5pPr>
              <a:defRPr sz="900">
                <a:solidFill>
                  <a:srgbClr val="607286"/>
                </a:solidFill>
                <a:latin typeface="Arial"/>
                <a:ea typeface="Arial"/>
                <a:cs typeface="Arial"/>
              </a:defRPr>
            </a:lvl5pPr>
            <a:lvl6pPr>
              <a:defRPr sz="900">
                <a:solidFill>
                  <a:srgbClr val="607286"/>
                </a:solidFill>
                <a:latin typeface="Arial"/>
                <a:ea typeface="Arial"/>
                <a:cs typeface="Arial"/>
              </a:defRPr>
            </a:lvl6pPr>
            <a:lvl7pPr>
              <a:defRPr sz="900">
                <a:solidFill>
                  <a:srgbClr val="607286"/>
                </a:solidFill>
                <a:latin typeface="Arial"/>
                <a:ea typeface="Arial"/>
                <a:cs typeface="Arial"/>
              </a:defRPr>
            </a:lvl7pPr>
            <a:lvl8pPr>
              <a:defRPr sz="900">
                <a:solidFill>
                  <a:srgbClr val="607286"/>
                </a:solidFill>
                <a:latin typeface="Arial"/>
                <a:ea typeface="Arial"/>
                <a:cs typeface="Arial"/>
              </a:defRPr>
            </a:lvl8pPr>
            <a:lvl9pPr>
              <a:defRPr sz="900">
                <a:solidFill>
                  <a:srgbClr val="607286"/>
                </a:solidFill>
                <a:latin typeface="Arial"/>
                <a:ea typeface="Arial"/>
                <a:cs typeface="Arial"/>
              </a:defRPr>
            </a:lvl9pPr>
          </a:lstStyle>
          <a:p xmlns:a="http://schemas.openxmlformats.org/drawingml/2006/main">
            <a:pPr>
              <a:defRPr sz="900">
                <a:solidFill>
                  <a:srgbClr val="607286"/>
                </a:solidFill>
                <a:latin typeface="Arial"/>
                <a:ea typeface="Arial"/>
                <a:cs typeface="Arial"/>
              </a:defRPr>
            </a:pPr>
            <a:r>
              <a:rPr sz="900">
                <a:solidFill>
                  <a:srgbClr val="607286"/>
                </a:solidFill>
                <a:latin typeface="Arial"/>
                <a:ea typeface="Arial"/>
                <a:cs typeface="Arial"/>
              </a:rPr>
              <a:t>ISAForge  /  ECE 4803                                    5</a:t>
            </a:r>
          </a:p>
        </p:txBody>
      </p:sp>
      <p:graphicFrame>
        <p:nvGraphicFramePr>
          <p:cNvPr id="4" name="Chart">
            <a:extLst xmlns:a="http://schemas.openxmlformats.org/drawingml/2006/main">
              <a:ext uri="{FF2B5EF4-FFF2-40B4-BE49-F238E27FC236}">
                <a16:creationId xmlns:a16="http://schemas.microsoft.com/office/drawing/2014/main" id="{7F80B7D5-A039-4FF2-BCA3-D9F0400A34EE}"/>
              </a:ext>
            </a:extLst>
          </p:cNvPr>
          <p:cNvGraphicFramePr/>
          <p:nvPr/>
        </p:nvGraphicFramePr>
        <p:xfrm>
          <a:off xmlns:a="http://schemas.openxmlformats.org/drawingml/2006/main" x="523875" y="1647825"/>
          <a:ext xmlns:a="http://schemas.openxmlformats.org/drawingml/2006/main" cx="6477000" cy="3714750"/>
        </p:xfrm>
        <a:graphic xmlns:a="http://schemas.openxmlformats.org/drawingml/2006/main">
          <a:graphicData uri="http://schemas.openxmlformats.org/drawingml/2006/chart">
            <c:chart xmlns:r="http://schemas.openxmlformats.org/officeDocument/2006/relationships" xmlns:c="http://schemas.openxmlformats.org/drawingml/2006/chart" r:id="Rea2270456c4643af"/>
          </a:graphicData>
        </a:graphic>
      </p:graphicFrame>
      <p:sp>
        <p:nvSpPr>
          <p:cNvPr id="5" name="">
            <a:extLst xmlns:a="http://schemas.openxmlformats.org/drawingml/2006/main">
              <a:ext uri="{FF2B5EF4-FFF2-40B4-BE49-F238E27FC236}">
                <a16:creationId xmlns:a16="http://schemas.microsoft.com/office/drawing/2014/main" id="{8B48AC75-7E67-460B-8B01-11D9812A29A5}"/>
              </a:ext>
            </a:extLst>
          </p:cNvPr>
          <p:cNvSpPr>
            <a:spLocks xmlns:a="http://schemas.openxmlformats.org/drawingml/2006/main" noGrp="1"/>
          </p:cNvSpPr>
          <p:nvPr/>
        </p:nvSpPr>
        <p:spPr>
          <a:xfrm xmlns:a="http://schemas.openxmlformats.org/drawingml/2006/main">
            <a:off x="7524750" y="1695450"/>
            <a:ext cx="4000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7324D"/>
                </a:solidFill>
                <a:latin typeface="Arial"/>
                <a:ea typeface="Arial"/>
                <a:cs typeface="Arial"/>
              </a:defRPr>
            </a:defPPr>
            <a:lvl1pPr>
              <a:defRPr sz="2550" b="1">
                <a:solidFill>
                  <a:srgbClr val="17324D"/>
                </a:solidFill>
                <a:latin typeface="Arial"/>
                <a:ea typeface="Arial"/>
                <a:cs typeface="Arial"/>
              </a:defRPr>
            </a:lvl1pPr>
            <a:lvl2pPr>
              <a:defRPr sz="2550" b="1">
                <a:solidFill>
                  <a:srgbClr val="17324D"/>
                </a:solidFill>
                <a:latin typeface="Arial"/>
                <a:ea typeface="Arial"/>
                <a:cs typeface="Arial"/>
              </a:defRPr>
            </a:lvl2pPr>
            <a:lvl3pPr>
              <a:defRPr sz="2550" b="1">
                <a:solidFill>
                  <a:srgbClr val="17324D"/>
                </a:solidFill>
                <a:latin typeface="Arial"/>
                <a:ea typeface="Arial"/>
                <a:cs typeface="Arial"/>
              </a:defRPr>
            </a:lvl3pPr>
            <a:lvl4pPr>
              <a:defRPr sz="2550" b="1">
                <a:solidFill>
                  <a:srgbClr val="17324D"/>
                </a:solidFill>
                <a:latin typeface="Arial"/>
                <a:ea typeface="Arial"/>
                <a:cs typeface="Arial"/>
              </a:defRPr>
            </a:lvl4pPr>
            <a:lvl5pPr>
              <a:defRPr sz="2550" b="1">
                <a:solidFill>
                  <a:srgbClr val="17324D"/>
                </a:solidFill>
                <a:latin typeface="Arial"/>
                <a:ea typeface="Arial"/>
                <a:cs typeface="Arial"/>
              </a:defRPr>
            </a:lvl5pPr>
            <a:lvl6pPr>
              <a:defRPr sz="2550" b="1">
                <a:solidFill>
                  <a:srgbClr val="17324D"/>
                </a:solidFill>
                <a:latin typeface="Arial"/>
                <a:ea typeface="Arial"/>
                <a:cs typeface="Arial"/>
              </a:defRPr>
            </a:lvl6pPr>
            <a:lvl7pPr>
              <a:defRPr sz="2550" b="1">
                <a:solidFill>
                  <a:srgbClr val="17324D"/>
                </a:solidFill>
                <a:latin typeface="Arial"/>
                <a:ea typeface="Arial"/>
                <a:cs typeface="Arial"/>
              </a:defRPr>
            </a:lvl7pPr>
            <a:lvl8pPr>
              <a:defRPr sz="2550" b="1">
                <a:solidFill>
                  <a:srgbClr val="17324D"/>
                </a:solidFill>
                <a:latin typeface="Arial"/>
                <a:ea typeface="Arial"/>
                <a:cs typeface="Arial"/>
              </a:defRPr>
            </a:lvl8pPr>
            <a:lvl9pPr>
              <a:defRPr sz="2550" b="1">
                <a:solidFill>
                  <a:srgbClr val="17324D"/>
                </a:solidFill>
                <a:latin typeface="Arial"/>
                <a:ea typeface="Arial"/>
                <a:cs typeface="Arial"/>
              </a:defRPr>
            </a:lvl9pPr>
          </a:lstStyle>
          <a:p xmlns:a="http://schemas.openxmlformats.org/drawingml/2006/main">
            <a:pPr>
              <a:defRPr sz="2550" b="1">
                <a:solidFill>
                  <a:srgbClr val="17324D"/>
                </a:solidFill>
                <a:latin typeface="Arial"/>
                <a:ea typeface="Arial"/>
                <a:cs typeface="Arial"/>
              </a:defRPr>
            </a:pPr>
            <a:r>
              <a:rPr sz="2550" b="1">
                <a:solidFill>
                  <a:srgbClr val="17324D"/>
                </a:solidFill>
                <a:latin typeface="Arial"/>
                <a:ea typeface="Arial"/>
                <a:cs typeface="Arial"/>
              </a:rPr>
              <a:t>122 successful labels</a:t>
            </a:r>
          </a:p>
        </p:txBody>
      </p:sp>
      <p:sp>
        <p:nvSpPr>
          <p:cNvPr id="6" name="">
            <a:extLst xmlns:a="http://schemas.openxmlformats.org/drawingml/2006/main">
              <a:ext uri="{FF2B5EF4-FFF2-40B4-BE49-F238E27FC236}">
                <a16:creationId xmlns:a16="http://schemas.microsoft.com/office/drawing/2014/main" id="{26805666-5702-4DCF-8E50-538EFD015313}"/>
              </a:ext>
            </a:extLst>
          </p:cNvPr>
          <p:cNvSpPr>
            <a:spLocks xmlns:a="http://schemas.openxmlformats.org/drawingml/2006/main" noGrp="1"/>
          </p:cNvSpPr>
          <p:nvPr/>
        </p:nvSpPr>
        <p:spPr>
          <a:xfrm xmlns:a="http://schemas.openxmlformats.org/drawingml/2006/main">
            <a:off x="7524750" y="2362200"/>
            <a:ext cx="400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263648"/>
                </a:solidFill>
                <a:latin typeface="Arial"/>
                <a:ea typeface="Arial"/>
                <a:cs typeface="Arial"/>
              </a:defRPr>
            </a:defPPr>
            <a:lvl1pPr>
              <a:defRPr sz="2025" b="0">
                <a:solidFill>
                  <a:srgbClr val="263648"/>
                </a:solidFill>
                <a:latin typeface="Arial"/>
                <a:ea typeface="Arial"/>
                <a:cs typeface="Arial"/>
              </a:defRPr>
            </a:lvl1pPr>
            <a:lvl2pPr>
              <a:defRPr sz="2025" b="0">
                <a:solidFill>
                  <a:srgbClr val="263648"/>
                </a:solidFill>
                <a:latin typeface="Arial"/>
                <a:ea typeface="Arial"/>
                <a:cs typeface="Arial"/>
              </a:defRPr>
            </a:lvl2pPr>
            <a:lvl3pPr>
              <a:defRPr sz="2025" b="0">
                <a:solidFill>
                  <a:srgbClr val="263648"/>
                </a:solidFill>
                <a:latin typeface="Arial"/>
                <a:ea typeface="Arial"/>
                <a:cs typeface="Arial"/>
              </a:defRPr>
            </a:lvl3pPr>
            <a:lvl4pPr>
              <a:defRPr sz="2025" b="0">
                <a:solidFill>
                  <a:srgbClr val="263648"/>
                </a:solidFill>
                <a:latin typeface="Arial"/>
                <a:ea typeface="Arial"/>
                <a:cs typeface="Arial"/>
              </a:defRPr>
            </a:lvl4pPr>
            <a:lvl5pPr>
              <a:defRPr sz="2025" b="0">
                <a:solidFill>
                  <a:srgbClr val="263648"/>
                </a:solidFill>
                <a:latin typeface="Arial"/>
                <a:ea typeface="Arial"/>
                <a:cs typeface="Arial"/>
              </a:defRPr>
            </a:lvl5pPr>
            <a:lvl6pPr>
              <a:defRPr sz="2025" b="0">
                <a:solidFill>
                  <a:srgbClr val="263648"/>
                </a:solidFill>
                <a:latin typeface="Arial"/>
                <a:ea typeface="Arial"/>
                <a:cs typeface="Arial"/>
              </a:defRPr>
            </a:lvl6pPr>
            <a:lvl7pPr>
              <a:defRPr sz="2025" b="0">
                <a:solidFill>
                  <a:srgbClr val="263648"/>
                </a:solidFill>
                <a:latin typeface="Arial"/>
                <a:ea typeface="Arial"/>
                <a:cs typeface="Arial"/>
              </a:defRPr>
            </a:lvl7pPr>
            <a:lvl8pPr>
              <a:defRPr sz="2025" b="0">
                <a:solidFill>
                  <a:srgbClr val="263648"/>
                </a:solidFill>
                <a:latin typeface="Arial"/>
                <a:ea typeface="Arial"/>
                <a:cs typeface="Arial"/>
              </a:defRPr>
            </a:lvl8pPr>
            <a:lvl9pPr>
              <a:defRPr sz="2025" b="0">
                <a:solidFill>
                  <a:srgbClr val="263648"/>
                </a:solidFill>
                <a:latin typeface="Arial"/>
                <a:ea typeface="Arial"/>
                <a:cs typeface="Arial"/>
              </a:defRPr>
            </a:lvl9pPr>
          </a:lstStyle>
          <a:p xmlns:a="http://schemas.openxmlformats.org/drawingml/2006/main">
            <a:pPr>
              <a:defRPr sz="2025" b="0">
                <a:solidFill>
                  <a:srgbClr val="263648"/>
                </a:solidFill>
                <a:latin typeface="Arial"/>
                <a:ea typeface="Arial"/>
                <a:cs typeface="Arial"/>
              </a:defRPr>
            </a:pPr>
            <a:r>
              <a:rPr sz="2025" b="0">
                <a:solidFill>
                  <a:srgbClr val="263648"/>
                </a:solidFill>
                <a:latin typeface="Arial"/>
                <a:ea typeface="Arial"/>
                <a:cs typeface="Arial"/>
              </a:rPr>
              <a:t>14 workload groups</a:t>
            </a:r>
          </a:p>
          <a:p xmlns:a="http://schemas.openxmlformats.org/drawingml/2006/main">
            <a:pPr>
              <a:defRPr sz="2025" b="0">
                <a:solidFill>
                  <a:srgbClr val="263648"/>
                </a:solidFill>
                <a:latin typeface="Arial"/>
                <a:ea typeface="Arial"/>
                <a:cs typeface="Arial"/>
              </a:defRPr>
            </a:pPr>
            <a:r>
              <a:rPr sz="2025" b="0">
                <a:solidFill>
                  <a:srgbClr val="263648"/>
                </a:solidFill>
                <a:latin typeface="Arial"/>
                <a:ea typeface="Arial"/>
                <a:cs typeface="Arial"/>
              </a:rPr>
              <a:t>15 build/input contexts</a:t>
            </a:r>
          </a:p>
        </p:txBody>
      </p:sp>
      <p:sp>
        <p:nvSpPr>
          <p:cNvPr id="7" name="">
            <a:extLst xmlns:a="http://schemas.openxmlformats.org/drawingml/2006/main">
              <a:ext uri="{FF2B5EF4-FFF2-40B4-BE49-F238E27FC236}">
                <a16:creationId xmlns:a16="http://schemas.microsoft.com/office/drawing/2014/main" id="{9B6548B0-EA86-4C6A-88DD-CB05CCE7C75C}"/>
              </a:ext>
            </a:extLst>
          </p:cNvPr>
          <p:cNvSpPr>
            <a:spLocks xmlns:a="http://schemas.openxmlformats.org/drawingml/2006/main" noGrp="1"/>
          </p:cNvSpPr>
          <p:nvPr/>
        </p:nvSpPr>
        <p:spPr>
          <a:xfrm xmlns:a="http://schemas.openxmlformats.org/drawingml/2006/main">
            <a:off x="7524750" y="3476625"/>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17324D"/>
                </a:solidFill>
                <a:latin typeface="Arial"/>
                <a:ea typeface="Arial"/>
                <a:cs typeface="Arial"/>
              </a:defRPr>
            </a:defPPr>
            <a:lvl1pPr>
              <a:defRPr sz="2175" b="1">
                <a:solidFill>
                  <a:srgbClr val="17324D"/>
                </a:solidFill>
                <a:latin typeface="Arial"/>
                <a:ea typeface="Arial"/>
                <a:cs typeface="Arial"/>
              </a:defRPr>
            </a:lvl1pPr>
            <a:lvl2pPr>
              <a:defRPr sz="2175" b="1">
                <a:solidFill>
                  <a:srgbClr val="17324D"/>
                </a:solidFill>
                <a:latin typeface="Arial"/>
                <a:ea typeface="Arial"/>
                <a:cs typeface="Arial"/>
              </a:defRPr>
            </a:lvl2pPr>
            <a:lvl3pPr>
              <a:defRPr sz="2175" b="1">
                <a:solidFill>
                  <a:srgbClr val="17324D"/>
                </a:solidFill>
                <a:latin typeface="Arial"/>
                <a:ea typeface="Arial"/>
                <a:cs typeface="Arial"/>
              </a:defRPr>
            </a:lvl3pPr>
            <a:lvl4pPr>
              <a:defRPr sz="2175" b="1">
                <a:solidFill>
                  <a:srgbClr val="17324D"/>
                </a:solidFill>
                <a:latin typeface="Arial"/>
                <a:ea typeface="Arial"/>
                <a:cs typeface="Arial"/>
              </a:defRPr>
            </a:lvl4pPr>
            <a:lvl5pPr>
              <a:defRPr sz="2175" b="1">
                <a:solidFill>
                  <a:srgbClr val="17324D"/>
                </a:solidFill>
                <a:latin typeface="Arial"/>
                <a:ea typeface="Arial"/>
                <a:cs typeface="Arial"/>
              </a:defRPr>
            </a:lvl5pPr>
            <a:lvl6pPr>
              <a:defRPr sz="2175" b="1">
                <a:solidFill>
                  <a:srgbClr val="17324D"/>
                </a:solidFill>
                <a:latin typeface="Arial"/>
                <a:ea typeface="Arial"/>
                <a:cs typeface="Arial"/>
              </a:defRPr>
            </a:lvl6pPr>
            <a:lvl7pPr>
              <a:defRPr sz="2175" b="1">
                <a:solidFill>
                  <a:srgbClr val="17324D"/>
                </a:solidFill>
                <a:latin typeface="Arial"/>
                <a:ea typeface="Arial"/>
                <a:cs typeface="Arial"/>
              </a:defRPr>
            </a:lvl7pPr>
            <a:lvl8pPr>
              <a:defRPr sz="2175" b="1">
                <a:solidFill>
                  <a:srgbClr val="17324D"/>
                </a:solidFill>
                <a:latin typeface="Arial"/>
                <a:ea typeface="Arial"/>
                <a:cs typeface="Arial"/>
              </a:defRPr>
            </a:lvl8pPr>
            <a:lvl9pPr>
              <a:defRPr sz="2175" b="1">
                <a:solidFill>
                  <a:srgbClr val="17324D"/>
                </a:solidFill>
                <a:latin typeface="Arial"/>
                <a:ea typeface="Arial"/>
                <a:cs typeface="Arial"/>
              </a:defRPr>
            </a:lvl9pPr>
          </a:lstStyle>
          <a:p xmlns:a="http://schemas.openxmlformats.org/drawingml/2006/main">
            <a:pPr>
              <a:defRPr sz="2175" b="1">
                <a:solidFill>
                  <a:srgbClr val="17324D"/>
                </a:solidFill>
                <a:latin typeface="Arial"/>
                <a:ea typeface="Arial"/>
                <a:cs typeface="Arial"/>
              </a:defRPr>
            </a:pPr>
            <a:r>
              <a:rPr sz="2175" b="1">
                <a:solidFill>
                  <a:srgbClr val="17324D"/>
                </a:solidFill>
                <a:latin typeface="Arial"/>
                <a:ea typeface="Arial"/>
                <a:cs typeface="Arial"/>
              </a:rPr>
              <a:t>4 failures retained</a:t>
            </a:r>
          </a:p>
        </p:txBody>
      </p:sp>
      <p:sp>
        <p:nvSpPr>
          <p:cNvPr id="8" name="">
            <a:extLst xmlns:a="http://schemas.openxmlformats.org/drawingml/2006/main">
              <a:ext uri="{FF2B5EF4-FFF2-40B4-BE49-F238E27FC236}">
                <a16:creationId xmlns:a16="http://schemas.microsoft.com/office/drawing/2014/main" id="{BD8800B9-4675-4A16-99B2-EBF2B10258CF}"/>
              </a:ext>
            </a:extLst>
          </p:cNvPr>
          <p:cNvSpPr>
            <a:spLocks xmlns:a="http://schemas.openxmlformats.org/drawingml/2006/main" noGrp="1"/>
          </p:cNvSpPr>
          <p:nvPr/>
        </p:nvSpPr>
        <p:spPr>
          <a:xfrm xmlns:a="http://schemas.openxmlformats.org/drawingml/2006/main">
            <a:off x="7524750" y="4095750"/>
            <a:ext cx="400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263648"/>
                </a:solidFill>
                <a:latin typeface="Arial"/>
                <a:ea typeface="Arial"/>
                <a:cs typeface="Arial"/>
              </a:defRPr>
            </a:defPPr>
            <a:lvl1pPr>
              <a:defRPr sz="1950" b="0">
                <a:solidFill>
                  <a:srgbClr val="263648"/>
                </a:solidFill>
                <a:latin typeface="Arial"/>
                <a:ea typeface="Arial"/>
                <a:cs typeface="Arial"/>
              </a:defRPr>
            </a:lvl1pPr>
            <a:lvl2pPr>
              <a:defRPr sz="1950" b="0">
                <a:solidFill>
                  <a:srgbClr val="263648"/>
                </a:solidFill>
                <a:latin typeface="Arial"/>
                <a:ea typeface="Arial"/>
                <a:cs typeface="Arial"/>
              </a:defRPr>
            </a:lvl2pPr>
            <a:lvl3pPr>
              <a:defRPr sz="1950" b="0">
                <a:solidFill>
                  <a:srgbClr val="263648"/>
                </a:solidFill>
                <a:latin typeface="Arial"/>
                <a:ea typeface="Arial"/>
                <a:cs typeface="Arial"/>
              </a:defRPr>
            </a:lvl3pPr>
            <a:lvl4pPr>
              <a:defRPr sz="1950" b="0">
                <a:solidFill>
                  <a:srgbClr val="263648"/>
                </a:solidFill>
                <a:latin typeface="Arial"/>
                <a:ea typeface="Arial"/>
                <a:cs typeface="Arial"/>
              </a:defRPr>
            </a:lvl4pPr>
            <a:lvl5pPr>
              <a:defRPr sz="1950" b="0">
                <a:solidFill>
                  <a:srgbClr val="263648"/>
                </a:solidFill>
                <a:latin typeface="Arial"/>
                <a:ea typeface="Arial"/>
                <a:cs typeface="Arial"/>
              </a:defRPr>
            </a:lvl5pPr>
            <a:lvl6pPr>
              <a:defRPr sz="1950" b="0">
                <a:solidFill>
                  <a:srgbClr val="263648"/>
                </a:solidFill>
                <a:latin typeface="Arial"/>
                <a:ea typeface="Arial"/>
                <a:cs typeface="Arial"/>
              </a:defRPr>
            </a:lvl6pPr>
            <a:lvl7pPr>
              <a:defRPr sz="1950" b="0">
                <a:solidFill>
                  <a:srgbClr val="263648"/>
                </a:solidFill>
                <a:latin typeface="Arial"/>
                <a:ea typeface="Arial"/>
                <a:cs typeface="Arial"/>
              </a:defRPr>
            </a:lvl7pPr>
            <a:lvl8pPr>
              <a:defRPr sz="1950" b="0">
                <a:solidFill>
                  <a:srgbClr val="263648"/>
                </a:solidFill>
                <a:latin typeface="Arial"/>
                <a:ea typeface="Arial"/>
                <a:cs typeface="Arial"/>
              </a:defRPr>
            </a:lvl8pPr>
            <a:lvl9pPr>
              <a:defRPr sz="1950" b="0">
                <a:solidFill>
                  <a:srgbClr val="263648"/>
                </a:solidFill>
                <a:latin typeface="Arial"/>
                <a:ea typeface="Arial"/>
                <a:cs typeface="Arial"/>
              </a:defRPr>
            </a:lvl9pPr>
          </a:lstStyle>
          <a:p xmlns:a="http://schemas.openxmlformats.org/drawingml/2006/main">
            <a:pPr>
              <a:defRPr sz="1950" b="0">
                <a:solidFill>
                  <a:srgbClr val="263648"/>
                </a:solidFill>
                <a:latin typeface="Arial"/>
                <a:ea typeface="Arial"/>
                <a:cs typeface="Arial"/>
              </a:defRPr>
            </a:pPr>
            <a:r>
              <a:rPr sz="1950" b="0">
                <a:solidFill>
                  <a:srgbClr val="263648"/>
                </a:solidFill>
                <a:latin typeface="Arial"/>
                <a:ea typeface="Arial"/>
                <a:cs typeface="Arial"/>
              </a:rPr>
              <a:t>Earlier cost study: 713 formulas</a:t>
            </a:r>
          </a:p>
          <a:p xmlns:a="http://schemas.openxmlformats.org/drawingml/2006/main">
            <a:pPr>
              <a:defRPr sz="1950" b="0">
                <a:solidFill>
                  <a:srgbClr val="263648"/>
                </a:solidFill>
                <a:latin typeface="Arial"/>
                <a:ea typeface="Arial"/>
                <a:cs typeface="Arial"/>
              </a:defRPr>
            </a:pPr>
            <a:r>
              <a:rPr sz="1950" b="0">
                <a:solidFill>
                  <a:srgbClr val="263648"/>
                </a:solidFill>
                <a:latin typeface="Arial"/>
                <a:ea typeface="Arial"/>
                <a:cs typeface="Arial"/>
              </a:rPr>
              <a:t>Separate isolated-LUT labels</a:t>
            </a:r>
          </a:p>
        </p:txBody>
      </p:sp>
      <p:sp>
        <p:nvSpPr>
          <p:cNvPr id="9" name="">
            <a:extLst xmlns:a="http://schemas.openxmlformats.org/drawingml/2006/main">
              <a:ext uri="{FF2B5EF4-FFF2-40B4-BE49-F238E27FC236}">
                <a16:creationId xmlns:a16="http://schemas.microsoft.com/office/drawing/2014/main" id="{B00991AF-3FEE-4D6D-ADC3-B8F28C7159D2}"/>
              </a:ext>
            </a:extLst>
          </p:cNvPr>
          <p:cNvSpPr>
            <a:spLocks xmlns:a="http://schemas.openxmlformats.org/drawingml/2006/main" noGrp="1"/>
          </p:cNvSpPr>
          <p:nvPr/>
        </p:nvSpPr>
        <p:spPr>
          <a:xfrm xmlns:a="http://schemas.openxmlformats.org/drawingml/2006/main">
            <a:off x="685800" y="5657850"/>
            <a:ext cx="1082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2878A8"/>
                </a:solidFill>
                <a:latin typeface="Arial"/>
                <a:ea typeface="Arial"/>
                <a:cs typeface="Arial"/>
              </a:defRPr>
            </a:defPPr>
            <a:lvl1pPr>
              <a:defRPr sz="2100" b="1">
                <a:solidFill>
                  <a:srgbClr val="2878A8"/>
                </a:solidFill>
                <a:latin typeface="Arial"/>
                <a:ea typeface="Arial"/>
                <a:cs typeface="Arial"/>
              </a:defRPr>
            </a:lvl1pPr>
            <a:lvl2pPr>
              <a:defRPr sz="2100" b="1">
                <a:solidFill>
                  <a:srgbClr val="2878A8"/>
                </a:solidFill>
                <a:latin typeface="Arial"/>
                <a:ea typeface="Arial"/>
                <a:cs typeface="Arial"/>
              </a:defRPr>
            </a:lvl2pPr>
            <a:lvl3pPr>
              <a:defRPr sz="2100" b="1">
                <a:solidFill>
                  <a:srgbClr val="2878A8"/>
                </a:solidFill>
                <a:latin typeface="Arial"/>
                <a:ea typeface="Arial"/>
                <a:cs typeface="Arial"/>
              </a:defRPr>
            </a:lvl3pPr>
            <a:lvl4pPr>
              <a:defRPr sz="2100" b="1">
                <a:solidFill>
                  <a:srgbClr val="2878A8"/>
                </a:solidFill>
                <a:latin typeface="Arial"/>
                <a:ea typeface="Arial"/>
                <a:cs typeface="Arial"/>
              </a:defRPr>
            </a:lvl4pPr>
            <a:lvl5pPr>
              <a:defRPr sz="2100" b="1">
                <a:solidFill>
                  <a:srgbClr val="2878A8"/>
                </a:solidFill>
                <a:latin typeface="Arial"/>
                <a:ea typeface="Arial"/>
                <a:cs typeface="Arial"/>
              </a:defRPr>
            </a:lvl5pPr>
            <a:lvl6pPr>
              <a:defRPr sz="2100" b="1">
                <a:solidFill>
                  <a:srgbClr val="2878A8"/>
                </a:solidFill>
                <a:latin typeface="Arial"/>
                <a:ea typeface="Arial"/>
                <a:cs typeface="Arial"/>
              </a:defRPr>
            </a:lvl6pPr>
            <a:lvl7pPr>
              <a:defRPr sz="2100" b="1">
                <a:solidFill>
                  <a:srgbClr val="2878A8"/>
                </a:solidFill>
                <a:latin typeface="Arial"/>
                <a:ea typeface="Arial"/>
                <a:cs typeface="Arial"/>
              </a:defRPr>
            </a:lvl7pPr>
            <a:lvl8pPr>
              <a:defRPr sz="2100" b="1">
                <a:solidFill>
                  <a:srgbClr val="2878A8"/>
                </a:solidFill>
                <a:latin typeface="Arial"/>
                <a:ea typeface="Arial"/>
                <a:cs typeface="Arial"/>
              </a:defRPr>
            </a:lvl8pPr>
            <a:lvl9pPr>
              <a:defRPr sz="2100" b="1">
                <a:solidFill>
                  <a:srgbClr val="2878A8"/>
                </a:solidFill>
                <a:latin typeface="Arial"/>
                <a:ea typeface="Arial"/>
                <a:cs typeface="Arial"/>
              </a:defRPr>
            </a:lvl9pPr>
          </a:lstStyle>
          <a:p xmlns:a="http://schemas.openxmlformats.org/drawingml/2006/main">
            <a:pPr>
              <a:defRPr sz="2100" b="1">
                <a:solidFill>
                  <a:srgbClr val="2878A8"/>
                </a:solidFill>
                <a:latin typeface="Arial"/>
                <a:ea typeface="Arial"/>
                <a:cs typeface="Arial"/>
              </a:defRPr>
            </a:pPr>
            <a:r>
              <a:rPr sz="2100" b="1">
                <a:solidFill>
                  <a:srgbClr val="2878A8"/>
                </a:solidFill>
                <a:latin typeface="Arial"/>
                <a:ea typeface="Arial"/>
                <a:cs typeface="Arial"/>
              </a:rPr>
              <a:t>Train on other workloads; test on the entire held-out workload.</a:t>
            </a:r>
          </a:p>
        </p:txBody>
      </p:sp>
    </p:spTree>
    <p:extLst>
      <p:ext uri="{BB962C8B-B14F-4D97-AF65-F5344CB8AC3E}">
        <p14:creationId xmlns:p14="http://schemas.microsoft.com/office/powerpoint/2010/main" val="4382198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5C55D2F-0A5D-45F2-827E-E7AC93E1D2CE}"/>
              </a:ext>
            </a:extLst>
          </p:cNvPr>
          <p:cNvSpPr>
            <a:spLocks xmlns:a="http://schemas.openxmlformats.org/drawingml/2006/main" noGrp="1"/>
          </p:cNvSpPr>
          <p:nvPr/>
        </p:nvSpPr>
        <p:spPr>
          <a:xfrm xmlns:a="http://schemas.openxmlformats.org/drawingml/2006/main">
            <a:off x="6477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7324D"/>
                </a:solidFill>
                <a:latin typeface="Arial"/>
                <a:ea typeface="Arial"/>
                <a:cs typeface="Arial"/>
              </a:defRPr>
            </a:defPPr>
            <a:lvl1pPr>
              <a:defRPr sz="3225" b="1">
                <a:solidFill>
                  <a:srgbClr val="17324D"/>
                </a:solidFill>
                <a:latin typeface="Arial"/>
                <a:ea typeface="Arial"/>
                <a:cs typeface="Arial"/>
              </a:defRPr>
            </a:lvl1pPr>
            <a:lvl2pPr>
              <a:defRPr sz="3225" b="1">
                <a:solidFill>
                  <a:srgbClr val="17324D"/>
                </a:solidFill>
                <a:latin typeface="Arial"/>
                <a:ea typeface="Arial"/>
                <a:cs typeface="Arial"/>
              </a:defRPr>
            </a:lvl2pPr>
            <a:lvl3pPr>
              <a:defRPr sz="3225" b="1">
                <a:solidFill>
                  <a:srgbClr val="17324D"/>
                </a:solidFill>
                <a:latin typeface="Arial"/>
                <a:ea typeface="Arial"/>
                <a:cs typeface="Arial"/>
              </a:defRPr>
            </a:lvl3pPr>
            <a:lvl4pPr>
              <a:defRPr sz="3225" b="1">
                <a:solidFill>
                  <a:srgbClr val="17324D"/>
                </a:solidFill>
                <a:latin typeface="Arial"/>
                <a:ea typeface="Arial"/>
                <a:cs typeface="Arial"/>
              </a:defRPr>
            </a:lvl4pPr>
            <a:lvl5pPr>
              <a:defRPr sz="3225" b="1">
                <a:solidFill>
                  <a:srgbClr val="17324D"/>
                </a:solidFill>
                <a:latin typeface="Arial"/>
                <a:ea typeface="Arial"/>
                <a:cs typeface="Arial"/>
              </a:defRPr>
            </a:lvl5pPr>
            <a:lvl6pPr>
              <a:defRPr sz="3225" b="1">
                <a:solidFill>
                  <a:srgbClr val="17324D"/>
                </a:solidFill>
                <a:latin typeface="Arial"/>
                <a:ea typeface="Arial"/>
                <a:cs typeface="Arial"/>
              </a:defRPr>
            </a:lvl6pPr>
            <a:lvl7pPr>
              <a:defRPr sz="3225" b="1">
                <a:solidFill>
                  <a:srgbClr val="17324D"/>
                </a:solidFill>
                <a:latin typeface="Arial"/>
                <a:ea typeface="Arial"/>
                <a:cs typeface="Arial"/>
              </a:defRPr>
            </a:lvl7pPr>
            <a:lvl8pPr>
              <a:defRPr sz="3225" b="1">
                <a:solidFill>
                  <a:srgbClr val="17324D"/>
                </a:solidFill>
                <a:latin typeface="Arial"/>
                <a:ea typeface="Arial"/>
                <a:cs typeface="Arial"/>
              </a:defRPr>
            </a:lvl8pPr>
            <a:lvl9pPr>
              <a:defRPr sz="3225" b="1">
                <a:solidFill>
                  <a:srgbClr val="17324D"/>
                </a:solidFill>
                <a:latin typeface="Arial"/>
                <a:ea typeface="Arial"/>
                <a:cs typeface="Arial"/>
              </a:defRPr>
            </a:lvl9pPr>
          </a:lstStyle>
          <a:p xmlns:a="http://schemas.openxmlformats.org/drawingml/2006/main">
            <a:pPr>
              <a:defRPr sz="3225" b="1">
                <a:solidFill>
                  <a:srgbClr val="17324D"/>
                </a:solidFill>
                <a:latin typeface="Arial"/>
                <a:ea typeface="Arial"/>
                <a:cs typeface="Arial"/>
              </a:defRPr>
            </a:pPr>
            <a:r>
              <a:rPr sz="3225" b="1">
                <a:solidFill>
                  <a:srgbClr val="17324D"/>
                </a:solidFill>
                <a:latin typeface="Arial"/>
                <a:ea typeface="Arial"/>
                <a:cs typeface="Arial"/>
              </a:rPr>
              <a:t>The ML model: shallow boosted-tree ranking</a:t>
            </a:r>
          </a:p>
        </p:txBody>
      </p:sp>
      <p:sp>
        <p:nvSpPr>
          <p:cNvPr id="2" name="">
            <a:extLst xmlns:a="http://schemas.openxmlformats.org/drawingml/2006/main">
              <a:ext uri="{FF2B5EF4-FFF2-40B4-BE49-F238E27FC236}">
                <a16:creationId xmlns:a16="http://schemas.microsoft.com/office/drawing/2014/main" id="{DEE34D6B-1F84-45AE-BA29-F043329F89DB}"/>
              </a:ext>
            </a:extLst>
          </p:cNvPr>
          <p:cNvSpPr>
            <a:spLocks xmlns:a="http://schemas.openxmlformats.org/drawingml/2006/main" noGrp="1"/>
          </p:cNvSpPr>
          <p:nvPr/>
        </p:nvSpPr>
        <p:spPr>
          <a:xfrm xmlns:a="http://schemas.openxmlformats.org/drawingml/2006/main">
            <a:off x="647700" y="1066800"/>
            <a:ext cx="10896600" cy="0"/>
          </a:xfrm>
          <a:prstGeom xmlns:a="http://schemas.openxmlformats.org/drawingml/2006/main" prst="line">
            <a:avLst/>
          </a:prstGeom>
          <a:noFill xmlns:a="http://schemas.openxmlformats.org/drawingml/2006/main"/>
          <a:ln xmlns:a="http://schemas.openxmlformats.org/drawingml/2006/main" w="9525">
            <a:solidFill>
              <a:srgbClr val="D9E1E8"/>
            </a:solidFill>
            <a:prstDash val="solid"/>
          </a:ln>
        </p:spPr>
      </p:sp>
      <p:sp>
        <p:nvSpPr>
          <p:cNvPr id="3" name="">
            <a:extLst xmlns:a="http://schemas.openxmlformats.org/drawingml/2006/main">
              <a:ext uri="{FF2B5EF4-FFF2-40B4-BE49-F238E27FC236}">
                <a16:creationId xmlns:a16="http://schemas.microsoft.com/office/drawing/2014/main" id="{1CDDF730-D2EF-42FC-95CF-ADACA15016E0}"/>
              </a:ext>
            </a:extLst>
          </p:cNvPr>
          <p:cNvSpPr>
            <a:spLocks xmlns:a="http://schemas.openxmlformats.org/drawingml/2006/main" noGrp="1"/>
          </p:cNvSpPr>
          <p:nvPr/>
        </p:nvSpPr>
        <p:spPr>
          <a:xfrm xmlns:a="http://schemas.openxmlformats.org/drawingml/2006/main">
            <a:off x="647700" y="6534150"/>
            <a:ext cx="10896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607286"/>
                </a:solidFill>
                <a:latin typeface="Arial"/>
                <a:ea typeface="Arial"/>
                <a:cs typeface="Arial"/>
              </a:defRPr>
            </a:defPPr>
            <a:lvl1pPr>
              <a:defRPr sz="900">
                <a:solidFill>
                  <a:srgbClr val="607286"/>
                </a:solidFill>
                <a:latin typeface="Arial"/>
                <a:ea typeface="Arial"/>
                <a:cs typeface="Arial"/>
              </a:defRPr>
            </a:lvl1pPr>
            <a:lvl2pPr>
              <a:defRPr sz="900">
                <a:solidFill>
                  <a:srgbClr val="607286"/>
                </a:solidFill>
                <a:latin typeface="Arial"/>
                <a:ea typeface="Arial"/>
                <a:cs typeface="Arial"/>
              </a:defRPr>
            </a:lvl2pPr>
            <a:lvl3pPr>
              <a:defRPr sz="900">
                <a:solidFill>
                  <a:srgbClr val="607286"/>
                </a:solidFill>
                <a:latin typeface="Arial"/>
                <a:ea typeface="Arial"/>
                <a:cs typeface="Arial"/>
              </a:defRPr>
            </a:lvl3pPr>
            <a:lvl4pPr>
              <a:defRPr sz="900">
                <a:solidFill>
                  <a:srgbClr val="607286"/>
                </a:solidFill>
                <a:latin typeface="Arial"/>
                <a:ea typeface="Arial"/>
                <a:cs typeface="Arial"/>
              </a:defRPr>
            </a:lvl4pPr>
            <a:lvl5pPr>
              <a:defRPr sz="900">
                <a:solidFill>
                  <a:srgbClr val="607286"/>
                </a:solidFill>
                <a:latin typeface="Arial"/>
                <a:ea typeface="Arial"/>
                <a:cs typeface="Arial"/>
              </a:defRPr>
            </a:lvl5pPr>
            <a:lvl6pPr>
              <a:defRPr sz="900">
                <a:solidFill>
                  <a:srgbClr val="607286"/>
                </a:solidFill>
                <a:latin typeface="Arial"/>
                <a:ea typeface="Arial"/>
                <a:cs typeface="Arial"/>
              </a:defRPr>
            </a:lvl6pPr>
            <a:lvl7pPr>
              <a:defRPr sz="900">
                <a:solidFill>
                  <a:srgbClr val="607286"/>
                </a:solidFill>
                <a:latin typeface="Arial"/>
                <a:ea typeface="Arial"/>
                <a:cs typeface="Arial"/>
              </a:defRPr>
            </a:lvl7pPr>
            <a:lvl8pPr>
              <a:defRPr sz="900">
                <a:solidFill>
                  <a:srgbClr val="607286"/>
                </a:solidFill>
                <a:latin typeface="Arial"/>
                <a:ea typeface="Arial"/>
                <a:cs typeface="Arial"/>
              </a:defRPr>
            </a:lvl8pPr>
            <a:lvl9pPr>
              <a:defRPr sz="900">
                <a:solidFill>
                  <a:srgbClr val="607286"/>
                </a:solidFill>
                <a:latin typeface="Arial"/>
                <a:ea typeface="Arial"/>
                <a:cs typeface="Arial"/>
              </a:defRPr>
            </a:lvl9pPr>
          </a:lstStyle>
          <a:p xmlns:a="http://schemas.openxmlformats.org/drawingml/2006/main">
            <a:pPr>
              <a:defRPr sz="900">
                <a:solidFill>
                  <a:srgbClr val="607286"/>
                </a:solidFill>
                <a:latin typeface="Arial"/>
                <a:ea typeface="Arial"/>
                <a:cs typeface="Arial"/>
              </a:defRPr>
            </a:pPr>
            <a:r>
              <a:rPr sz="900">
                <a:solidFill>
                  <a:srgbClr val="607286"/>
                </a:solidFill>
                <a:latin typeface="Arial"/>
                <a:ea typeface="Arial"/>
                <a:cs typeface="Arial"/>
              </a:rPr>
              <a:t>ISAForge  /  ECE 4803                                    6</a:t>
            </a:r>
          </a:p>
        </p:txBody>
      </p:sp>
      <p:sp>
        <p:nvSpPr>
          <p:cNvPr id="4" name="">
            <a:extLst xmlns:a="http://schemas.openxmlformats.org/drawingml/2006/main">
              <a:ext uri="{FF2B5EF4-FFF2-40B4-BE49-F238E27FC236}">
                <a16:creationId xmlns:a16="http://schemas.microsoft.com/office/drawing/2014/main" id="{6584A696-0255-4A44-9944-4A64F7918C59}"/>
              </a:ext>
            </a:extLst>
          </p:cNvPr>
          <p:cNvSpPr>
            <a:spLocks xmlns:a="http://schemas.openxmlformats.org/drawingml/2006/main" noGrp="1"/>
          </p:cNvSpPr>
          <p:nvPr/>
        </p:nvSpPr>
        <p:spPr>
          <a:xfrm xmlns:a="http://schemas.openxmlformats.org/drawingml/2006/main">
            <a:off x="685800" y="2047875"/>
            <a:ext cx="2333625" cy="1238250"/>
          </a:xfrm>
          <a:prstGeom xmlns:a="http://schemas.openxmlformats.org/drawingml/2006/main" prst="rect">
            <a:avLst/>
          </a:prstGeom>
          <a:solidFill xmlns:a="http://schemas.openxmlformats.org/drawingml/2006/main">
            <a:srgbClr val="F4F7FA"/>
          </a:solidFill>
          <a:ln xmlns:a="http://schemas.openxmlformats.org/drawingml/2006/main" w="9525">
            <a:solidFill>
              <a:srgbClr val="D9E1E8"/>
            </a:solidFill>
            <a:prstDash val="solid"/>
          </a:ln>
        </p:spPr>
      </p:sp>
      <p:sp>
        <p:nvSpPr>
          <p:cNvPr id="5" name="">
            <a:extLst xmlns:a="http://schemas.openxmlformats.org/drawingml/2006/main">
              <a:ext uri="{FF2B5EF4-FFF2-40B4-BE49-F238E27FC236}">
                <a16:creationId xmlns:a16="http://schemas.microsoft.com/office/drawing/2014/main" id="{88BB3B60-0AA5-4447-A6D0-A62A0A199A00}"/>
              </a:ext>
            </a:extLst>
          </p:cNvPr>
          <p:cNvSpPr>
            <a:spLocks xmlns:a="http://schemas.openxmlformats.org/drawingml/2006/main" noGrp="1"/>
          </p:cNvSpPr>
          <p:nvPr/>
        </p:nvSpPr>
        <p:spPr>
          <a:xfrm xmlns:a="http://schemas.openxmlformats.org/drawingml/2006/main">
            <a:off x="819150" y="2181225"/>
            <a:ext cx="20669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878A8"/>
                </a:solidFill>
                <a:latin typeface="Arial"/>
                <a:ea typeface="Arial"/>
                <a:cs typeface="Arial"/>
              </a:defRPr>
            </a:defPPr>
            <a:lvl1pPr>
              <a:defRPr sz="1875" b="1">
                <a:solidFill>
                  <a:srgbClr val="2878A8"/>
                </a:solidFill>
                <a:latin typeface="Arial"/>
                <a:ea typeface="Arial"/>
                <a:cs typeface="Arial"/>
              </a:defRPr>
            </a:lvl1pPr>
            <a:lvl2pPr>
              <a:defRPr sz="1875" b="1">
                <a:solidFill>
                  <a:srgbClr val="2878A8"/>
                </a:solidFill>
                <a:latin typeface="Arial"/>
                <a:ea typeface="Arial"/>
                <a:cs typeface="Arial"/>
              </a:defRPr>
            </a:lvl2pPr>
            <a:lvl3pPr>
              <a:defRPr sz="1875" b="1">
                <a:solidFill>
                  <a:srgbClr val="2878A8"/>
                </a:solidFill>
                <a:latin typeface="Arial"/>
                <a:ea typeface="Arial"/>
                <a:cs typeface="Arial"/>
              </a:defRPr>
            </a:lvl3pPr>
            <a:lvl4pPr>
              <a:defRPr sz="1875" b="1">
                <a:solidFill>
                  <a:srgbClr val="2878A8"/>
                </a:solidFill>
                <a:latin typeface="Arial"/>
                <a:ea typeface="Arial"/>
                <a:cs typeface="Arial"/>
              </a:defRPr>
            </a:lvl4pPr>
            <a:lvl5pPr>
              <a:defRPr sz="1875" b="1">
                <a:solidFill>
                  <a:srgbClr val="2878A8"/>
                </a:solidFill>
                <a:latin typeface="Arial"/>
                <a:ea typeface="Arial"/>
                <a:cs typeface="Arial"/>
              </a:defRPr>
            </a:lvl5pPr>
            <a:lvl6pPr>
              <a:defRPr sz="1875" b="1">
                <a:solidFill>
                  <a:srgbClr val="2878A8"/>
                </a:solidFill>
                <a:latin typeface="Arial"/>
                <a:ea typeface="Arial"/>
                <a:cs typeface="Arial"/>
              </a:defRPr>
            </a:lvl6pPr>
            <a:lvl7pPr>
              <a:defRPr sz="1875" b="1">
                <a:solidFill>
                  <a:srgbClr val="2878A8"/>
                </a:solidFill>
                <a:latin typeface="Arial"/>
                <a:ea typeface="Arial"/>
                <a:cs typeface="Arial"/>
              </a:defRPr>
            </a:lvl7pPr>
            <a:lvl8pPr>
              <a:defRPr sz="1875" b="1">
                <a:solidFill>
                  <a:srgbClr val="2878A8"/>
                </a:solidFill>
                <a:latin typeface="Arial"/>
                <a:ea typeface="Arial"/>
                <a:cs typeface="Arial"/>
              </a:defRPr>
            </a:lvl8pPr>
            <a:lvl9pPr>
              <a:defRPr sz="1875" b="1">
                <a:solidFill>
                  <a:srgbClr val="2878A8"/>
                </a:solidFill>
                <a:latin typeface="Arial"/>
                <a:ea typeface="Arial"/>
                <a:cs typeface="Arial"/>
              </a:defRPr>
            </a:lvl9pPr>
          </a:lstStyle>
          <a:p xmlns:a="http://schemas.openxmlformats.org/drawingml/2006/main">
            <a:pPr>
              <a:defRPr sz="1875" b="1">
                <a:solidFill>
                  <a:srgbClr val="2878A8"/>
                </a:solidFill>
                <a:latin typeface="Arial"/>
                <a:ea typeface="Arial"/>
                <a:cs typeface="Arial"/>
              </a:defRPr>
            </a:pPr>
            <a:r>
              <a:rPr sz="1875" b="1">
                <a:solidFill>
                  <a:srgbClr val="2878A8"/>
                </a:solidFill>
                <a:latin typeface="Arial"/>
                <a:ea typeface="Arial"/>
                <a:cs typeface="Arial"/>
              </a:rPr>
              <a:t>35 input features</a:t>
            </a:r>
          </a:p>
        </p:txBody>
      </p:sp>
      <p:sp>
        <p:nvSpPr>
          <p:cNvPr id="6" name="">
            <a:extLst xmlns:a="http://schemas.openxmlformats.org/drawingml/2006/main">
              <a:ext uri="{FF2B5EF4-FFF2-40B4-BE49-F238E27FC236}">
                <a16:creationId xmlns:a16="http://schemas.microsoft.com/office/drawing/2014/main" id="{302AE72C-B386-4296-9B8C-8618FFBCCAE0}"/>
              </a:ext>
            </a:extLst>
          </p:cNvPr>
          <p:cNvSpPr>
            <a:spLocks xmlns:a="http://schemas.openxmlformats.org/drawingml/2006/main" noGrp="1"/>
          </p:cNvSpPr>
          <p:nvPr/>
        </p:nvSpPr>
        <p:spPr>
          <a:xfrm xmlns:a="http://schemas.openxmlformats.org/drawingml/2006/main">
            <a:off x="819150" y="2590800"/>
            <a:ext cx="2066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263648"/>
                </a:solidFill>
                <a:latin typeface="Arial"/>
                <a:ea typeface="Arial"/>
                <a:cs typeface="Arial"/>
              </a:defRPr>
            </a:defPPr>
            <a:lvl1pPr>
              <a:defRPr sz="1650" b="0">
                <a:solidFill>
                  <a:srgbClr val="263648"/>
                </a:solidFill>
                <a:latin typeface="Arial"/>
                <a:ea typeface="Arial"/>
                <a:cs typeface="Arial"/>
              </a:defRPr>
            </a:lvl1pPr>
            <a:lvl2pPr>
              <a:defRPr sz="1650" b="0">
                <a:solidFill>
                  <a:srgbClr val="263648"/>
                </a:solidFill>
                <a:latin typeface="Arial"/>
                <a:ea typeface="Arial"/>
                <a:cs typeface="Arial"/>
              </a:defRPr>
            </a:lvl2pPr>
            <a:lvl3pPr>
              <a:defRPr sz="1650" b="0">
                <a:solidFill>
                  <a:srgbClr val="263648"/>
                </a:solidFill>
                <a:latin typeface="Arial"/>
                <a:ea typeface="Arial"/>
                <a:cs typeface="Arial"/>
              </a:defRPr>
            </a:lvl3pPr>
            <a:lvl4pPr>
              <a:defRPr sz="1650" b="0">
                <a:solidFill>
                  <a:srgbClr val="263648"/>
                </a:solidFill>
                <a:latin typeface="Arial"/>
                <a:ea typeface="Arial"/>
                <a:cs typeface="Arial"/>
              </a:defRPr>
            </a:lvl4pPr>
            <a:lvl5pPr>
              <a:defRPr sz="1650" b="0">
                <a:solidFill>
                  <a:srgbClr val="263648"/>
                </a:solidFill>
                <a:latin typeface="Arial"/>
                <a:ea typeface="Arial"/>
                <a:cs typeface="Arial"/>
              </a:defRPr>
            </a:lvl5pPr>
            <a:lvl6pPr>
              <a:defRPr sz="1650" b="0">
                <a:solidFill>
                  <a:srgbClr val="263648"/>
                </a:solidFill>
                <a:latin typeface="Arial"/>
                <a:ea typeface="Arial"/>
                <a:cs typeface="Arial"/>
              </a:defRPr>
            </a:lvl6pPr>
            <a:lvl7pPr>
              <a:defRPr sz="1650" b="0">
                <a:solidFill>
                  <a:srgbClr val="263648"/>
                </a:solidFill>
                <a:latin typeface="Arial"/>
                <a:ea typeface="Arial"/>
                <a:cs typeface="Arial"/>
              </a:defRPr>
            </a:lvl7pPr>
            <a:lvl8pPr>
              <a:defRPr sz="1650" b="0">
                <a:solidFill>
                  <a:srgbClr val="263648"/>
                </a:solidFill>
                <a:latin typeface="Arial"/>
                <a:ea typeface="Arial"/>
                <a:cs typeface="Arial"/>
              </a:defRPr>
            </a:lvl8pPr>
            <a:lvl9pPr>
              <a:defRPr sz="1650" b="0">
                <a:solidFill>
                  <a:srgbClr val="263648"/>
                </a:solidFill>
                <a:latin typeface="Arial"/>
                <a:ea typeface="Arial"/>
                <a:cs typeface="Arial"/>
              </a:defRPr>
            </a:lvl9pPr>
          </a:lstStyle>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Profile opportunity</a:t>
            </a:r>
          </a:p>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Structure + operations</a:t>
            </a:r>
          </a:p>
        </p:txBody>
      </p:sp>
      <p:sp>
        <p:nvSpPr>
          <p:cNvPr id="7" name="">
            <a:extLst xmlns:a="http://schemas.openxmlformats.org/drawingml/2006/main">
              <a:ext uri="{FF2B5EF4-FFF2-40B4-BE49-F238E27FC236}">
                <a16:creationId xmlns:a16="http://schemas.microsoft.com/office/drawing/2014/main" id="{7CB74898-EDE8-43D7-9A4D-B1B80F4589AD}"/>
              </a:ext>
            </a:extLst>
          </p:cNvPr>
          <p:cNvSpPr>
            <a:spLocks xmlns:a="http://schemas.openxmlformats.org/drawingml/2006/main" noGrp="1"/>
          </p:cNvSpPr>
          <p:nvPr/>
        </p:nvSpPr>
        <p:spPr>
          <a:xfrm xmlns:a="http://schemas.openxmlformats.org/drawingml/2006/main">
            <a:off x="3105150" y="2552700"/>
            <a:ext cx="285750" cy="228600"/>
          </a:xfrm>
          <a:prstGeom xmlns:a="http://schemas.openxmlformats.org/drawingml/2006/main" prst="rightArrow">
            <a:avLst/>
          </a:prstGeom>
          <a:solidFill xmlns:a="http://schemas.openxmlformats.org/drawingml/2006/main">
            <a:srgbClr val="2878A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E71071A-73B8-4524-9654-668C40992601}"/>
              </a:ext>
            </a:extLst>
          </p:cNvPr>
          <p:cNvSpPr>
            <a:spLocks xmlns:a="http://schemas.openxmlformats.org/drawingml/2006/main" noGrp="1"/>
          </p:cNvSpPr>
          <p:nvPr/>
        </p:nvSpPr>
        <p:spPr>
          <a:xfrm xmlns:a="http://schemas.openxmlformats.org/drawingml/2006/main">
            <a:off x="3476625" y="2047875"/>
            <a:ext cx="2333625" cy="1238250"/>
          </a:xfrm>
          <a:prstGeom xmlns:a="http://schemas.openxmlformats.org/drawingml/2006/main" prst="rect">
            <a:avLst/>
          </a:prstGeom>
          <a:solidFill xmlns:a="http://schemas.openxmlformats.org/drawingml/2006/main">
            <a:srgbClr val="F4F7FA"/>
          </a:solidFill>
          <a:ln xmlns:a="http://schemas.openxmlformats.org/drawingml/2006/main" w="9525">
            <a:solidFill>
              <a:srgbClr val="D9E1E8"/>
            </a:solidFill>
            <a:prstDash val="solid"/>
          </a:ln>
        </p:spPr>
      </p:sp>
      <p:sp>
        <p:nvSpPr>
          <p:cNvPr id="9" name="">
            <a:extLst xmlns:a="http://schemas.openxmlformats.org/drawingml/2006/main">
              <a:ext uri="{FF2B5EF4-FFF2-40B4-BE49-F238E27FC236}">
                <a16:creationId xmlns:a16="http://schemas.microsoft.com/office/drawing/2014/main" id="{419274F3-6FC4-4657-809F-B211F5775E7F}"/>
              </a:ext>
            </a:extLst>
          </p:cNvPr>
          <p:cNvSpPr>
            <a:spLocks xmlns:a="http://schemas.openxmlformats.org/drawingml/2006/main" noGrp="1"/>
          </p:cNvSpPr>
          <p:nvPr/>
        </p:nvSpPr>
        <p:spPr>
          <a:xfrm xmlns:a="http://schemas.openxmlformats.org/drawingml/2006/main">
            <a:off x="3609975" y="2181225"/>
            <a:ext cx="20669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878A8"/>
                </a:solidFill>
                <a:latin typeface="Arial"/>
                <a:ea typeface="Arial"/>
                <a:cs typeface="Arial"/>
              </a:defRPr>
            </a:defPPr>
            <a:lvl1pPr>
              <a:defRPr sz="1875" b="1">
                <a:solidFill>
                  <a:srgbClr val="2878A8"/>
                </a:solidFill>
                <a:latin typeface="Arial"/>
                <a:ea typeface="Arial"/>
                <a:cs typeface="Arial"/>
              </a:defRPr>
            </a:lvl1pPr>
            <a:lvl2pPr>
              <a:defRPr sz="1875" b="1">
                <a:solidFill>
                  <a:srgbClr val="2878A8"/>
                </a:solidFill>
                <a:latin typeface="Arial"/>
                <a:ea typeface="Arial"/>
                <a:cs typeface="Arial"/>
              </a:defRPr>
            </a:lvl2pPr>
            <a:lvl3pPr>
              <a:defRPr sz="1875" b="1">
                <a:solidFill>
                  <a:srgbClr val="2878A8"/>
                </a:solidFill>
                <a:latin typeface="Arial"/>
                <a:ea typeface="Arial"/>
                <a:cs typeface="Arial"/>
              </a:defRPr>
            </a:lvl3pPr>
            <a:lvl4pPr>
              <a:defRPr sz="1875" b="1">
                <a:solidFill>
                  <a:srgbClr val="2878A8"/>
                </a:solidFill>
                <a:latin typeface="Arial"/>
                <a:ea typeface="Arial"/>
                <a:cs typeface="Arial"/>
              </a:defRPr>
            </a:lvl4pPr>
            <a:lvl5pPr>
              <a:defRPr sz="1875" b="1">
                <a:solidFill>
                  <a:srgbClr val="2878A8"/>
                </a:solidFill>
                <a:latin typeface="Arial"/>
                <a:ea typeface="Arial"/>
                <a:cs typeface="Arial"/>
              </a:defRPr>
            </a:lvl5pPr>
            <a:lvl6pPr>
              <a:defRPr sz="1875" b="1">
                <a:solidFill>
                  <a:srgbClr val="2878A8"/>
                </a:solidFill>
                <a:latin typeface="Arial"/>
                <a:ea typeface="Arial"/>
                <a:cs typeface="Arial"/>
              </a:defRPr>
            </a:lvl6pPr>
            <a:lvl7pPr>
              <a:defRPr sz="1875" b="1">
                <a:solidFill>
                  <a:srgbClr val="2878A8"/>
                </a:solidFill>
                <a:latin typeface="Arial"/>
                <a:ea typeface="Arial"/>
                <a:cs typeface="Arial"/>
              </a:defRPr>
            </a:lvl7pPr>
            <a:lvl8pPr>
              <a:defRPr sz="1875" b="1">
                <a:solidFill>
                  <a:srgbClr val="2878A8"/>
                </a:solidFill>
                <a:latin typeface="Arial"/>
                <a:ea typeface="Arial"/>
                <a:cs typeface="Arial"/>
              </a:defRPr>
            </a:lvl8pPr>
            <a:lvl9pPr>
              <a:defRPr sz="1875" b="1">
                <a:solidFill>
                  <a:srgbClr val="2878A8"/>
                </a:solidFill>
                <a:latin typeface="Arial"/>
                <a:ea typeface="Arial"/>
                <a:cs typeface="Arial"/>
              </a:defRPr>
            </a:lvl9pPr>
          </a:lstStyle>
          <a:p xmlns:a="http://schemas.openxmlformats.org/drawingml/2006/main">
            <a:pPr>
              <a:defRPr sz="1875" b="1">
                <a:solidFill>
                  <a:srgbClr val="2878A8"/>
                </a:solidFill>
                <a:latin typeface="Arial"/>
                <a:ea typeface="Arial"/>
                <a:cs typeface="Arial"/>
              </a:defRPr>
            </a:pPr>
            <a:r>
              <a:rPr sz="1875" b="1">
                <a:solidFill>
                  <a:srgbClr val="2878A8"/>
                </a:solidFill>
                <a:latin typeface="Arial"/>
                <a:ea typeface="Arial"/>
                <a:cs typeface="Arial"/>
              </a:rPr>
              <a:t>80 shallow trees</a:t>
            </a:r>
          </a:p>
        </p:txBody>
      </p:sp>
      <p:sp>
        <p:nvSpPr>
          <p:cNvPr id="10" name="">
            <a:extLst xmlns:a="http://schemas.openxmlformats.org/drawingml/2006/main">
              <a:ext uri="{FF2B5EF4-FFF2-40B4-BE49-F238E27FC236}">
                <a16:creationId xmlns:a16="http://schemas.microsoft.com/office/drawing/2014/main" id="{9B6C4376-14CD-4DB0-8CB6-53549FBFE04D}"/>
              </a:ext>
            </a:extLst>
          </p:cNvPr>
          <p:cNvSpPr>
            <a:spLocks xmlns:a="http://schemas.openxmlformats.org/drawingml/2006/main" noGrp="1"/>
          </p:cNvSpPr>
          <p:nvPr/>
        </p:nvSpPr>
        <p:spPr>
          <a:xfrm xmlns:a="http://schemas.openxmlformats.org/drawingml/2006/main">
            <a:off x="3609975" y="2590800"/>
            <a:ext cx="2066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263648"/>
                </a:solidFill>
                <a:latin typeface="Arial"/>
                <a:ea typeface="Arial"/>
                <a:cs typeface="Arial"/>
              </a:defRPr>
            </a:defPPr>
            <a:lvl1pPr>
              <a:defRPr sz="1650" b="0">
                <a:solidFill>
                  <a:srgbClr val="263648"/>
                </a:solidFill>
                <a:latin typeface="Arial"/>
                <a:ea typeface="Arial"/>
                <a:cs typeface="Arial"/>
              </a:defRPr>
            </a:lvl1pPr>
            <a:lvl2pPr>
              <a:defRPr sz="1650" b="0">
                <a:solidFill>
                  <a:srgbClr val="263648"/>
                </a:solidFill>
                <a:latin typeface="Arial"/>
                <a:ea typeface="Arial"/>
                <a:cs typeface="Arial"/>
              </a:defRPr>
            </a:lvl2pPr>
            <a:lvl3pPr>
              <a:defRPr sz="1650" b="0">
                <a:solidFill>
                  <a:srgbClr val="263648"/>
                </a:solidFill>
                <a:latin typeface="Arial"/>
                <a:ea typeface="Arial"/>
                <a:cs typeface="Arial"/>
              </a:defRPr>
            </a:lvl3pPr>
            <a:lvl4pPr>
              <a:defRPr sz="1650" b="0">
                <a:solidFill>
                  <a:srgbClr val="263648"/>
                </a:solidFill>
                <a:latin typeface="Arial"/>
                <a:ea typeface="Arial"/>
                <a:cs typeface="Arial"/>
              </a:defRPr>
            </a:lvl4pPr>
            <a:lvl5pPr>
              <a:defRPr sz="1650" b="0">
                <a:solidFill>
                  <a:srgbClr val="263648"/>
                </a:solidFill>
                <a:latin typeface="Arial"/>
                <a:ea typeface="Arial"/>
                <a:cs typeface="Arial"/>
              </a:defRPr>
            </a:lvl5pPr>
            <a:lvl6pPr>
              <a:defRPr sz="1650" b="0">
                <a:solidFill>
                  <a:srgbClr val="263648"/>
                </a:solidFill>
                <a:latin typeface="Arial"/>
                <a:ea typeface="Arial"/>
                <a:cs typeface="Arial"/>
              </a:defRPr>
            </a:lvl6pPr>
            <a:lvl7pPr>
              <a:defRPr sz="1650" b="0">
                <a:solidFill>
                  <a:srgbClr val="263648"/>
                </a:solidFill>
                <a:latin typeface="Arial"/>
                <a:ea typeface="Arial"/>
                <a:cs typeface="Arial"/>
              </a:defRPr>
            </a:lvl7pPr>
            <a:lvl8pPr>
              <a:defRPr sz="1650" b="0">
                <a:solidFill>
                  <a:srgbClr val="263648"/>
                </a:solidFill>
                <a:latin typeface="Arial"/>
                <a:ea typeface="Arial"/>
                <a:cs typeface="Arial"/>
              </a:defRPr>
            </a:lvl8pPr>
            <a:lvl9pPr>
              <a:defRPr sz="1650" b="0">
                <a:solidFill>
                  <a:srgbClr val="263648"/>
                </a:solidFill>
                <a:latin typeface="Arial"/>
                <a:ea typeface="Arial"/>
                <a:cs typeface="Arial"/>
              </a:defRPr>
            </a:lvl9pPr>
          </a:lstStyle>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Depth 2</a:t>
            </a:r>
          </a:p>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Learning rate 0.05</a:t>
            </a:r>
          </a:p>
        </p:txBody>
      </p:sp>
      <p:sp>
        <p:nvSpPr>
          <p:cNvPr id="11" name="">
            <a:extLst xmlns:a="http://schemas.openxmlformats.org/drawingml/2006/main">
              <a:ext uri="{FF2B5EF4-FFF2-40B4-BE49-F238E27FC236}">
                <a16:creationId xmlns:a16="http://schemas.microsoft.com/office/drawing/2014/main" id="{CE53EA7E-3C47-4759-BD53-F5838173D3AD}"/>
              </a:ext>
            </a:extLst>
          </p:cNvPr>
          <p:cNvSpPr>
            <a:spLocks xmlns:a="http://schemas.openxmlformats.org/drawingml/2006/main" noGrp="1"/>
          </p:cNvSpPr>
          <p:nvPr/>
        </p:nvSpPr>
        <p:spPr>
          <a:xfrm xmlns:a="http://schemas.openxmlformats.org/drawingml/2006/main">
            <a:off x="5895975" y="2552700"/>
            <a:ext cx="285750" cy="228600"/>
          </a:xfrm>
          <a:prstGeom xmlns:a="http://schemas.openxmlformats.org/drawingml/2006/main" prst="rightArrow">
            <a:avLst/>
          </a:prstGeom>
          <a:solidFill xmlns:a="http://schemas.openxmlformats.org/drawingml/2006/main">
            <a:srgbClr val="2878A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746E4AD-92A0-435D-82ED-FFE8962BC2A6}"/>
              </a:ext>
            </a:extLst>
          </p:cNvPr>
          <p:cNvSpPr>
            <a:spLocks xmlns:a="http://schemas.openxmlformats.org/drawingml/2006/main" noGrp="1"/>
          </p:cNvSpPr>
          <p:nvPr/>
        </p:nvSpPr>
        <p:spPr>
          <a:xfrm xmlns:a="http://schemas.openxmlformats.org/drawingml/2006/main">
            <a:off x="6267450" y="2047875"/>
            <a:ext cx="2333625" cy="1238250"/>
          </a:xfrm>
          <a:prstGeom xmlns:a="http://schemas.openxmlformats.org/drawingml/2006/main" prst="rect">
            <a:avLst/>
          </a:prstGeom>
          <a:solidFill xmlns:a="http://schemas.openxmlformats.org/drawingml/2006/main">
            <a:srgbClr val="F4F7FA"/>
          </a:solidFill>
          <a:ln xmlns:a="http://schemas.openxmlformats.org/drawingml/2006/main" w="9525">
            <a:solidFill>
              <a:srgbClr val="D9E1E8"/>
            </a:solidFill>
            <a:prstDash val="solid"/>
          </a:ln>
        </p:spPr>
      </p:sp>
      <p:sp>
        <p:nvSpPr>
          <p:cNvPr id="13" name="">
            <a:extLst xmlns:a="http://schemas.openxmlformats.org/drawingml/2006/main">
              <a:ext uri="{FF2B5EF4-FFF2-40B4-BE49-F238E27FC236}">
                <a16:creationId xmlns:a16="http://schemas.microsoft.com/office/drawing/2014/main" id="{5C35EE1B-E3DA-43F2-A4BE-19B194BBEBE4}"/>
              </a:ext>
            </a:extLst>
          </p:cNvPr>
          <p:cNvSpPr>
            <a:spLocks xmlns:a="http://schemas.openxmlformats.org/drawingml/2006/main" noGrp="1"/>
          </p:cNvSpPr>
          <p:nvPr/>
        </p:nvSpPr>
        <p:spPr>
          <a:xfrm xmlns:a="http://schemas.openxmlformats.org/drawingml/2006/main">
            <a:off x="6400800" y="2181225"/>
            <a:ext cx="20669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878A8"/>
                </a:solidFill>
                <a:latin typeface="Arial"/>
                <a:ea typeface="Arial"/>
                <a:cs typeface="Arial"/>
              </a:defRPr>
            </a:defPPr>
            <a:lvl1pPr>
              <a:defRPr sz="1875" b="1">
                <a:solidFill>
                  <a:srgbClr val="2878A8"/>
                </a:solidFill>
                <a:latin typeface="Arial"/>
                <a:ea typeface="Arial"/>
                <a:cs typeface="Arial"/>
              </a:defRPr>
            </a:lvl1pPr>
            <a:lvl2pPr>
              <a:defRPr sz="1875" b="1">
                <a:solidFill>
                  <a:srgbClr val="2878A8"/>
                </a:solidFill>
                <a:latin typeface="Arial"/>
                <a:ea typeface="Arial"/>
                <a:cs typeface="Arial"/>
              </a:defRPr>
            </a:lvl2pPr>
            <a:lvl3pPr>
              <a:defRPr sz="1875" b="1">
                <a:solidFill>
                  <a:srgbClr val="2878A8"/>
                </a:solidFill>
                <a:latin typeface="Arial"/>
                <a:ea typeface="Arial"/>
                <a:cs typeface="Arial"/>
              </a:defRPr>
            </a:lvl3pPr>
            <a:lvl4pPr>
              <a:defRPr sz="1875" b="1">
                <a:solidFill>
                  <a:srgbClr val="2878A8"/>
                </a:solidFill>
                <a:latin typeface="Arial"/>
                <a:ea typeface="Arial"/>
                <a:cs typeface="Arial"/>
              </a:defRPr>
            </a:lvl4pPr>
            <a:lvl5pPr>
              <a:defRPr sz="1875" b="1">
                <a:solidFill>
                  <a:srgbClr val="2878A8"/>
                </a:solidFill>
                <a:latin typeface="Arial"/>
                <a:ea typeface="Arial"/>
                <a:cs typeface="Arial"/>
              </a:defRPr>
            </a:lvl5pPr>
            <a:lvl6pPr>
              <a:defRPr sz="1875" b="1">
                <a:solidFill>
                  <a:srgbClr val="2878A8"/>
                </a:solidFill>
                <a:latin typeface="Arial"/>
                <a:ea typeface="Arial"/>
                <a:cs typeface="Arial"/>
              </a:defRPr>
            </a:lvl6pPr>
            <a:lvl7pPr>
              <a:defRPr sz="1875" b="1">
                <a:solidFill>
                  <a:srgbClr val="2878A8"/>
                </a:solidFill>
                <a:latin typeface="Arial"/>
                <a:ea typeface="Arial"/>
                <a:cs typeface="Arial"/>
              </a:defRPr>
            </a:lvl7pPr>
            <a:lvl8pPr>
              <a:defRPr sz="1875" b="1">
                <a:solidFill>
                  <a:srgbClr val="2878A8"/>
                </a:solidFill>
                <a:latin typeface="Arial"/>
                <a:ea typeface="Arial"/>
                <a:cs typeface="Arial"/>
              </a:defRPr>
            </a:lvl8pPr>
            <a:lvl9pPr>
              <a:defRPr sz="1875" b="1">
                <a:solidFill>
                  <a:srgbClr val="2878A8"/>
                </a:solidFill>
                <a:latin typeface="Arial"/>
                <a:ea typeface="Arial"/>
                <a:cs typeface="Arial"/>
              </a:defRPr>
            </a:lvl9pPr>
          </a:lstStyle>
          <a:p xmlns:a="http://schemas.openxmlformats.org/drawingml/2006/main">
            <a:pPr>
              <a:defRPr sz="1875" b="1">
                <a:solidFill>
                  <a:srgbClr val="2878A8"/>
                </a:solidFill>
                <a:latin typeface="Arial"/>
                <a:ea typeface="Arial"/>
                <a:cs typeface="Arial"/>
              </a:defRPr>
            </a:pPr>
            <a:r>
              <a:rPr sz="1875" b="1">
                <a:solidFill>
                  <a:srgbClr val="2878A8"/>
                </a:solidFill>
                <a:latin typeface="Arial"/>
                <a:ea typeface="Arial"/>
                <a:cs typeface="Arial"/>
              </a:rPr>
              <a:t>Ranking score</a:t>
            </a:r>
          </a:p>
        </p:txBody>
      </p:sp>
      <p:sp>
        <p:nvSpPr>
          <p:cNvPr id="14" name="">
            <a:extLst xmlns:a="http://schemas.openxmlformats.org/drawingml/2006/main">
              <a:ext uri="{FF2B5EF4-FFF2-40B4-BE49-F238E27FC236}">
                <a16:creationId xmlns:a16="http://schemas.microsoft.com/office/drawing/2014/main" id="{DEF5E91F-AC5C-4B67-8849-09C59C28C9F5}"/>
              </a:ext>
            </a:extLst>
          </p:cNvPr>
          <p:cNvSpPr>
            <a:spLocks xmlns:a="http://schemas.openxmlformats.org/drawingml/2006/main" noGrp="1"/>
          </p:cNvSpPr>
          <p:nvPr/>
        </p:nvSpPr>
        <p:spPr>
          <a:xfrm xmlns:a="http://schemas.openxmlformats.org/drawingml/2006/main">
            <a:off x="6400800" y="2590800"/>
            <a:ext cx="2066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263648"/>
                </a:solidFill>
                <a:latin typeface="Arial"/>
                <a:ea typeface="Arial"/>
                <a:cs typeface="Arial"/>
              </a:defRPr>
            </a:defPPr>
            <a:lvl1pPr>
              <a:defRPr sz="1650" b="0">
                <a:solidFill>
                  <a:srgbClr val="263648"/>
                </a:solidFill>
                <a:latin typeface="Arial"/>
                <a:ea typeface="Arial"/>
                <a:cs typeface="Arial"/>
              </a:defRPr>
            </a:lvl1pPr>
            <a:lvl2pPr>
              <a:defRPr sz="1650" b="0">
                <a:solidFill>
                  <a:srgbClr val="263648"/>
                </a:solidFill>
                <a:latin typeface="Arial"/>
                <a:ea typeface="Arial"/>
                <a:cs typeface="Arial"/>
              </a:defRPr>
            </a:lvl2pPr>
            <a:lvl3pPr>
              <a:defRPr sz="1650" b="0">
                <a:solidFill>
                  <a:srgbClr val="263648"/>
                </a:solidFill>
                <a:latin typeface="Arial"/>
                <a:ea typeface="Arial"/>
                <a:cs typeface="Arial"/>
              </a:defRPr>
            </a:lvl3pPr>
            <a:lvl4pPr>
              <a:defRPr sz="1650" b="0">
                <a:solidFill>
                  <a:srgbClr val="263648"/>
                </a:solidFill>
                <a:latin typeface="Arial"/>
                <a:ea typeface="Arial"/>
                <a:cs typeface="Arial"/>
              </a:defRPr>
            </a:lvl4pPr>
            <a:lvl5pPr>
              <a:defRPr sz="1650" b="0">
                <a:solidFill>
                  <a:srgbClr val="263648"/>
                </a:solidFill>
                <a:latin typeface="Arial"/>
                <a:ea typeface="Arial"/>
                <a:cs typeface="Arial"/>
              </a:defRPr>
            </a:lvl5pPr>
            <a:lvl6pPr>
              <a:defRPr sz="1650" b="0">
                <a:solidFill>
                  <a:srgbClr val="263648"/>
                </a:solidFill>
                <a:latin typeface="Arial"/>
                <a:ea typeface="Arial"/>
                <a:cs typeface="Arial"/>
              </a:defRPr>
            </a:lvl6pPr>
            <a:lvl7pPr>
              <a:defRPr sz="1650" b="0">
                <a:solidFill>
                  <a:srgbClr val="263648"/>
                </a:solidFill>
                <a:latin typeface="Arial"/>
                <a:ea typeface="Arial"/>
                <a:cs typeface="Arial"/>
              </a:defRPr>
            </a:lvl7pPr>
            <a:lvl8pPr>
              <a:defRPr sz="1650" b="0">
                <a:solidFill>
                  <a:srgbClr val="263648"/>
                </a:solidFill>
                <a:latin typeface="Arial"/>
                <a:ea typeface="Arial"/>
                <a:cs typeface="Arial"/>
              </a:defRPr>
            </a:lvl8pPr>
            <a:lvl9pPr>
              <a:defRPr sz="1650" b="0">
                <a:solidFill>
                  <a:srgbClr val="263648"/>
                </a:solidFill>
                <a:latin typeface="Arial"/>
                <a:ea typeface="Arial"/>
                <a:cs typeface="Arial"/>
              </a:defRPr>
            </a:lvl9pPr>
          </a:lstStyle>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Relative ordering</a:t>
            </a:r>
          </a:p>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Not a probability</a:t>
            </a:r>
          </a:p>
        </p:txBody>
      </p:sp>
      <p:sp>
        <p:nvSpPr>
          <p:cNvPr id="15" name="">
            <a:extLst xmlns:a="http://schemas.openxmlformats.org/drawingml/2006/main">
              <a:ext uri="{FF2B5EF4-FFF2-40B4-BE49-F238E27FC236}">
                <a16:creationId xmlns:a16="http://schemas.microsoft.com/office/drawing/2014/main" id="{EE206A27-4B1D-40F3-9EA9-A2EEFAA3FFEB}"/>
              </a:ext>
            </a:extLst>
          </p:cNvPr>
          <p:cNvSpPr>
            <a:spLocks xmlns:a="http://schemas.openxmlformats.org/drawingml/2006/main" noGrp="1"/>
          </p:cNvSpPr>
          <p:nvPr/>
        </p:nvSpPr>
        <p:spPr>
          <a:xfrm xmlns:a="http://schemas.openxmlformats.org/drawingml/2006/main">
            <a:off x="8686800" y="2552700"/>
            <a:ext cx="285750" cy="228600"/>
          </a:xfrm>
          <a:prstGeom xmlns:a="http://schemas.openxmlformats.org/drawingml/2006/main" prst="rightArrow">
            <a:avLst/>
          </a:prstGeom>
          <a:solidFill xmlns:a="http://schemas.openxmlformats.org/drawingml/2006/main">
            <a:srgbClr val="2878A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4D06EC3-3629-4156-9704-4C30144B88DD}"/>
              </a:ext>
            </a:extLst>
          </p:cNvPr>
          <p:cNvSpPr>
            <a:spLocks xmlns:a="http://schemas.openxmlformats.org/drawingml/2006/main" noGrp="1"/>
          </p:cNvSpPr>
          <p:nvPr/>
        </p:nvSpPr>
        <p:spPr>
          <a:xfrm xmlns:a="http://schemas.openxmlformats.org/drawingml/2006/main">
            <a:off x="9058275" y="2047875"/>
            <a:ext cx="2333625" cy="1238250"/>
          </a:xfrm>
          <a:prstGeom xmlns:a="http://schemas.openxmlformats.org/drawingml/2006/main" prst="rect">
            <a:avLst/>
          </a:prstGeom>
          <a:solidFill xmlns:a="http://schemas.openxmlformats.org/drawingml/2006/main">
            <a:srgbClr val="F4F7FA"/>
          </a:solidFill>
          <a:ln xmlns:a="http://schemas.openxmlformats.org/drawingml/2006/main" w="9525">
            <a:solidFill>
              <a:srgbClr val="D9E1E8"/>
            </a:solidFill>
            <a:prstDash val="solid"/>
          </a:ln>
        </p:spPr>
      </p:sp>
      <p:sp>
        <p:nvSpPr>
          <p:cNvPr id="17" name="">
            <a:extLst xmlns:a="http://schemas.openxmlformats.org/drawingml/2006/main">
              <a:ext uri="{FF2B5EF4-FFF2-40B4-BE49-F238E27FC236}">
                <a16:creationId xmlns:a16="http://schemas.microsoft.com/office/drawing/2014/main" id="{395BBF70-8A3D-40FF-9E08-2006EB23D32C}"/>
              </a:ext>
            </a:extLst>
          </p:cNvPr>
          <p:cNvSpPr>
            <a:spLocks xmlns:a="http://schemas.openxmlformats.org/drawingml/2006/main" noGrp="1"/>
          </p:cNvSpPr>
          <p:nvPr/>
        </p:nvSpPr>
        <p:spPr>
          <a:xfrm xmlns:a="http://schemas.openxmlformats.org/drawingml/2006/main">
            <a:off x="9191625" y="2181225"/>
            <a:ext cx="20669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878A8"/>
                </a:solidFill>
                <a:latin typeface="Arial"/>
                <a:ea typeface="Arial"/>
                <a:cs typeface="Arial"/>
              </a:defRPr>
            </a:defPPr>
            <a:lvl1pPr>
              <a:defRPr sz="1875" b="1">
                <a:solidFill>
                  <a:srgbClr val="2878A8"/>
                </a:solidFill>
                <a:latin typeface="Arial"/>
                <a:ea typeface="Arial"/>
                <a:cs typeface="Arial"/>
              </a:defRPr>
            </a:lvl1pPr>
            <a:lvl2pPr>
              <a:defRPr sz="1875" b="1">
                <a:solidFill>
                  <a:srgbClr val="2878A8"/>
                </a:solidFill>
                <a:latin typeface="Arial"/>
                <a:ea typeface="Arial"/>
                <a:cs typeface="Arial"/>
              </a:defRPr>
            </a:lvl2pPr>
            <a:lvl3pPr>
              <a:defRPr sz="1875" b="1">
                <a:solidFill>
                  <a:srgbClr val="2878A8"/>
                </a:solidFill>
                <a:latin typeface="Arial"/>
                <a:ea typeface="Arial"/>
                <a:cs typeface="Arial"/>
              </a:defRPr>
            </a:lvl3pPr>
            <a:lvl4pPr>
              <a:defRPr sz="1875" b="1">
                <a:solidFill>
                  <a:srgbClr val="2878A8"/>
                </a:solidFill>
                <a:latin typeface="Arial"/>
                <a:ea typeface="Arial"/>
                <a:cs typeface="Arial"/>
              </a:defRPr>
            </a:lvl4pPr>
            <a:lvl5pPr>
              <a:defRPr sz="1875" b="1">
                <a:solidFill>
                  <a:srgbClr val="2878A8"/>
                </a:solidFill>
                <a:latin typeface="Arial"/>
                <a:ea typeface="Arial"/>
                <a:cs typeface="Arial"/>
              </a:defRPr>
            </a:lvl5pPr>
            <a:lvl6pPr>
              <a:defRPr sz="1875" b="1">
                <a:solidFill>
                  <a:srgbClr val="2878A8"/>
                </a:solidFill>
                <a:latin typeface="Arial"/>
                <a:ea typeface="Arial"/>
                <a:cs typeface="Arial"/>
              </a:defRPr>
            </a:lvl6pPr>
            <a:lvl7pPr>
              <a:defRPr sz="1875" b="1">
                <a:solidFill>
                  <a:srgbClr val="2878A8"/>
                </a:solidFill>
                <a:latin typeface="Arial"/>
                <a:ea typeface="Arial"/>
                <a:cs typeface="Arial"/>
              </a:defRPr>
            </a:lvl7pPr>
            <a:lvl8pPr>
              <a:defRPr sz="1875" b="1">
                <a:solidFill>
                  <a:srgbClr val="2878A8"/>
                </a:solidFill>
                <a:latin typeface="Arial"/>
                <a:ea typeface="Arial"/>
                <a:cs typeface="Arial"/>
              </a:defRPr>
            </a:lvl8pPr>
            <a:lvl9pPr>
              <a:defRPr sz="1875" b="1">
                <a:solidFill>
                  <a:srgbClr val="2878A8"/>
                </a:solidFill>
                <a:latin typeface="Arial"/>
                <a:ea typeface="Arial"/>
                <a:cs typeface="Arial"/>
              </a:defRPr>
            </a:lvl9pPr>
          </a:lstStyle>
          <a:p xmlns:a="http://schemas.openxmlformats.org/drawingml/2006/main">
            <a:pPr>
              <a:defRPr sz="1875" b="1">
                <a:solidFill>
                  <a:srgbClr val="2878A8"/>
                </a:solidFill>
                <a:latin typeface="Arial"/>
                <a:ea typeface="Arial"/>
                <a:cs typeface="Arial"/>
              </a:defRPr>
            </a:pPr>
            <a:r>
              <a:rPr sz="1875" b="1">
                <a:solidFill>
                  <a:srgbClr val="2878A8"/>
                </a:solidFill>
                <a:latin typeface="Arial"/>
                <a:ea typeface="Arial"/>
                <a:cs typeface="Arial"/>
              </a:rPr>
              <a:t>Choose queries</a:t>
            </a:r>
          </a:p>
        </p:txBody>
      </p:sp>
      <p:sp>
        <p:nvSpPr>
          <p:cNvPr id="18" name="">
            <a:extLst xmlns:a="http://schemas.openxmlformats.org/drawingml/2006/main">
              <a:ext uri="{FF2B5EF4-FFF2-40B4-BE49-F238E27FC236}">
                <a16:creationId xmlns:a16="http://schemas.microsoft.com/office/drawing/2014/main" id="{BF9BB27A-6AA5-4223-AFF3-705DEE8C848D}"/>
              </a:ext>
            </a:extLst>
          </p:cNvPr>
          <p:cNvSpPr>
            <a:spLocks xmlns:a="http://schemas.openxmlformats.org/drawingml/2006/main" noGrp="1"/>
          </p:cNvSpPr>
          <p:nvPr/>
        </p:nvSpPr>
        <p:spPr>
          <a:xfrm xmlns:a="http://schemas.openxmlformats.org/drawingml/2006/main">
            <a:off x="9191625" y="2590800"/>
            <a:ext cx="2066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263648"/>
                </a:solidFill>
                <a:latin typeface="Arial"/>
                <a:ea typeface="Arial"/>
                <a:cs typeface="Arial"/>
              </a:defRPr>
            </a:defPPr>
            <a:lvl1pPr>
              <a:defRPr sz="1650" b="0">
                <a:solidFill>
                  <a:srgbClr val="263648"/>
                </a:solidFill>
                <a:latin typeface="Arial"/>
                <a:ea typeface="Arial"/>
                <a:cs typeface="Arial"/>
              </a:defRPr>
            </a:lvl1pPr>
            <a:lvl2pPr>
              <a:defRPr sz="1650" b="0">
                <a:solidFill>
                  <a:srgbClr val="263648"/>
                </a:solidFill>
                <a:latin typeface="Arial"/>
                <a:ea typeface="Arial"/>
                <a:cs typeface="Arial"/>
              </a:defRPr>
            </a:lvl2pPr>
            <a:lvl3pPr>
              <a:defRPr sz="1650" b="0">
                <a:solidFill>
                  <a:srgbClr val="263648"/>
                </a:solidFill>
                <a:latin typeface="Arial"/>
                <a:ea typeface="Arial"/>
                <a:cs typeface="Arial"/>
              </a:defRPr>
            </a:lvl3pPr>
            <a:lvl4pPr>
              <a:defRPr sz="1650" b="0">
                <a:solidFill>
                  <a:srgbClr val="263648"/>
                </a:solidFill>
                <a:latin typeface="Arial"/>
                <a:ea typeface="Arial"/>
                <a:cs typeface="Arial"/>
              </a:defRPr>
            </a:lvl4pPr>
            <a:lvl5pPr>
              <a:defRPr sz="1650" b="0">
                <a:solidFill>
                  <a:srgbClr val="263648"/>
                </a:solidFill>
                <a:latin typeface="Arial"/>
                <a:ea typeface="Arial"/>
                <a:cs typeface="Arial"/>
              </a:defRPr>
            </a:lvl5pPr>
            <a:lvl6pPr>
              <a:defRPr sz="1650" b="0">
                <a:solidFill>
                  <a:srgbClr val="263648"/>
                </a:solidFill>
                <a:latin typeface="Arial"/>
                <a:ea typeface="Arial"/>
                <a:cs typeface="Arial"/>
              </a:defRPr>
            </a:lvl6pPr>
            <a:lvl7pPr>
              <a:defRPr sz="1650" b="0">
                <a:solidFill>
                  <a:srgbClr val="263648"/>
                </a:solidFill>
                <a:latin typeface="Arial"/>
                <a:ea typeface="Arial"/>
                <a:cs typeface="Arial"/>
              </a:defRPr>
            </a:lvl7pPr>
            <a:lvl8pPr>
              <a:defRPr sz="1650" b="0">
                <a:solidFill>
                  <a:srgbClr val="263648"/>
                </a:solidFill>
                <a:latin typeface="Arial"/>
                <a:ea typeface="Arial"/>
                <a:cs typeface="Arial"/>
              </a:defRPr>
            </a:lvl8pPr>
            <a:lvl9pPr>
              <a:defRPr sz="1650" b="0">
                <a:solidFill>
                  <a:srgbClr val="263648"/>
                </a:solidFill>
                <a:latin typeface="Arial"/>
                <a:ea typeface="Arial"/>
                <a:cs typeface="Arial"/>
              </a:defRPr>
            </a:lvl9pPr>
          </a:lstStyle>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Measure promising</a:t>
            </a:r>
          </a:p>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candidates first</a:t>
            </a:r>
          </a:p>
        </p:txBody>
      </p:sp>
      <p:sp>
        <p:nvSpPr>
          <p:cNvPr id="19" name="">
            <a:extLst xmlns:a="http://schemas.openxmlformats.org/drawingml/2006/main">
              <a:ext uri="{FF2B5EF4-FFF2-40B4-BE49-F238E27FC236}">
                <a16:creationId xmlns:a16="http://schemas.microsoft.com/office/drawing/2014/main" id="{60D151DB-CAB7-4687-AAA7-03843430E1CA}"/>
              </a:ext>
            </a:extLst>
          </p:cNvPr>
          <p:cNvSpPr>
            <a:spLocks xmlns:a="http://schemas.openxmlformats.org/drawingml/2006/main" noGrp="1"/>
          </p:cNvSpPr>
          <p:nvPr/>
        </p:nvSpPr>
        <p:spPr>
          <a:xfrm xmlns:a="http://schemas.openxmlformats.org/drawingml/2006/main">
            <a:off x="685800" y="3848100"/>
            <a:ext cx="1082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7324D"/>
                </a:solidFill>
                <a:latin typeface="Arial"/>
                <a:ea typeface="Arial"/>
                <a:cs typeface="Arial"/>
              </a:defRPr>
            </a:defPPr>
            <a:lvl1pPr>
              <a:defRPr sz="2250" b="1">
                <a:solidFill>
                  <a:srgbClr val="17324D"/>
                </a:solidFill>
                <a:latin typeface="Arial"/>
                <a:ea typeface="Arial"/>
                <a:cs typeface="Arial"/>
              </a:defRPr>
            </a:lvl1pPr>
            <a:lvl2pPr>
              <a:defRPr sz="2250" b="1">
                <a:solidFill>
                  <a:srgbClr val="17324D"/>
                </a:solidFill>
                <a:latin typeface="Arial"/>
                <a:ea typeface="Arial"/>
                <a:cs typeface="Arial"/>
              </a:defRPr>
            </a:lvl2pPr>
            <a:lvl3pPr>
              <a:defRPr sz="2250" b="1">
                <a:solidFill>
                  <a:srgbClr val="17324D"/>
                </a:solidFill>
                <a:latin typeface="Arial"/>
                <a:ea typeface="Arial"/>
                <a:cs typeface="Arial"/>
              </a:defRPr>
            </a:lvl3pPr>
            <a:lvl4pPr>
              <a:defRPr sz="2250" b="1">
                <a:solidFill>
                  <a:srgbClr val="17324D"/>
                </a:solidFill>
                <a:latin typeface="Arial"/>
                <a:ea typeface="Arial"/>
                <a:cs typeface="Arial"/>
              </a:defRPr>
            </a:lvl4pPr>
            <a:lvl5pPr>
              <a:defRPr sz="2250" b="1">
                <a:solidFill>
                  <a:srgbClr val="17324D"/>
                </a:solidFill>
                <a:latin typeface="Arial"/>
                <a:ea typeface="Arial"/>
                <a:cs typeface="Arial"/>
              </a:defRPr>
            </a:lvl5pPr>
            <a:lvl6pPr>
              <a:defRPr sz="2250" b="1">
                <a:solidFill>
                  <a:srgbClr val="17324D"/>
                </a:solidFill>
                <a:latin typeface="Arial"/>
                <a:ea typeface="Arial"/>
                <a:cs typeface="Arial"/>
              </a:defRPr>
            </a:lvl6pPr>
            <a:lvl7pPr>
              <a:defRPr sz="2250" b="1">
                <a:solidFill>
                  <a:srgbClr val="17324D"/>
                </a:solidFill>
                <a:latin typeface="Arial"/>
                <a:ea typeface="Arial"/>
                <a:cs typeface="Arial"/>
              </a:defRPr>
            </a:lvl7pPr>
            <a:lvl8pPr>
              <a:defRPr sz="2250" b="1">
                <a:solidFill>
                  <a:srgbClr val="17324D"/>
                </a:solidFill>
                <a:latin typeface="Arial"/>
                <a:ea typeface="Arial"/>
                <a:cs typeface="Arial"/>
              </a:defRPr>
            </a:lvl8pPr>
            <a:lvl9pPr>
              <a:defRPr sz="2250" b="1">
                <a:solidFill>
                  <a:srgbClr val="17324D"/>
                </a:solidFill>
                <a:latin typeface="Arial"/>
                <a:ea typeface="Arial"/>
                <a:cs typeface="Arial"/>
              </a:defRPr>
            </a:lvl9pPr>
          </a:lstStyle>
          <a:p xmlns:a="http://schemas.openxmlformats.org/drawingml/2006/main">
            <a:pPr>
              <a:defRPr sz="2250" b="1">
                <a:solidFill>
                  <a:srgbClr val="17324D"/>
                </a:solidFill>
                <a:latin typeface="Arial"/>
                <a:ea typeface="Arial"/>
                <a:cs typeface="Arial"/>
              </a:defRPr>
            </a:pPr>
            <a:r>
              <a:rPr sz="2250" b="1">
                <a:solidFill>
                  <a:srgbClr val="17324D"/>
                </a:solidFill>
                <a:latin typeface="Arial"/>
                <a:ea typeface="Arial"/>
                <a:cs typeface="Arial"/>
              </a:rPr>
              <a:t>Training signal: measured speedup(A) &gt; measured speedup(B)</a:t>
            </a:r>
          </a:p>
        </p:txBody>
      </p:sp>
      <p:sp>
        <p:nvSpPr>
          <p:cNvPr id="20" name="">
            <a:extLst xmlns:a="http://schemas.openxmlformats.org/drawingml/2006/main">
              <a:ext uri="{FF2B5EF4-FFF2-40B4-BE49-F238E27FC236}">
                <a16:creationId xmlns:a16="http://schemas.microsoft.com/office/drawing/2014/main" id="{2ECE8AE2-6764-4B39-8E8C-69CBF31306A7}"/>
              </a:ext>
            </a:extLst>
          </p:cNvPr>
          <p:cNvSpPr>
            <a:spLocks xmlns:a="http://schemas.openxmlformats.org/drawingml/2006/main" noGrp="1"/>
          </p:cNvSpPr>
          <p:nvPr/>
        </p:nvSpPr>
        <p:spPr>
          <a:xfrm xmlns:a="http://schemas.openxmlformats.org/drawingml/2006/main">
            <a:off x="685800" y="4448175"/>
            <a:ext cx="1082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2878A8"/>
                </a:solidFill>
                <a:latin typeface="Arial"/>
                <a:ea typeface="Arial"/>
                <a:cs typeface="Arial"/>
              </a:defRPr>
            </a:defPPr>
            <a:lvl1pPr>
              <a:defRPr sz="2175" b="1">
                <a:solidFill>
                  <a:srgbClr val="2878A8"/>
                </a:solidFill>
                <a:latin typeface="Arial"/>
                <a:ea typeface="Arial"/>
                <a:cs typeface="Arial"/>
              </a:defRPr>
            </a:lvl1pPr>
            <a:lvl2pPr>
              <a:defRPr sz="2175" b="1">
                <a:solidFill>
                  <a:srgbClr val="2878A8"/>
                </a:solidFill>
                <a:latin typeface="Arial"/>
                <a:ea typeface="Arial"/>
                <a:cs typeface="Arial"/>
              </a:defRPr>
            </a:lvl2pPr>
            <a:lvl3pPr>
              <a:defRPr sz="2175" b="1">
                <a:solidFill>
                  <a:srgbClr val="2878A8"/>
                </a:solidFill>
                <a:latin typeface="Arial"/>
                <a:ea typeface="Arial"/>
                <a:cs typeface="Arial"/>
              </a:defRPr>
            </a:lvl3pPr>
            <a:lvl4pPr>
              <a:defRPr sz="2175" b="1">
                <a:solidFill>
                  <a:srgbClr val="2878A8"/>
                </a:solidFill>
                <a:latin typeface="Arial"/>
                <a:ea typeface="Arial"/>
                <a:cs typeface="Arial"/>
              </a:defRPr>
            </a:lvl4pPr>
            <a:lvl5pPr>
              <a:defRPr sz="2175" b="1">
                <a:solidFill>
                  <a:srgbClr val="2878A8"/>
                </a:solidFill>
                <a:latin typeface="Arial"/>
                <a:ea typeface="Arial"/>
                <a:cs typeface="Arial"/>
              </a:defRPr>
            </a:lvl5pPr>
            <a:lvl6pPr>
              <a:defRPr sz="2175" b="1">
                <a:solidFill>
                  <a:srgbClr val="2878A8"/>
                </a:solidFill>
                <a:latin typeface="Arial"/>
                <a:ea typeface="Arial"/>
                <a:cs typeface="Arial"/>
              </a:defRPr>
            </a:lvl6pPr>
            <a:lvl7pPr>
              <a:defRPr sz="2175" b="1">
                <a:solidFill>
                  <a:srgbClr val="2878A8"/>
                </a:solidFill>
                <a:latin typeface="Arial"/>
                <a:ea typeface="Arial"/>
                <a:cs typeface="Arial"/>
              </a:defRPr>
            </a:lvl7pPr>
            <a:lvl8pPr>
              <a:defRPr sz="2175" b="1">
                <a:solidFill>
                  <a:srgbClr val="2878A8"/>
                </a:solidFill>
                <a:latin typeface="Arial"/>
                <a:ea typeface="Arial"/>
                <a:cs typeface="Arial"/>
              </a:defRPr>
            </a:lvl8pPr>
            <a:lvl9pPr>
              <a:defRPr sz="2175" b="1">
                <a:solidFill>
                  <a:srgbClr val="2878A8"/>
                </a:solidFill>
                <a:latin typeface="Arial"/>
                <a:ea typeface="Arial"/>
                <a:cs typeface="Arial"/>
              </a:defRPr>
            </a:lvl9pPr>
          </a:lstStyle>
          <a:p xmlns:a="http://schemas.openxmlformats.org/drawingml/2006/main">
            <a:pPr>
              <a:defRPr sz="2175" b="1">
                <a:solidFill>
                  <a:srgbClr val="2878A8"/>
                </a:solidFill>
                <a:latin typeface="Arial"/>
                <a:ea typeface="Arial"/>
                <a:cs typeface="Arial"/>
              </a:defRPr>
            </a:pPr>
            <a:r>
              <a:rPr sz="2175" b="1">
                <a:solidFill>
                  <a:srgbClr val="2878A8"/>
                </a:solidFill>
                <a:latin typeface="Arial"/>
                <a:ea typeface="Arial"/>
                <a:cs typeface="Arial"/>
              </a:rPr>
              <a:t>Pairwise objective → encourage score(A) &gt; score(B)</a:t>
            </a:r>
          </a:p>
        </p:txBody>
      </p:sp>
      <p:sp>
        <p:nvSpPr>
          <p:cNvPr id="21" name="">
            <a:extLst xmlns:a="http://schemas.openxmlformats.org/drawingml/2006/main">
              <a:ext uri="{FF2B5EF4-FFF2-40B4-BE49-F238E27FC236}">
                <a16:creationId xmlns:a16="http://schemas.microsoft.com/office/drawing/2014/main" id="{688AD89F-D93F-4D81-9D4D-DDE808F1E153}"/>
              </a:ext>
            </a:extLst>
          </p:cNvPr>
          <p:cNvSpPr>
            <a:spLocks xmlns:a="http://schemas.openxmlformats.org/drawingml/2006/main" noGrp="1"/>
          </p:cNvSpPr>
          <p:nvPr/>
        </p:nvSpPr>
        <p:spPr>
          <a:xfrm xmlns:a="http://schemas.openxmlformats.org/drawingml/2006/main">
            <a:off x="685800" y="5438775"/>
            <a:ext cx="10820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263648"/>
                </a:solidFill>
                <a:latin typeface="Arial"/>
                <a:ea typeface="Arial"/>
                <a:cs typeface="Arial"/>
              </a:defRPr>
            </a:defPPr>
            <a:lvl1pPr>
              <a:defRPr sz="1875" b="0">
                <a:solidFill>
                  <a:srgbClr val="263648"/>
                </a:solidFill>
                <a:latin typeface="Arial"/>
                <a:ea typeface="Arial"/>
                <a:cs typeface="Arial"/>
              </a:defRPr>
            </a:lvl1pPr>
            <a:lvl2pPr>
              <a:defRPr sz="1875" b="0">
                <a:solidFill>
                  <a:srgbClr val="263648"/>
                </a:solidFill>
                <a:latin typeface="Arial"/>
                <a:ea typeface="Arial"/>
                <a:cs typeface="Arial"/>
              </a:defRPr>
            </a:lvl2pPr>
            <a:lvl3pPr>
              <a:defRPr sz="1875" b="0">
                <a:solidFill>
                  <a:srgbClr val="263648"/>
                </a:solidFill>
                <a:latin typeface="Arial"/>
                <a:ea typeface="Arial"/>
                <a:cs typeface="Arial"/>
              </a:defRPr>
            </a:lvl3pPr>
            <a:lvl4pPr>
              <a:defRPr sz="1875" b="0">
                <a:solidFill>
                  <a:srgbClr val="263648"/>
                </a:solidFill>
                <a:latin typeface="Arial"/>
                <a:ea typeface="Arial"/>
                <a:cs typeface="Arial"/>
              </a:defRPr>
            </a:lvl4pPr>
            <a:lvl5pPr>
              <a:defRPr sz="1875" b="0">
                <a:solidFill>
                  <a:srgbClr val="263648"/>
                </a:solidFill>
                <a:latin typeface="Arial"/>
                <a:ea typeface="Arial"/>
                <a:cs typeface="Arial"/>
              </a:defRPr>
            </a:lvl5pPr>
            <a:lvl6pPr>
              <a:defRPr sz="1875" b="0">
                <a:solidFill>
                  <a:srgbClr val="263648"/>
                </a:solidFill>
                <a:latin typeface="Arial"/>
                <a:ea typeface="Arial"/>
                <a:cs typeface="Arial"/>
              </a:defRPr>
            </a:lvl6pPr>
            <a:lvl7pPr>
              <a:defRPr sz="1875" b="0">
                <a:solidFill>
                  <a:srgbClr val="263648"/>
                </a:solidFill>
                <a:latin typeface="Arial"/>
                <a:ea typeface="Arial"/>
                <a:cs typeface="Arial"/>
              </a:defRPr>
            </a:lvl7pPr>
            <a:lvl8pPr>
              <a:defRPr sz="1875" b="0">
                <a:solidFill>
                  <a:srgbClr val="263648"/>
                </a:solidFill>
                <a:latin typeface="Arial"/>
                <a:ea typeface="Arial"/>
                <a:cs typeface="Arial"/>
              </a:defRPr>
            </a:lvl8pPr>
            <a:lvl9pPr>
              <a:defRPr sz="1875" b="0">
                <a:solidFill>
                  <a:srgbClr val="263648"/>
                </a:solidFill>
                <a:latin typeface="Arial"/>
                <a:ea typeface="Arial"/>
                <a:cs typeface="Arial"/>
              </a:defRPr>
            </a:lvl9pPr>
          </a:lstStyle>
          <a:p xmlns:a="http://schemas.openxmlformats.org/drawingml/2006/main">
            <a:pPr>
              <a:defRPr sz="1875" b="0">
                <a:solidFill>
                  <a:srgbClr val="263648"/>
                </a:solidFill>
                <a:latin typeface="Arial"/>
                <a:ea typeface="Arial"/>
                <a:cs typeface="Arial"/>
              </a:defRPr>
            </a:pPr>
            <a:r>
              <a:rPr sz="1875" b="0">
                <a:solidFill>
                  <a:srgbClr val="263648"/>
                </a:solidFill>
                <a:latin typeface="Arial"/>
                <a:ea typeface="Arial"/>
                <a:cs typeface="Arial"/>
              </a:rPr>
              <a:t>13 policies tested • 8 learned • 2,925 retrospective replays</a:t>
            </a:r>
          </a:p>
        </p:txBody>
      </p:sp>
    </p:spTree>
    <p:extLst>
      <p:ext uri="{BB962C8B-B14F-4D97-AF65-F5344CB8AC3E}">
        <p14:creationId xmlns:p14="http://schemas.microsoft.com/office/powerpoint/2010/main" val="13852423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5F5070D-560E-4CBF-B1EB-344E623FD37C}"/>
              </a:ext>
            </a:extLst>
          </p:cNvPr>
          <p:cNvSpPr>
            <a:spLocks xmlns:a="http://schemas.openxmlformats.org/drawingml/2006/main" noGrp="1"/>
          </p:cNvSpPr>
          <p:nvPr/>
        </p:nvSpPr>
        <p:spPr>
          <a:xfrm xmlns:a="http://schemas.openxmlformats.org/drawingml/2006/main">
            <a:off x="6477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7324D"/>
                </a:solidFill>
                <a:latin typeface="Arial"/>
                <a:ea typeface="Arial"/>
                <a:cs typeface="Arial"/>
              </a:defRPr>
            </a:defPPr>
            <a:lvl1pPr>
              <a:defRPr sz="3225" b="1">
                <a:solidFill>
                  <a:srgbClr val="17324D"/>
                </a:solidFill>
                <a:latin typeface="Arial"/>
                <a:ea typeface="Arial"/>
                <a:cs typeface="Arial"/>
              </a:defRPr>
            </a:lvl1pPr>
            <a:lvl2pPr>
              <a:defRPr sz="3225" b="1">
                <a:solidFill>
                  <a:srgbClr val="17324D"/>
                </a:solidFill>
                <a:latin typeface="Arial"/>
                <a:ea typeface="Arial"/>
                <a:cs typeface="Arial"/>
              </a:defRPr>
            </a:lvl2pPr>
            <a:lvl3pPr>
              <a:defRPr sz="3225" b="1">
                <a:solidFill>
                  <a:srgbClr val="17324D"/>
                </a:solidFill>
                <a:latin typeface="Arial"/>
                <a:ea typeface="Arial"/>
                <a:cs typeface="Arial"/>
              </a:defRPr>
            </a:lvl3pPr>
            <a:lvl4pPr>
              <a:defRPr sz="3225" b="1">
                <a:solidFill>
                  <a:srgbClr val="17324D"/>
                </a:solidFill>
                <a:latin typeface="Arial"/>
                <a:ea typeface="Arial"/>
                <a:cs typeface="Arial"/>
              </a:defRPr>
            </a:lvl4pPr>
            <a:lvl5pPr>
              <a:defRPr sz="3225" b="1">
                <a:solidFill>
                  <a:srgbClr val="17324D"/>
                </a:solidFill>
                <a:latin typeface="Arial"/>
                <a:ea typeface="Arial"/>
                <a:cs typeface="Arial"/>
              </a:defRPr>
            </a:lvl5pPr>
            <a:lvl6pPr>
              <a:defRPr sz="3225" b="1">
                <a:solidFill>
                  <a:srgbClr val="17324D"/>
                </a:solidFill>
                <a:latin typeface="Arial"/>
                <a:ea typeface="Arial"/>
                <a:cs typeface="Arial"/>
              </a:defRPr>
            </a:lvl6pPr>
            <a:lvl7pPr>
              <a:defRPr sz="3225" b="1">
                <a:solidFill>
                  <a:srgbClr val="17324D"/>
                </a:solidFill>
                <a:latin typeface="Arial"/>
                <a:ea typeface="Arial"/>
                <a:cs typeface="Arial"/>
              </a:defRPr>
            </a:lvl7pPr>
            <a:lvl8pPr>
              <a:defRPr sz="3225" b="1">
                <a:solidFill>
                  <a:srgbClr val="17324D"/>
                </a:solidFill>
                <a:latin typeface="Arial"/>
                <a:ea typeface="Arial"/>
                <a:cs typeface="Arial"/>
              </a:defRPr>
            </a:lvl8pPr>
            <a:lvl9pPr>
              <a:defRPr sz="3225" b="1">
                <a:solidFill>
                  <a:srgbClr val="17324D"/>
                </a:solidFill>
                <a:latin typeface="Arial"/>
                <a:ea typeface="Arial"/>
                <a:cs typeface="Arial"/>
              </a:defRPr>
            </a:lvl9pPr>
          </a:lstStyle>
          <a:p xmlns:a="http://schemas.openxmlformats.org/drawingml/2006/main">
            <a:pPr>
              <a:defRPr sz="3225" b="1">
                <a:solidFill>
                  <a:srgbClr val="17324D"/>
                </a:solidFill>
                <a:latin typeface="Arial"/>
                <a:ea typeface="Arial"/>
                <a:cs typeface="Arial"/>
              </a:defRPr>
            </a:pPr>
            <a:r>
              <a:rPr sz="3225" b="1">
                <a:solidFill>
                  <a:srgbClr val="17324D"/>
                </a:solidFill>
                <a:latin typeface="Arial"/>
                <a:ea typeface="Arial"/>
                <a:cs typeface="Arial"/>
              </a:rPr>
              <a:t>Explainability and uncertainty</a:t>
            </a:r>
          </a:p>
        </p:txBody>
      </p:sp>
      <p:sp>
        <p:nvSpPr>
          <p:cNvPr id="2" name="">
            <a:extLst xmlns:a="http://schemas.openxmlformats.org/drawingml/2006/main">
              <a:ext uri="{FF2B5EF4-FFF2-40B4-BE49-F238E27FC236}">
                <a16:creationId xmlns:a16="http://schemas.microsoft.com/office/drawing/2014/main" id="{235B5882-9D58-41F4-859E-070EF8723512}"/>
              </a:ext>
            </a:extLst>
          </p:cNvPr>
          <p:cNvSpPr>
            <a:spLocks xmlns:a="http://schemas.openxmlformats.org/drawingml/2006/main" noGrp="1"/>
          </p:cNvSpPr>
          <p:nvPr/>
        </p:nvSpPr>
        <p:spPr>
          <a:xfrm xmlns:a="http://schemas.openxmlformats.org/drawingml/2006/main">
            <a:off x="647700" y="1066800"/>
            <a:ext cx="10896600" cy="0"/>
          </a:xfrm>
          <a:prstGeom xmlns:a="http://schemas.openxmlformats.org/drawingml/2006/main" prst="line">
            <a:avLst/>
          </a:prstGeom>
          <a:noFill xmlns:a="http://schemas.openxmlformats.org/drawingml/2006/main"/>
          <a:ln xmlns:a="http://schemas.openxmlformats.org/drawingml/2006/main" w="9525">
            <a:solidFill>
              <a:srgbClr val="D9E1E8"/>
            </a:solidFill>
            <a:prstDash val="solid"/>
          </a:ln>
        </p:spPr>
      </p:sp>
      <p:sp>
        <p:nvSpPr>
          <p:cNvPr id="3" name="">
            <a:extLst xmlns:a="http://schemas.openxmlformats.org/drawingml/2006/main">
              <a:ext uri="{FF2B5EF4-FFF2-40B4-BE49-F238E27FC236}">
                <a16:creationId xmlns:a16="http://schemas.microsoft.com/office/drawing/2014/main" id="{1CD969E5-DBB1-4432-8E7F-1ACAB052AECF}"/>
              </a:ext>
            </a:extLst>
          </p:cNvPr>
          <p:cNvSpPr>
            <a:spLocks xmlns:a="http://schemas.openxmlformats.org/drawingml/2006/main" noGrp="1"/>
          </p:cNvSpPr>
          <p:nvPr/>
        </p:nvSpPr>
        <p:spPr>
          <a:xfrm xmlns:a="http://schemas.openxmlformats.org/drawingml/2006/main">
            <a:off x="647700" y="6534150"/>
            <a:ext cx="10896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607286"/>
                </a:solidFill>
                <a:latin typeface="Arial"/>
                <a:ea typeface="Arial"/>
                <a:cs typeface="Arial"/>
              </a:defRPr>
            </a:defPPr>
            <a:lvl1pPr>
              <a:defRPr sz="900">
                <a:solidFill>
                  <a:srgbClr val="607286"/>
                </a:solidFill>
                <a:latin typeface="Arial"/>
                <a:ea typeface="Arial"/>
                <a:cs typeface="Arial"/>
              </a:defRPr>
            </a:lvl1pPr>
            <a:lvl2pPr>
              <a:defRPr sz="900">
                <a:solidFill>
                  <a:srgbClr val="607286"/>
                </a:solidFill>
                <a:latin typeface="Arial"/>
                <a:ea typeface="Arial"/>
                <a:cs typeface="Arial"/>
              </a:defRPr>
            </a:lvl2pPr>
            <a:lvl3pPr>
              <a:defRPr sz="900">
                <a:solidFill>
                  <a:srgbClr val="607286"/>
                </a:solidFill>
                <a:latin typeface="Arial"/>
                <a:ea typeface="Arial"/>
                <a:cs typeface="Arial"/>
              </a:defRPr>
            </a:lvl3pPr>
            <a:lvl4pPr>
              <a:defRPr sz="900">
                <a:solidFill>
                  <a:srgbClr val="607286"/>
                </a:solidFill>
                <a:latin typeface="Arial"/>
                <a:ea typeface="Arial"/>
                <a:cs typeface="Arial"/>
              </a:defRPr>
            </a:lvl4pPr>
            <a:lvl5pPr>
              <a:defRPr sz="900">
                <a:solidFill>
                  <a:srgbClr val="607286"/>
                </a:solidFill>
                <a:latin typeface="Arial"/>
                <a:ea typeface="Arial"/>
                <a:cs typeface="Arial"/>
              </a:defRPr>
            </a:lvl5pPr>
            <a:lvl6pPr>
              <a:defRPr sz="900">
                <a:solidFill>
                  <a:srgbClr val="607286"/>
                </a:solidFill>
                <a:latin typeface="Arial"/>
                <a:ea typeface="Arial"/>
                <a:cs typeface="Arial"/>
              </a:defRPr>
            </a:lvl6pPr>
            <a:lvl7pPr>
              <a:defRPr sz="900">
                <a:solidFill>
                  <a:srgbClr val="607286"/>
                </a:solidFill>
                <a:latin typeface="Arial"/>
                <a:ea typeface="Arial"/>
                <a:cs typeface="Arial"/>
              </a:defRPr>
            </a:lvl7pPr>
            <a:lvl8pPr>
              <a:defRPr sz="900">
                <a:solidFill>
                  <a:srgbClr val="607286"/>
                </a:solidFill>
                <a:latin typeface="Arial"/>
                <a:ea typeface="Arial"/>
                <a:cs typeface="Arial"/>
              </a:defRPr>
            </a:lvl8pPr>
            <a:lvl9pPr>
              <a:defRPr sz="900">
                <a:solidFill>
                  <a:srgbClr val="607286"/>
                </a:solidFill>
                <a:latin typeface="Arial"/>
                <a:ea typeface="Arial"/>
                <a:cs typeface="Arial"/>
              </a:defRPr>
            </a:lvl9pPr>
          </a:lstStyle>
          <a:p xmlns:a="http://schemas.openxmlformats.org/drawingml/2006/main">
            <a:pPr>
              <a:defRPr sz="900">
                <a:solidFill>
                  <a:srgbClr val="607286"/>
                </a:solidFill>
                <a:latin typeface="Arial"/>
                <a:ea typeface="Arial"/>
                <a:cs typeface="Arial"/>
              </a:defRPr>
            </a:pPr>
            <a:r>
              <a:rPr sz="900">
                <a:solidFill>
                  <a:srgbClr val="607286"/>
                </a:solidFill>
                <a:latin typeface="Arial"/>
                <a:ea typeface="Arial"/>
                <a:cs typeface="Arial"/>
              </a:rPr>
              <a:t>ISAForge  /  ECE 4803                                    7</a:t>
            </a:r>
          </a:p>
        </p:txBody>
      </p:sp>
      <p:graphicFrame>
        <p:nvGraphicFramePr>
          <p:cNvPr id="4" name="Chart">
            <a:extLst xmlns:a="http://schemas.openxmlformats.org/drawingml/2006/main">
              <a:ext uri="{FF2B5EF4-FFF2-40B4-BE49-F238E27FC236}">
                <a16:creationId xmlns:a16="http://schemas.microsoft.com/office/drawing/2014/main" id="{E40E3257-79C1-46D4-B993-8FCE999E8D15}"/>
              </a:ext>
            </a:extLst>
          </p:cNvPr>
          <p:cNvGraphicFramePr/>
          <p:nvPr/>
        </p:nvGraphicFramePr>
        <p:xfrm>
          <a:off xmlns:a="http://schemas.openxmlformats.org/drawingml/2006/main" x="476250" y="1571625"/>
          <a:ext xmlns:a="http://schemas.openxmlformats.org/drawingml/2006/main" cx="6667500" cy="3619500"/>
        </p:xfrm>
        <a:graphic xmlns:a="http://schemas.openxmlformats.org/drawingml/2006/main">
          <a:graphicData uri="http://schemas.openxmlformats.org/drawingml/2006/chart">
            <c:chart xmlns:r="http://schemas.openxmlformats.org/officeDocument/2006/relationships" xmlns:c="http://schemas.openxmlformats.org/drawingml/2006/chart" r:id="Raffd7ab425ac4ed8"/>
          </a:graphicData>
        </a:graphic>
      </p:graphicFrame>
      <p:sp>
        <p:nvSpPr>
          <p:cNvPr id="5" name="">
            <a:extLst xmlns:a="http://schemas.openxmlformats.org/drawingml/2006/main">
              <a:ext uri="{FF2B5EF4-FFF2-40B4-BE49-F238E27FC236}">
                <a16:creationId xmlns:a16="http://schemas.microsoft.com/office/drawing/2014/main" id="{9BFB3EDF-855B-4605-9B02-41727417BA69}"/>
              </a:ext>
            </a:extLst>
          </p:cNvPr>
          <p:cNvSpPr>
            <a:spLocks xmlns:a="http://schemas.openxmlformats.org/drawingml/2006/main" noGrp="1"/>
          </p:cNvSpPr>
          <p:nvPr/>
        </p:nvSpPr>
        <p:spPr>
          <a:xfrm xmlns:a="http://schemas.openxmlformats.org/drawingml/2006/main">
            <a:off x="7524750" y="1676400"/>
            <a:ext cx="3905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7324D"/>
                </a:solidFill>
                <a:latin typeface="Arial"/>
                <a:ea typeface="Arial"/>
                <a:cs typeface="Arial"/>
              </a:defRPr>
            </a:defPPr>
            <a:lvl1pPr>
              <a:defRPr sz="2250" b="1">
                <a:solidFill>
                  <a:srgbClr val="17324D"/>
                </a:solidFill>
                <a:latin typeface="Arial"/>
                <a:ea typeface="Arial"/>
                <a:cs typeface="Arial"/>
              </a:defRPr>
            </a:lvl1pPr>
            <a:lvl2pPr>
              <a:defRPr sz="2250" b="1">
                <a:solidFill>
                  <a:srgbClr val="17324D"/>
                </a:solidFill>
                <a:latin typeface="Arial"/>
                <a:ea typeface="Arial"/>
                <a:cs typeface="Arial"/>
              </a:defRPr>
            </a:lvl2pPr>
            <a:lvl3pPr>
              <a:defRPr sz="2250" b="1">
                <a:solidFill>
                  <a:srgbClr val="17324D"/>
                </a:solidFill>
                <a:latin typeface="Arial"/>
                <a:ea typeface="Arial"/>
                <a:cs typeface="Arial"/>
              </a:defRPr>
            </a:lvl3pPr>
            <a:lvl4pPr>
              <a:defRPr sz="2250" b="1">
                <a:solidFill>
                  <a:srgbClr val="17324D"/>
                </a:solidFill>
                <a:latin typeface="Arial"/>
                <a:ea typeface="Arial"/>
                <a:cs typeface="Arial"/>
              </a:defRPr>
            </a:lvl4pPr>
            <a:lvl5pPr>
              <a:defRPr sz="2250" b="1">
                <a:solidFill>
                  <a:srgbClr val="17324D"/>
                </a:solidFill>
                <a:latin typeface="Arial"/>
                <a:ea typeface="Arial"/>
                <a:cs typeface="Arial"/>
              </a:defRPr>
            </a:lvl5pPr>
            <a:lvl6pPr>
              <a:defRPr sz="2250" b="1">
                <a:solidFill>
                  <a:srgbClr val="17324D"/>
                </a:solidFill>
                <a:latin typeface="Arial"/>
                <a:ea typeface="Arial"/>
                <a:cs typeface="Arial"/>
              </a:defRPr>
            </a:lvl6pPr>
            <a:lvl7pPr>
              <a:defRPr sz="2250" b="1">
                <a:solidFill>
                  <a:srgbClr val="17324D"/>
                </a:solidFill>
                <a:latin typeface="Arial"/>
                <a:ea typeface="Arial"/>
                <a:cs typeface="Arial"/>
              </a:defRPr>
            </a:lvl7pPr>
            <a:lvl8pPr>
              <a:defRPr sz="2250" b="1">
                <a:solidFill>
                  <a:srgbClr val="17324D"/>
                </a:solidFill>
                <a:latin typeface="Arial"/>
                <a:ea typeface="Arial"/>
                <a:cs typeface="Arial"/>
              </a:defRPr>
            </a:lvl8pPr>
            <a:lvl9pPr>
              <a:defRPr sz="2250" b="1">
                <a:solidFill>
                  <a:srgbClr val="17324D"/>
                </a:solidFill>
                <a:latin typeface="Arial"/>
                <a:ea typeface="Arial"/>
                <a:cs typeface="Arial"/>
              </a:defRPr>
            </a:lvl9pPr>
          </a:lstStyle>
          <a:p xmlns:a="http://schemas.openxmlformats.org/drawingml/2006/main">
            <a:pPr>
              <a:defRPr sz="2250" b="1">
                <a:solidFill>
                  <a:srgbClr val="17324D"/>
                </a:solidFill>
                <a:latin typeface="Arial"/>
                <a:ea typeface="Arial"/>
                <a:cs typeface="Arial"/>
              </a:defRPr>
            </a:pPr>
            <a:r>
              <a:rPr sz="2250" b="1">
                <a:solidFill>
                  <a:srgbClr val="17324D"/>
                </a:solidFill>
                <a:latin typeface="Arial"/>
                <a:ea typeface="Arial"/>
                <a:cs typeface="Arial"/>
              </a:rPr>
              <a:t>A high rank can still fail</a:t>
            </a:r>
          </a:p>
        </p:txBody>
      </p:sp>
      <p:sp>
        <p:nvSpPr>
          <p:cNvPr id="6" name="">
            <a:extLst xmlns:a="http://schemas.openxmlformats.org/drawingml/2006/main">
              <a:ext uri="{FF2B5EF4-FFF2-40B4-BE49-F238E27FC236}">
                <a16:creationId xmlns:a16="http://schemas.microsoft.com/office/drawing/2014/main" id="{3A1E2A7F-162E-4F9A-A7EA-30061948E6B3}"/>
              </a:ext>
            </a:extLst>
          </p:cNvPr>
          <p:cNvSpPr>
            <a:spLocks xmlns:a="http://schemas.openxmlformats.org/drawingml/2006/main" noGrp="1"/>
          </p:cNvSpPr>
          <p:nvPr/>
        </p:nvSpPr>
        <p:spPr>
          <a:xfrm xmlns:a="http://schemas.openxmlformats.org/drawingml/2006/main">
            <a:off x="7524750" y="2543175"/>
            <a:ext cx="39052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263648"/>
                </a:solidFill>
                <a:latin typeface="Arial"/>
                <a:ea typeface="Arial"/>
                <a:cs typeface="Arial"/>
              </a:defRPr>
            </a:defPPr>
            <a:lvl1pPr>
              <a:defRPr sz="2025" b="0">
                <a:solidFill>
                  <a:srgbClr val="263648"/>
                </a:solidFill>
                <a:latin typeface="Arial"/>
                <a:ea typeface="Arial"/>
                <a:cs typeface="Arial"/>
              </a:defRPr>
            </a:lvl1pPr>
            <a:lvl2pPr>
              <a:defRPr sz="2025" b="0">
                <a:solidFill>
                  <a:srgbClr val="263648"/>
                </a:solidFill>
                <a:latin typeface="Arial"/>
                <a:ea typeface="Arial"/>
                <a:cs typeface="Arial"/>
              </a:defRPr>
            </a:lvl2pPr>
            <a:lvl3pPr>
              <a:defRPr sz="2025" b="0">
                <a:solidFill>
                  <a:srgbClr val="263648"/>
                </a:solidFill>
                <a:latin typeface="Arial"/>
                <a:ea typeface="Arial"/>
                <a:cs typeface="Arial"/>
              </a:defRPr>
            </a:lvl3pPr>
            <a:lvl4pPr>
              <a:defRPr sz="2025" b="0">
                <a:solidFill>
                  <a:srgbClr val="263648"/>
                </a:solidFill>
                <a:latin typeface="Arial"/>
                <a:ea typeface="Arial"/>
                <a:cs typeface="Arial"/>
              </a:defRPr>
            </a:lvl4pPr>
            <a:lvl5pPr>
              <a:defRPr sz="2025" b="0">
                <a:solidFill>
                  <a:srgbClr val="263648"/>
                </a:solidFill>
                <a:latin typeface="Arial"/>
                <a:ea typeface="Arial"/>
                <a:cs typeface="Arial"/>
              </a:defRPr>
            </a:lvl5pPr>
            <a:lvl6pPr>
              <a:defRPr sz="2025" b="0">
                <a:solidFill>
                  <a:srgbClr val="263648"/>
                </a:solidFill>
                <a:latin typeface="Arial"/>
                <a:ea typeface="Arial"/>
                <a:cs typeface="Arial"/>
              </a:defRPr>
            </a:lvl6pPr>
            <a:lvl7pPr>
              <a:defRPr sz="2025" b="0">
                <a:solidFill>
                  <a:srgbClr val="263648"/>
                </a:solidFill>
                <a:latin typeface="Arial"/>
                <a:ea typeface="Arial"/>
                <a:cs typeface="Arial"/>
              </a:defRPr>
            </a:lvl7pPr>
            <a:lvl8pPr>
              <a:defRPr sz="2025" b="0">
                <a:solidFill>
                  <a:srgbClr val="263648"/>
                </a:solidFill>
                <a:latin typeface="Arial"/>
                <a:ea typeface="Arial"/>
                <a:cs typeface="Arial"/>
              </a:defRPr>
            </a:lvl8pPr>
            <a:lvl9pPr>
              <a:defRPr sz="2025" b="0">
                <a:solidFill>
                  <a:srgbClr val="263648"/>
                </a:solidFill>
                <a:latin typeface="Arial"/>
                <a:ea typeface="Arial"/>
                <a:cs typeface="Arial"/>
              </a:defRPr>
            </a:lvl9pPr>
          </a:lstStyle>
          <a:p xmlns:a="http://schemas.openxmlformats.org/drawingml/2006/main">
            <a:pPr>
              <a:defRPr sz="2025" b="0">
                <a:solidFill>
                  <a:srgbClr val="263648"/>
                </a:solidFill>
                <a:latin typeface="Arial"/>
                <a:ea typeface="Arial"/>
                <a:cs typeface="Arial"/>
              </a:defRPr>
            </a:pPr>
            <a:r>
              <a:rPr sz="2025" b="0">
                <a:solidFill>
                  <a:srgbClr val="263648"/>
                </a:solidFill>
                <a:latin typeface="Arial"/>
                <a:ea typeface="Arial"/>
                <a:cs typeface="Arial"/>
              </a:rPr>
              <a:t>Bitcount: top-ranked</a:t>
            </a:r>
          </a:p>
          <a:p xmlns:a="http://schemas.openxmlformats.org/drawingml/2006/main">
            <a:pPr>
              <a:defRPr sz="2025" b="0">
                <a:solidFill>
                  <a:srgbClr val="263648"/>
                </a:solidFill>
                <a:latin typeface="Arial"/>
                <a:ea typeface="Arial"/>
                <a:cs typeface="Arial"/>
              </a:defRPr>
            </a:pPr>
            <a:r>
              <a:rPr sz="2025" b="0">
                <a:solidFill>
                  <a:srgbClr val="263648"/>
                </a:solidFill>
                <a:latin typeface="Arial"/>
                <a:ea typeface="Arial"/>
                <a:cs typeface="Arial"/>
              </a:rPr>
              <a:t>1.0088× cycle speedup</a:t>
            </a:r>
          </a:p>
          <a:p xmlns:a="http://schemas.openxmlformats.org/drawingml/2006/main">
            <a:pPr>
              <a:defRPr sz="2025" b="0">
                <a:solidFill>
                  <a:srgbClr val="263648"/>
                </a:solidFill>
                <a:latin typeface="Arial"/>
                <a:ea typeface="Arial"/>
                <a:cs typeface="Arial"/>
              </a:defRPr>
            </a:pPr>
            <a:r>
              <a:rPr sz="2025" b="0">
                <a:solidFill>
                  <a:srgbClr val="263648"/>
                </a:solidFill>
                <a:latin typeface="Arial"/>
                <a:ea typeface="Arial"/>
                <a:cs typeface="Arial"/>
              </a:rPr>
              <a:t>+65 LUT4 &gt; +64 cap</a:t>
            </a:r>
          </a:p>
        </p:txBody>
      </p:sp>
      <p:sp>
        <p:nvSpPr>
          <p:cNvPr id="7" name="">
            <a:extLst xmlns:a="http://schemas.openxmlformats.org/drawingml/2006/main">
              <a:ext uri="{FF2B5EF4-FFF2-40B4-BE49-F238E27FC236}">
                <a16:creationId xmlns:a16="http://schemas.microsoft.com/office/drawing/2014/main" id="{39472697-926F-4D1B-B203-417646FD62EB}"/>
              </a:ext>
            </a:extLst>
          </p:cNvPr>
          <p:cNvSpPr>
            <a:spLocks xmlns:a="http://schemas.openxmlformats.org/drawingml/2006/main" noGrp="1"/>
          </p:cNvSpPr>
          <p:nvPr/>
        </p:nvSpPr>
        <p:spPr>
          <a:xfrm xmlns:a="http://schemas.openxmlformats.org/drawingml/2006/main">
            <a:off x="7524750" y="4076700"/>
            <a:ext cx="3905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A65A00"/>
                </a:solidFill>
                <a:latin typeface="Arial"/>
                <a:ea typeface="Arial"/>
                <a:cs typeface="Arial"/>
              </a:defRPr>
            </a:defPPr>
            <a:lvl1pPr>
              <a:defRPr sz="1875" b="1">
                <a:solidFill>
                  <a:srgbClr val="A65A00"/>
                </a:solidFill>
                <a:latin typeface="Arial"/>
                <a:ea typeface="Arial"/>
                <a:cs typeface="Arial"/>
              </a:defRPr>
            </a:lvl1pPr>
            <a:lvl2pPr>
              <a:defRPr sz="1875" b="1">
                <a:solidFill>
                  <a:srgbClr val="A65A00"/>
                </a:solidFill>
                <a:latin typeface="Arial"/>
                <a:ea typeface="Arial"/>
                <a:cs typeface="Arial"/>
              </a:defRPr>
            </a:lvl2pPr>
            <a:lvl3pPr>
              <a:defRPr sz="1875" b="1">
                <a:solidFill>
                  <a:srgbClr val="A65A00"/>
                </a:solidFill>
                <a:latin typeface="Arial"/>
                <a:ea typeface="Arial"/>
                <a:cs typeface="Arial"/>
              </a:defRPr>
            </a:lvl3pPr>
            <a:lvl4pPr>
              <a:defRPr sz="1875" b="1">
                <a:solidFill>
                  <a:srgbClr val="A65A00"/>
                </a:solidFill>
                <a:latin typeface="Arial"/>
                <a:ea typeface="Arial"/>
                <a:cs typeface="Arial"/>
              </a:defRPr>
            </a:lvl4pPr>
            <a:lvl5pPr>
              <a:defRPr sz="1875" b="1">
                <a:solidFill>
                  <a:srgbClr val="A65A00"/>
                </a:solidFill>
                <a:latin typeface="Arial"/>
                <a:ea typeface="Arial"/>
                <a:cs typeface="Arial"/>
              </a:defRPr>
            </a:lvl5pPr>
            <a:lvl6pPr>
              <a:defRPr sz="1875" b="1">
                <a:solidFill>
                  <a:srgbClr val="A65A00"/>
                </a:solidFill>
                <a:latin typeface="Arial"/>
                <a:ea typeface="Arial"/>
                <a:cs typeface="Arial"/>
              </a:defRPr>
            </a:lvl6pPr>
            <a:lvl7pPr>
              <a:defRPr sz="1875" b="1">
                <a:solidFill>
                  <a:srgbClr val="A65A00"/>
                </a:solidFill>
                <a:latin typeface="Arial"/>
                <a:ea typeface="Arial"/>
                <a:cs typeface="Arial"/>
              </a:defRPr>
            </a:lvl7pPr>
            <a:lvl8pPr>
              <a:defRPr sz="1875" b="1">
                <a:solidFill>
                  <a:srgbClr val="A65A00"/>
                </a:solidFill>
                <a:latin typeface="Arial"/>
                <a:ea typeface="Arial"/>
                <a:cs typeface="Arial"/>
              </a:defRPr>
            </a:lvl8pPr>
            <a:lvl9pPr>
              <a:defRPr sz="1875" b="1">
                <a:solidFill>
                  <a:srgbClr val="A65A00"/>
                </a:solidFill>
                <a:latin typeface="Arial"/>
                <a:ea typeface="Arial"/>
                <a:cs typeface="Arial"/>
              </a:defRPr>
            </a:lvl9pPr>
          </a:lstStyle>
          <a:p xmlns:a="http://schemas.openxmlformats.org/drawingml/2006/main">
            <a:pPr>
              <a:defRPr sz="1875" b="1">
                <a:solidFill>
                  <a:srgbClr val="A65A00"/>
                </a:solidFill>
                <a:latin typeface="Arial"/>
                <a:ea typeface="Arial"/>
                <a:cs typeface="Arial"/>
              </a:defRPr>
            </a:pPr>
            <a:r>
              <a:rPr sz="1875" b="1">
                <a:solidFill>
                  <a:srgbClr val="A65A00"/>
                </a:solidFill>
                <a:latin typeface="Arial"/>
                <a:ea typeface="Arial"/>
                <a:cs typeface="Arial"/>
              </a:rPr>
              <a:t>Correctness passed;</a:t>
            </a:r>
          </a:p>
          <a:p xmlns:a="http://schemas.openxmlformats.org/drawingml/2006/main">
            <a:pPr>
              <a:defRPr sz="1875" b="1">
                <a:solidFill>
                  <a:srgbClr val="A65A00"/>
                </a:solidFill>
                <a:latin typeface="Arial"/>
                <a:ea typeface="Arial"/>
                <a:cs typeface="Arial"/>
              </a:defRPr>
            </a:pPr>
            <a:r>
              <a:rPr sz="1875" b="1">
                <a:solidFill>
                  <a:srgbClr val="A65A00"/>
                </a:solidFill>
                <a:latin typeface="Arial"/>
                <a:ea typeface="Arial"/>
                <a:cs typeface="Arial"/>
              </a:rPr>
              <a:t>area made it infeasible.</a:t>
            </a:r>
          </a:p>
        </p:txBody>
      </p:sp>
      <p:sp>
        <p:nvSpPr>
          <p:cNvPr id="8" name="">
            <a:extLst xmlns:a="http://schemas.openxmlformats.org/drawingml/2006/main">
              <a:ext uri="{FF2B5EF4-FFF2-40B4-BE49-F238E27FC236}">
                <a16:creationId xmlns:a16="http://schemas.microsoft.com/office/drawing/2014/main" id="{0F6316E7-DBB9-4967-AE37-60A8CBC847AD}"/>
              </a:ext>
            </a:extLst>
          </p:cNvPr>
          <p:cNvSpPr>
            <a:spLocks xmlns:a="http://schemas.openxmlformats.org/drawingml/2006/main" noGrp="1"/>
          </p:cNvSpPr>
          <p:nvPr/>
        </p:nvSpPr>
        <p:spPr>
          <a:xfrm xmlns:a="http://schemas.openxmlformats.org/drawingml/2006/main">
            <a:off x="685800" y="56007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2878A8"/>
                </a:solidFill>
                <a:latin typeface="Arial"/>
                <a:ea typeface="Arial"/>
                <a:cs typeface="Arial"/>
              </a:defRPr>
            </a:defPPr>
            <a:lvl1pPr>
              <a:defRPr sz="2025" b="1">
                <a:solidFill>
                  <a:srgbClr val="2878A8"/>
                </a:solidFill>
                <a:latin typeface="Arial"/>
                <a:ea typeface="Arial"/>
                <a:cs typeface="Arial"/>
              </a:defRPr>
            </a:lvl1pPr>
            <a:lvl2pPr>
              <a:defRPr sz="2025" b="1">
                <a:solidFill>
                  <a:srgbClr val="2878A8"/>
                </a:solidFill>
                <a:latin typeface="Arial"/>
                <a:ea typeface="Arial"/>
                <a:cs typeface="Arial"/>
              </a:defRPr>
            </a:lvl2pPr>
            <a:lvl3pPr>
              <a:defRPr sz="2025" b="1">
                <a:solidFill>
                  <a:srgbClr val="2878A8"/>
                </a:solidFill>
                <a:latin typeface="Arial"/>
                <a:ea typeface="Arial"/>
                <a:cs typeface="Arial"/>
              </a:defRPr>
            </a:lvl3pPr>
            <a:lvl4pPr>
              <a:defRPr sz="2025" b="1">
                <a:solidFill>
                  <a:srgbClr val="2878A8"/>
                </a:solidFill>
                <a:latin typeface="Arial"/>
                <a:ea typeface="Arial"/>
                <a:cs typeface="Arial"/>
              </a:defRPr>
            </a:lvl4pPr>
            <a:lvl5pPr>
              <a:defRPr sz="2025" b="1">
                <a:solidFill>
                  <a:srgbClr val="2878A8"/>
                </a:solidFill>
                <a:latin typeface="Arial"/>
                <a:ea typeface="Arial"/>
                <a:cs typeface="Arial"/>
              </a:defRPr>
            </a:lvl5pPr>
            <a:lvl6pPr>
              <a:defRPr sz="2025" b="1">
                <a:solidFill>
                  <a:srgbClr val="2878A8"/>
                </a:solidFill>
                <a:latin typeface="Arial"/>
                <a:ea typeface="Arial"/>
                <a:cs typeface="Arial"/>
              </a:defRPr>
            </a:lvl6pPr>
            <a:lvl7pPr>
              <a:defRPr sz="2025" b="1">
                <a:solidFill>
                  <a:srgbClr val="2878A8"/>
                </a:solidFill>
                <a:latin typeface="Arial"/>
                <a:ea typeface="Arial"/>
                <a:cs typeface="Arial"/>
              </a:defRPr>
            </a:lvl7pPr>
            <a:lvl8pPr>
              <a:defRPr sz="2025" b="1">
                <a:solidFill>
                  <a:srgbClr val="2878A8"/>
                </a:solidFill>
                <a:latin typeface="Arial"/>
                <a:ea typeface="Arial"/>
                <a:cs typeface="Arial"/>
              </a:defRPr>
            </a:lvl8pPr>
            <a:lvl9pPr>
              <a:defRPr sz="2025" b="1">
                <a:solidFill>
                  <a:srgbClr val="2878A8"/>
                </a:solidFill>
                <a:latin typeface="Arial"/>
                <a:ea typeface="Arial"/>
                <a:cs typeface="Arial"/>
              </a:defRPr>
            </a:lvl9pPr>
          </a:lstStyle>
          <a:p xmlns:a="http://schemas.openxmlformats.org/drawingml/2006/main">
            <a:pPr>
              <a:defRPr sz="2025" b="1">
                <a:solidFill>
                  <a:srgbClr val="2878A8"/>
                </a:solidFill>
                <a:latin typeface="Arial"/>
                <a:ea typeface="Arial"/>
                <a:cs typeface="Arial"/>
              </a:defRPr>
            </a:pPr>
            <a:r>
              <a:rPr sz="2025" b="1">
                <a:solidFill>
                  <a:srgbClr val="2878A8"/>
                </a:solidFill>
                <a:latin typeface="Arial"/>
                <a:ea typeface="Arial"/>
                <a:cs typeface="Arial"/>
              </a:rPr>
              <a:t>Uncertainty guides questions; measured correctness and feasibility decide.</a:t>
            </a:r>
          </a:p>
        </p:txBody>
      </p:sp>
    </p:spTree>
    <p:extLst>
      <p:ext uri="{BB962C8B-B14F-4D97-AF65-F5344CB8AC3E}">
        <p14:creationId xmlns:p14="http://schemas.microsoft.com/office/powerpoint/2010/main" val="14673656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C4EA1B4-7E57-4437-BD1B-F15E57BB0B1C}"/>
              </a:ext>
            </a:extLst>
          </p:cNvPr>
          <p:cNvSpPr>
            <a:spLocks xmlns:a="http://schemas.openxmlformats.org/drawingml/2006/main" noGrp="1"/>
          </p:cNvSpPr>
          <p:nvPr/>
        </p:nvSpPr>
        <p:spPr>
          <a:xfrm xmlns:a="http://schemas.openxmlformats.org/drawingml/2006/main">
            <a:off x="6477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7324D"/>
                </a:solidFill>
                <a:latin typeface="Arial"/>
                <a:ea typeface="Arial"/>
                <a:cs typeface="Arial"/>
              </a:defRPr>
            </a:defPPr>
            <a:lvl1pPr>
              <a:defRPr sz="3225" b="1">
                <a:solidFill>
                  <a:srgbClr val="17324D"/>
                </a:solidFill>
                <a:latin typeface="Arial"/>
                <a:ea typeface="Arial"/>
                <a:cs typeface="Arial"/>
              </a:defRPr>
            </a:lvl1pPr>
            <a:lvl2pPr>
              <a:defRPr sz="3225" b="1">
                <a:solidFill>
                  <a:srgbClr val="17324D"/>
                </a:solidFill>
                <a:latin typeface="Arial"/>
                <a:ea typeface="Arial"/>
                <a:cs typeface="Arial"/>
              </a:defRPr>
            </a:lvl2pPr>
            <a:lvl3pPr>
              <a:defRPr sz="3225" b="1">
                <a:solidFill>
                  <a:srgbClr val="17324D"/>
                </a:solidFill>
                <a:latin typeface="Arial"/>
                <a:ea typeface="Arial"/>
                <a:cs typeface="Arial"/>
              </a:defRPr>
            </a:lvl3pPr>
            <a:lvl4pPr>
              <a:defRPr sz="3225" b="1">
                <a:solidFill>
                  <a:srgbClr val="17324D"/>
                </a:solidFill>
                <a:latin typeface="Arial"/>
                <a:ea typeface="Arial"/>
                <a:cs typeface="Arial"/>
              </a:defRPr>
            </a:lvl4pPr>
            <a:lvl5pPr>
              <a:defRPr sz="3225" b="1">
                <a:solidFill>
                  <a:srgbClr val="17324D"/>
                </a:solidFill>
                <a:latin typeface="Arial"/>
                <a:ea typeface="Arial"/>
                <a:cs typeface="Arial"/>
              </a:defRPr>
            </a:lvl5pPr>
            <a:lvl6pPr>
              <a:defRPr sz="3225" b="1">
                <a:solidFill>
                  <a:srgbClr val="17324D"/>
                </a:solidFill>
                <a:latin typeface="Arial"/>
                <a:ea typeface="Arial"/>
                <a:cs typeface="Arial"/>
              </a:defRPr>
            </a:lvl6pPr>
            <a:lvl7pPr>
              <a:defRPr sz="3225" b="1">
                <a:solidFill>
                  <a:srgbClr val="17324D"/>
                </a:solidFill>
                <a:latin typeface="Arial"/>
                <a:ea typeface="Arial"/>
                <a:cs typeface="Arial"/>
              </a:defRPr>
            </a:lvl7pPr>
            <a:lvl8pPr>
              <a:defRPr sz="3225" b="1">
                <a:solidFill>
                  <a:srgbClr val="17324D"/>
                </a:solidFill>
                <a:latin typeface="Arial"/>
                <a:ea typeface="Arial"/>
                <a:cs typeface="Arial"/>
              </a:defRPr>
            </a:lvl8pPr>
            <a:lvl9pPr>
              <a:defRPr sz="3225" b="1">
                <a:solidFill>
                  <a:srgbClr val="17324D"/>
                </a:solidFill>
                <a:latin typeface="Arial"/>
                <a:ea typeface="Arial"/>
                <a:cs typeface="Arial"/>
              </a:defRPr>
            </a:lvl9pPr>
          </a:lstStyle>
          <a:p xmlns:a="http://schemas.openxmlformats.org/drawingml/2006/main">
            <a:pPr>
              <a:defRPr sz="3225" b="1">
                <a:solidFill>
                  <a:srgbClr val="17324D"/>
                </a:solidFill>
                <a:latin typeface="Arial"/>
                <a:ea typeface="Arial"/>
                <a:cs typeface="Arial"/>
              </a:defRPr>
            </a:pPr>
            <a:r>
              <a:rPr sz="3225" b="1">
                <a:solidFill>
                  <a:srgbClr val="17324D"/>
                </a:solidFill>
                <a:latin typeface="Arial"/>
                <a:ea typeface="Arial"/>
                <a:cs typeface="Arial"/>
              </a:rPr>
              <a:t>AI agent architecture: implemented and planned</a:t>
            </a:r>
          </a:p>
        </p:txBody>
      </p:sp>
      <p:sp>
        <p:nvSpPr>
          <p:cNvPr id="2" name="">
            <a:extLst xmlns:a="http://schemas.openxmlformats.org/drawingml/2006/main">
              <a:ext uri="{FF2B5EF4-FFF2-40B4-BE49-F238E27FC236}">
                <a16:creationId xmlns:a16="http://schemas.microsoft.com/office/drawing/2014/main" id="{039C4DD4-ADD1-4923-8A26-A2F8FF4739F9}"/>
              </a:ext>
            </a:extLst>
          </p:cNvPr>
          <p:cNvSpPr>
            <a:spLocks xmlns:a="http://schemas.openxmlformats.org/drawingml/2006/main" noGrp="1"/>
          </p:cNvSpPr>
          <p:nvPr/>
        </p:nvSpPr>
        <p:spPr>
          <a:xfrm xmlns:a="http://schemas.openxmlformats.org/drawingml/2006/main">
            <a:off x="647700" y="1066800"/>
            <a:ext cx="10896600" cy="0"/>
          </a:xfrm>
          <a:prstGeom xmlns:a="http://schemas.openxmlformats.org/drawingml/2006/main" prst="line">
            <a:avLst/>
          </a:prstGeom>
          <a:noFill xmlns:a="http://schemas.openxmlformats.org/drawingml/2006/main"/>
          <a:ln xmlns:a="http://schemas.openxmlformats.org/drawingml/2006/main" w="9525">
            <a:solidFill>
              <a:srgbClr val="D9E1E8"/>
            </a:solidFill>
            <a:prstDash val="solid"/>
          </a:ln>
        </p:spPr>
      </p:sp>
      <p:sp>
        <p:nvSpPr>
          <p:cNvPr id="3" name="">
            <a:extLst xmlns:a="http://schemas.openxmlformats.org/drawingml/2006/main">
              <a:ext uri="{FF2B5EF4-FFF2-40B4-BE49-F238E27FC236}">
                <a16:creationId xmlns:a16="http://schemas.microsoft.com/office/drawing/2014/main" id="{654CB6DF-B8EB-4E08-8950-6F6A704F194B}"/>
              </a:ext>
            </a:extLst>
          </p:cNvPr>
          <p:cNvSpPr>
            <a:spLocks xmlns:a="http://schemas.openxmlformats.org/drawingml/2006/main" noGrp="1"/>
          </p:cNvSpPr>
          <p:nvPr/>
        </p:nvSpPr>
        <p:spPr>
          <a:xfrm xmlns:a="http://schemas.openxmlformats.org/drawingml/2006/main">
            <a:off x="647700" y="6534150"/>
            <a:ext cx="10896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607286"/>
                </a:solidFill>
                <a:latin typeface="Arial"/>
                <a:ea typeface="Arial"/>
                <a:cs typeface="Arial"/>
              </a:defRPr>
            </a:defPPr>
            <a:lvl1pPr>
              <a:defRPr sz="900">
                <a:solidFill>
                  <a:srgbClr val="607286"/>
                </a:solidFill>
                <a:latin typeface="Arial"/>
                <a:ea typeface="Arial"/>
                <a:cs typeface="Arial"/>
              </a:defRPr>
            </a:lvl1pPr>
            <a:lvl2pPr>
              <a:defRPr sz="900">
                <a:solidFill>
                  <a:srgbClr val="607286"/>
                </a:solidFill>
                <a:latin typeface="Arial"/>
                <a:ea typeface="Arial"/>
                <a:cs typeface="Arial"/>
              </a:defRPr>
            </a:lvl2pPr>
            <a:lvl3pPr>
              <a:defRPr sz="900">
                <a:solidFill>
                  <a:srgbClr val="607286"/>
                </a:solidFill>
                <a:latin typeface="Arial"/>
                <a:ea typeface="Arial"/>
                <a:cs typeface="Arial"/>
              </a:defRPr>
            </a:lvl3pPr>
            <a:lvl4pPr>
              <a:defRPr sz="900">
                <a:solidFill>
                  <a:srgbClr val="607286"/>
                </a:solidFill>
                <a:latin typeface="Arial"/>
                <a:ea typeface="Arial"/>
                <a:cs typeface="Arial"/>
              </a:defRPr>
            </a:lvl4pPr>
            <a:lvl5pPr>
              <a:defRPr sz="900">
                <a:solidFill>
                  <a:srgbClr val="607286"/>
                </a:solidFill>
                <a:latin typeface="Arial"/>
                <a:ea typeface="Arial"/>
                <a:cs typeface="Arial"/>
              </a:defRPr>
            </a:lvl5pPr>
            <a:lvl6pPr>
              <a:defRPr sz="900">
                <a:solidFill>
                  <a:srgbClr val="607286"/>
                </a:solidFill>
                <a:latin typeface="Arial"/>
                <a:ea typeface="Arial"/>
                <a:cs typeface="Arial"/>
              </a:defRPr>
            </a:lvl6pPr>
            <a:lvl7pPr>
              <a:defRPr sz="900">
                <a:solidFill>
                  <a:srgbClr val="607286"/>
                </a:solidFill>
                <a:latin typeface="Arial"/>
                <a:ea typeface="Arial"/>
                <a:cs typeface="Arial"/>
              </a:defRPr>
            </a:lvl7pPr>
            <a:lvl8pPr>
              <a:defRPr sz="900">
                <a:solidFill>
                  <a:srgbClr val="607286"/>
                </a:solidFill>
                <a:latin typeface="Arial"/>
                <a:ea typeface="Arial"/>
                <a:cs typeface="Arial"/>
              </a:defRPr>
            </a:lvl8pPr>
            <a:lvl9pPr>
              <a:defRPr sz="900">
                <a:solidFill>
                  <a:srgbClr val="607286"/>
                </a:solidFill>
                <a:latin typeface="Arial"/>
                <a:ea typeface="Arial"/>
                <a:cs typeface="Arial"/>
              </a:defRPr>
            </a:lvl9pPr>
          </a:lstStyle>
          <a:p xmlns:a="http://schemas.openxmlformats.org/drawingml/2006/main">
            <a:pPr>
              <a:defRPr sz="900">
                <a:solidFill>
                  <a:srgbClr val="607286"/>
                </a:solidFill>
                <a:latin typeface="Arial"/>
                <a:ea typeface="Arial"/>
                <a:cs typeface="Arial"/>
              </a:defRPr>
            </a:pPr>
            <a:r>
              <a:rPr sz="900">
                <a:solidFill>
                  <a:srgbClr val="607286"/>
                </a:solidFill>
                <a:latin typeface="Arial"/>
                <a:ea typeface="Arial"/>
                <a:cs typeface="Arial"/>
              </a:rPr>
              <a:t>ISAForge  /  ECE 4803                                    8</a:t>
            </a:r>
          </a:p>
        </p:txBody>
      </p:sp>
      <p:sp>
        <p:nvSpPr>
          <p:cNvPr id="4" name="">
            <a:extLst xmlns:a="http://schemas.openxmlformats.org/drawingml/2006/main">
              <a:ext uri="{FF2B5EF4-FFF2-40B4-BE49-F238E27FC236}">
                <a16:creationId xmlns:a16="http://schemas.microsoft.com/office/drawing/2014/main" id="{0AAB9F11-F63C-4443-8DE9-4FB7FA26FC16}"/>
              </a:ext>
            </a:extLst>
          </p:cNvPr>
          <p:cNvSpPr>
            <a:spLocks xmlns:a="http://schemas.openxmlformats.org/drawingml/2006/main" noGrp="1"/>
          </p:cNvSpPr>
          <p:nvPr/>
        </p:nvSpPr>
        <p:spPr>
          <a:xfrm xmlns:a="http://schemas.openxmlformats.org/drawingml/2006/main">
            <a:off x="685800" y="130492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1">
                <a:solidFill>
                  <a:srgbClr val="18856B"/>
                </a:solidFill>
                <a:latin typeface="Arial"/>
                <a:ea typeface="Arial"/>
                <a:cs typeface="Arial"/>
              </a:defRPr>
            </a:defPPr>
            <a:lvl1pPr>
              <a:defRPr sz="1650" b="1">
                <a:solidFill>
                  <a:srgbClr val="18856B"/>
                </a:solidFill>
                <a:latin typeface="Arial"/>
                <a:ea typeface="Arial"/>
                <a:cs typeface="Arial"/>
              </a:defRPr>
            </a:lvl1pPr>
            <a:lvl2pPr>
              <a:defRPr sz="1650" b="1">
                <a:solidFill>
                  <a:srgbClr val="18856B"/>
                </a:solidFill>
                <a:latin typeface="Arial"/>
                <a:ea typeface="Arial"/>
                <a:cs typeface="Arial"/>
              </a:defRPr>
            </a:lvl2pPr>
            <a:lvl3pPr>
              <a:defRPr sz="1650" b="1">
                <a:solidFill>
                  <a:srgbClr val="18856B"/>
                </a:solidFill>
                <a:latin typeface="Arial"/>
                <a:ea typeface="Arial"/>
                <a:cs typeface="Arial"/>
              </a:defRPr>
            </a:lvl3pPr>
            <a:lvl4pPr>
              <a:defRPr sz="1650" b="1">
                <a:solidFill>
                  <a:srgbClr val="18856B"/>
                </a:solidFill>
                <a:latin typeface="Arial"/>
                <a:ea typeface="Arial"/>
                <a:cs typeface="Arial"/>
              </a:defRPr>
            </a:lvl4pPr>
            <a:lvl5pPr>
              <a:defRPr sz="1650" b="1">
                <a:solidFill>
                  <a:srgbClr val="18856B"/>
                </a:solidFill>
                <a:latin typeface="Arial"/>
                <a:ea typeface="Arial"/>
                <a:cs typeface="Arial"/>
              </a:defRPr>
            </a:lvl5pPr>
            <a:lvl6pPr>
              <a:defRPr sz="1650" b="1">
                <a:solidFill>
                  <a:srgbClr val="18856B"/>
                </a:solidFill>
                <a:latin typeface="Arial"/>
                <a:ea typeface="Arial"/>
                <a:cs typeface="Arial"/>
              </a:defRPr>
            </a:lvl6pPr>
            <a:lvl7pPr>
              <a:defRPr sz="1650" b="1">
                <a:solidFill>
                  <a:srgbClr val="18856B"/>
                </a:solidFill>
                <a:latin typeface="Arial"/>
                <a:ea typeface="Arial"/>
                <a:cs typeface="Arial"/>
              </a:defRPr>
            </a:lvl7pPr>
            <a:lvl8pPr>
              <a:defRPr sz="1650" b="1">
                <a:solidFill>
                  <a:srgbClr val="18856B"/>
                </a:solidFill>
                <a:latin typeface="Arial"/>
                <a:ea typeface="Arial"/>
                <a:cs typeface="Arial"/>
              </a:defRPr>
            </a:lvl8pPr>
            <a:lvl9pPr>
              <a:defRPr sz="1650" b="1">
                <a:solidFill>
                  <a:srgbClr val="18856B"/>
                </a:solidFill>
                <a:latin typeface="Arial"/>
                <a:ea typeface="Arial"/>
                <a:cs typeface="Arial"/>
              </a:defRPr>
            </a:lvl9pPr>
          </a:lstStyle>
          <a:p xmlns:a="http://schemas.openxmlformats.org/drawingml/2006/main">
            <a:pPr>
              <a:defRPr sz="1650" b="1">
                <a:solidFill>
                  <a:srgbClr val="18856B"/>
                </a:solidFill>
                <a:latin typeface="Arial"/>
                <a:ea typeface="Arial"/>
                <a:cs typeface="Arial"/>
              </a:defRPr>
            </a:pPr>
            <a:r>
              <a:rPr sz="1650" b="1">
                <a:solidFill>
                  <a:srgbClr val="18856B"/>
                </a:solidFill>
                <a:latin typeface="Arial"/>
                <a:ea typeface="Arial"/>
                <a:cs typeface="Arial"/>
              </a:rPr>
              <a:t>WORKING CORE</a:t>
            </a:r>
          </a:p>
        </p:txBody>
      </p:sp>
      <p:sp>
        <p:nvSpPr>
          <p:cNvPr id="5" name="">
            <a:extLst xmlns:a="http://schemas.openxmlformats.org/drawingml/2006/main">
              <a:ext uri="{FF2B5EF4-FFF2-40B4-BE49-F238E27FC236}">
                <a16:creationId xmlns:a16="http://schemas.microsoft.com/office/drawing/2014/main" id="{FE4CC4A6-116A-4439-B54D-25F9BE3CD96D}"/>
              </a:ext>
            </a:extLst>
          </p:cNvPr>
          <p:cNvSpPr>
            <a:spLocks xmlns:a="http://schemas.openxmlformats.org/drawingml/2006/main" noGrp="1"/>
          </p:cNvSpPr>
          <p:nvPr/>
        </p:nvSpPr>
        <p:spPr>
          <a:xfrm xmlns:a="http://schemas.openxmlformats.org/drawingml/2006/main">
            <a:off x="685800" y="1704975"/>
            <a:ext cx="2333625" cy="1238250"/>
          </a:xfrm>
          <a:prstGeom xmlns:a="http://schemas.openxmlformats.org/drawingml/2006/main" prst="rect">
            <a:avLst/>
          </a:prstGeom>
          <a:solidFill xmlns:a="http://schemas.openxmlformats.org/drawingml/2006/main">
            <a:srgbClr val="F4F7FA"/>
          </a:solidFill>
          <a:ln xmlns:a="http://schemas.openxmlformats.org/drawingml/2006/main" w="9525">
            <a:solidFill>
              <a:srgbClr val="D9E1E8"/>
            </a:solidFill>
            <a:prstDash val="solid"/>
          </a:ln>
        </p:spPr>
      </p:sp>
      <p:sp>
        <p:nvSpPr>
          <p:cNvPr id="6" name="">
            <a:extLst xmlns:a="http://schemas.openxmlformats.org/drawingml/2006/main">
              <a:ext uri="{FF2B5EF4-FFF2-40B4-BE49-F238E27FC236}">
                <a16:creationId xmlns:a16="http://schemas.microsoft.com/office/drawing/2014/main" id="{F6CB5A87-DF5B-44DB-B658-0FCC2AD5696D}"/>
              </a:ext>
            </a:extLst>
          </p:cNvPr>
          <p:cNvSpPr>
            <a:spLocks xmlns:a="http://schemas.openxmlformats.org/drawingml/2006/main" noGrp="1"/>
          </p:cNvSpPr>
          <p:nvPr/>
        </p:nvSpPr>
        <p:spPr>
          <a:xfrm xmlns:a="http://schemas.openxmlformats.org/drawingml/2006/main">
            <a:off x="819150" y="1838325"/>
            <a:ext cx="20669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878A8"/>
                </a:solidFill>
                <a:latin typeface="Arial"/>
                <a:ea typeface="Arial"/>
                <a:cs typeface="Arial"/>
              </a:defRPr>
            </a:defPPr>
            <a:lvl1pPr>
              <a:defRPr sz="1875" b="1">
                <a:solidFill>
                  <a:srgbClr val="2878A8"/>
                </a:solidFill>
                <a:latin typeface="Arial"/>
                <a:ea typeface="Arial"/>
                <a:cs typeface="Arial"/>
              </a:defRPr>
            </a:lvl1pPr>
            <a:lvl2pPr>
              <a:defRPr sz="1875" b="1">
                <a:solidFill>
                  <a:srgbClr val="2878A8"/>
                </a:solidFill>
                <a:latin typeface="Arial"/>
                <a:ea typeface="Arial"/>
                <a:cs typeface="Arial"/>
              </a:defRPr>
            </a:lvl2pPr>
            <a:lvl3pPr>
              <a:defRPr sz="1875" b="1">
                <a:solidFill>
                  <a:srgbClr val="2878A8"/>
                </a:solidFill>
                <a:latin typeface="Arial"/>
                <a:ea typeface="Arial"/>
                <a:cs typeface="Arial"/>
              </a:defRPr>
            </a:lvl3pPr>
            <a:lvl4pPr>
              <a:defRPr sz="1875" b="1">
                <a:solidFill>
                  <a:srgbClr val="2878A8"/>
                </a:solidFill>
                <a:latin typeface="Arial"/>
                <a:ea typeface="Arial"/>
                <a:cs typeface="Arial"/>
              </a:defRPr>
            </a:lvl4pPr>
            <a:lvl5pPr>
              <a:defRPr sz="1875" b="1">
                <a:solidFill>
                  <a:srgbClr val="2878A8"/>
                </a:solidFill>
                <a:latin typeface="Arial"/>
                <a:ea typeface="Arial"/>
                <a:cs typeface="Arial"/>
              </a:defRPr>
            </a:lvl5pPr>
            <a:lvl6pPr>
              <a:defRPr sz="1875" b="1">
                <a:solidFill>
                  <a:srgbClr val="2878A8"/>
                </a:solidFill>
                <a:latin typeface="Arial"/>
                <a:ea typeface="Arial"/>
                <a:cs typeface="Arial"/>
              </a:defRPr>
            </a:lvl6pPr>
            <a:lvl7pPr>
              <a:defRPr sz="1875" b="1">
                <a:solidFill>
                  <a:srgbClr val="2878A8"/>
                </a:solidFill>
                <a:latin typeface="Arial"/>
                <a:ea typeface="Arial"/>
                <a:cs typeface="Arial"/>
              </a:defRPr>
            </a:lvl7pPr>
            <a:lvl8pPr>
              <a:defRPr sz="1875" b="1">
                <a:solidFill>
                  <a:srgbClr val="2878A8"/>
                </a:solidFill>
                <a:latin typeface="Arial"/>
                <a:ea typeface="Arial"/>
                <a:cs typeface="Arial"/>
              </a:defRPr>
            </a:lvl8pPr>
            <a:lvl9pPr>
              <a:defRPr sz="1875" b="1">
                <a:solidFill>
                  <a:srgbClr val="2878A8"/>
                </a:solidFill>
                <a:latin typeface="Arial"/>
                <a:ea typeface="Arial"/>
                <a:cs typeface="Arial"/>
              </a:defRPr>
            </a:lvl9pPr>
          </a:lstStyle>
          <a:p xmlns:a="http://schemas.openxmlformats.org/drawingml/2006/main">
            <a:pPr>
              <a:defRPr sz="1875" b="1">
                <a:solidFill>
                  <a:srgbClr val="2878A8"/>
                </a:solidFill>
                <a:latin typeface="Arial"/>
                <a:ea typeface="Arial"/>
                <a:cs typeface="Arial"/>
              </a:defRPr>
            </a:pPr>
            <a:r>
              <a:rPr sz="1875" b="1">
                <a:solidFill>
                  <a:srgbClr val="2878A8"/>
                </a:solidFill>
                <a:latin typeface="Arial"/>
                <a:ea typeface="Arial"/>
                <a:cs typeface="Arial"/>
              </a:rPr>
              <a:t>Analyze + predict</a:t>
            </a:r>
          </a:p>
        </p:txBody>
      </p:sp>
      <p:sp>
        <p:nvSpPr>
          <p:cNvPr id="7" name="">
            <a:extLst xmlns:a="http://schemas.openxmlformats.org/drawingml/2006/main">
              <a:ext uri="{FF2B5EF4-FFF2-40B4-BE49-F238E27FC236}">
                <a16:creationId xmlns:a16="http://schemas.microsoft.com/office/drawing/2014/main" id="{BFD99474-62AF-443F-BD7F-CD28D9C0DDB4}"/>
              </a:ext>
            </a:extLst>
          </p:cNvPr>
          <p:cNvSpPr>
            <a:spLocks xmlns:a="http://schemas.openxmlformats.org/drawingml/2006/main" noGrp="1"/>
          </p:cNvSpPr>
          <p:nvPr/>
        </p:nvSpPr>
        <p:spPr>
          <a:xfrm xmlns:a="http://schemas.openxmlformats.org/drawingml/2006/main">
            <a:off x="819150" y="2247900"/>
            <a:ext cx="2066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263648"/>
                </a:solidFill>
                <a:latin typeface="Arial"/>
                <a:ea typeface="Arial"/>
                <a:cs typeface="Arial"/>
              </a:defRPr>
            </a:defPPr>
            <a:lvl1pPr>
              <a:defRPr sz="1650" b="0">
                <a:solidFill>
                  <a:srgbClr val="263648"/>
                </a:solidFill>
                <a:latin typeface="Arial"/>
                <a:ea typeface="Arial"/>
                <a:cs typeface="Arial"/>
              </a:defRPr>
            </a:lvl1pPr>
            <a:lvl2pPr>
              <a:defRPr sz="1650" b="0">
                <a:solidFill>
                  <a:srgbClr val="263648"/>
                </a:solidFill>
                <a:latin typeface="Arial"/>
                <a:ea typeface="Arial"/>
                <a:cs typeface="Arial"/>
              </a:defRPr>
            </a:lvl2pPr>
            <a:lvl3pPr>
              <a:defRPr sz="1650" b="0">
                <a:solidFill>
                  <a:srgbClr val="263648"/>
                </a:solidFill>
                <a:latin typeface="Arial"/>
                <a:ea typeface="Arial"/>
                <a:cs typeface="Arial"/>
              </a:defRPr>
            </a:lvl3pPr>
            <a:lvl4pPr>
              <a:defRPr sz="1650" b="0">
                <a:solidFill>
                  <a:srgbClr val="263648"/>
                </a:solidFill>
                <a:latin typeface="Arial"/>
                <a:ea typeface="Arial"/>
                <a:cs typeface="Arial"/>
              </a:defRPr>
            </a:lvl4pPr>
            <a:lvl5pPr>
              <a:defRPr sz="1650" b="0">
                <a:solidFill>
                  <a:srgbClr val="263648"/>
                </a:solidFill>
                <a:latin typeface="Arial"/>
                <a:ea typeface="Arial"/>
                <a:cs typeface="Arial"/>
              </a:defRPr>
            </a:lvl5pPr>
            <a:lvl6pPr>
              <a:defRPr sz="1650" b="0">
                <a:solidFill>
                  <a:srgbClr val="263648"/>
                </a:solidFill>
                <a:latin typeface="Arial"/>
                <a:ea typeface="Arial"/>
                <a:cs typeface="Arial"/>
              </a:defRPr>
            </a:lvl6pPr>
            <a:lvl7pPr>
              <a:defRPr sz="1650" b="0">
                <a:solidFill>
                  <a:srgbClr val="263648"/>
                </a:solidFill>
                <a:latin typeface="Arial"/>
                <a:ea typeface="Arial"/>
                <a:cs typeface="Arial"/>
              </a:defRPr>
            </a:lvl7pPr>
            <a:lvl8pPr>
              <a:defRPr sz="1650" b="0">
                <a:solidFill>
                  <a:srgbClr val="263648"/>
                </a:solidFill>
                <a:latin typeface="Arial"/>
                <a:ea typeface="Arial"/>
                <a:cs typeface="Arial"/>
              </a:defRPr>
            </a:lvl8pPr>
            <a:lvl9pPr>
              <a:defRPr sz="1650" b="0">
                <a:solidFill>
                  <a:srgbClr val="263648"/>
                </a:solidFill>
                <a:latin typeface="Arial"/>
                <a:ea typeface="Arial"/>
                <a:cs typeface="Arial"/>
              </a:defRPr>
            </a:lvl9pPr>
          </a:lstStyle>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Legal candidates</a:t>
            </a:r>
          </a:p>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XGBoost rankings</a:t>
            </a:r>
          </a:p>
        </p:txBody>
      </p:sp>
      <p:sp>
        <p:nvSpPr>
          <p:cNvPr id="8" name="">
            <a:extLst xmlns:a="http://schemas.openxmlformats.org/drawingml/2006/main">
              <a:ext uri="{FF2B5EF4-FFF2-40B4-BE49-F238E27FC236}">
                <a16:creationId xmlns:a16="http://schemas.microsoft.com/office/drawing/2014/main" id="{2C637E2E-B8D5-4903-977A-9058EA1D5A4C}"/>
              </a:ext>
            </a:extLst>
          </p:cNvPr>
          <p:cNvSpPr>
            <a:spLocks xmlns:a="http://schemas.openxmlformats.org/drawingml/2006/main" noGrp="1"/>
          </p:cNvSpPr>
          <p:nvPr/>
        </p:nvSpPr>
        <p:spPr>
          <a:xfrm xmlns:a="http://schemas.openxmlformats.org/drawingml/2006/main">
            <a:off x="3105150" y="2209800"/>
            <a:ext cx="285750" cy="228600"/>
          </a:xfrm>
          <a:prstGeom xmlns:a="http://schemas.openxmlformats.org/drawingml/2006/main" prst="rightArrow">
            <a:avLst/>
          </a:prstGeom>
          <a:solidFill xmlns:a="http://schemas.openxmlformats.org/drawingml/2006/main">
            <a:srgbClr val="2878A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C3FFA60-67BF-4A55-8C56-7CD8F165538B}"/>
              </a:ext>
            </a:extLst>
          </p:cNvPr>
          <p:cNvSpPr>
            <a:spLocks xmlns:a="http://schemas.openxmlformats.org/drawingml/2006/main" noGrp="1"/>
          </p:cNvSpPr>
          <p:nvPr/>
        </p:nvSpPr>
        <p:spPr>
          <a:xfrm xmlns:a="http://schemas.openxmlformats.org/drawingml/2006/main">
            <a:off x="3476625" y="1704975"/>
            <a:ext cx="2333625" cy="1238250"/>
          </a:xfrm>
          <a:prstGeom xmlns:a="http://schemas.openxmlformats.org/drawingml/2006/main" prst="rect">
            <a:avLst/>
          </a:prstGeom>
          <a:solidFill xmlns:a="http://schemas.openxmlformats.org/drawingml/2006/main">
            <a:srgbClr val="F4F7FA"/>
          </a:solidFill>
          <a:ln xmlns:a="http://schemas.openxmlformats.org/drawingml/2006/main" w="9525">
            <a:solidFill>
              <a:srgbClr val="D9E1E8"/>
            </a:solidFill>
            <a:prstDash val="solid"/>
          </a:ln>
        </p:spPr>
      </p:sp>
      <p:sp>
        <p:nvSpPr>
          <p:cNvPr id="10" name="">
            <a:extLst xmlns:a="http://schemas.openxmlformats.org/drawingml/2006/main">
              <a:ext uri="{FF2B5EF4-FFF2-40B4-BE49-F238E27FC236}">
                <a16:creationId xmlns:a16="http://schemas.microsoft.com/office/drawing/2014/main" id="{BC48235C-C345-4362-8D01-25670CAD7D3A}"/>
              </a:ext>
            </a:extLst>
          </p:cNvPr>
          <p:cNvSpPr>
            <a:spLocks xmlns:a="http://schemas.openxmlformats.org/drawingml/2006/main" noGrp="1"/>
          </p:cNvSpPr>
          <p:nvPr/>
        </p:nvSpPr>
        <p:spPr>
          <a:xfrm xmlns:a="http://schemas.openxmlformats.org/drawingml/2006/main">
            <a:off x="3609975" y="1838325"/>
            <a:ext cx="20669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878A8"/>
                </a:solidFill>
                <a:latin typeface="Arial"/>
                <a:ea typeface="Arial"/>
                <a:cs typeface="Arial"/>
              </a:defRPr>
            </a:defPPr>
            <a:lvl1pPr>
              <a:defRPr sz="1875" b="1">
                <a:solidFill>
                  <a:srgbClr val="2878A8"/>
                </a:solidFill>
                <a:latin typeface="Arial"/>
                <a:ea typeface="Arial"/>
                <a:cs typeface="Arial"/>
              </a:defRPr>
            </a:lvl1pPr>
            <a:lvl2pPr>
              <a:defRPr sz="1875" b="1">
                <a:solidFill>
                  <a:srgbClr val="2878A8"/>
                </a:solidFill>
                <a:latin typeface="Arial"/>
                <a:ea typeface="Arial"/>
                <a:cs typeface="Arial"/>
              </a:defRPr>
            </a:lvl2pPr>
            <a:lvl3pPr>
              <a:defRPr sz="1875" b="1">
                <a:solidFill>
                  <a:srgbClr val="2878A8"/>
                </a:solidFill>
                <a:latin typeface="Arial"/>
                <a:ea typeface="Arial"/>
                <a:cs typeface="Arial"/>
              </a:defRPr>
            </a:lvl3pPr>
            <a:lvl4pPr>
              <a:defRPr sz="1875" b="1">
                <a:solidFill>
                  <a:srgbClr val="2878A8"/>
                </a:solidFill>
                <a:latin typeface="Arial"/>
                <a:ea typeface="Arial"/>
                <a:cs typeface="Arial"/>
              </a:defRPr>
            </a:lvl4pPr>
            <a:lvl5pPr>
              <a:defRPr sz="1875" b="1">
                <a:solidFill>
                  <a:srgbClr val="2878A8"/>
                </a:solidFill>
                <a:latin typeface="Arial"/>
                <a:ea typeface="Arial"/>
                <a:cs typeface="Arial"/>
              </a:defRPr>
            </a:lvl5pPr>
            <a:lvl6pPr>
              <a:defRPr sz="1875" b="1">
                <a:solidFill>
                  <a:srgbClr val="2878A8"/>
                </a:solidFill>
                <a:latin typeface="Arial"/>
                <a:ea typeface="Arial"/>
                <a:cs typeface="Arial"/>
              </a:defRPr>
            </a:lvl6pPr>
            <a:lvl7pPr>
              <a:defRPr sz="1875" b="1">
                <a:solidFill>
                  <a:srgbClr val="2878A8"/>
                </a:solidFill>
                <a:latin typeface="Arial"/>
                <a:ea typeface="Arial"/>
                <a:cs typeface="Arial"/>
              </a:defRPr>
            </a:lvl7pPr>
            <a:lvl8pPr>
              <a:defRPr sz="1875" b="1">
                <a:solidFill>
                  <a:srgbClr val="2878A8"/>
                </a:solidFill>
                <a:latin typeface="Arial"/>
                <a:ea typeface="Arial"/>
                <a:cs typeface="Arial"/>
              </a:defRPr>
            </a:lvl8pPr>
            <a:lvl9pPr>
              <a:defRPr sz="1875" b="1">
                <a:solidFill>
                  <a:srgbClr val="2878A8"/>
                </a:solidFill>
                <a:latin typeface="Arial"/>
                <a:ea typeface="Arial"/>
                <a:cs typeface="Arial"/>
              </a:defRPr>
            </a:lvl9pPr>
          </a:lstStyle>
          <a:p xmlns:a="http://schemas.openxmlformats.org/drawingml/2006/main">
            <a:pPr>
              <a:defRPr sz="1875" b="1">
                <a:solidFill>
                  <a:srgbClr val="2878A8"/>
                </a:solidFill>
                <a:latin typeface="Arial"/>
                <a:ea typeface="Arial"/>
                <a:cs typeface="Arial"/>
              </a:defRPr>
            </a:pPr>
            <a:r>
              <a:rPr sz="1875" b="1">
                <a:solidFill>
                  <a:srgbClr val="2878A8"/>
                </a:solidFill>
                <a:latin typeface="Arial"/>
                <a:ea typeface="Arial"/>
                <a:cs typeface="Arial"/>
              </a:rPr>
              <a:t>LLM decision</a:t>
            </a:r>
          </a:p>
        </p:txBody>
      </p:sp>
      <p:sp>
        <p:nvSpPr>
          <p:cNvPr id="11" name="">
            <a:extLst xmlns:a="http://schemas.openxmlformats.org/drawingml/2006/main">
              <a:ext uri="{FF2B5EF4-FFF2-40B4-BE49-F238E27FC236}">
                <a16:creationId xmlns:a16="http://schemas.microsoft.com/office/drawing/2014/main" id="{03008F08-BC59-4720-BFF5-F9BF0C6E70F9}"/>
              </a:ext>
            </a:extLst>
          </p:cNvPr>
          <p:cNvSpPr>
            <a:spLocks xmlns:a="http://schemas.openxmlformats.org/drawingml/2006/main" noGrp="1"/>
          </p:cNvSpPr>
          <p:nvPr/>
        </p:nvSpPr>
        <p:spPr>
          <a:xfrm xmlns:a="http://schemas.openxmlformats.org/drawingml/2006/main">
            <a:off x="3609975" y="2247900"/>
            <a:ext cx="2066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263648"/>
                </a:solidFill>
                <a:latin typeface="Arial"/>
                <a:ea typeface="Arial"/>
                <a:cs typeface="Arial"/>
              </a:defRPr>
            </a:defPPr>
            <a:lvl1pPr>
              <a:defRPr sz="1650" b="0">
                <a:solidFill>
                  <a:srgbClr val="263648"/>
                </a:solidFill>
                <a:latin typeface="Arial"/>
                <a:ea typeface="Arial"/>
                <a:cs typeface="Arial"/>
              </a:defRPr>
            </a:lvl1pPr>
            <a:lvl2pPr>
              <a:defRPr sz="1650" b="0">
                <a:solidFill>
                  <a:srgbClr val="263648"/>
                </a:solidFill>
                <a:latin typeface="Arial"/>
                <a:ea typeface="Arial"/>
                <a:cs typeface="Arial"/>
              </a:defRPr>
            </a:lvl2pPr>
            <a:lvl3pPr>
              <a:defRPr sz="1650" b="0">
                <a:solidFill>
                  <a:srgbClr val="263648"/>
                </a:solidFill>
                <a:latin typeface="Arial"/>
                <a:ea typeface="Arial"/>
                <a:cs typeface="Arial"/>
              </a:defRPr>
            </a:lvl3pPr>
            <a:lvl4pPr>
              <a:defRPr sz="1650" b="0">
                <a:solidFill>
                  <a:srgbClr val="263648"/>
                </a:solidFill>
                <a:latin typeface="Arial"/>
                <a:ea typeface="Arial"/>
                <a:cs typeface="Arial"/>
              </a:defRPr>
            </a:lvl4pPr>
            <a:lvl5pPr>
              <a:defRPr sz="1650" b="0">
                <a:solidFill>
                  <a:srgbClr val="263648"/>
                </a:solidFill>
                <a:latin typeface="Arial"/>
                <a:ea typeface="Arial"/>
                <a:cs typeface="Arial"/>
              </a:defRPr>
            </a:lvl5pPr>
            <a:lvl6pPr>
              <a:defRPr sz="1650" b="0">
                <a:solidFill>
                  <a:srgbClr val="263648"/>
                </a:solidFill>
                <a:latin typeface="Arial"/>
                <a:ea typeface="Arial"/>
                <a:cs typeface="Arial"/>
              </a:defRPr>
            </a:lvl6pPr>
            <a:lvl7pPr>
              <a:defRPr sz="1650" b="0">
                <a:solidFill>
                  <a:srgbClr val="263648"/>
                </a:solidFill>
                <a:latin typeface="Arial"/>
                <a:ea typeface="Arial"/>
                <a:cs typeface="Arial"/>
              </a:defRPr>
            </a:lvl7pPr>
            <a:lvl8pPr>
              <a:defRPr sz="1650" b="0">
                <a:solidFill>
                  <a:srgbClr val="263648"/>
                </a:solidFill>
                <a:latin typeface="Arial"/>
                <a:ea typeface="Arial"/>
                <a:cs typeface="Arial"/>
              </a:defRPr>
            </a:lvl8pPr>
            <a:lvl9pPr>
              <a:defRPr sz="1650" b="0">
                <a:solidFill>
                  <a:srgbClr val="263648"/>
                </a:solidFill>
                <a:latin typeface="Arial"/>
                <a:ea typeface="Arial"/>
                <a:cs typeface="Arial"/>
              </a:defRPr>
            </a:lvl9pPr>
          </a:lstStyle>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Structured outputs</a:t>
            </a:r>
          </a:p>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Function calling</a:t>
            </a:r>
          </a:p>
        </p:txBody>
      </p:sp>
      <p:sp>
        <p:nvSpPr>
          <p:cNvPr id="12" name="">
            <a:extLst xmlns:a="http://schemas.openxmlformats.org/drawingml/2006/main">
              <a:ext uri="{FF2B5EF4-FFF2-40B4-BE49-F238E27FC236}">
                <a16:creationId xmlns:a16="http://schemas.microsoft.com/office/drawing/2014/main" id="{31918A14-6498-48E9-A81D-D662CBE5E2F7}"/>
              </a:ext>
            </a:extLst>
          </p:cNvPr>
          <p:cNvSpPr>
            <a:spLocks xmlns:a="http://schemas.openxmlformats.org/drawingml/2006/main" noGrp="1"/>
          </p:cNvSpPr>
          <p:nvPr/>
        </p:nvSpPr>
        <p:spPr>
          <a:xfrm xmlns:a="http://schemas.openxmlformats.org/drawingml/2006/main">
            <a:off x="5895975" y="2209800"/>
            <a:ext cx="285750" cy="228600"/>
          </a:xfrm>
          <a:prstGeom xmlns:a="http://schemas.openxmlformats.org/drawingml/2006/main" prst="rightArrow">
            <a:avLst/>
          </a:prstGeom>
          <a:solidFill xmlns:a="http://schemas.openxmlformats.org/drawingml/2006/main">
            <a:srgbClr val="2878A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B42574A-B697-4A26-B472-36E749E30857}"/>
              </a:ext>
            </a:extLst>
          </p:cNvPr>
          <p:cNvSpPr>
            <a:spLocks xmlns:a="http://schemas.openxmlformats.org/drawingml/2006/main" noGrp="1"/>
          </p:cNvSpPr>
          <p:nvPr/>
        </p:nvSpPr>
        <p:spPr>
          <a:xfrm xmlns:a="http://schemas.openxmlformats.org/drawingml/2006/main">
            <a:off x="6267450" y="1704975"/>
            <a:ext cx="2333625" cy="1238250"/>
          </a:xfrm>
          <a:prstGeom xmlns:a="http://schemas.openxmlformats.org/drawingml/2006/main" prst="rect">
            <a:avLst/>
          </a:prstGeom>
          <a:solidFill xmlns:a="http://schemas.openxmlformats.org/drawingml/2006/main">
            <a:srgbClr val="F4F7FA"/>
          </a:solidFill>
          <a:ln xmlns:a="http://schemas.openxmlformats.org/drawingml/2006/main" w="9525">
            <a:solidFill>
              <a:srgbClr val="D9E1E8"/>
            </a:solidFill>
            <a:prstDash val="solid"/>
          </a:ln>
        </p:spPr>
      </p:sp>
      <p:sp>
        <p:nvSpPr>
          <p:cNvPr id="14" name="">
            <a:extLst xmlns:a="http://schemas.openxmlformats.org/drawingml/2006/main">
              <a:ext uri="{FF2B5EF4-FFF2-40B4-BE49-F238E27FC236}">
                <a16:creationId xmlns:a16="http://schemas.microsoft.com/office/drawing/2014/main" id="{810D161B-F4B3-4921-B635-F238454633D9}"/>
              </a:ext>
            </a:extLst>
          </p:cNvPr>
          <p:cNvSpPr>
            <a:spLocks xmlns:a="http://schemas.openxmlformats.org/drawingml/2006/main" noGrp="1"/>
          </p:cNvSpPr>
          <p:nvPr/>
        </p:nvSpPr>
        <p:spPr>
          <a:xfrm xmlns:a="http://schemas.openxmlformats.org/drawingml/2006/main">
            <a:off x="6400800" y="1838325"/>
            <a:ext cx="20669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878A8"/>
                </a:solidFill>
                <a:latin typeface="Arial"/>
                <a:ea typeface="Arial"/>
                <a:cs typeface="Arial"/>
              </a:defRPr>
            </a:defPPr>
            <a:lvl1pPr>
              <a:defRPr sz="1875" b="1">
                <a:solidFill>
                  <a:srgbClr val="2878A8"/>
                </a:solidFill>
                <a:latin typeface="Arial"/>
                <a:ea typeface="Arial"/>
                <a:cs typeface="Arial"/>
              </a:defRPr>
            </a:lvl1pPr>
            <a:lvl2pPr>
              <a:defRPr sz="1875" b="1">
                <a:solidFill>
                  <a:srgbClr val="2878A8"/>
                </a:solidFill>
                <a:latin typeface="Arial"/>
                <a:ea typeface="Arial"/>
                <a:cs typeface="Arial"/>
              </a:defRPr>
            </a:lvl2pPr>
            <a:lvl3pPr>
              <a:defRPr sz="1875" b="1">
                <a:solidFill>
                  <a:srgbClr val="2878A8"/>
                </a:solidFill>
                <a:latin typeface="Arial"/>
                <a:ea typeface="Arial"/>
                <a:cs typeface="Arial"/>
              </a:defRPr>
            </a:lvl3pPr>
            <a:lvl4pPr>
              <a:defRPr sz="1875" b="1">
                <a:solidFill>
                  <a:srgbClr val="2878A8"/>
                </a:solidFill>
                <a:latin typeface="Arial"/>
                <a:ea typeface="Arial"/>
                <a:cs typeface="Arial"/>
              </a:defRPr>
            </a:lvl4pPr>
            <a:lvl5pPr>
              <a:defRPr sz="1875" b="1">
                <a:solidFill>
                  <a:srgbClr val="2878A8"/>
                </a:solidFill>
                <a:latin typeface="Arial"/>
                <a:ea typeface="Arial"/>
                <a:cs typeface="Arial"/>
              </a:defRPr>
            </a:lvl5pPr>
            <a:lvl6pPr>
              <a:defRPr sz="1875" b="1">
                <a:solidFill>
                  <a:srgbClr val="2878A8"/>
                </a:solidFill>
                <a:latin typeface="Arial"/>
                <a:ea typeface="Arial"/>
                <a:cs typeface="Arial"/>
              </a:defRPr>
            </a:lvl6pPr>
            <a:lvl7pPr>
              <a:defRPr sz="1875" b="1">
                <a:solidFill>
                  <a:srgbClr val="2878A8"/>
                </a:solidFill>
                <a:latin typeface="Arial"/>
                <a:ea typeface="Arial"/>
                <a:cs typeface="Arial"/>
              </a:defRPr>
            </a:lvl7pPr>
            <a:lvl8pPr>
              <a:defRPr sz="1875" b="1">
                <a:solidFill>
                  <a:srgbClr val="2878A8"/>
                </a:solidFill>
                <a:latin typeface="Arial"/>
                <a:ea typeface="Arial"/>
                <a:cs typeface="Arial"/>
              </a:defRPr>
            </a:lvl8pPr>
            <a:lvl9pPr>
              <a:defRPr sz="1875" b="1">
                <a:solidFill>
                  <a:srgbClr val="2878A8"/>
                </a:solidFill>
                <a:latin typeface="Arial"/>
                <a:ea typeface="Arial"/>
                <a:cs typeface="Arial"/>
              </a:defRPr>
            </a:lvl9pPr>
          </a:lstStyle>
          <a:p xmlns:a="http://schemas.openxmlformats.org/drawingml/2006/main">
            <a:pPr>
              <a:defRPr sz="1875" b="1">
                <a:solidFill>
                  <a:srgbClr val="2878A8"/>
                </a:solidFill>
                <a:latin typeface="Arial"/>
                <a:ea typeface="Arial"/>
                <a:cs typeface="Arial"/>
              </a:defRPr>
            </a:pPr>
            <a:r>
              <a:rPr sz="1875" b="1">
                <a:solidFill>
                  <a:srgbClr val="2878A8"/>
                </a:solidFill>
                <a:latin typeface="Arial"/>
                <a:ea typeface="Arial"/>
                <a:cs typeface="Arial"/>
              </a:rPr>
              <a:t>Host + tools</a:t>
            </a:r>
          </a:p>
        </p:txBody>
      </p:sp>
      <p:sp>
        <p:nvSpPr>
          <p:cNvPr id="15" name="">
            <a:extLst xmlns:a="http://schemas.openxmlformats.org/drawingml/2006/main">
              <a:ext uri="{FF2B5EF4-FFF2-40B4-BE49-F238E27FC236}">
                <a16:creationId xmlns:a16="http://schemas.microsoft.com/office/drawing/2014/main" id="{FB083D02-4218-49AE-877F-4DA392710793}"/>
              </a:ext>
            </a:extLst>
          </p:cNvPr>
          <p:cNvSpPr>
            <a:spLocks xmlns:a="http://schemas.openxmlformats.org/drawingml/2006/main" noGrp="1"/>
          </p:cNvSpPr>
          <p:nvPr/>
        </p:nvSpPr>
        <p:spPr>
          <a:xfrm xmlns:a="http://schemas.openxmlformats.org/drawingml/2006/main">
            <a:off x="6400800" y="2247900"/>
            <a:ext cx="2066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263648"/>
                </a:solidFill>
                <a:latin typeface="Arial"/>
                <a:ea typeface="Arial"/>
                <a:cs typeface="Arial"/>
              </a:defRPr>
            </a:defPPr>
            <a:lvl1pPr>
              <a:defRPr sz="1650" b="0">
                <a:solidFill>
                  <a:srgbClr val="263648"/>
                </a:solidFill>
                <a:latin typeface="Arial"/>
                <a:ea typeface="Arial"/>
                <a:cs typeface="Arial"/>
              </a:defRPr>
            </a:lvl1pPr>
            <a:lvl2pPr>
              <a:defRPr sz="1650" b="0">
                <a:solidFill>
                  <a:srgbClr val="263648"/>
                </a:solidFill>
                <a:latin typeface="Arial"/>
                <a:ea typeface="Arial"/>
                <a:cs typeface="Arial"/>
              </a:defRPr>
            </a:lvl2pPr>
            <a:lvl3pPr>
              <a:defRPr sz="1650" b="0">
                <a:solidFill>
                  <a:srgbClr val="263648"/>
                </a:solidFill>
                <a:latin typeface="Arial"/>
                <a:ea typeface="Arial"/>
                <a:cs typeface="Arial"/>
              </a:defRPr>
            </a:lvl3pPr>
            <a:lvl4pPr>
              <a:defRPr sz="1650" b="0">
                <a:solidFill>
                  <a:srgbClr val="263648"/>
                </a:solidFill>
                <a:latin typeface="Arial"/>
                <a:ea typeface="Arial"/>
                <a:cs typeface="Arial"/>
              </a:defRPr>
            </a:lvl4pPr>
            <a:lvl5pPr>
              <a:defRPr sz="1650" b="0">
                <a:solidFill>
                  <a:srgbClr val="263648"/>
                </a:solidFill>
                <a:latin typeface="Arial"/>
                <a:ea typeface="Arial"/>
                <a:cs typeface="Arial"/>
              </a:defRPr>
            </a:lvl5pPr>
            <a:lvl6pPr>
              <a:defRPr sz="1650" b="0">
                <a:solidFill>
                  <a:srgbClr val="263648"/>
                </a:solidFill>
                <a:latin typeface="Arial"/>
                <a:ea typeface="Arial"/>
                <a:cs typeface="Arial"/>
              </a:defRPr>
            </a:lvl6pPr>
            <a:lvl7pPr>
              <a:defRPr sz="1650" b="0">
                <a:solidFill>
                  <a:srgbClr val="263648"/>
                </a:solidFill>
                <a:latin typeface="Arial"/>
                <a:ea typeface="Arial"/>
                <a:cs typeface="Arial"/>
              </a:defRPr>
            </a:lvl7pPr>
            <a:lvl8pPr>
              <a:defRPr sz="1650" b="0">
                <a:solidFill>
                  <a:srgbClr val="263648"/>
                </a:solidFill>
                <a:latin typeface="Arial"/>
                <a:ea typeface="Arial"/>
                <a:cs typeface="Arial"/>
              </a:defRPr>
            </a:lvl8pPr>
            <a:lvl9pPr>
              <a:defRPr sz="1650" b="0">
                <a:solidFill>
                  <a:srgbClr val="263648"/>
                </a:solidFill>
                <a:latin typeface="Arial"/>
                <a:ea typeface="Arial"/>
                <a:cs typeface="Arial"/>
              </a:defRPr>
            </a:lvl9pPr>
          </a:lstStyle>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Budget guardrails</a:t>
            </a:r>
          </a:p>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Measure / finalize</a:t>
            </a:r>
          </a:p>
        </p:txBody>
      </p:sp>
      <p:sp>
        <p:nvSpPr>
          <p:cNvPr id="16" name="">
            <a:extLst xmlns:a="http://schemas.openxmlformats.org/drawingml/2006/main">
              <a:ext uri="{FF2B5EF4-FFF2-40B4-BE49-F238E27FC236}">
                <a16:creationId xmlns:a16="http://schemas.microsoft.com/office/drawing/2014/main" id="{211B8142-F11D-4260-BA82-4E00AF58B65A}"/>
              </a:ext>
            </a:extLst>
          </p:cNvPr>
          <p:cNvSpPr>
            <a:spLocks xmlns:a="http://schemas.openxmlformats.org/drawingml/2006/main" noGrp="1"/>
          </p:cNvSpPr>
          <p:nvPr/>
        </p:nvSpPr>
        <p:spPr>
          <a:xfrm xmlns:a="http://schemas.openxmlformats.org/drawingml/2006/main">
            <a:off x="8686800" y="2209800"/>
            <a:ext cx="285750" cy="228600"/>
          </a:xfrm>
          <a:prstGeom xmlns:a="http://schemas.openxmlformats.org/drawingml/2006/main" prst="rightArrow">
            <a:avLst/>
          </a:prstGeom>
          <a:solidFill xmlns:a="http://schemas.openxmlformats.org/drawingml/2006/main">
            <a:srgbClr val="2878A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6EDD9F3-C591-4905-840A-0EB12B75DEA4}"/>
              </a:ext>
            </a:extLst>
          </p:cNvPr>
          <p:cNvSpPr>
            <a:spLocks xmlns:a="http://schemas.openxmlformats.org/drawingml/2006/main" noGrp="1"/>
          </p:cNvSpPr>
          <p:nvPr/>
        </p:nvSpPr>
        <p:spPr>
          <a:xfrm xmlns:a="http://schemas.openxmlformats.org/drawingml/2006/main">
            <a:off x="9058275" y="1704975"/>
            <a:ext cx="2333625" cy="1238250"/>
          </a:xfrm>
          <a:prstGeom xmlns:a="http://schemas.openxmlformats.org/drawingml/2006/main" prst="rect">
            <a:avLst/>
          </a:prstGeom>
          <a:solidFill xmlns:a="http://schemas.openxmlformats.org/drawingml/2006/main">
            <a:srgbClr val="F4F7FA"/>
          </a:solidFill>
          <a:ln xmlns:a="http://schemas.openxmlformats.org/drawingml/2006/main" w="9525">
            <a:solidFill>
              <a:srgbClr val="D9E1E8"/>
            </a:solidFill>
            <a:prstDash val="solid"/>
          </a:ln>
        </p:spPr>
      </p:sp>
      <p:sp>
        <p:nvSpPr>
          <p:cNvPr id="18" name="">
            <a:extLst xmlns:a="http://schemas.openxmlformats.org/drawingml/2006/main">
              <a:ext uri="{FF2B5EF4-FFF2-40B4-BE49-F238E27FC236}">
                <a16:creationId xmlns:a16="http://schemas.microsoft.com/office/drawing/2014/main" id="{42D9594C-4845-4F97-BFE7-E47059F9E770}"/>
              </a:ext>
            </a:extLst>
          </p:cNvPr>
          <p:cNvSpPr>
            <a:spLocks xmlns:a="http://schemas.openxmlformats.org/drawingml/2006/main" noGrp="1"/>
          </p:cNvSpPr>
          <p:nvPr/>
        </p:nvSpPr>
        <p:spPr>
          <a:xfrm xmlns:a="http://schemas.openxmlformats.org/drawingml/2006/main">
            <a:off x="9191625" y="1838325"/>
            <a:ext cx="20669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2878A8"/>
                </a:solidFill>
                <a:latin typeface="Arial"/>
                <a:ea typeface="Arial"/>
                <a:cs typeface="Arial"/>
              </a:defRPr>
            </a:defPPr>
            <a:lvl1pPr>
              <a:defRPr sz="1875" b="1">
                <a:solidFill>
                  <a:srgbClr val="2878A8"/>
                </a:solidFill>
                <a:latin typeface="Arial"/>
                <a:ea typeface="Arial"/>
                <a:cs typeface="Arial"/>
              </a:defRPr>
            </a:lvl1pPr>
            <a:lvl2pPr>
              <a:defRPr sz="1875" b="1">
                <a:solidFill>
                  <a:srgbClr val="2878A8"/>
                </a:solidFill>
                <a:latin typeface="Arial"/>
                <a:ea typeface="Arial"/>
                <a:cs typeface="Arial"/>
              </a:defRPr>
            </a:lvl2pPr>
            <a:lvl3pPr>
              <a:defRPr sz="1875" b="1">
                <a:solidFill>
                  <a:srgbClr val="2878A8"/>
                </a:solidFill>
                <a:latin typeface="Arial"/>
                <a:ea typeface="Arial"/>
                <a:cs typeface="Arial"/>
              </a:defRPr>
            </a:lvl3pPr>
            <a:lvl4pPr>
              <a:defRPr sz="1875" b="1">
                <a:solidFill>
                  <a:srgbClr val="2878A8"/>
                </a:solidFill>
                <a:latin typeface="Arial"/>
                <a:ea typeface="Arial"/>
                <a:cs typeface="Arial"/>
              </a:defRPr>
            </a:lvl4pPr>
            <a:lvl5pPr>
              <a:defRPr sz="1875" b="1">
                <a:solidFill>
                  <a:srgbClr val="2878A8"/>
                </a:solidFill>
                <a:latin typeface="Arial"/>
                <a:ea typeface="Arial"/>
                <a:cs typeface="Arial"/>
              </a:defRPr>
            </a:lvl5pPr>
            <a:lvl6pPr>
              <a:defRPr sz="1875" b="1">
                <a:solidFill>
                  <a:srgbClr val="2878A8"/>
                </a:solidFill>
                <a:latin typeface="Arial"/>
                <a:ea typeface="Arial"/>
                <a:cs typeface="Arial"/>
              </a:defRPr>
            </a:lvl6pPr>
            <a:lvl7pPr>
              <a:defRPr sz="1875" b="1">
                <a:solidFill>
                  <a:srgbClr val="2878A8"/>
                </a:solidFill>
                <a:latin typeface="Arial"/>
                <a:ea typeface="Arial"/>
                <a:cs typeface="Arial"/>
              </a:defRPr>
            </a:lvl7pPr>
            <a:lvl8pPr>
              <a:defRPr sz="1875" b="1">
                <a:solidFill>
                  <a:srgbClr val="2878A8"/>
                </a:solidFill>
                <a:latin typeface="Arial"/>
                <a:ea typeface="Arial"/>
                <a:cs typeface="Arial"/>
              </a:defRPr>
            </a:lvl8pPr>
            <a:lvl9pPr>
              <a:defRPr sz="1875" b="1">
                <a:solidFill>
                  <a:srgbClr val="2878A8"/>
                </a:solidFill>
                <a:latin typeface="Arial"/>
                <a:ea typeface="Arial"/>
                <a:cs typeface="Arial"/>
              </a:defRPr>
            </a:lvl9pPr>
          </a:lstStyle>
          <a:p xmlns:a="http://schemas.openxmlformats.org/drawingml/2006/main">
            <a:pPr>
              <a:defRPr sz="1875" b="1">
                <a:solidFill>
                  <a:srgbClr val="2878A8"/>
                </a:solidFill>
                <a:latin typeface="Arial"/>
                <a:ea typeface="Arial"/>
                <a:cs typeface="Arial"/>
              </a:defRPr>
            </a:pPr>
            <a:r>
              <a:rPr sz="1875" b="1">
                <a:solidFill>
                  <a:srgbClr val="2878A8"/>
                </a:solidFill>
                <a:latin typeface="Arial"/>
                <a:ea typeface="Arial"/>
                <a:cs typeface="Arial"/>
              </a:rPr>
              <a:t>Agent memory</a:t>
            </a:r>
          </a:p>
        </p:txBody>
      </p:sp>
      <p:sp>
        <p:nvSpPr>
          <p:cNvPr id="19" name="">
            <a:extLst xmlns:a="http://schemas.openxmlformats.org/drawingml/2006/main">
              <a:ext uri="{FF2B5EF4-FFF2-40B4-BE49-F238E27FC236}">
                <a16:creationId xmlns:a16="http://schemas.microsoft.com/office/drawing/2014/main" id="{69837D50-0605-4E93-87D2-25C5407DE9B7}"/>
              </a:ext>
            </a:extLst>
          </p:cNvPr>
          <p:cNvSpPr>
            <a:spLocks xmlns:a="http://schemas.openxmlformats.org/drawingml/2006/main" noGrp="1"/>
          </p:cNvSpPr>
          <p:nvPr/>
        </p:nvSpPr>
        <p:spPr>
          <a:xfrm xmlns:a="http://schemas.openxmlformats.org/drawingml/2006/main">
            <a:off x="9191625" y="2247900"/>
            <a:ext cx="2066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263648"/>
                </a:solidFill>
                <a:latin typeface="Arial"/>
                <a:ea typeface="Arial"/>
                <a:cs typeface="Arial"/>
              </a:defRPr>
            </a:defPPr>
            <a:lvl1pPr>
              <a:defRPr sz="1650" b="0">
                <a:solidFill>
                  <a:srgbClr val="263648"/>
                </a:solidFill>
                <a:latin typeface="Arial"/>
                <a:ea typeface="Arial"/>
                <a:cs typeface="Arial"/>
              </a:defRPr>
            </a:lvl1pPr>
            <a:lvl2pPr>
              <a:defRPr sz="1650" b="0">
                <a:solidFill>
                  <a:srgbClr val="263648"/>
                </a:solidFill>
                <a:latin typeface="Arial"/>
                <a:ea typeface="Arial"/>
                <a:cs typeface="Arial"/>
              </a:defRPr>
            </a:lvl2pPr>
            <a:lvl3pPr>
              <a:defRPr sz="1650" b="0">
                <a:solidFill>
                  <a:srgbClr val="263648"/>
                </a:solidFill>
                <a:latin typeface="Arial"/>
                <a:ea typeface="Arial"/>
                <a:cs typeface="Arial"/>
              </a:defRPr>
            </a:lvl3pPr>
            <a:lvl4pPr>
              <a:defRPr sz="1650" b="0">
                <a:solidFill>
                  <a:srgbClr val="263648"/>
                </a:solidFill>
                <a:latin typeface="Arial"/>
                <a:ea typeface="Arial"/>
                <a:cs typeface="Arial"/>
              </a:defRPr>
            </a:lvl4pPr>
            <a:lvl5pPr>
              <a:defRPr sz="1650" b="0">
                <a:solidFill>
                  <a:srgbClr val="263648"/>
                </a:solidFill>
                <a:latin typeface="Arial"/>
                <a:ea typeface="Arial"/>
                <a:cs typeface="Arial"/>
              </a:defRPr>
            </a:lvl5pPr>
            <a:lvl6pPr>
              <a:defRPr sz="1650" b="0">
                <a:solidFill>
                  <a:srgbClr val="263648"/>
                </a:solidFill>
                <a:latin typeface="Arial"/>
                <a:ea typeface="Arial"/>
                <a:cs typeface="Arial"/>
              </a:defRPr>
            </a:lvl6pPr>
            <a:lvl7pPr>
              <a:defRPr sz="1650" b="0">
                <a:solidFill>
                  <a:srgbClr val="263648"/>
                </a:solidFill>
                <a:latin typeface="Arial"/>
                <a:ea typeface="Arial"/>
                <a:cs typeface="Arial"/>
              </a:defRPr>
            </a:lvl7pPr>
            <a:lvl8pPr>
              <a:defRPr sz="1650" b="0">
                <a:solidFill>
                  <a:srgbClr val="263648"/>
                </a:solidFill>
                <a:latin typeface="Arial"/>
                <a:ea typeface="Arial"/>
                <a:cs typeface="Arial"/>
              </a:defRPr>
            </a:lvl8pPr>
            <a:lvl9pPr>
              <a:defRPr sz="1650" b="0">
                <a:solidFill>
                  <a:srgbClr val="263648"/>
                </a:solidFill>
                <a:latin typeface="Arial"/>
                <a:ea typeface="Arial"/>
                <a:cs typeface="Arial"/>
              </a:defRPr>
            </a:lvl9pPr>
          </a:lstStyle>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Cycles, area, timing</a:t>
            </a:r>
          </a:p>
          <a:p xmlns:a="http://schemas.openxmlformats.org/drawingml/2006/main">
            <a:pPr>
              <a:defRPr sz="1650" b="0">
                <a:solidFill>
                  <a:srgbClr val="263648"/>
                </a:solidFill>
                <a:latin typeface="Arial"/>
                <a:ea typeface="Arial"/>
                <a:cs typeface="Arial"/>
              </a:defRPr>
            </a:pPr>
            <a:r>
              <a:rPr sz="1650" b="0">
                <a:solidFill>
                  <a:srgbClr val="263648"/>
                </a:solidFill>
                <a:latin typeface="Arial"/>
                <a:ea typeface="Arial"/>
                <a:cs typeface="Arial"/>
              </a:rPr>
              <a:t>Persistent ledger</a:t>
            </a:r>
          </a:p>
        </p:txBody>
      </p:sp>
      <p:sp>
        <p:nvSpPr>
          <p:cNvPr id="20" name="">
            <a:extLst xmlns:a="http://schemas.openxmlformats.org/drawingml/2006/main">
              <a:ext uri="{FF2B5EF4-FFF2-40B4-BE49-F238E27FC236}">
                <a16:creationId xmlns:a16="http://schemas.microsoft.com/office/drawing/2014/main" id="{928DCEFA-20E6-4942-8CB5-5329E0D9C1AF}"/>
              </a:ext>
            </a:extLst>
          </p:cNvPr>
          <p:cNvSpPr>
            <a:spLocks xmlns:a="http://schemas.openxmlformats.org/drawingml/2006/main" noGrp="1"/>
          </p:cNvSpPr>
          <p:nvPr/>
        </p:nvSpPr>
        <p:spPr>
          <a:xfrm xmlns:a="http://schemas.openxmlformats.org/drawingml/2006/main">
            <a:off x="10363200" y="3028950"/>
            <a:ext cx="0" cy="219075"/>
          </a:xfrm>
          <a:prstGeom xmlns:a="http://schemas.openxmlformats.org/drawingml/2006/main" prst="line">
            <a:avLst/>
          </a:prstGeom>
          <a:noFill xmlns:a="http://schemas.openxmlformats.org/drawingml/2006/main"/>
          <a:ln xmlns:a="http://schemas.openxmlformats.org/drawingml/2006/main" w="19050">
            <a:solidFill>
              <a:srgbClr val="18856B"/>
            </a:solidFill>
            <a:prstDash val="solid"/>
          </a:ln>
        </p:spPr>
      </p:sp>
      <p:sp>
        <p:nvSpPr>
          <p:cNvPr id="21" name="">
            <a:extLst xmlns:a="http://schemas.openxmlformats.org/drawingml/2006/main">
              <a:ext uri="{FF2B5EF4-FFF2-40B4-BE49-F238E27FC236}">
                <a16:creationId xmlns:a16="http://schemas.microsoft.com/office/drawing/2014/main" id="{D72D2221-ED6D-48E8-BF7E-3C6ABD77D896}"/>
              </a:ext>
            </a:extLst>
          </p:cNvPr>
          <p:cNvSpPr>
            <a:spLocks xmlns:a="http://schemas.openxmlformats.org/drawingml/2006/main" noGrp="1"/>
          </p:cNvSpPr>
          <p:nvPr/>
        </p:nvSpPr>
        <p:spPr>
          <a:xfrm xmlns:a="http://schemas.openxmlformats.org/drawingml/2006/main">
            <a:off x="4095750" y="3248025"/>
            <a:ext cx="6267450" cy="0"/>
          </a:xfrm>
          <a:prstGeom xmlns:a="http://schemas.openxmlformats.org/drawingml/2006/main" prst="line">
            <a:avLst/>
          </a:prstGeom>
          <a:noFill xmlns:a="http://schemas.openxmlformats.org/drawingml/2006/main"/>
          <a:ln xmlns:a="http://schemas.openxmlformats.org/drawingml/2006/main" w="19050">
            <a:solidFill>
              <a:srgbClr val="18856B"/>
            </a:solidFill>
            <a:prstDash val="solid"/>
          </a:ln>
        </p:spPr>
      </p:sp>
      <p:sp>
        <p:nvSpPr>
          <p:cNvPr id="22" name="">
            <a:extLst xmlns:a="http://schemas.openxmlformats.org/drawingml/2006/main">
              <a:ext uri="{FF2B5EF4-FFF2-40B4-BE49-F238E27FC236}">
                <a16:creationId xmlns:a16="http://schemas.microsoft.com/office/drawing/2014/main" id="{B8A20A28-8871-43B8-AA13-128D7127E4CF}"/>
              </a:ext>
            </a:extLst>
          </p:cNvPr>
          <p:cNvSpPr>
            <a:spLocks xmlns:a="http://schemas.openxmlformats.org/drawingml/2006/main" noGrp="1"/>
          </p:cNvSpPr>
          <p:nvPr/>
        </p:nvSpPr>
        <p:spPr>
          <a:xfrm xmlns:a="http://schemas.openxmlformats.org/drawingml/2006/main">
            <a:off x="4000500" y="3333750"/>
            <a:ext cx="7239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18856B"/>
                </a:solidFill>
                <a:latin typeface="Arial"/>
                <a:ea typeface="Arial"/>
                <a:cs typeface="Arial"/>
              </a:defRPr>
            </a:defPPr>
            <a:lvl1pPr>
              <a:defRPr sz="1725" b="1">
                <a:solidFill>
                  <a:srgbClr val="18856B"/>
                </a:solidFill>
                <a:latin typeface="Arial"/>
                <a:ea typeface="Arial"/>
                <a:cs typeface="Arial"/>
              </a:defRPr>
            </a:lvl1pPr>
            <a:lvl2pPr>
              <a:defRPr sz="1725" b="1">
                <a:solidFill>
                  <a:srgbClr val="18856B"/>
                </a:solidFill>
                <a:latin typeface="Arial"/>
                <a:ea typeface="Arial"/>
                <a:cs typeface="Arial"/>
              </a:defRPr>
            </a:lvl2pPr>
            <a:lvl3pPr>
              <a:defRPr sz="1725" b="1">
                <a:solidFill>
                  <a:srgbClr val="18856B"/>
                </a:solidFill>
                <a:latin typeface="Arial"/>
                <a:ea typeface="Arial"/>
                <a:cs typeface="Arial"/>
              </a:defRPr>
            </a:lvl3pPr>
            <a:lvl4pPr>
              <a:defRPr sz="1725" b="1">
                <a:solidFill>
                  <a:srgbClr val="18856B"/>
                </a:solidFill>
                <a:latin typeface="Arial"/>
                <a:ea typeface="Arial"/>
                <a:cs typeface="Arial"/>
              </a:defRPr>
            </a:lvl4pPr>
            <a:lvl5pPr>
              <a:defRPr sz="1725" b="1">
                <a:solidFill>
                  <a:srgbClr val="18856B"/>
                </a:solidFill>
                <a:latin typeface="Arial"/>
                <a:ea typeface="Arial"/>
                <a:cs typeface="Arial"/>
              </a:defRPr>
            </a:lvl5pPr>
            <a:lvl6pPr>
              <a:defRPr sz="1725" b="1">
                <a:solidFill>
                  <a:srgbClr val="18856B"/>
                </a:solidFill>
                <a:latin typeface="Arial"/>
                <a:ea typeface="Arial"/>
                <a:cs typeface="Arial"/>
              </a:defRPr>
            </a:lvl6pPr>
            <a:lvl7pPr>
              <a:defRPr sz="1725" b="1">
                <a:solidFill>
                  <a:srgbClr val="18856B"/>
                </a:solidFill>
                <a:latin typeface="Arial"/>
                <a:ea typeface="Arial"/>
                <a:cs typeface="Arial"/>
              </a:defRPr>
            </a:lvl7pPr>
            <a:lvl8pPr>
              <a:defRPr sz="1725" b="1">
                <a:solidFill>
                  <a:srgbClr val="18856B"/>
                </a:solidFill>
                <a:latin typeface="Arial"/>
                <a:ea typeface="Arial"/>
                <a:cs typeface="Arial"/>
              </a:defRPr>
            </a:lvl8pPr>
            <a:lvl9pPr>
              <a:defRPr sz="1725" b="1">
                <a:solidFill>
                  <a:srgbClr val="18856B"/>
                </a:solidFill>
                <a:latin typeface="Arial"/>
                <a:ea typeface="Arial"/>
                <a:cs typeface="Arial"/>
              </a:defRPr>
            </a:lvl9pPr>
          </a:lstStyle>
          <a:p xmlns:a="http://schemas.openxmlformats.org/drawingml/2006/main">
            <a:pPr>
              <a:defRPr sz="1725" b="1">
                <a:solidFill>
                  <a:srgbClr val="18856B"/>
                </a:solidFill>
                <a:latin typeface="Arial"/>
                <a:ea typeface="Arial"/>
                <a:cs typeface="Arial"/>
              </a:defRPr>
            </a:pPr>
            <a:r>
              <a:rPr sz="1725" b="1">
                <a:solidFill>
                  <a:srgbClr val="18856B"/>
                </a:solidFill>
                <a:latin typeface="Arial"/>
                <a:ea typeface="Arial"/>
                <a:cs typeface="Arial"/>
              </a:rPr>
              <a:t>Paid observations feed the next decision</a:t>
            </a:r>
          </a:p>
        </p:txBody>
      </p:sp>
      <p:sp>
        <p:nvSpPr>
          <p:cNvPr id="23" name="">
            <a:extLst xmlns:a="http://schemas.openxmlformats.org/drawingml/2006/main">
              <a:ext uri="{FF2B5EF4-FFF2-40B4-BE49-F238E27FC236}">
                <a16:creationId xmlns:a16="http://schemas.microsoft.com/office/drawing/2014/main" id="{A9DE638A-388C-4B39-B4FE-3329052784F3}"/>
              </a:ext>
            </a:extLst>
          </p:cNvPr>
          <p:cNvSpPr>
            <a:spLocks xmlns:a="http://schemas.openxmlformats.org/drawingml/2006/main" noGrp="1"/>
          </p:cNvSpPr>
          <p:nvPr/>
        </p:nvSpPr>
        <p:spPr>
          <a:xfrm xmlns:a="http://schemas.openxmlformats.org/drawingml/2006/main">
            <a:off x="685800" y="3762375"/>
            <a:ext cx="10820400" cy="0"/>
          </a:xfrm>
          <a:prstGeom xmlns:a="http://schemas.openxmlformats.org/drawingml/2006/main" prst="line">
            <a:avLst/>
          </a:prstGeom>
          <a:noFill xmlns:a="http://schemas.openxmlformats.org/drawingml/2006/main"/>
          <a:ln xmlns:a="http://schemas.openxmlformats.org/drawingml/2006/main" w="9525">
            <a:solidFill>
              <a:srgbClr val="D9E1E8"/>
            </a:solidFill>
            <a:prstDash val="solid"/>
          </a:ln>
        </p:spPr>
      </p:sp>
      <p:sp>
        <p:nvSpPr>
          <p:cNvPr id="24" name="">
            <a:extLst xmlns:a="http://schemas.openxmlformats.org/drawingml/2006/main">
              <a:ext uri="{FF2B5EF4-FFF2-40B4-BE49-F238E27FC236}">
                <a16:creationId xmlns:a16="http://schemas.microsoft.com/office/drawing/2014/main" id="{291CC844-D9A7-4797-9D61-6F0860935792}"/>
              </a:ext>
            </a:extLst>
          </p:cNvPr>
          <p:cNvSpPr>
            <a:spLocks xmlns:a="http://schemas.openxmlformats.org/drawingml/2006/main" noGrp="1"/>
          </p:cNvSpPr>
          <p:nvPr/>
        </p:nvSpPr>
        <p:spPr>
          <a:xfrm xmlns:a="http://schemas.openxmlformats.org/drawingml/2006/main">
            <a:off x="685800" y="3914775"/>
            <a:ext cx="5095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A65A00"/>
                </a:solidFill>
                <a:latin typeface="Arial"/>
                <a:ea typeface="Arial"/>
                <a:cs typeface="Arial"/>
              </a:defRPr>
            </a:defPPr>
            <a:lvl1pPr>
              <a:defRPr sz="1725" b="1">
                <a:solidFill>
                  <a:srgbClr val="A65A00"/>
                </a:solidFill>
                <a:latin typeface="Arial"/>
                <a:ea typeface="Arial"/>
                <a:cs typeface="Arial"/>
              </a:defRPr>
            </a:lvl1pPr>
            <a:lvl2pPr>
              <a:defRPr sz="1725" b="1">
                <a:solidFill>
                  <a:srgbClr val="A65A00"/>
                </a:solidFill>
                <a:latin typeface="Arial"/>
                <a:ea typeface="Arial"/>
                <a:cs typeface="Arial"/>
              </a:defRPr>
            </a:lvl2pPr>
            <a:lvl3pPr>
              <a:defRPr sz="1725" b="1">
                <a:solidFill>
                  <a:srgbClr val="A65A00"/>
                </a:solidFill>
                <a:latin typeface="Arial"/>
                <a:ea typeface="Arial"/>
                <a:cs typeface="Arial"/>
              </a:defRPr>
            </a:lvl3pPr>
            <a:lvl4pPr>
              <a:defRPr sz="1725" b="1">
                <a:solidFill>
                  <a:srgbClr val="A65A00"/>
                </a:solidFill>
                <a:latin typeface="Arial"/>
                <a:ea typeface="Arial"/>
                <a:cs typeface="Arial"/>
              </a:defRPr>
            </a:lvl4pPr>
            <a:lvl5pPr>
              <a:defRPr sz="1725" b="1">
                <a:solidFill>
                  <a:srgbClr val="A65A00"/>
                </a:solidFill>
                <a:latin typeface="Arial"/>
                <a:ea typeface="Arial"/>
                <a:cs typeface="Arial"/>
              </a:defRPr>
            </a:lvl5pPr>
            <a:lvl6pPr>
              <a:defRPr sz="1725" b="1">
                <a:solidFill>
                  <a:srgbClr val="A65A00"/>
                </a:solidFill>
                <a:latin typeface="Arial"/>
                <a:ea typeface="Arial"/>
                <a:cs typeface="Arial"/>
              </a:defRPr>
            </a:lvl6pPr>
            <a:lvl7pPr>
              <a:defRPr sz="1725" b="1">
                <a:solidFill>
                  <a:srgbClr val="A65A00"/>
                </a:solidFill>
                <a:latin typeface="Arial"/>
                <a:ea typeface="Arial"/>
                <a:cs typeface="Arial"/>
              </a:defRPr>
            </a:lvl7pPr>
            <a:lvl8pPr>
              <a:defRPr sz="1725" b="1">
                <a:solidFill>
                  <a:srgbClr val="A65A00"/>
                </a:solidFill>
                <a:latin typeface="Arial"/>
                <a:ea typeface="Arial"/>
                <a:cs typeface="Arial"/>
              </a:defRPr>
            </a:lvl8pPr>
            <a:lvl9pPr>
              <a:defRPr sz="1725" b="1">
                <a:solidFill>
                  <a:srgbClr val="A65A00"/>
                </a:solidFill>
                <a:latin typeface="Arial"/>
                <a:ea typeface="Arial"/>
                <a:cs typeface="Arial"/>
              </a:defRPr>
            </a:lvl9pPr>
          </a:lstStyle>
          <a:p xmlns:a="http://schemas.openxmlformats.org/drawingml/2006/main">
            <a:pPr>
              <a:defRPr sz="1725" b="1">
                <a:solidFill>
                  <a:srgbClr val="A65A00"/>
                </a:solidFill>
                <a:latin typeface="Arial"/>
                <a:ea typeface="Arial"/>
                <a:cs typeface="Arial"/>
              </a:defRPr>
            </a:pPr>
            <a:r>
              <a:rPr sz="1725" b="1">
                <a:solidFill>
                  <a:srgbClr val="A65A00"/>
                </a:solidFill>
                <a:latin typeface="Arial"/>
                <a:ea typeface="Arial"/>
                <a:cs typeface="Arial"/>
              </a:rPr>
              <a:t>PLANNED DECISION LAYER</a:t>
            </a:r>
          </a:p>
        </p:txBody>
      </p:sp>
      <p:sp>
        <p:nvSpPr>
          <p:cNvPr id="25" name="">
            <a:extLst xmlns:a="http://schemas.openxmlformats.org/drawingml/2006/main">
              <a:ext uri="{FF2B5EF4-FFF2-40B4-BE49-F238E27FC236}">
                <a16:creationId xmlns:a16="http://schemas.microsoft.com/office/drawing/2014/main" id="{BFCD71AC-5E2E-42C6-BACA-318DB1CF2F86}"/>
              </a:ext>
            </a:extLst>
          </p:cNvPr>
          <p:cNvSpPr>
            <a:spLocks xmlns:a="http://schemas.openxmlformats.org/drawingml/2006/main" noGrp="1"/>
          </p:cNvSpPr>
          <p:nvPr/>
        </p:nvSpPr>
        <p:spPr>
          <a:xfrm xmlns:a="http://schemas.openxmlformats.org/drawingml/2006/main">
            <a:off x="685800" y="4314825"/>
            <a:ext cx="52863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263648"/>
                </a:solidFill>
                <a:latin typeface="Arial"/>
                <a:ea typeface="Arial"/>
                <a:cs typeface="Arial"/>
              </a:defRPr>
            </a:defPPr>
            <a:lvl1pPr>
              <a:defRPr sz="1800" b="0">
                <a:solidFill>
                  <a:srgbClr val="263648"/>
                </a:solidFill>
                <a:latin typeface="Arial"/>
                <a:ea typeface="Arial"/>
                <a:cs typeface="Arial"/>
              </a:defRPr>
            </a:lvl1pPr>
            <a:lvl2pPr>
              <a:defRPr sz="1800" b="0">
                <a:solidFill>
                  <a:srgbClr val="263648"/>
                </a:solidFill>
                <a:latin typeface="Arial"/>
                <a:ea typeface="Arial"/>
                <a:cs typeface="Arial"/>
              </a:defRPr>
            </a:lvl2pPr>
            <a:lvl3pPr>
              <a:defRPr sz="1800" b="0">
                <a:solidFill>
                  <a:srgbClr val="263648"/>
                </a:solidFill>
                <a:latin typeface="Arial"/>
                <a:ea typeface="Arial"/>
                <a:cs typeface="Arial"/>
              </a:defRPr>
            </a:lvl3pPr>
            <a:lvl4pPr>
              <a:defRPr sz="1800" b="0">
                <a:solidFill>
                  <a:srgbClr val="263648"/>
                </a:solidFill>
                <a:latin typeface="Arial"/>
                <a:ea typeface="Arial"/>
                <a:cs typeface="Arial"/>
              </a:defRPr>
            </a:lvl4pPr>
            <a:lvl5pPr>
              <a:defRPr sz="1800" b="0">
                <a:solidFill>
                  <a:srgbClr val="263648"/>
                </a:solidFill>
                <a:latin typeface="Arial"/>
                <a:ea typeface="Arial"/>
                <a:cs typeface="Arial"/>
              </a:defRPr>
            </a:lvl5pPr>
            <a:lvl6pPr>
              <a:defRPr sz="1800" b="0">
                <a:solidFill>
                  <a:srgbClr val="263648"/>
                </a:solidFill>
                <a:latin typeface="Arial"/>
                <a:ea typeface="Arial"/>
                <a:cs typeface="Arial"/>
              </a:defRPr>
            </a:lvl6pPr>
            <a:lvl7pPr>
              <a:defRPr sz="1800" b="0">
                <a:solidFill>
                  <a:srgbClr val="263648"/>
                </a:solidFill>
                <a:latin typeface="Arial"/>
                <a:ea typeface="Arial"/>
                <a:cs typeface="Arial"/>
              </a:defRPr>
            </a:lvl7pPr>
            <a:lvl8pPr>
              <a:defRPr sz="1800" b="0">
                <a:solidFill>
                  <a:srgbClr val="263648"/>
                </a:solidFill>
                <a:latin typeface="Arial"/>
                <a:ea typeface="Arial"/>
                <a:cs typeface="Arial"/>
              </a:defRPr>
            </a:lvl8pPr>
            <a:lvl9pPr>
              <a:defRPr sz="1800" b="0">
                <a:solidFill>
                  <a:srgbClr val="263648"/>
                </a:solidFill>
                <a:latin typeface="Arial"/>
                <a:ea typeface="Arial"/>
                <a:cs typeface="Arial"/>
              </a:defRPr>
            </a:lvl9pPr>
          </a:lstStyle>
          <a:p xmlns:a="http://schemas.openxmlformats.org/drawingml/2006/main">
            <a:pPr>
              <a:defRPr sz="1800" b="0">
                <a:solidFill>
                  <a:srgbClr val="263648"/>
                </a:solidFill>
                <a:latin typeface="Arial"/>
                <a:ea typeface="Arial"/>
                <a:cs typeface="Arial"/>
              </a:defRPr>
            </a:pPr>
            <a:r>
              <a:rPr sz="1800" b="0">
                <a:solidFill>
                  <a:srgbClr val="263648"/>
                </a:solidFill>
                <a:latin typeface="Arial"/>
                <a:ea typeface="Arial"/>
                <a:cs typeface="Arial"/>
              </a:rPr>
              <a:t>Context window + token budget</a:t>
            </a:r>
          </a:p>
          <a:p xmlns:a="http://schemas.openxmlformats.org/drawingml/2006/main">
            <a:pPr>
              <a:defRPr sz="1800" b="0">
                <a:solidFill>
                  <a:srgbClr val="263648"/>
                </a:solidFill>
                <a:latin typeface="Arial"/>
                <a:ea typeface="Arial"/>
                <a:cs typeface="Arial"/>
              </a:defRPr>
            </a:pPr>
            <a:r>
              <a:rPr sz="1800" b="0">
                <a:solidFill>
                  <a:srgbClr val="263648"/>
                </a:solidFill>
                <a:latin typeface="Arial"/>
                <a:ea typeface="Arial"/>
                <a:cs typeface="Arial"/>
              </a:rPr>
              <a:t>Small LLM → escalate → strong LLM</a:t>
            </a:r>
          </a:p>
        </p:txBody>
      </p:sp>
      <p:sp>
        <p:nvSpPr>
          <p:cNvPr id="26" name="">
            <a:extLst xmlns:a="http://schemas.openxmlformats.org/drawingml/2006/main">
              <a:ext uri="{FF2B5EF4-FFF2-40B4-BE49-F238E27FC236}">
                <a16:creationId xmlns:a16="http://schemas.microsoft.com/office/drawing/2014/main" id="{47EFA70A-10E9-45EC-A888-827CE5512827}"/>
              </a:ext>
            </a:extLst>
          </p:cNvPr>
          <p:cNvSpPr>
            <a:spLocks xmlns:a="http://schemas.openxmlformats.org/drawingml/2006/main" noGrp="1"/>
          </p:cNvSpPr>
          <p:nvPr/>
        </p:nvSpPr>
        <p:spPr>
          <a:xfrm xmlns:a="http://schemas.openxmlformats.org/drawingml/2006/main">
            <a:off x="6477000" y="3914775"/>
            <a:ext cx="504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A65A00"/>
                </a:solidFill>
                <a:latin typeface="Arial"/>
                <a:ea typeface="Arial"/>
                <a:cs typeface="Arial"/>
              </a:defRPr>
            </a:defPPr>
            <a:lvl1pPr>
              <a:defRPr sz="1725" b="1">
                <a:solidFill>
                  <a:srgbClr val="A65A00"/>
                </a:solidFill>
                <a:latin typeface="Arial"/>
                <a:ea typeface="Arial"/>
                <a:cs typeface="Arial"/>
              </a:defRPr>
            </a:lvl1pPr>
            <a:lvl2pPr>
              <a:defRPr sz="1725" b="1">
                <a:solidFill>
                  <a:srgbClr val="A65A00"/>
                </a:solidFill>
                <a:latin typeface="Arial"/>
                <a:ea typeface="Arial"/>
                <a:cs typeface="Arial"/>
              </a:defRPr>
            </a:lvl2pPr>
            <a:lvl3pPr>
              <a:defRPr sz="1725" b="1">
                <a:solidFill>
                  <a:srgbClr val="A65A00"/>
                </a:solidFill>
                <a:latin typeface="Arial"/>
                <a:ea typeface="Arial"/>
                <a:cs typeface="Arial"/>
              </a:defRPr>
            </a:lvl3pPr>
            <a:lvl4pPr>
              <a:defRPr sz="1725" b="1">
                <a:solidFill>
                  <a:srgbClr val="A65A00"/>
                </a:solidFill>
                <a:latin typeface="Arial"/>
                <a:ea typeface="Arial"/>
                <a:cs typeface="Arial"/>
              </a:defRPr>
            </a:lvl4pPr>
            <a:lvl5pPr>
              <a:defRPr sz="1725" b="1">
                <a:solidFill>
                  <a:srgbClr val="A65A00"/>
                </a:solidFill>
                <a:latin typeface="Arial"/>
                <a:ea typeface="Arial"/>
                <a:cs typeface="Arial"/>
              </a:defRPr>
            </a:lvl5pPr>
            <a:lvl6pPr>
              <a:defRPr sz="1725" b="1">
                <a:solidFill>
                  <a:srgbClr val="A65A00"/>
                </a:solidFill>
                <a:latin typeface="Arial"/>
                <a:ea typeface="Arial"/>
                <a:cs typeface="Arial"/>
              </a:defRPr>
            </a:lvl6pPr>
            <a:lvl7pPr>
              <a:defRPr sz="1725" b="1">
                <a:solidFill>
                  <a:srgbClr val="A65A00"/>
                </a:solidFill>
                <a:latin typeface="Arial"/>
                <a:ea typeface="Arial"/>
                <a:cs typeface="Arial"/>
              </a:defRPr>
            </a:lvl7pPr>
            <a:lvl8pPr>
              <a:defRPr sz="1725" b="1">
                <a:solidFill>
                  <a:srgbClr val="A65A00"/>
                </a:solidFill>
                <a:latin typeface="Arial"/>
                <a:ea typeface="Arial"/>
                <a:cs typeface="Arial"/>
              </a:defRPr>
            </a:lvl8pPr>
            <a:lvl9pPr>
              <a:defRPr sz="1725" b="1">
                <a:solidFill>
                  <a:srgbClr val="A65A00"/>
                </a:solidFill>
                <a:latin typeface="Arial"/>
                <a:ea typeface="Arial"/>
                <a:cs typeface="Arial"/>
              </a:defRPr>
            </a:lvl9pPr>
          </a:lstStyle>
          <a:p xmlns:a="http://schemas.openxmlformats.org/drawingml/2006/main">
            <a:pPr>
              <a:defRPr sz="1725" b="1">
                <a:solidFill>
                  <a:srgbClr val="A65A00"/>
                </a:solidFill>
                <a:latin typeface="Arial"/>
                <a:ea typeface="Arial"/>
                <a:cs typeface="Arial"/>
              </a:defRPr>
            </a:pPr>
            <a:r>
              <a:rPr sz="1725" b="1">
                <a:solidFill>
                  <a:srgbClr val="A65A00"/>
                </a:solidFill>
                <a:latin typeface="Arial"/>
                <a:ea typeface="Arial"/>
                <a:cs typeface="Arial"/>
              </a:rPr>
              <a:t>OPTIONAL KNOWLEDGE LAYER</a:t>
            </a:r>
          </a:p>
        </p:txBody>
      </p:sp>
      <p:sp>
        <p:nvSpPr>
          <p:cNvPr id="27" name="">
            <a:extLst xmlns:a="http://schemas.openxmlformats.org/drawingml/2006/main">
              <a:ext uri="{FF2B5EF4-FFF2-40B4-BE49-F238E27FC236}">
                <a16:creationId xmlns:a16="http://schemas.microsoft.com/office/drawing/2014/main" id="{7A855CDF-D2F5-450C-9EB5-39055A3182FC}"/>
              </a:ext>
            </a:extLst>
          </p:cNvPr>
          <p:cNvSpPr>
            <a:spLocks xmlns:a="http://schemas.openxmlformats.org/drawingml/2006/main" noGrp="1"/>
          </p:cNvSpPr>
          <p:nvPr/>
        </p:nvSpPr>
        <p:spPr>
          <a:xfrm xmlns:a="http://schemas.openxmlformats.org/drawingml/2006/main">
            <a:off x="6477000" y="4314825"/>
            <a:ext cx="5048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263648"/>
                </a:solidFill>
                <a:latin typeface="Arial"/>
                <a:ea typeface="Arial"/>
                <a:cs typeface="Arial"/>
              </a:defRPr>
            </a:defPPr>
            <a:lvl1pPr>
              <a:defRPr sz="1800" b="0">
                <a:solidFill>
                  <a:srgbClr val="263648"/>
                </a:solidFill>
                <a:latin typeface="Arial"/>
                <a:ea typeface="Arial"/>
                <a:cs typeface="Arial"/>
              </a:defRPr>
            </a:lvl1pPr>
            <a:lvl2pPr>
              <a:defRPr sz="1800" b="0">
                <a:solidFill>
                  <a:srgbClr val="263648"/>
                </a:solidFill>
                <a:latin typeface="Arial"/>
                <a:ea typeface="Arial"/>
                <a:cs typeface="Arial"/>
              </a:defRPr>
            </a:lvl2pPr>
            <a:lvl3pPr>
              <a:defRPr sz="1800" b="0">
                <a:solidFill>
                  <a:srgbClr val="263648"/>
                </a:solidFill>
                <a:latin typeface="Arial"/>
                <a:ea typeface="Arial"/>
                <a:cs typeface="Arial"/>
              </a:defRPr>
            </a:lvl3pPr>
            <a:lvl4pPr>
              <a:defRPr sz="1800" b="0">
                <a:solidFill>
                  <a:srgbClr val="263648"/>
                </a:solidFill>
                <a:latin typeface="Arial"/>
                <a:ea typeface="Arial"/>
                <a:cs typeface="Arial"/>
              </a:defRPr>
            </a:lvl4pPr>
            <a:lvl5pPr>
              <a:defRPr sz="1800" b="0">
                <a:solidFill>
                  <a:srgbClr val="263648"/>
                </a:solidFill>
                <a:latin typeface="Arial"/>
                <a:ea typeface="Arial"/>
                <a:cs typeface="Arial"/>
              </a:defRPr>
            </a:lvl5pPr>
            <a:lvl6pPr>
              <a:defRPr sz="1800" b="0">
                <a:solidFill>
                  <a:srgbClr val="263648"/>
                </a:solidFill>
                <a:latin typeface="Arial"/>
                <a:ea typeface="Arial"/>
                <a:cs typeface="Arial"/>
              </a:defRPr>
            </a:lvl6pPr>
            <a:lvl7pPr>
              <a:defRPr sz="1800" b="0">
                <a:solidFill>
                  <a:srgbClr val="263648"/>
                </a:solidFill>
                <a:latin typeface="Arial"/>
                <a:ea typeface="Arial"/>
                <a:cs typeface="Arial"/>
              </a:defRPr>
            </a:lvl7pPr>
            <a:lvl8pPr>
              <a:defRPr sz="1800" b="0">
                <a:solidFill>
                  <a:srgbClr val="263648"/>
                </a:solidFill>
                <a:latin typeface="Arial"/>
                <a:ea typeface="Arial"/>
                <a:cs typeface="Arial"/>
              </a:defRPr>
            </a:lvl8pPr>
            <a:lvl9pPr>
              <a:defRPr sz="1800" b="0">
                <a:solidFill>
                  <a:srgbClr val="263648"/>
                </a:solidFill>
                <a:latin typeface="Arial"/>
                <a:ea typeface="Arial"/>
                <a:cs typeface="Arial"/>
              </a:defRPr>
            </a:lvl9pPr>
          </a:lstStyle>
          <a:p xmlns:a="http://schemas.openxmlformats.org/drawingml/2006/main">
            <a:pPr>
              <a:defRPr sz="1800" b="0">
                <a:solidFill>
                  <a:srgbClr val="263648"/>
                </a:solidFill>
                <a:latin typeface="Arial"/>
                <a:ea typeface="Arial"/>
                <a:cs typeface="Arial"/>
              </a:defRPr>
            </a:pPr>
            <a:r>
              <a:rPr sz="1800" b="0">
                <a:solidFill>
                  <a:srgbClr val="263648"/>
                </a:solidFill>
                <a:latin typeface="Arial"/>
                <a:ea typeface="Arial"/>
                <a:cs typeface="Arial"/>
              </a:rPr>
              <a:t>Approved history → chunk + embed</a:t>
            </a:r>
          </a:p>
          <a:p xmlns:a="http://schemas.openxmlformats.org/drawingml/2006/main">
            <a:pPr>
              <a:defRPr sz="1800" b="0">
                <a:solidFill>
                  <a:srgbClr val="263648"/>
                </a:solidFill>
                <a:latin typeface="Arial"/>
                <a:ea typeface="Arial"/>
                <a:cs typeface="Arial"/>
              </a:defRPr>
            </a:pPr>
            <a:r>
              <a:rPr sz="1800" b="0">
                <a:solidFill>
                  <a:srgbClr val="263648"/>
                </a:solidFill>
                <a:latin typeface="Arial"/>
                <a:ea typeface="Arial"/>
                <a:cs typeface="Arial"/>
              </a:rPr>
              <a:t>Hybrid search → rerank → RAG context</a:t>
            </a:r>
          </a:p>
        </p:txBody>
      </p:sp>
      <p:sp>
        <p:nvSpPr>
          <p:cNvPr id="28" name="">
            <a:extLst xmlns:a="http://schemas.openxmlformats.org/drawingml/2006/main">
              <a:ext uri="{FF2B5EF4-FFF2-40B4-BE49-F238E27FC236}">
                <a16:creationId xmlns:a16="http://schemas.microsoft.com/office/drawing/2014/main" id="{E47F65BF-4BE8-4959-95B8-B18E11451F44}"/>
              </a:ext>
            </a:extLst>
          </p:cNvPr>
          <p:cNvSpPr>
            <a:spLocks xmlns:a="http://schemas.openxmlformats.org/drawingml/2006/main" noGrp="1"/>
          </p:cNvSpPr>
          <p:nvPr/>
        </p:nvSpPr>
        <p:spPr>
          <a:xfrm xmlns:a="http://schemas.openxmlformats.org/drawingml/2006/main">
            <a:off x="685800" y="5143500"/>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607286"/>
                </a:solidFill>
                <a:latin typeface="Arial"/>
                <a:ea typeface="Arial"/>
                <a:cs typeface="Arial"/>
              </a:defRPr>
            </a:defPPr>
            <a:lvl1pPr>
              <a:defRPr sz="1650" b="0">
                <a:solidFill>
                  <a:srgbClr val="607286"/>
                </a:solidFill>
                <a:latin typeface="Arial"/>
                <a:ea typeface="Arial"/>
                <a:cs typeface="Arial"/>
              </a:defRPr>
            </a:lvl1pPr>
            <a:lvl2pPr>
              <a:defRPr sz="1650" b="0">
                <a:solidFill>
                  <a:srgbClr val="607286"/>
                </a:solidFill>
                <a:latin typeface="Arial"/>
                <a:ea typeface="Arial"/>
                <a:cs typeface="Arial"/>
              </a:defRPr>
            </a:lvl2pPr>
            <a:lvl3pPr>
              <a:defRPr sz="1650" b="0">
                <a:solidFill>
                  <a:srgbClr val="607286"/>
                </a:solidFill>
                <a:latin typeface="Arial"/>
                <a:ea typeface="Arial"/>
                <a:cs typeface="Arial"/>
              </a:defRPr>
            </a:lvl3pPr>
            <a:lvl4pPr>
              <a:defRPr sz="1650" b="0">
                <a:solidFill>
                  <a:srgbClr val="607286"/>
                </a:solidFill>
                <a:latin typeface="Arial"/>
                <a:ea typeface="Arial"/>
                <a:cs typeface="Arial"/>
              </a:defRPr>
            </a:lvl4pPr>
            <a:lvl5pPr>
              <a:defRPr sz="1650" b="0">
                <a:solidFill>
                  <a:srgbClr val="607286"/>
                </a:solidFill>
                <a:latin typeface="Arial"/>
                <a:ea typeface="Arial"/>
                <a:cs typeface="Arial"/>
              </a:defRPr>
            </a:lvl5pPr>
            <a:lvl6pPr>
              <a:defRPr sz="1650" b="0">
                <a:solidFill>
                  <a:srgbClr val="607286"/>
                </a:solidFill>
                <a:latin typeface="Arial"/>
                <a:ea typeface="Arial"/>
                <a:cs typeface="Arial"/>
              </a:defRPr>
            </a:lvl6pPr>
            <a:lvl7pPr>
              <a:defRPr sz="1650" b="0">
                <a:solidFill>
                  <a:srgbClr val="607286"/>
                </a:solidFill>
                <a:latin typeface="Arial"/>
                <a:ea typeface="Arial"/>
                <a:cs typeface="Arial"/>
              </a:defRPr>
            </a:lvl7pPr>
            <a:lvl8pPr>
              <a:defRPr sz="1650" b="0">
                <a:solidFill>
                  <a:srgbClr val="607286"/>
                </a:solidFill>
                <a:latin typeface="Arial"/>
                <a:ea typeface="Arial"/>
                <a:cs typeface="Arial"/>
              </a:defRPr>
            </a:lvl8pPr>
            <a:lvl9pPr>
              <a:defRPr sz="1650" b="0">
                <a:solidFill>
                  <a:srgbClr val="607286"/>
                </a:solidFill>
                <a:latin typeface="Arial"/>
                <a:ea typeface="Arial"/>
                <a:cs typeface="Arial"/>
              </a:defRPr>
            </a:lvl9pPr>
          </a:lstStyle>
          <a:p xmlns:a="http://schemas.openxmlformats.org/drawingml/2006/main">
            <a:pPr>
              <a:defRPr sz="1650" b="0">
                <a:solidFill>
                  <a:srgbClr val="607286"/>
                </a:solidFill>
                <a:latin typeface="Arial"/>
                <a:ea typeface="Arial"/>
                <a:cs typeface="Arial"/>
              </a:defRPr>
            </a:pPr>
            <a:r>
              <a:rPr sz="1650" b="0">
                <a:solidFill>
                  <a:srgbClr val="607286"/>
                </a:solidFill>
                <a:latin typeface="Arial"/>
                <a:ea typeface="Arial"/>
                <a:cs typeface="Arial"/>
              </a:rPr>
              <a:t>Both feed the LLM decision. Hidden target outcomes stay excluded.</a:t>
            </a:r>
          </a:p>
        </p:txBody>
      </p:sp>
      <p:sp>
        <p:nvSpPr>
          <p:cNvPr id="29" name="">
            <a:extLst xmlns:a="http://schemas.openxmlformats.org/drawingml/2006/main">
              <a:ext uri="{FF2B5EF4-FFF2-40B4-BE49-F238E27FC236}">
                <a16:creationId xmlns:a16="http://schemas.microsoft.com/office/drawing/2014/main" id="{BFE834BB-43F6-4508-A1BA-4BC8E4F8015A}"/>
              </a:ext>
            </a:extLst>
          </p:cNvPr>
          <p:cNvSpPr>
            <a:spLocks xmlns:a="http://schemas.openxmlformats.org/drawingml/2006/main" noGrp="1"/>
          </p:cNvSpPr>
          <p:nvPr/>
        </p:nvSpPr>
        <p:spPr>
          <a:xfrm xmlns:a="http://schemas.openxmlformats.org/drawingml/2006/main">
            <a:off x="685800" y="5591175"/>
            <a:ext cx="10820400" cy="0"/>
          </a:xfrm>
          <a:prstGeom xmlns:a="http://schemas.openxmlformats.org/drawingml/2006/main" prst="line">
            <a:avLst/>
          </a:prstGeom>
          <a:noFill xmlns:a="http://schemas.openxmlformats.org/drawingml/2006/main"/>
          <a:ln xmlns:a="http://schemas.openxmlformats.org/drawingml/2006/main" w="9525">
            <a:solidFill>
              <a:srgbClr val="D9E1E8"/>
            </a:solidFill>
            <a:prstDash val="solid"/>
          </a:ln>
        </p:spPr>
      </p:sp>
      <p:sp>
        <p:nvSpPr>
          <p:cNvPr id="30" name="">
            <a:extLst xmlns:a="http://schemas.openxmlformats.org/drawingml/2006/main">
              <a:ext uri="{FF2B5EF4-FFF2-40B4-BE49-F238E27FC236}">
                <a16:creationId xmlns:a16="http://schemas.microsoft.com/office/drawing/2014/main" id="{AC8AEC06-3CAA-430C-A3ED-AA3A4830630C}"/>
              </a:ext>
            </a:extLst>
          </p:cNvPr>
          <p:cNvSpPr>
            <a:spLocks xmlns:a="http://schemas.openxmlformats.org/drawingml/2006/main" noGrp="1"/>
          </p:cNvSpPr>
          <p:nvPr/>
        </p:nvSpPr>
        <p:spPr>
          <a:xfrm xmlns:a="http://schemas.openxmlformats.org/drawingml/2006/main">
            <a:off x="685800" y="5734050"/>
            <a:ext cx="1082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17324D"/>
                </a:solidFill>
                <a:latin typeface="Arial"/>
                <a:ea typeface="Arial"/>
                <a:cs typeface="Arial"/>
              </a:defRPr>
            </a:defPPr>
            <a:lvl1pPr>
              <a:defRPr sz="1875" b="1">
                <a:solidFill>
                  <a:srgbClr val="17324D"/>
                </a:solidFill>
                <a:latin typeface="Arial"/>
                <a:ea typeface="Arial"/>
                <a:cs typeface="Arial"/>
              </a:defRPr>
            </a:lvl1pPr>
            <a:lvl2pPr>
              <a:defRPr sz="1875" b="1">
                <a:solidFill>
                  <a:srgbClr val="17324D"/>
                </a:solidFill>
                <a:latin typeface="Arial"/>
                <a:ea typeface="Arial"/>
                <a:cs typeface="Arial"/>
              </a:defRPr>
            </a:lvl2pPr>
            <a:lvl3pPr>
              <a:defRPr sz="1875" b="1">
                <a:solidFill>
                  <a:srgbClr val="17324D"/>
                </a:solidFill>
                <a:latin typeface="Arial"/>
                <a:ea typeface="Arial"/>
                <a:cs typeface="Arial"/>
              </a:defRPr>
            </a:lvl3pPr>
            <a:lvl4pPr>
              <a:defRPr sz="1875" b="1">
                <a:solidFill>
                  <a:srgbClr val="17324D"/>
                </a:solidFill>
                <a:latin typeface="Arial"/>
                <a:ea typeface="Arial"/>
                <a:cs typeface="Arial"/>
              </a:defRPr>
            </a:lvl4pPr>
            <a:lvl5pPr>
              <a:defRPr sz="1875" b="1">
                <a:solidFill>
                  <a:srgbClr val="17324D"/>
                </a:solidFill>
                <a:latin typeface="Arial"/>
                <a:ea typeface="Arial"/>
                <a:cs typeface="Arial"/>
              </a:defRPr>
            </a:lvl5pPr>
            <a:lvl6pPr>
              <a:defRPr sz="1875" b="1">
                <a:solidFill>
                  <a:srgbClr val="17324D"/>
                </a:solidFill>
                <a:latin typeface="Arial"/>
                <a:ea typeface="Arial"/>
                <a:cs typeface="Arial"/>
              </a:defRPr>
            </a:lvl6pPr>
            <a:lvl7pPr>
              <a:defRPr sz="1875" b="1">
                <a:solidFill>
                  <a:srgbClr val="17324D"/>
                </a:solidFill>
                <a:latin typeface="Arial"/>
                <a:ea typeface="Arial"/>
                <a:cs typeface="Arial"/>
              </a:defRPr>
            </a:lvl7pPr>
            <a:lvl8pPr>
              <a:defRPr sz="1875" b="1">
                <a:solidFill>
                  <a:srgbClr val="17324D"/>
                </a:solidFill>
                <a:latin typeface="Arial"/>
                <a:ea typeface="Arial"/>
                <a:cs typeface="Arial"/>
              </a:defRPr>
            </a:lvl8pPr>
            <a:lvl9pPr>
              <a:defRPr sz="1875" b="1">
                <a:solidFill>
                  <a:srgbClr val="17324D"/>
                </a:solidFill>
                <a:latin typeface="Arial"/>
                <a:ea typeface="Arial"/>
                <a:cs typeface="Arial"/>
              </a:defRPr>
            </a:lvl9pPr>
          </a:lstStyle>
          <a:p xmlns:a="http://schemas.openxmlformats.org/drawingml/2006/main">
            <a:pPr>
              <a:defRPr sz="1875" b="1">
                <a:solidFill>
                  <a:srgbClr val="17324D"/>
                </a:solidFill>
                <a:latin typeface="Arial"/>
                <a:ea typeface="Arial"/>
                <a:cs typeface="Arial"/>
              </a:defRPr>
            </a:pPr>
            <a:r>
              <a:rPr sz="1875" b="1">
                <a:solidFill>
                  <a:srgbClr val="17324D"/>
                </a:solidFill>
                <a:latin typeface="Arial"/>
                <a:ea typeface="Arial"/>
                <a:cs typeface="Arial"/>
              </a:rPr>
              <a:t>LLMOps plan: version → evaluate → monitor → deploy</a:t>
            </a:r>
          </a:p>
        </p:txBody>
      </p:sp>
      <p:sp>
        <p:nvSpPr>
          <p:cNvPr id="31" name="">
            <a:extLst xmlns:a="http://schemas.openxmlformats.org/drawingml/2006/main">
              <a:ext uri="{FF2B5EF4-FFF2-40B4-BE49-F238E27FC236}">
                <a16:creationId xmlns:a16="http://schemas.microsoft.com/office/drawing/2014/main" id="{BD3FCDD6-2607-4778-B51B-EE39F1CE058F}"/>
              </a:ext>
            </a:extLst>
          </p:cNvPr>
          <p:cNvSpPr>
            <a:spLocks xmlns:a="http://schemas.openxmlformats.org/drawingml/2006/main" noGrp="1"/>
          </p:cNvSpPr>
          <p:nvPr/>
        </p:nvSpPr>
        <p:spPr>
          <a:xfrm xmlns:a="http://schemas.openxmlformats.org/drawingml/2006/main">
            <a:off x="685800" y="6134100"/>
            <a:ext cx="108204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607286"/>
                </a:solidFill>
                <a:latin typeface="Arial"/>
                <a:ea typeface="Arial"/>
                <a:cs typeface="Arial"/>
              </a:defRPr>
            </a:defPPr>
            <a:lvl1pPr>
              <a:defRPr sz="1575" b="0">
                <a:solidFill>
                  <a:srgbClr val="607286"/>
                </a:solidFill>
                <a:latin typeface="Arial"/>
                <a:ea typeface="Arial"/>
                <a:cs typeface="Arial"/>
              </a:defRPr>
            </a:lvl1pPr>
            <a:lvl2pPr>
              <a:defRPr sz="1575" b="0">
                <a:solidFill>
                  <a:srgbClr val="607286"/>
                </a:solidFill>
                <a:latin typeface="Arial"/>
                <a:ea typeface="Arial"/>
                <a:cs typeface="Arial"/>
              </a:defRPr>
            </a:lvl2pPr>
            <a:lvl3pPr>
              <a:defRPr sz="1575" b="0">
                <a:solidFill>
                  <a:srgbClr val="607286"/>
                </a:solidFill>
                <a:latin typeface="Arial"/>
                <a:ea typeface="Arial"/>
                <a:cs typeface="Arial"/>
              </a:defRPr>
            </a:lvl3pPr>
            <a:lvl4pPr>
              <a:defRPr sz="1575" b="0">
                <a:solidFill>
                  <a:srgbClr val="607286"/>
                </a:solidFill>
                <a:latin typeface="Arial"/>
                <a:ea typeface="Arial"/>
                <a:cs typeface="Arial"/>
              </a:defRPr>
            </a:lvl4pPr>
            <a:lvl5pPr>
              <a:defRPr sz="1575" b="0">
                <a:solidFill>
                  <a:srgbClr val="607286"/>
                </a:solidFill>
                <a:latin typeface="Arial"/>
                <a:ea typeface="Arial"/>
                <a:cs typeface="Arial"/>
              </a:defRPr>
            </a:lvl5pPr>
            <a:lvl6pPr>
              <a:defRPr sz="1575" b="0">
                <a:solidFill>
                  <a:srgbClr val="607286"/>
                </a:solidFill>
                <a:latin typeface="Arial"/>
                <a:ea typeface="Arial"/>
                <a:cs typeface="Arial"/>
              </a:defRPr>
            </a:lvl6pPr>
            <a:lvl7pPr>
              <a:defRPr sz="1575" b="0">
                <a:solidFill>
                  <a:srgbClr val="607286"/>
                </a:solidFill>
                <a:latin typeface="Arial"/>
                <a:ea typeface="Arial"/>
                <a:cs typeface="Arial"/>
              </a:defRPr>
            </a:lvl7pPr>
            <a:lvl8pPr>
              <a:defRPr sz="1575" b="0">
                <a:solidFill>
                  <a:srgbClr val="607286"/>
                </a:solidFill>
                <a:latin typeface="Arial"/>
                <a:ea typeface="Arial"/>
                <a:cs typeface="Arial"/>
              </a:defRPr>
            </a:lvl8pPr>
            <a:lvl9pPr>
              <a:defRPr sz="1575" b="0">
                <a:solidFill>
                  <a:srgbClr val="607286"/>
                </a:solidFill>
                <a:latin typeface="Arial"/>
                <a:ea typeface="Arial"/>
                <a:cs typeface="Arial"/>
              </a:defRPr>
            </a:lvl9pPr>
          </a:lstStyle>
          <a:p xmlns:a="http://schemas.openxmlformats.org/drawingml/2006/main">
            <a:pPr>
              <a:defRPr sz="1575" b="0">
                <a:solidFill>
                  <a:srgbClr val="607286"/>
                </a:solidFill>
                <a:latin typeface="Arial"/>
                <a:ea typeface="Arial"/>
                <a:cs typeface="Arial"/>
              </a:defRPr>
            </a:pPr>
            <a:r>
              <a:rPr sz="1575" b="0">
                <a:solidFill>
                  <a:srgbClr val="607286"/>
                </a:solidFill>
                <a:latin typeface="Arial"/>
                <a:ea typeface="Arial"/>
                <a:cs typeface="Arial"/>
              </a:rPr>
              <a:t>Track feasible speedup, evaluation cost, tool errors, tokens and latency.</a:t>
            </a:r>
          </a:p>
        </p:txBody>
      </p:sp>
    </p:spTree>
    <p:extLst>
      <p:ext uri="{BB962C8B-B14F-4D97-AF65-F5344CB8AC3E}">
        <p14:creationId xmlns:p14="http://schemas.microsoft.com/office/powerpoint/2010/main" val="144039900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598CAF0-D42A-4FD8-AE02-0D40A3742DC4}"/>
              </a:ext>
            </a:extLst>
          </p:cNvPr>
          <p:cNvSpPr>
            <a:spLocks xmlns:a="http://schemas.openxmlformats.org/drawingml/2006/main" noGrp="1"/>
          </p:cNvSpPr>
          <p:nvPr/>
        </p:nvSpPr>
        <p:spPr>
          <a:xfrm xmlns:a="http://schemas.openxmlformats.org/drawingml/2006/main">
            <a:off x="6477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7324D"/>
                </a:solidFill>
                <a:latin typeface="Arial"/>
                <a:ea typeface="Arial"/>
                <a:cs typeface="Arial"/>
              </a:defRPr>
            </a:defPPr>
            <a:lvl1pPr>
              <a:defRPr sz="3225" b="1">
                <a:solidFill>
                  <a:srgbClr val="17324D"/>
                </a:solidFill>
                <a:latin typeface="Arial"/>
                <a:ea typeface="Arial"/>
                <a:cs typeface="Arial"/>
              </a:defRPr>
            </a:lvl1pPr>
            <a:lvl2pPr>
              <a:defRPr sz="3225" b="1">
                <a:solidFill>
                  <a:srgbClr val="17324D"/>
                </a:solidFill>
                <a:latin typeface="Arial"/>
                <a:ea typeface="Arial"/>
                <a:cs typeface="Arial"/>
              </a:defRPr>
            </a:lvl2pPr>
            <a:lvl3pPr>
              <a:defRPr sz="3225" b="1">
                <a:solidFill>
                  <a:srgbClr val="17324D"/>
                </a:solidFill>
                <a:latin typeface="Arial"/>
                <a:ea typeface="Arial"/>
                <a:cs typeface="Arial"/>
              </a:defRPr>
            </a:lvl3pPr>
            <a:lvl4pPr>
              <a:defRPr sz="3225" b="1">
                <a:solidFill>
                  <a:srgbClr val="17324D"/>
                </a:solidFill>
                <a:latin typeface="Arial"/>
                <a:ea typeface="Arial"/>
                <a:cs typeface="Arial"/>
              </a:defRPr>
            </a:lvl4pPr>
            <a:lvl5pPr>
              <a:defRPr sz="3225" b="1">
                <a:solidFill>
                  <a:srgbClr val="17324D"/>
                </a:solidFill>
                <a:latin typeface="Arial"/>
                <a:ea typeface="Arial"/>
                <a:cs typeface="Arial"/>
              </a:defRPr>
            </a:lvl5pPr>
            <a:lvl6pPr>
              <a:defRPr sz="3225" b="1">
                <a:solidFill>
                  <a:srgbClr val="17324D"/>
                </a:solidFill>
                <a:latin typeface="Arial"/>
                <a:ea typeface="Arial"/>
                <a:cs typeface="Arial"/>
              </a:defRPr>
            </a:lvl6pPr>
            <a:lvl7pPr>
              <a:defRPr sz="3225" b="1">
                <a:solidFill>
                  <a:srgbClr val="17324D"/>
                </a:solidFill>
                <a:latin typeface="Arial"/>
                <a:ea typeface="Arial"/>
                <a:cs typeface="Arial"/>
              </a:defRPr>
            </a:lvl7pPr>
            <a:lvl8pPr>
              <a:defRPr sz="3225" b="1">
                <a:solidFill>
                  <a:srgbClr val="17324D"/>
                </a:solidFill>
                <a:latin typeface="Arial"/>
                <a:ea typeface="Arial"/>
                <a:cs typeface="Arial"/>
              </a:defRPr>
            </a:lvl8pPr>
            <a:lvl9pPr>
              <a:defRPr sz="3225" b="1">
                <a:solidFill>
                  <a:srgbClr val="17324D"/>
                </a:solidFill>
                <a:latin typeface="Arial"/>
                <a:ea typeface="Arial"/>
                <a:cs typeface="Arial"/>
              </a:defRPr>
            </a:lvl9pPr>
          </a:lstStyle>
          <a:p xmlns:a="http://schemas.openxmlformats.org/drawingml/2006/main">
            <a:pPr>
              <a:defRPr sz="3225" b="1">
                <a:solidFill>
                  <a:srgbClr val="17324D"/>
                </a:solidFill>
                <a:latin typeface="Arial"/>
                <a:ea typeface="Arial"/>
                <a:cs typeface="Arial"/>
              </a:defRPr>
            </a:pPr>
            <a:r>
              <a:rPr sz="3225" b="1">
                <a:solidFill>
                  <a:srgbClr val="17324D"/>
                </a:solidFill>
                <a:latin typeface="Arial"/>
                <a:ea typeface="Arial"/>
                <a:cs typeface="Arial"/>
              </a:rPr>
              <a:t>Baselines and a fair measurement budget</a:t>
            </a:r>
          </a:p>
        </p:txBody>
      </p:sp>
      <p:sp>
        <p:nvSpPr>
          <p:cNvPr id="2" name="">
            <a:extLst xmlns:a="http://schemas.openxmlformats.org/drawingml/2006/main">
              <a:ext uri="{FF2B5EF4-FFF2-40B4-BE49-F238E27FC236}">
                <a16:creationId xmlns:a16="http://schemas.microsoft.com/office/drawing/2014/main" id="{DAABC640-715C-434F-AA22-55A0845C51DB}"/>
              </a:ext>
            </a:extLst>
          </p:cNvPr>
          <p:cNvSpPr>
            <a:spLocks xmlns:a="http://schemas.openxmlformats.org/drawingml/2006/main" noGrp="1"/>
          </p:cNvSpPr>
          <p:nvPr/>
        </p:nvSpPr>
        <p:spPr>
          <a:xfrm xmlns:a="http://schemas.openxmlformats.org/drawingml/2006/main">
            <a:off x="647700" y="1066800"/>
            <a:ext cx="10896600" cy="0"/>
          </a:xfrm>
          <a:prstGeom xmlns:a="http://schemas.openxmlformats.org/drawingml/2006/main" prst="line">
            <a:avLst/>
          </a:prstGeom>
          <a:noFill xmlns:a="http://schemas.openxmlformats.org/drawingml/2006/main"/>
          <a:ln xmlns:a="http://schemas.openxmlformats.org/drawingml/2006/main" w="9525">
            <a:solidFill>
              <a:srgbClr val="D9E1E8"/>
            </a:solidFill>
            <a:prstDash val="solid"/>
          </a:ln>
        </p:spPr>
      </p:sp>
      <p:sp>
        <p:nvSpPr>
          <p:cNvPr id="3" name="">
            <a:extLst xmlns:a="http://schemas.openxmlformats.org/drawingml/2006/main">
              <a:ext uri="{FF2B5EF4-FFF2-40B4-BE49-F238E27FC236}">
                <a16:creationId xmlns:a16="http://schemas.microsoft.com/office/drawing/2014/main" id="{863C23D1-0A4B-4D9D-ABE7-57A1A1A9B6A8}"/>
              </a:ext>
            </a:extLst>
          </p:cNvPr>
          <p:cNvSpPr>
            <a:spLocks xmlns:a="http://schemas.openxmlformats.org/drawingml/2006/main" noGrp="1"/>
          </p:cNvSpPr>
          <p:nvPr/>
        </p:nvSpPr>
        <p:spPr>
          <a:xfrm xmlns:a="http://schemas.openxmlformats.org/drawingml/2006/main">
            <a:off x="647700" y="6534150"/>
            <a:ext cx="10896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607286"/>
                </a:solidFill>
                <a:latin typeface="Arial"/>
                <a:ea typeface="Arial"/>
                <a:cs typeface="Arial"/>
              </a:defRPr>
            </a:defPPr>
            <a:lvl1pPr>
              <a:defRPr sz="900">
                <a:solidFill>
                  <a:srgbClr val="607286"/>
                </a:solidFill>
                <a:latin typeface="Arial"/>
                <a:ea typeface="Arial"/>
                <a:cs typeface="Arial"/>
              </a:defRPr>
            </a:lvl1pPr>
            <a:lvl2pPr>
              <a:defRPr sz="900">
                <a:solidFill>
                  <a:srgbClr val="607286"/>
                </a:solidFill>
                <a:latin typeface="Arial"/>
                <a:ea typeface="Arial"/>
                <a:cs typeface="Arial"/>
              </a:defRPr>
            </a:lvl2pPr>
            <a:lvl3pPr>
              <a:defRPr sz="900">
                <a:solidFill>
                  <a:srgbClr val="607286"/>
                </a:solidFill>
                <a:latin typeface="Arial"/>
                <a:ea typeface="Arial"/>
                <a:cs typeface="Arial"/>
              </a:defRPr>
            </a:lvl3pPr>
            <a:lvl4pPr>
              <a:defRPr sz="900">
                <a:solidFill>
                  <a:srgbClr val="607286"/>
                </a:solidFill>
                <a:latin typeface="Arial"/>
                <a:ea typeface="Arial"/>
                <a:cs typeface="Arial"/>
              </a:defRPr>
            </a:lvl4pPr>
            <a:lvl5pPr>
              <a:defRPr sz="900">
                <a:solidFill>
                  <a:srgbClr val="607286"/>
                </a:solidFill>
                <a:latin typeface="Arial"/>
                <a:ea typeface="Arial"/>
                <a:cs typeface="Arial"/>
              </a:defRPr>
            </a:lvl5pPr>
            <a:lvl6pPr>
              <a:defRPr sz="900">
                <a:solidFill>
                  <a:srgbClr val="607286"/>
                </a:solidFill>
                <a:latin typeface="Arial"/>
                <a:ea typeface="Arial"/>
                <a:cs typeface="Arial"/>
              </a:defRPr>
            </a:lvl6pPr>
            <a:lvl7pPr>
              <a:defRPr sz="900">
                <a:solidFill>
                  <a:srgbClr val="607286"/>
                </a:solidFill>
                <a:latin typeface="Arial"/>
                <a:ea typeface="Arial"/>
                <a:cs typeface="Arial"/>
              </a:defRPr>
            </a:lvl7pPr>
            <a:lvl8pPr>
              <a:defRPr sz="900">
                <a:solidFill>
                  <a:srgbClr val="607286"/>
                </a:solidFill>
                <a:latin typeface="Arial"/>
                <a:ea typeface="Arial"/>
                <a:cs typeface="Arial"/>
              </a:defRPr>
            </a:lvl8pPr>
            <a:lvl9pPr>
              <a:defRPr sz="900">
                <a:solidFill>
                  <a:srgbClr val="607286"/>
                </a:solidFill>
                <a:latin typeface="Arial"/>
                <a:ea typeface="Arial"/>
                <a:cs typeface="Arial"/>
              </a:defRPr>
            </a:lvl9pPr>
          </a:lstStyle>
          <a:p xmlns:a="http://schemas.openxmlformats.org/drawingml/2006/main">
            <a:pPr>
              <a:defRPr sz="900">
                <a:solidFill>
                  <a:srgbClr val="607286"/>
                </a:solidFill>
                <a:latin typeface="Arial"/>
                <a:ea typeface="Arial"/>
                <a:cs typeface="Arial"/>
              </a:defRPr>
            </a:pPr>
            <a:r>
              <a:rPr sz="900">
                <a:solidFill>
                  <a:srgbClr val="607286"/>
                </a:solidFill>
                <a:latin typeface="Arial"/>
                <a:ea typeface="Arial"/>
                <a:cs typeface="Arial"/>
              </a:rPr>
              <a:t>ISAForge  /  ECE 4803                                    9</a:t>
            </a:r>
          </a:p>
        </p:txBody>
      </p:sp>
      <p:sp>
        <p:nvSpPr>
          <p:cNvPr id="4" name="">
            <a:extLst xmlns:a="http://schemas.openxmlformats.org/drawingml/2006/main">
              <a:ext uri="{FF2B5EF4-FFF2-40B4-BE49-F238E27FC236}">
                <a16:creationId xmlns:a16="http://schemas.microsoft.com/office/drawing/2014/main" id="{1B11AD35-46BA-4C8E-864E-383F06B44164}"/>
              </a:ext>
            </a:extLst>
          </p:cNvPr>
          <p:cNvSpPr>
            <a:spLocks xmlns:a="http://schemas.openxmlformats.org/drawingml/2006/main" noGrp="1"/>
          </p:cNvSpPr>
          <p:nvPr/>
        </p:nvSpPr>
        <p:spPr>
          <a:xfrm xmlns:a="http://schemas.openxmlformats.org/drawingml/2006/main">
            <a:off x="685800" y="1485900"/>
            <a:ext cx="5048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7324D"/>
                </a:solidFill>
                <a:latin typeface="Arial"/>
                <a:ea typeface="Arial"/>
                <a:cs typeface="Arial"/>
              </a:defRPr>
            </a:defPPr>
            <a:lvl1pPr>
              <a:defRPr sz="2250" b="1">
                <a:solidFill>
                  <a:srgbClr val="17324D"/>
                </a:solidFill>
                <a:latin typeface="Arial"/>
                <a:ea typeface="Arial"/>
                <a:cs typeface="Arial"/>
              </a:defRPr>
            </a:lvl1pPr>
            <a:lvl2pPr>
              <a:defRPr sz="2250" b="1">
                <a:solidFill>
                  <a:srgbClr val="17324D"/>
                </a:solidFill>
                <a:latin typeface="Arial"/>
                <a:ea typeface="Arial"/>
                <a:cs typeface="Arial"/>
              </a:defRPr>
            </a:lvl2pPr>
            <a:lvl3pPr>
              <a:defRPr sz="2250" b="1">
                <a:solidFill>
                  <a:srgbClr val="17324D"/>
                </a:solidFill>
                <a:latin typeface="Arial"/>
                <a:ea typeface="Arial"/>
                <a:cs typeface="Arial"/>
              </a:defRPr>
            </a:lvl3pPr>
            <a:lvl4pPr>
              <a:defRPr sz="2250" b="1">
                <a:solidFill>
                  <a:srgbClr val="17324D"/>
                </a:solidFill>
                <a:latin typeface="Arial"/>
                <a:ea typeface="Arial"/>
                <a:cs typeface="Arial"/>
              </a:defRPr>
            </a:lvl4pPr>
            <a:lvl5pPr>
              <a:defRPr sz="2250" b="1">
                <a:solidFill>
                  <a:srgbClr val="17324D"/>
                </a:solidFill>
                <a:latin typeface="Arial"/>
                <a:ea typeface="Arial"/>
                <a:cs typeface="Arial"/>
              </a:defRPr>
            </a:lvl5pPr>
            <a:lvl6pPr>
              <a:defRPr sz="2250" b="1">
                <a:solidFill>
                  <a:srgbClr val="17324D"/>
                </a:solidFill>
                <a:latin typeface="Arial"/>
                <a:ea typeface="Arial"/>
                <a:cs typeface="Arial"/>
              </a:defRPr>
            </a:lvl6pPr>
            <a:lvl7pPr>
              <a:defRPr sz="2250" b="1">
                <a:solidFill>
                  <a:srgbClr val="17324D"/>
                </a:solidFill>
                <a:latin typeface="Arial"/>
                <a:ea typeface="Arial"/>
                <a:cs typeface="Arial"/>
              </a:defRPr>
            </a:lvl7pPr>
            <a:lvl8pPr>
              <a:defRPr sz="2250" b="1">
                <a:solidFill>
                  <a:srgbClr val="17324D"/>
                </a:solidFill>
                <a:latin typeface="Arial"/>
                <a:ea typeface="Arial"/>
                <a:cs typeface="Arial"/>
              </a:defRPr>
            </a:lvl8pPr>
            <a:lvl9pPr>
              <a:defRPr sz="2250" b="1">
                <a:solidFill>
                  <a:srgbClr val="17324D"/>
                </a:solidFill>
                <a:latin typeface="Arial"/>
                <a:ea typeface="Arial"/>
                <a:cs typeface="Arial"/>
              </a:defRPr>
            </a:lvl9pPr>
          </a:lstStyle>
          <a:p xmlns:a="http://schemas.openxmlformats.org/drawingml/2006/main">
            <a:pPr>
              <a:defRPr sz="2250" b="1">
                <a:solidFill>
                  <a:srgbClr val="17324D"/>
                </a:solidFill>
                <a:latin typeface="Arial"/>
                <a:ea typeface="Arial"/>
                <a:cs typeface="Arial"/>
              </a:defRPr>
            </a:pPr>
            <a:r>
              <a:rPr sz="2250" b="1">
                <a:solidFill>
                  <a:srgbClr val="17324D"/>
                </a:solidFill>
                <a:latin typeface="Arial"/>
                <a:ea typeface="Arial"/>
                <a:cs typeface="Arial"/>
              </a:rPr>
              <a:t>Required comparisons</a:t>
            </a:r>
          </a:p>
        </p:txBody>
      </p:sp>
      <p:sp>
        <p:nvSpPr>
          <p:cNvPr id="5" name="">
            <a:extLst xmlns:a="http://schemas.openxmlformats.org/drawingml/2006/main">
              <a:ext uri="{FF2B5EF4-FFF2-40B4-BE49-F238E27FC236}">
                <a16:creationId xmlns:a16="http://schemas.microsoft.com/office/drawing/2014/main" id="{434023F9-6090-4268-A9D0-7857A59C0A24}"/>
              </a:ext>
            </a:extLst>
          </p:cNvPr>
          <p:cNvSpPr>
            <a:spLocks xmlns:a="http://schemas.openxmlformats.org/drawingml/2006/main" noGrp="1"/>
          </p:cNvSpPr>
          <p:nvPr/>
        </p:nvSpPr>
        <p:spPr>
          <a:xfrm xmlns:a="http://schemas.openxmlformats.org/drawingml/2006/main">
            <a:off x="685800" y="2114550"/>
            <a:ext cx="5334000" cy="2524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263648"/>
                </a:solidFill>
                <a:latin typeface="Arial"/>
                <a:ea typeface="Arial"/>
                <a:cs typeface="Arial"/>
              </a:defRPr>
            </a:defPPr>
            <a:lvl1pPr>
              <a:defRPr sz="2025" b="0">
                <a:solidFill>
                  <a:srgbClr val="263648"/>
                </a:solidFill>
                <a:latin typeface="Arial"/>
                <a:ea typeface="Arial"/>
                <a:cs typeface="Arial"/>
              </a:defRPr>
            </a:lvl1pPr>
            <a:lvl2pPr>
              <a:defRPr sz="2025" b="0">
                <a:solidFill>
                  <a:srgbClr val="263648"/>
                </a:solidFill>
                <a:latin typeface="Arial"/>
                <a:ea typeface="Arial"/>
                <a:cs typeface="Arial"/>
              </a:defRPr>
            </a:lvl2pPr>
            <a:lvl3pPr>
              <a:defRPr sz="2025" b="0">
                <a:solidFill>
                  <a:srgbClr val="263648"/>
                </a:solidFill>
                <a:latin typeface="Arial"/>
                <a:ea typeface="Arial"/>
                <a:cs typeface="Arial"/>
              </a:defRPr>
            </a:lvl3pPr>
            <a:lvl4pPr>
              <a:defRPr sz="2025" b="0">
                <a:solidFill>
                  <a:srgbClr val="263648"/>
                </a:solidFill>
                <a:latin typeface="Arial"/>
                <a:ea typeface="Arial"/>
                <a:cs typeface="Arial"/>
              </a:defRPr>
            </a:lvl4pPr>
            <a:lvl5pPr>
              <a:defRPr sz="2025" b="0">
                <a:solidFill>
                  <a:srgbClr val="263648"/>
                </a:solidFill>
                <a:latin typeface="Arial"/>
                <a:ea typeface="Arial"/>
                <a:cs typeface="Arial"/>
              </a:defRPr>
            </a:lvl5pPr>
            <a:lvl6pPr>
              <a:defRPr sz="2025" b="0">
                <a:solidFill>
                  <a:srgbClr val="263648"/>
                </a:solidFill>
                <a:latin typeface="Arial"/>
                <a:ea typeface="Arial"/>
                <a:cs typeface="Arial"/>
              </a:defRPr>
            </a:lvl6pPr>
            <a:lvl7pPr>
              <a:defRPr sz="2025" b="0">
                <a:solidFill>
                  <a:srgbClr val="263648"/>
                </a:solidFill>
                <a:latin typeface="Arial"/>
                <a:ea typeface="Arial"/>
                <a:cs typeface="Arial"/>
              </a:defRPr>
            </a:lvl7pPr>
            <a:lvl8pPr>
              <a:defRPr sz="2025" b="0">
                <a:solidFill>
                  <a:srgbClr val="263648"/>
                </a:solidFill>
                <a:latin typeface="Arial"/>
                <a:ea typeface="Arial"/>
                <a:cs typeface="Arial"/>
              </a:defRPr>
            </a:lvl8pPr>
            <a:lvl9pPr>
              <a:defRPr sz="2025" b="0">
                <a:solidFill>
                  <a:srgbClr val="263648"/>
                </a:solidFill>
                <a:latin typeface="Arial"/>
                <a:ea typeface="Arial"/>
                <a:cs typeface="Arial"/>
              </a:defRPr>
            </a:lvl9pPr>
          </a:lstStyle>
          <a:p xmlns:a="http://schemas.openxmlformats.org/drawingml/2006/main">
            <a:pPr>
              <a:defRPr sz="2025" b="0">
                <a:solidFill>
                  <a:srgbClr val="263648"/>
                </a:solidFill>
                <a:latin typeface="Arial"/>
                <a:ea typeface="Arial"/>
                <a:cs typeface="Arial"/>
              </a:defRPr>
            </a:pPr>
            <a:r>
              <a:rPr sz="2025" b="0">
                <a:solidFill>
                  <a:srgbClr val="263648"/>
                </a:solidFill>
                <a:latin typeface="Arial"/>
                <a:ea typeface="Arial"/>
                <a:cs typeface="Arial"/>
              </a:rPr>
              <a:t>Frequency</a:t>
            </a:r>
          </a:p>
          <a:p xmlns:a="http://schemas.openxmlformats.org/drawingml/2006/main">
            <a:pPr>
              <a:defRPr sz="2025" b="0">
                <a:solidFill>
                  <a:srgbClr val="263648"/>
                </a:solidFill>
                <a:latin typeface="Arial"/>
                <a:ea typeface="Arial"/>
                <a:cs typeface="Arial"/>
              </a:defRPr>
            </a:pPr>
            <a:r>
              <a:rPr sz="2025" b="0">
                <a:solidFill>
                  <a:srgbClr val="263648"/>
                </a:solidFill>
                <a:latin typeface="Arial"/>
                <a:ea typeface="Arial"/>
                <a:cs typeface="Arial"/>
              </a:rPr>
              <a:t>Merit: operations saved × executions</a:t>
            </a:r>
          </a:p>
          <a:p xmlns:a="http://schemas.openxmlformats.org/drawingml/2006/main">
            <a:pPr>
              <a:defRPr sz="2025" b="0">
                <a:solidFill>
                  <a:srgbClr val="263648"/>
                </a:solidFill>
                <a:latin typeface="Arial"/>
                <a:ea typeface="Arial"/>
                <a:cs typeface="Arial"/>
              </a:defRPr>
            </a:pPr>
            <a:r>
              <a:rPr sz="2025" b="0">
                <a:solidFill>
                  <a:srgbClr val="263648"/>
                </a:solidFill>
                <a:latin typeface="Arial"/>
                <a:ea typeface="Arial"/>
                <a:cs typeface="Arial"/>
              </a:rPr>
              <a:t>Latency / cost-aware heuristics</a:t>
            </a:r>
          </a:p>
          <a:p xmlns:a="http://schemas.openxmlformats.org/drawingml/2006/main">
            <a:pPr>
              <a:defRPr sz="2025" b="0">
                <a:solidFill>
                  <a:srgbClr val="263648"/>
                </a:solidFill>
                <a:latin typeface="Arial"/>
                <a:ea typeface="Arial"/>
                <a:cs typeface="Arial"/>
              </a:defRPr>
            </a:pPr>
            <a:r>
              <a:rPr sz="2025" b="0">
                <a:solidFill>
                  <a:srgbClr val="263648"/>
                </a:solidFill>
                <a:latin typeface="Arial"/>
                <a:ea typeface="Arial"/>
                <a:cs typeface="Arial"/>
              </a:rPr>
              <a:t>Random + non-agent active learning</a:t>
            </a:r>
          </a:p>
          <a:p xmlns:a="http://schemas.openxmlformats.org/drawingml/2006/main">
            <a:pPr>
              <a:defRPr sz="2025" b="0">
                <a:solidFill>
                  <a:srgbClr val="263648"/>
                </a:solidFill>
                <a:latin typeface="Arial"/>
                <a:ea typeface="Arial"/>
                <a:cs typeface="Arial"/>
              </a:defRPr>
            </a:pPr>
            <a:r>
              <a:rPr sz="2025" b="0">
                <a:solidFill>
                  <a:srgbClr val="263648"/>
                </a:solidFill>
                <a:latin typeface="Arial"/>
                <a:ea typeface="Arial"/>
                <a:cs typeface="Arial"/>
              </a:rPr>
              <a:t>XGBoost + bounded LLM agent</a:t>
            </a:r>
          </a:p>
        </p:txBody>
      </p:sp>
      <p:sp>
        <p:nvSpPr>
          <p:cNvPr id="6" name="">
            <a:extLst xmlns:a="http://schemas.openxmlformats.org/drawingml/2006/main">
              <a:ext uri="{FF2B5EF4-FFF2-40B4-BE49-F238E27FC236}">
                <a16:creationId xmlns:a16="http://schemas.microsoft.com/office/drawing/2014/main" id="{E954E5B3-1761-4776-AAD0-B83E12F7B2F2}"/>
              </a:ext>
            </a:extLst>
          </p:cNvPr>
          <p:cNvSpPr>
            <a:spLocks xmlns:a="http://schemas.openxmlformats.org/drawingml/2006/main" noGrp="1"/>
          </p:cNvSpPr>
          <p:nvPr/>
        </p:nvSpPr>
        <p:spPr>
          <a:xfrm xmlns:a="http://schemas.openxmlformats.org/drawingml/2006/main">
            <a:off x="6667500" y="148590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7324D"/>
                </a:solidFill>
                <a:latin typeface="Arial"/>
                <a:ea typeface="Arial"/>
                <a:cs typeface="Arial"/>
              </a:defRPr>
            </a:defPPr>
            <a:lvl1pPr>
              <a:defRPr sz="2250" b="1">
                <a:solidFill>
                  <a:srgbClr val="17324D"/>
                </a:solidFill>
                <a:latin typeface="Arial"/>
                <a:ea typeface="Arial"/>
                <a:cs typeface="Arial"/>
              </a:defRPr>
            </a:lvl1pPr>
            <a:lvl2pPr>
              <a:defRPr sz="2250" b="1">
                <a:solidFill>
                  <a:srgbClr val="17324D"/>
                </a:solidFill>
                <a:latin typeface="Arial"/>
                <a:ea typeface="Arial"/>
                <a:cs typeface="Arial"/>
              </a:defRPr>
            </a:lvl2pPr>
            <a:lvl3pPr>
              <a:defRPr sz="2250" b="1">
                <a:solidFill>
                  <a:srgbClr val="17324D"/>
                </a:solidFill>
                <a:latin typeface="Arial"/>
                <a:ea typeface="Arial"/>
                <a:cs typeface="Arial"/>
              </a:defRPr>
            </a:lvl3pPr>
            <a:lvl4pPr>
              <a:defRPr sz="2250" b="1">
                <a:solidFill>
                  <a:srgbClr val="17324D"/>
                </a:solidFill>
                <a:latin typeface="Arial"/>
                <a:ea typeface="Arial"/>
                <a:cs typeface="Arial"/>
              </a:defRPr>
            </a:lvl4pPr>
            <a:lvl5pPr>
              <a:defRPr sz="2250" b="1">
                <a:solidFill>
                  <a:srgbClr val="17324D"/>
                </a:solidFill>
                <a:latin typeface="Arial"/>
                <a:ea typeface="Arial"/>
                <a:cs typeface="Arial"/>
              </a:defRPr>
            </a:lvl5pPr>
            <a:lvl6pPr>
              <a:defRPr sz="2250" b="1">
                <a:solidFill>
                  <a:srgbClr val="17324D"/>
                </a:solidFill>
                <a:latin typeface="Arial"/>
                <a:ea typeface="Arial"/>
                <a:cs typeface="Arial"/>
              </a:defRPr>
            </a:lvl6pPr>
            <a:lvl7pPr>
              <a:defRPr sz="2250" b="1">
                <a:solidFill>
                  <a:srgbClr val="17324D"/>
                </a:solidFill>
                <a:latin typeface="Arial"/>
                <a:ea typeface="Arial"/>
                <a:cs typeface="Arial"/>
              </a:defRPr>
            </a:lvl7pPr>
            <a:lvl8pPr>
              <a:defRPr sz="2250" b="1">
                <a:solidFill>
                  <a:srgbClr val="17324D"/>
                </a:solidFill>
                <a:latin typeface="Arial"/>
                <a:ea typeface="Arial"/>
                <a:cs typeface="Arial"/>
              </a:defRPr>
            </a:lvl8pPr>
            <a:lvl9pPr>
              <a:defRPr sz="2250" b="1">
                <a:solidFill>
                  <a:srgbClr val="17324D"/>
                </a:solidFill>
                <a:latin typeface="Arial"/>
                <a:ea typeface="Arial"/>
                <a:cs typeface="Arial"/>
              </a:defRPr>
            </a:lvl9pPr>
          </a:lstStyle>
          <a:p xmlns:a="http://schemas.openxmlformats.org/drawingml/2006/main">
            <a:pPr>
              <a:defRPr sz="2250" b="1">
                <a:solidFill>
                  <a:srgbClr val="17324D"/>
                </a:solidFill>
                <a:latin typeface="Arial"/>
                <a:ea typeface="Arial"/>
                <a:cs typeface="Arial"/>
              </a:defRPr>
            </a:pPr>
            <a:r>
              <a:rPr sz="2250" b="1">
                <a:solidFill>
                  <a:srgbClr val="17324D"/>
                </a:solidFill>
                <a:latin typeface="Arial"/>
                <a:ea typeface="Arial"/>
                <a:cs typeface="Arial"/>
              </a:rPr>
              <a:t>Same rules for every policy</a:t>
            </a:r>
          </a:p>
        </p:txBody>
      </p:sp>
      <p:sp>
        <p:nvSpPr>
          <p:cNvPr id="7" name="">
            <a:extLst xmlns:a="http://schemas.openxmlformats.org/drawingml/2006/main">
              <a:ext uri="{FF2B5EF4-FFF2-40B4-BE49-F238E27FC236}">
                <a16:creationId xmlns:a16="http://schemas.microsoft.com/office/drawing/2014/main" id="{2B4E21F0-7FE3-4E29-BA90-90102AA04F04}"/>
              </a:ext>
            </a:extLst>
          </p:cNvPr>
          <p:cNvSpPr>
            <a:spLocks xmlns:a="http://schemas.openxmlformats.org/drawingml/2006/main" noGrp="1"/>
          </p:cNvSpPr>
          <p:nvPr/>
        </p:nvSpPr>
        <p:spPr>
          <a:xfrm xmlns:a="http://schemas.openxmlformats.org/drawingml/2006/main">
            <a:off x="6667500" y="2114550"/>
            <a:ext cx="4762500" cy="2524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263648"/>
                </a:solidFill>
                <a:latin typeface="Arial"/>
                <a:ea typeface="Arial"/>
                <a:cs typeface="Arial"/>
              </a:defRPr>
            </a:defPPr>
            <a:lvl1pPr>
              <a:defRPr sz="2025" b="0">
                <a:solidFill>
                  <a:srgbClr val="263648"/>
                </a:solidFill>
                <a:latin typeface="Arial"/>
                <a:ea typeface="Arial"/>
                <a:cs typeface="Arial"/>
              </a:defRPr>
            </a:lvl1pPr>
            <a:lvl2pPr>
              <a:defRPr sz="2025" b="0">
                <a:solidFill>
                  <a:srgbClr val="263648"/>
                </a:solidFill>
                <a:latin typeface="Arial"/>
                <a:ea typeface="Arial"/>
                <a:cs typeface="Arial"/>
              </a:defRPr>
            </a:lvl2pPr>
            <a:lvl3pPr>
              <a:defRPr sz="2025" b="0">
                <a:solidFill>
                  <a:srgbClr val="263648"/>
                </a:solidFill>
                <a:latin typeface="Arial"/>
                <a:ea typeface="Arial"/>
                <a:cs typeface="Arial"/>
              </a:defRPr>
            </a:lvl3pPr>
            <a:lvl4pPr>
              <a:defRPr sz="2025" b="0">
                <a:solidFill>
                  <a:srgbClr val="263648"/>
                </a:solidFill>
                <a:latin typeface="Arial"/>
                <a:ea typeface="Arial"/>
                <a:cs typeface="Arial"/>
              </a:defRPr>
            </a:lvl4pPr>
            <a:lvl5pPr>
              <a:defRPr sz="2025" b="0">
                <a:solidFill>
                  <a:srgbClr val="263648"/>
                </a:solidFill>
                <a:latin typeface="Arial"/>
                <a:ea typeface="Arial"/>
                <a:cs typeface="Arial"/>
              </a:defRPr>
            </a:lvl5pPr>
            <a:lvl6pPr>
              <a:defRPr sz="2025" b="0">
                <a:solidFill>
                  <a:srgbClr val="263648"/>
                </a:solidFill>
                <a:latin typeface="Arial"/>
                <a:ea typeface="Arial"/>
                <a:cs typeface="Arial"/>
              </a:defRPr>
            </a:lvl6pPr>
            <a:lvl7pPr>
              <a:defRPr sz="2025" b="0">
                <a:solidFill>
                  <a:srgbClr val="263648"/>
                </a:solidFill>
                <a:latin typeface="Arial"/>
                <a:ea typeface="Arial"/>
                <a:cs typeface="Arial"/>
              </a:defRPr>
            </a:lvl7pPr>
            <a:lvl8pPr>
              <a:defRPr sz="2025" b="0">
                <a:solidFill>
                  <a:srgbClr val="263648"/>
                </a:solidFill>
                <a:latin typeface="Arial"/>
                <a:ea typeface="Arial"/>
                <a:cs typeface="Arial"/>
              </a:defRPr>
            </a:lvl8pPr>
            <a:lvl9pPr>
              <a:defRPr sz="2025" b="0">
                <a:solidFill>
                  <a:srgbClr val="263648"/>
                </a:solidFill>
                <a:latin typeface="Arial"/>
                <a:ea typeface="Arial"/>
                <a:cs typeface="Arial"/>
              </a:defRPr>
            </a:lvl9pPr>
          </a:lstStyle>
          <a:p xmlns:a="http://schemas.openxmlformats.org/drawingml/2006/main">
            <a:pPr>
              <a:defRPr sz="2025" b="0">
                <a:solidFill>
                  <a:srgbClr val="263648"/>
                </a:solidFill>
                <a:latin typeface="Arial"/>
                <a:ea typeface="Arial"/>
                <a:cs typeface="Arial"/>
              </a:defRPr>
            </a:pPr>
            <a:r>
              <a:rPr sz="2025" b="0">
                <a:solidFill>
                  <a:srgbClr val="263648"/>
                </a:solidFill>
                <a:latin typeface="Arial"/>
                <a:ea typeface="Arial"/>
                <a:cs typeface="Arial"/>
              </a:rPr>
              <a:t>1 / 2 / 3 charged attempts</a:t>
            </a:r>
          </a:p>
          <a:p xmlns:a="http://schemas.openxmlformats.org/drawingml/2006/main">
            <a:pPr>
              <a:defRPr sz="2025" b="0">
                <a:solidFill>
                  <a:srgbClr val="263648"/>
                </a:solidFill>
                <a:latin typeface="Arial"/>
                <a:ea typeface="Arial"/>
                <a:cs typeface="Arial"/>
              </a:defRPr>
            </a:pPr>
            <a:r>
              <a:rPr sz="2025" b="0">
                <a:solidFill>
                  <a:srgbClr val="263648"/>
                </a:solidFill>
                <a:latin typeface="Arial"/>
                <a:ea typeface="Arial"/>
                <a:cs typeface="Arial"/>
              </a:rPr>
              <a:t>Added area ≤ 64 LUT4</a:t>
            </a:r>
          </a:p>
          <a:p xmlns:a="http://schemas.openxmlformats.org/drawingml/2006/main">
            <a:pPr>
              <a:defRPr sz="2025" b="0">
                <a:solidFill>
                  <a:srgbClr val="263648"/>
                </a:solidFill>
                <a:latin typeface="Arial"/>
                <a:ea typeface="Arial"/>
                <a:cs typeface="Arial"/>
              </a:defRPr>
            </a:pPr>
            <a:r>
              <a:rPr sz="2025" b="0">
                <a:solidFill>
                  <a:srgbClr val="263648"/>
                </a:solidFill>
                <a:latin typeface="Arial"/>
                <a:ea typeface="Arial"/>
                <a:cs typeface="Arial"/>
              </a:rPr>
              <a:t>Routed timing ≥ 12 MHz</a:t>
            </a:r>
          </a:p>
          <a:p xmlns:a="http://schemas.openxmlformats.org/drawingml/2006/main">
            <a:pPr>
              <a:defRPr sz="2025" b="0">
                <a:solidFill>
                  <a:srgbClr val="263648"/>
                </a:solidFill>
                <a:latin typeface="Arial"/>
                <a:ea typeface="Arial"/>
                <a:cs typeface="Arial"/>
              </a:defRPr>
            </a:pPr>
            <a:r>
              <a:rPr sz="2025" b="0">
                <a:solidFill>
                  <a:srgbClr val="263648"/>
                </a:solidFill>
                <a:latin typeface="Arial"/>
                <a:ea typeface="Arial"/>
                <a:cs typeface="Arial"/>
              </a:rPr>
              <a:t>Correctness must pass</a:t>
            </a:r>
          </a:p>
          <a:p xmlns:a="http://schemas.openxmlformats.org/drawingml/2006/main">
            <a:pPr>
              <a:defRPr sz="2025" b="0">
                <a:solidFill>
                  <a:srgbClr val="263648"/>
                </a:solidFill>
                <a:latin typeface="Arial"/>
                <a:ea typeface="Arial"/>
                <a:cs typeface="Arial"/>
              </a:defRPr>
            </a:pPr>
            <a:r>
              <a:rPr sz="2025" b="0">
                <a:solidFill>
                  <a:srgbClr val="263648"/>
                </a:solidFill>
                <a:latin typeface="Arial"/>
                <a:ea typeface="Arial"/>
                <a:cs typeface="Arial"/>
              </a:rPr>
              <a:t>Unqueried outcomes remain hidden</a:t>
            </a:r>
          </a:p>
        </p:txBody>
      </p:sp>
      <p:sp>
        <p:nvSpPr>
          <p:cNvPr id="8" name="">
            <a:extLst xmlns:a="http://schemas.openxmlformats.org/drawingml/2006/main">
              <a:ext uri="{FF2B5EF4-FFF2-40B4-BE49-F238E27FC236}">
                <a16:creationId xmlns:a16="http://schemas.microsoft.com/office/drawing/2014/main" id="{9BF7DD08-9C51-4EF6-B679-D80B1DC8CF24}"/>
              </a:ext>
            </a:extLst>
          </p:cNvPr>
          <p:cNvSpPr>
            <a:spLocks xmlns:a="http://schemas.openxmlformats.org/drawingml/2006/main" noGrp="1"/>
          </p:cNvSpPr>
          <p:nvPr/>
        </p:nvSpPr>
        <p:spPr>
          <a:xfrm xmlns:a="http://schemas.openxmlformats.org/drawingml/2006/main">
            <a:off x="685800" y="5314950"/>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2878A8"/>
                </a:solidFill>
                <a:latin typeface="Arial"/>
                <a:ea typeface="Arial"/>
                <a:cs typeface="Arial"/>
              </a:defRPr>
            </a:defPPr>
            <a:lvl1pPr>
              <a:defRPr sz="2175" b="1">
                <a:solidFill>
                  <a:srgbClr val="2878A8"/>
                </a:solidFill>
                <a:latin typeface="Arial"/>
                <a:ea typeface="Arial"/>
                <a:cs typeface="Arial"/>
              </a:defRPr>
            </a:lvl1pPr>
            <a:lvl2pPr>
              <a:defRPr sz="2175" b="1">
                <a:solidFill>
                  <a:srgbClr val="2878A8"/>
                </a:solidFill>
                <a:latin typeface="Arial"/>
                <a:ea typeface="Arial"/>
                <a:cs typeface="Arial"/>
              </a:defRPr>
            </a:lvl2pPr>
            <a:lvl3pPr>
              <a:defRPr sz="2175" b="1">
                <a:solidFill>
                  <a:srgbClr val="2878A8"/>
                </a:solidFill>
                <a:latin typeface="Arial"/>
                <a:ea typeface="Arial"/>
                <a:cs typeface="Arial"/>
              </a:defRPr>
            </a:lvl3pPr>
            <a:lvl4pPr>
              <a:defRPr sz="2175" b="1">
                <a:solidFill>
                  <a:srgbClr val="2878A8"/>
                </a:solidFill>
                <a:latin typeface="Arial"/>
                <a:ea typeface="Arial"/>
                <a:cs typeface="Arial"/>
              </a:defRPr>
            </a:lvl4pPr>
            <a:lvl5pPr>
              <a:defRPr sz="2175" b="1">
                <a:solidFill>
                  <a:srgbClr val="2878A8"/>
                </a:solidFill>
                <a:latin typeface="Arial"/>
                <a:ea typeface="Arial"/>
                <a:cs typeface="Arial"/>
              </a:defRPr>
            </a:lvl5pPr>
            <a:lvl6pPr>
              <a:defRPr sz="2175" b="1">
                <a:solidFill>
                  <a:srgbClr val="2878A8"/>
                </a:solidFill>
                <a:latin typeface="Arial"/>
                <a:ea typeface="Arial"/>
                <a:cs typeface="Arial"/>
              </a:defRPr>
            </a:lvl6pPr>
            <a:lvl7pPr>
              <a:defRPr sz="2175" b="1">
                <a:solidFill>
                  <a:srgbClr val="2878A8"/>
                </a:solidFill>
                <a:latin typeface="Arial"/>
                <a:ea typeface="Arial"/>
                <a:cs typeface="Arial"/>
              </a:defRPr>
            </a:lvl7pPr>
            <a:lvl8pPr>
              <a:defRPr sz="2175" b="1">
                <a:solidFill>
                  <a:srgbClr val="2878A8"/>
                </a:solidFill>
                <a:latin typeface="Arial"/>
                <a:ea typeface="Arial"/>
                <a:cs typeface="Arial"/>
              </a:defRPr>
            </a:lvl8pPr>
            <a:lvl9pPr>
              <a:defRPr sz="2175" b="1">
                <a:solidFill>
                  <a:srgbClr val="2878A8"/>
                </a:solidFill>
                <a:latin typeface="Arial"/>
                <a:ea typeface="Arial"/>
                <a:cs typeface="Arial"/>
              </a:defRPr>
            </a:lvl9pPr>
          </a:lstStyle>
          <a:p xmlns:a="http://schemas.openxmlformats.org/drawingml/2006/main">
            <a:pPr>
              <a:defRPr sz="2175" b="1">
                <a:solidFill>
                  <a:srgbClr val="2878A8"/>
                </a:solidFill>
                <a:latin typeface="Arial"/>
                <a:ea typeface="Arial"/>
                <a:cs typeface="Arial"/>
              </a:defRPr>
            </a:pPr>
            <a:r>
              <a:rPr sz="2175" b="1">
                <a:solidFill>
                  <a:srgbClr val="2878A8"/>
                </a:solidFill>
                <a:latin typeface="Arial"/>
                <a:ea typeface="Arial"/>
                <a:cs typeface="Arial"/>
              </a:rPr>
              <a:t>Endpoint: best VERIFIED, FEASIBLE performance found per evaluation budget.</a:t>
            </a:r>
          </a:p>
        </p:txBody>
      </p:sp>
    </p:spTree>
    <p:extLst>
      <p:ext uri="{BB962C8B-B14F-4D97-AF65-F5344CB8AC3E}">
        <p14:creationId xmlns:p14="http://schemas.microsoft.com/office/powerpoint/2010/main" val="6826650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162AE5-C97B-4A42-BD2E-37B8C1965F23}"/>
              </a:ext>
            </a:extLst>
          </p:cNvPr>
          <p:cNvSpPr>
            <a:spLocks xmlns:a="http://schemas.openxmlformats.org/drawingml/2006/main" noGrp="1"/>
          </p:cNvSpPr>
          <p:nvPr/>
        </p:nvSpPr>
        <p:spPr>
          <a:xfrm xmlns:a="http://schemas.openxmlformats.org/drawingml/2006/main">
            <a:off x="6477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7324D"/>
                </a:solidFill>
                <a:latin typeface="Arial"/>
                <a:ea typeface="Arial"/>
                <a:cs typeface="Arial"/>
              </a:defRPr>
            </a:defPPr>
            <a:lvl1pPr>
              <a:defRPr sz="3225" b="1">
                <a:solidFill>
                  <a:srgbClr val="17324D"/>
                </a:solidFill>
                <a:latin typeface="Arial"/>
                <a:ea typeface="Arial"/>
                <a:cs typeface="Arial"/>
              </a:defRPr>
            </a:lvl1pPr>
            <a:lvl2pPr>
              <a:defRPr sz="3225" b="1">
                <a:solidFill>
                  <a:srgbClr val="17324D"/>
                </a:solidFill>
                <a:latin typeface="Arial"/>
                <a:ea typeface="Arial"/>
                <a:cs typeface="Arial"/>
              </a:defRPr>
            </a:lvl2pPr>
            <a:lvl3pPr>
              <a:defRPr sz="3225" b="1">
                <a:solidFill>
                  <a:srgbClr val="17324D"/>
                </a:solidFill>
                <a:latin typeface="Arial"/>
                <a:ea typeface="Arial"/>
                <a:cs typeface="Arial"/>
              </a:defRPr>
            </a:lvl3pPr>
            <a:lvl4pPr>
              <a:defRPr sz="3225" b="1">
                <a:solidFill>
                  <a:srgbClr val="17324D"/>
                </a:solidFill>
                <a:latin typeface="Arial"/>
                <a:ea typeface="Arial"/>
                <a:cs typeface="Arial"/>
              </a:defRPr>
            </a:lvl4pPr>
            <a:lvl5pPr>
              <a:defRPr sz="3225" b="1">
                <a:solidFill>
                  <a:srgbClr val="17324D"/>
                </a:solidFill>
                <a:latin typeface="Arial"/>
                <a:ea typeface="Arial"/>
                <a:cs typeface="Arial"/>
              </a:defRPr>
            </a:lvl5pPr>
            <a:lvl6pPr>
              <a:defRPr sz="3225" b="1">
                <a:solidFill>
                  <a:srgbClr val="17324D"/>
                </a:solidFill>
                <a:latin typeface="Arial"/>
                <a:ea typeface="Arial"/>
                <a:cs typeface="Arial"/>
              </a:defRPr>
            </a:lvl6pPr>
            <a:lvl7pPr>
              <a:defRPr sz="3225" b="1">
                <a:solidFill>
                  <a:srgbClr val="17324D"/>
                </a:solidFill>
                <a:latin typeface="Arial"/>
                <a:ea typeface="Arial"/>
                <a:cs typeface="Arial"/>
              </a:defRPr>
            </a:lvl7pPr>
            <a:lvl8pPr>
              <a:defRPr sz="3225" b="1">
                <a:solidFill>
                  <a:srgbClr val="17324D"/>
                </a:solidFill>
                <a:latin typeface="Arial"/>
                <a:ea typeface="Arial"/>
                <a:cs typeface="Arial"/>
              </a:defRPr>
            </a:lvl8pPr>
            <a:lvl9pPr>
              <a:defRPr sz="3225" b="1">
                <a:solidFill>
                  <a:srgbClr val="17324D"/>
                </a:solidFill>
                <a:latin typeface="Arial"/>
                <a:ea typeface="Arial"/>
                <a:cs typeface="Arial"/>
              </a:defRPr>
            </a:lvl9pPr>
          </a:lstStyle>
          <a:p xmlns:a="http://schemas.openxmlformats.org/drawingml/2006/main">
            <a:pPr>
              <a:defRPr sz="3225" b="1">
                <a:solidFill>
                  <a:srgbClr val="17324D"/>
                </a:solidFill>
                <a:latin typeface="Arial"/>
                <a:ea typeface="Arial"/>
                <a:cs typeface="Arial"/>
              </a:defRPr>
            </a:pPr>
            <a:r>
              <a:rPr sz="3225" b="1">
                <a:solidFill>
                  <a:srgbClr val="17324D"/>
                </a:solidFill>
                <a:latin typeface="Arial"/>
                <a:ea typeface="Arial"/>
                <a:cs typeface="Arial"/>
              </a:rPr>
              <a:t>Results: early gains, no consistent ML win</a:t>
            </a:r>
          </a:p>
        </p:txBody>
      </p:sp>
      <p:sp>
        <p:nvSpPr>
          <p:cNvPr id="2" name="">
            <a:extLst xmlns:a="http://schemas.openxmlformats.org/drawingml/2006/main">
              <a:ext uri="{FF2B5EF4-FFF2-40B4-BE49-F238E27FC236}">
                <a16:creationId xmlns:a16="http://schemas.microsoft.com/office/drawing/2014/main" id="{226CCE9E-2FC6-4809-97F0-41B197178896}"/>
              </a:ext>
            </a:extLst>
          </p:cNvPr>
          <p:cNvSpPr>
            <a:spLocks xmlns:a="http://schemas.openxmlformats.org/drawingml/2006/main" noGrp="1"/>
          </p:cNvSpPr>
          <p:nvPr/>
        </p:nvSpPr>
        <p:spPr>
          <a:xfrm xmlns:a="http://schemas.openxmlformats.org/drawingml/2006/main">
            <a:off x="647700" y="1066800"/>
            <a:ext cx="10896600" cy="0"/>
          </a:xfrm>
          <a:prstGeom xmlns:a="http://schemas.openxmlformats.org/drawingml/2006/main" prst="line">
            <a:avLst/>
          </a:prstGeom>
          <a:noFill xmlns:a="http://schemas.openxmlformats.org/drawingml/2006/main"/>
          <a:ln xmlns:a="http://schemas.openxmlformats.org/drawingml/2006/main" w="9525">
            <a:solidFill>
              <a:srgbClr val="D9E1E8"/>
            </a:solidFill>
            <a:prstDash val="solid"/>
          </a:ln>
        </p:spPr>
      </p:sp>
      <p:sp>
        <p:nvSpPr>
          <p:cNvPr id="3" name="">
            <a:extLst xmlns:a="http://schemas.openxmlformats.org/drawingml/2006/main">
              <a:ext uri="{FF2B5EF4-FFF2-40B4-BE49-F238E27FC236}">
                <a16:creationId xmlns:a16="http://schemas.microsoft.com/office/drawing/2014/main" id="{4C224B04-4CA2-48B0-A0C0-B03CFC0D7DDD}"/>
              </a:ext>
            </a:extLst>
          </p:cNvPr>
          <p:cNvSpPr>
            <a:spLocks xmlns:a="http://schemas.openxmlformats.org/drawingml/2006/main" noGrp="1"/>
          </p:cNvSpPr>
          <p:nvPr/>
        </p:nvSpPr>
        <p:spPr>
          <a:xfrm xmlns:a="http://schemas.openxmlformats.org/drawingml/2006/main">
            <a:off x="647700" y="6534150"/>
            <a:ext cx="10896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607286"/>
                </a:solidFill>
                <a:latin typeface="Arial"/>
                <a:ea typeface="Arial"/>
                <a:cs typeface="Arial"/>
              </a:defRPr>
            </a:defPPr>
            <a:lvl1pPr>
              <a:defRPr sz="900">
                <a:solidFill>
                  <a:srgbClr val="607286"/>
                </a:solidFill>
                <a:latin typeface="Arial"/>
                <a:ea typeface="Arial"/>
                <a:cs typeface="Arial"/>
              </a:defRPr>
            </a:lvl1pPr>
            <a:lvl2pPr>
              <a:defRPr sz="900">
                <a:solidFill>
                  <a:srgbClr val="607286"/>
                </a:solidFill>
                <a:latin typeface="Arial"/>
                <a:ea typeface="Arial"/>
                <a:cs typeface="Arial"/>
              </a:defRPr>
            </a:lvl2pPr>
            <a:lvl3pPr>
              <a:defRPr sz="900">
                <a:solidFill>
                  <a:srgbClr val="607286"/>
                </a:solidFill>
                <a:latin typeface="Arial"/>
                <a:ea typeface="Arial"/>
                <a:cs typeface="Arial"/>
              </a:defRPr>
            </a:lvl3pPr>
            <a:lvl4pPr>
              <a:defRPr sz="900">
                <a:solidFill>
                  <a:srgbClr val="607286"/>
                </a:solidFill>
                <a:latin typeface="Arial"/>
                <a:ea typeface="Arial"/>
                <a:cs typeface="Arial"/>
              </a:defRPr>
            </a:lvl4pPr>
            <a:lvl5pPr>
              <a:defRPr sz="900">
                <a:solidFill>
                  <a:srgbClr val="607286"/>
                </a:solidFill>
                <a:latin typeface="Arial"/>
                <a:ea typeface="Arial"/>
                <a:cs typeface="Arial"/>
              </a:defRPr>
            </a:lvl5pPr>
            <a:lvl6pPr>
              <a:defRPr sz="900">
                <a:solidFill>
                  <a:srgbClr val="607286"/>
                </a:solidFill>
                <a:latin typeface="Arial"/>
                <a:ea typeface="Arial"/>
                <a:cs typeface="Arial"/>
              </a:defRPr>
            </a:lvl6pPr>
            <a:lvl7pPr>
              <a:defRPr sz="900">
                <a:solidFill>
                  <a:srgbClr val="607286"/>
                </a:solidFill>
                <a:latin typeface="Arial"/>
                <a:ea typeface="Arial"/>
                <a:cs typeface="Arial"/>
              </a:defRPr>
            </a:lvl7pPr>
            <a:lvl8pPr>
              <a:defRPr sz="900">
                <a:solidFill>
                  <a:srgbClr val="607286"/>
                </a:solidFill>
                <a:latin typeface="Arial"/>
                <a:ea typeface="Arial"/>
                <a:cs typeface="Arial"/>
              </a:defRPr>
            </a:lvl8pPr>
            <a:lvl9pPr>
              <a:defRPr sz="900">
                <a:solidFill>
                  <a:srgbClr val="607286"/>
                </a:solidFill>
                <a:latin typeface="Arial"/>
                <a:ea typeface="Arial"/>
                <a:cs typeface="Arial"/>
              </a:defRPr>
            </a:lvl9pPr>
          </a:lstStyle>
          <a:p xmlns:a="http://schemas.openxmlformats.org/drawingml/2006/main">
            <a:pPr>
              <a:defRPr sz="900">
                <a:solidFill>
                  <a:srgbClr val="607286"/>
                </a:solidFill>
                <a:latin typeface="Arial"/>
                <a:ea typeface="Arial"/>
                <a:cs typeface="Arial"/>
              </a:defRPr>
            </a:pPr>
            <a:r>
              <a:rPr sz="900">
                <a:solidFill>
                  <a:srgbClr val="607286"/>
                </a:solidFill>
                <a:latin typeface="Arial"/>
                <a:ea typeface="Arial"/>
                <a:cs typeface="Arial"/>
              </a:rPr>
              <a:t>ISAForge  /  ECE 4803                                    10</a:t>
            </a:r>
          </a:p>
        </p:txBody>
      </p:sp>
      <p:graphicFrame>
        <p:nvGraphicFramePr>
          <p:cNvPr id="4" name="Chart">
            <a:extLst xmlns:a="http://schemas.openxmlformats.org/drawingml/2006/main">
              <a:ext uri="{FF2B5EF4-FFF2-40B4-BE49-F238E27FC236}">
                <a16:creationId xmlns:a16="http://schemas.microsoft.com/office/drawing/2014/main" id="{AE9BCCBC-E2D3-4B1B-A95B-EDBC70FB42BE}"/>
              </a:ext>
            </a:extLst>
          </p:cNvPr>
          <p:cNvGraphicFramePr/>
          <p:nvPr/>
        </p:nvGraphicFramePr>
        <p:xfrm>
          <a:off xmlns:a="http://schemas.openxmlformats.org/drawingml/2006/main" x="428625" y="1533525"/>
          <a:ext xmlns:a="http://schemas.openxmlformats.org/drawingml/2006/main" cx="7239000" cy="4000500"/>
        </p:xfrm>
        <a:graphic xmlns:a="http://schemas.openxmlformats.org/drawingml/2006/main">
          <a:graphicData uri="http://schemas.openxmlformats.org/drawingml/2006/chart">
            <c:chart xmlns:r="http://schemas.openxmlformats.org/officeDocument/2006/relationships" xmlns:c="http://schemas.openxmlformats.org/drawingml/2006/chart" r:id="R52c28a42d3e9481c"/>
          </a:graphicData>
        </a:graphic>
      </p:graphicFrame>
      <p:sp>
        <p:nvSpPr>
          <p:cNvPr id="5" name="">
            <a:extLst xmlns:a="http://schemas.openxmlformats.org/drawingml/2006/main">
              <a:ext uri="{FF2B5EF4-FFF2-40B4-BE49-F238E27FC236}">
                <a16:creationId xmlns:a16="http://schemas.microsoft.com/office/drawing/2014/main" id="{32D93178-6E8E-41F8-B9C0-F6AD4F590800}"/>
              </a:ext>
            </a:extLst>
          </p:cNvPr>
          <p:cNvSpPr>
            <a:spLocks xmlns:a="http://schemas.openxmlformats.org/drawingml/2006/main" noGrp="1"/>
          </p:cNvSpPr>
          <p:nvPr/>
        </p:nvSpPr>
        <p:spPr>
          <a:xfrm xmlns:a="http://schemas.openxmlformats.org/drawingml/2006/main">
            <a:off x="8001000" y="159067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17324D"/>
                </a:solidFill>
                <a:latin typeface="Arial"/>
                <a:ea typeface="Arial"/>
                <a:cs typeface="Arial"/>
              </a:defRPr>
            </a:defPPr>
            <a:lvl1pPr>
              <a:defRPr sz="2100" b="1">
                <a:solidFill>
                  <a:srgbClr val="17324D"/>
                </a:solidFill>
                <a:latin typeface="Arial"/>
                <a:ea typeface="Arial"/>
                <a:cs typeface="Arial"/>
              </a:defRPr>
            </a:lvl1pPr>
            <a:lvl2pPr>
              <a:defRPr sz="2100" b="1">
                <a:solidFill>
                  <a:srgbClr val="17324D"/>
                </a:solidFill>
                <a:latin typeface="Arial"/>
                <a:ea typeface="Arial"/>
                <a:cs typeface="Arial"/>
              </a:defRPr>
            </a:lvl2pPr>
            <a:lvl3pPr>
              <a:defRPr sz="2100" b="1">
                <a:solidFill>
                  <a:srgbClr val="17324D"/>
                </a:solidFill>
                <a:latin typeface="Arial"/>
                <a:ea typeface="Arial"/>
                <a:cs typeface="Arial"/>
              </a:defRPr>
            </a:lvl3pPr>
            <a:lvl4pPr>
              <a:defRPr sz="2100" b="1">
                <a:solidFill>
                  <a:srgbClr val="17324D"/>
                </a:solidFill>
                <a:latin typeface="Arial"/>
                <a:ea typeface="Arial"/>
                <a:cs typeface="Arial"/>
              </a:defRPr>
            </a:lvl4pPr>
            <a:lvl5pPr>
              <a:defRPr sz="2100" b="1">
                <a:solidFill>
                  <a:srgbClr val="17324D"/>
                </a:solidFill>
                <a:latin typeface="Arial"/>
                <a:ea typeface="Arial"/>
                <a:cs typeface="Arial"/>
              </a:defRPr>
            </a:lvl5pPr>
            <a:lvl6pPr>
              <a:defRPr sz="2100" b="1">
                <a:solidFill>
                  <a:srgbClr val="17324D"/>
                </a:solidFill>
                <a:latin typeface="Arial"/>
                <a:ea typeface="Arial"/>
                <a:cs typeface="Arial"/>
              </a:defRPr>
            </a:lvl6pPr>
            <a:lvl7pPr>
              <a:defRPr sz="2100" b="1">
                <a:solidFill>
                  <a:srgbClr val="17324D"/>
                </a:solidFill>
                <a:latin typeface="Arial"/>
                <a:ea typeface="Arial"/>
                <a:cs typeface="Arial"/>
              </a:defRPr>
            </a:lvl7pPr>
            <a:lvl8pPr>
              <a:defRPr sz="2100" b="1">
                <a:solidFill>
                  <a:srgbClr val="17324D"/>
                </a:solidFill>
                <a:latin typeface="Arial"/>
                <a:ea typeface="Arial"/>
                <a:cs typeface="Arial"/>
              </a:defRPr>
            </a:lvl8pPr>
            <a:lvl9pPr>
              <a:defRPr sz="2100" b="1">
                <a:solidFill>
                  <a:srgbClr val="17324D"/>
                </a:solidFill>
                <a:latin typeface="Arial"/>
                <a:ea typeface="Arial"/>
                <a:cs typeface="Arial"/>
              </a:defRPr>
            </a:lvl9pPr>
          </a:lstStyle>
          <a:p xmlns:a="http://schemas.openxmlformats.org/drawingml/2006/main">
            <a:pPr>
              <a:defRPr sz="2100" b="1">
                <a:solidFill>
                  <a:srgbClr val="17324D"/>
                </a:solidFill>
                <a:latin typeface="Arial"/>
                <a:ea typeface="Arial"/>
                <a:cs typeface="Arial"/>
              </a:defRPr>
            </a:pPr>
            <a:r>
              <a:rPr sz="2100" b="1">
                <a:solidFill>
                  <a:srgbClr val="17324D"/>
                </a:solidFill>
                <a:latin typeface="Arial"/>
                <a:ea typeface="Arial"/>
                <a:cs typeface="Arial"/>
              </a:rPr>
              <a:t>Paired advantage of XGB</a:t>
            </a:r>
          </a:p>
        </p:txBody>
      </p:sp>
      <p:sp>
        <p:nvSpPr>
          <p:cNvPr id="6" name="">
            <a:extLst xmlns:a="http://schemas.openxmlformats.org/drawingml/2006/main">
              <a:ext uri="{FF2B5EF4-FFF2-40B4-BE49-F238E27FC236}">
                <a16:creationId xmlns:a16="http://schemas.microsoft.com/office/drawing/2014/main" id="{B91C8CB1-0E9B-4E7F-9916-CA541FC8926F}"/>
              </a:ext>
            </a:extLst>
          </p:cNvPr>
          <p:cNvSpPr>
            <a:spLocks xmlns:a="http://schemas.openxmlformats.org/drawingml/2006/main" noGrp="1"/>
          </p:cNvSpPr>
          <p:nvPr/>
        </p:nvSpPr>
        <p:spPr>
          <a:xfrm xmlns:a="http://schemas.openxmlformats.org/drawingml/2006/main">
            <a:off x="8001000" y="2457450"/>
            <a:ext cx="3429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263648"/>
                </a:solidFill>
                <a:latin typeface="Arial"/>
                <a:ea typeface="Arial"/>
                <a:cs typeface="Arial"/>
              </a:defRPr>
            </a:defPPr>
            <a:lvl1pPr>
              <a:defRPr sz="1725" b="0">
                <a:solidFill>
                  <a:srgbClr val="263648"/>
                </a:solidFill>
                <a:latin typeface="Arial"/>
                <a:ea typeface="Arial"/>
                <a:cs typeface="Arial"/>
              </a:defRPr>
            </a:lvl1pPr>
            <a:lvl2pPr>
              <a:defRPr sz="1725" b="0">
                <a:solidFill>
                  <a:srgbClr val="263648"/>
                </a:solidFill>
                <a:latin typeface="Arial"/>
                <a:ea typeface="Arial"/>
                <a:cs typeface="Arial"/>
              </a:defRPr>
            </a:lvl2pPr>
            <a:lvl3pPr>
              <a:defRPr sz="1725" b="0">
                <a:solidFill>
                  <a:srgbClr val="263648"/>
                </a:solidFill>
                <a:latin typeface="Arial"/>
                <a:ea typeface="Arial"/>
                <a:cs typeface="Arial"/>
              </a:defRPr>
            </a:lvl3pPr>
            <a:lvl4pPr>
              <a:defRPr sz="1725" b="0">
                <a:solidFill>
                  <a:srgbClr val="263648"/>
                </a:solidFill>
                <a:latin typeface="Arial"/>
                <a:ea typeface="Arial"/>
                <a:cs typeface="Arial"/>
              </a:defRPr>
            </a:lvl4pPr>
            <a:lvl5pPr>
              <a:defRPr sz="1725" b="0">
                <a:solidFill>
                  <a:srgbClr val="263648"/>
                </a:solidFill>
                <a:latin typeface="Arial"/>
                <a:ea typeface="Arial"/>
                <a:cs typeface="Arial"/>
              </a:defRPr>
            </a:lvl5pPr>
            <a:lvl6pPr>
              <a:defRPr sz="1725" b="0">
                <a:solidFill>
                  <a:srgbClr val="263648"/>
                </a:solidFill>
                <a:latin typeface="Arial"/>
                <a:ea typeface="Arial"/>
                <a:cs typeface="Arial"/>
              </a:defRPr>
            </a:lvl6pPr>
            <a:lvl7pPr>
              <a:defRPr sz="1725" b="0">
                <a:solidFill>
                  <a:srgbClr val="263648"/>
                </a:solidFill>
                <a:latin typeface="Arial"/>
                <a:ea typeface="Arial"/>
                <a:cs typeface="Arial"/>
              </a:defRPr>
            </a:lvl7pPr>
            <a:lvl8pPr>
              <a:defRPr sz="1725" b="0">
                <a:solidFill>
                  <a:srgbClr val="263648"/>
                </a:solidFill>
                <a:latin typeface="Arial"/>
                <a:ea typeface="Arial"/>
                <a:cs typeface="Arial"/>
              </a:defRPr>
            </a:lvl8pPr>
            <a:lvl9pPr>
              <a:defRPr sz="1725" b="0">
                <a:solidFill>
                  <a:srgbClr val="263648"/>
                </a:solidFill>
                <a:latin typeface="Arial"/>
                <a:ea typeface="Arial"/>
                <a:cs typeface="Arial"/>
              </a:defRPr>
            </a:lvl9pPr>
          </a:lstStyle>
          <a:p xmlns:a="http://schemas.openxmlformats.org/drawingml/2006/main">
            <a:pPr>
              <a:defRPr sz="1725" b="0">
                <a:solidFill>
                  <a:srgbClr val="263648"/>
                </a:solidFill>
                <a:latin typeface="Arial"/>
                <a:ea typeface="Arial"/>
                <a:cs typeface="Arial"/>
              </a:defRPr>
            </a:pPr>
            <a:r>
              <a:rPr sz="1725" b="0">
                <a:solidFill>
                  <a:srgbClr val="263648"/>
                </a:solidFill>
                <a:latin typeface="Arial"/>
                <a:ea typeface="Arial"/>
                <a:cs typeface="Arial"/>
              </a:rPr>
              <a:t>1 attempt: +0.290 pp</a:t>
            </a:r>
          </a:p>
          <a:p xmlns:a="http://schemas.openxmlformats.org/drawingml/2006/main">
            <a:pPr>
              <a:defRPr sz="1725" b="0">
                <a:solidFill>
                  <a:srgbClr val="263648"/>
                </a:solidFill>
                <a:latin typeface="Arial"/>
                <a:ea typeface="Arial"/>
                <a:cs typeface="Arial"/>
              </a:defRPr>
            </a:pPr>
            <a:r>
              <a:rPr sz="1725" b="0">
                <a:solidFill>
                  <a:srgbClr val="263648"/>
                </a:solidFill>
                <a:latin typeface="Arial"/>
                <a:ea typeface="Arial"/>
                <a:cs typeface="Arial"/>
              </a:rPr>
              <a:t>95% CI [−0.065, +0.849]</a:t>
            </a:r>
          </a:p>
          <a:p xmlns:a="http://schemas.openxmlformats.org/drawingml/2006/main">
            <a:r>
              <a:t/>
            </a:r>
          </a:p>
          <a:p xmlns:a="http://schemas.openxmlformats.org/drawingml/2006/main">
            <a:pPr>
              <a:defRPr sz="1725" b="0">
                <a:solidFill>
                  <a:srgbClr val="263648"/>
                </a:solidFill>
                <a:latin typeface="Arial"/>
                <a:ea typeface="Arial"/>
                <a:cs typeface="Arial"/>
              </a:defRPr>
            </a:pPr>
            <a:r>
              <a:rPr sz="1725" b="0">
                <a:solidFill>
                  <a:srgbClr val="263648"/>
                </a:solidFill>
                <a:latin typeface="Arial"/>
                <a:ea typeface="Arial"/>
                <a:cs typeface="Arial"/>
              </a:rPr>
              <a:t>2 attempts: +0.027 pp</a:t>
            </a:r>
          </a:p>
          <a:p xmlns:a="http://schemas.openxmlformats.org/drawingml/2006/main">
            <a:pPr>
              <a:defRPr sz="1725" b="0">
                <a:solidFill>
                  <a:srgbClr val="263648"/>
                </a:solidFill>
                <a:latin typeface="Arial"/>
                <a:ea typeface="Arial"/>
                <a:cs typeface="Arial"/>
              </a:defRPr>
            </a:pPr>
            <a:r>
              <a:rPr sz="1725" b="0">
                <a:solidFill>
                  <a:srgbClr val="263648"/>
                </a:solidFill>
                <a:latin typeface="Arial"/>
                <a:ea typeface="Arial"/>
                <a:cs typeface="Arial"/>
              </a:rPr>
              <a:t>95% CI [−0.097, +0.177]</a:t>
            </a:r>
          </a:p>
        </p:txBody>
      </p:sp>
      <p:sp>
        <p:nvSpPr>
          <p:cNvPr id="7" name="">
            <a:extLst xmlns:a="http://schemas.openxmlformats.org/drawingml/2006/main">
              <a:ext uri="{FF2B5EF4-FFF2-40B4-BE49-F238E27FC236}">
                <a16:creationId xmlns:a16="http://schemas.microsoft.com/office/drawing/2014/main" id="{97E3E5DE-06D9-46E9-8803-E4B1801CA5B0}"/>
              </a:ext>
            </a:extLst>
          </p:cNvPr>
          <p:cNvSpPr>
            <a:spLocks xmlns:a="http://schemas.openxmlformats.org/drawingml/2006/main" noGrp="1"/>
          </p:cNvSpPr>
          <p:nvPr/>
        </p:nvSpPr>
        <p:spPr>
          <a:xfrm xmlns:a="http://schemas.openxmlformats.org/drawingml/2006/main">
            <a:off x="8001000" y="4743450"/>
            <a:ext cx="3429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A65A00"/>
                </a:solidFill>
                <a:latin typeface="Arial"/>
                <a:ea typeface="Arial"/>
                <a:cs typeface="Arial"/>
              </a:defRPr>
            </a:defPPr>
            <a:lvl1pPr>
              <a:defRPr sz="1875" b="1">
                <a:solidFill>
                  <a:srgbClr val="A65A00"/>
                </a:solidFill>
                <a:latin typeface="Arial"/>
                <a:ea typeface="Arial"/>
                <a:cs typeface="Arial"/>
              </a:defRPr>
            </a:lvl1pPr>
            <a:lvl2pPr>
              <a:defRPr sz="1875" b="1">
                <a:solidFill>
                  <a:srgbClr val="A65A00"/>
                </a:solidFill>
                <a:latin typeface="Arial"/>
                <a:ea typeface="Arial"/>
                <a:cs typeface="Arial"/>
              </a:defRPr>
            </a:lvl2pPr>
            <a:lvl3pPr>
              <a:defRPr sz="1875" b="1">
                <a:solidFill>
                  <a:srgbClr val="A65A00"/>
                </a:solidFill>
                <a:latin typeface="Arial"/>
                <a:ea typeface="Arial"/>
                <a:cs typeface="Arial"/>
              </a:defRPr>
            </a:lvl3pPr>
            <a:lvl4pPr>
              <a:defRPr sz="1875" b="1">
                <a:solidFill>
                  <a:srgbClr val="A65A00"/>
                </a:solidFill>
                <a:latin typeface="Arial"/>
                <a:ea typeface="Arial"/>
                <a:cs typeface="Arial"/>
              </a:defRPr>
            </a:lvl4pPr>
            <a:lvl5pPr>
              <a:defRPr sz="1875" b="1">
                <a:solidFill>
                  <a:srgbClr val="A65A00"/>
                </a:solidFill>
                <a:latin typeface="Arial"/>
                <a:ea typeface="Arial"/>
                <a:cs typeface="Arial"/>
              </a:defRPr>
            </a:lvl5pPr>
            <a:lvl6pPr>
              <a:defRPr sz="1875" b="1">
                <a:solidFill>
                  <a:srgbClr val="A65A00"/>
                </a:solidFill>
                <a:latin typeface="Arial"/>
                <a:ea typeface="Arial"/>
                <a:cs typeface="Arial"/>
              </a:defRPr>
            </a:lvl6pPr>
            <a:lvl7pPr>
              <a:defRPr sz="1875" b="1">
                <a:solidFill>
                  <a:srgbClr val="A65A00"/>
                </a:solidFill>
                <a:latin typeface="Arial"/>
                <a:ea typeface="Arial"/>
                <a:cs typeface="Arial"/>
              </a:defRPr>
            </a:lvl7pPr>
            <a:lvl8pPr>
              <a:defRPr sz="1875" b="1">
                <a:solidFill>
                  <a:srgbClr val="A65A00"/>
                </a:solidFill>
                <a:latin typeface="Arial"/>
                <a:ea typeface="Arial"/>
                <a:cs typeface="Arial"/>
              </a:defRPr>
            </a:lvl8pPr>
            <a:lvl9pPr>
              <a:defRPr sz="1875" b="1">
                <a:solidFill>
                  <a:srgbClr val="A65A00"/>
                </a:solidFill>
                <a:latin typeface="Arial"/>
                <a:ea typeface="Arial"/>
                <a:cs typeface="Arial"/>
              </a:defRPr>
            </a:lvl9pPr>
          </a:lstStyle>
          <a:p xmlns:a="http://schemas.openxmlformats.org/drawingml/2006/main">
            <a:pPr>
              <a:defRPr sz="1875" b="1">
                <a:solidFill>
                  <a:srgbClr val="A65A00"/>
                </a:solidFill>
                <a:latin typeface="Arial"/>
                <a:ea typeface="Arial"/>
                <a:cs typeface="Arial"/>
              </a:defRPr>
            </a:pPr>
            <a:r>
              <a:rPr sz="1875" b="1">
                <a:solidFill>
                  <a:srgbClr val="A65A00"/>
                </a:solidFill>
                <a:latin typeface="Arial"/>
                <a:ea typeface="Arial"/>
                <a:cs typeface="Arial"/>
              </a:rPr>
              <a:t>Merit is better at 3.</a:t>
            </a:r>
          </a:p>
          <a:p xmlns:a="http://schemas.openxmlformats.org/drawingml/2006/main">
            <a:pPr>
              <a:defRPr sz="1875" b="1">
                <a:solidFill>
                  <a:srgbClr val="A65A00"/>
                </a:solidFill>
                <a:latin typeface="Arial"/>
                <a:ea typeface="Arial"/>
                <a:cs typeface="Arial"/>
              </a:defRPr>
            </a:pPr>
            <a:r>
              <a:rPr sz="1875" b="1">
                <a:solidFill>
                  <a:srgbClr val="A65A00"/>
                </a:solidFill>
                <a:latin typeface="Arial"/>
                <a:ea typeface="Arial"/>
                <a:cs typeface="Arial"/>
              </a:rPr>
              <a:t>Early intervals include zero.</a:t>
            </a:r>
          </a:p>
        </p:txBody>
      </p:sp>
      <p:sp>
        <p:nvSpPr>
          <p:cNvPr id="8" name="">
            <a:extLst xmlns:a="http://schemas.openxmlformats.org/drawingml/2006/main">
              <a:ext uri="{FF2B5EF4-FFF2-40B4-BE49-F238E27FC236}">
                <a16:creationId xmlns:a16="http://schemas.microsoft.com/office/drawing/2014/main" id="{494310CE-C657-4595-BC0C-885D115C068A}"/>
              </a:ext>
            </a:extLst>
          </p:cNvPr>
          <p:cNvSpPr>
            <a:spLocks xmlns:a="http://schemas.openxmlformats.org/drawingml/2006/main" noGrp="1"/>
          </p:cNvSpPr>
          <p:nvPr/>
        </p:nvSpPr>
        <p:spPr>
          <a:xfrm xmlns:a="http://schemas.openxmlformats.org/drawingml/2006/main">
            <a:off x="685800" y="586740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17324D"/>
                </a:solidFill>
                <a:latin typeface="Arial"/>
                <a:ea typeface="Arial"/>
                <a:cs typeface="Arial"/>
              </a:defRPr>
            </a:defPPr>
            <a:lvl1pPr>
              <a:defRPr sz="1800" b="1">
                <a:solidFill>
                  <a:srgbClr val="17324D"/>
                </a:solidFill>
                <a:latin typeface="Arial"/>
                <a:ea typeface="Arial"/>
                <a:cs typeface="Arial"/>
              </a:defRPr>
            </a:lvl1pPr>
            <a:lvl2pPr>
              <a:defRPr sz="1800" b="1">
                <a:solidFill>
                  <a:srgbClr val="17324D"/>
                </a:solidFill>
                <a:latin typeface="Arial"/>
                <a:ea typeface="Arial"/>
                <a:cs typeface="Arial"/>
              </a:defRPr>
            </a:lvl2pPr>
            <a:lvl3pPr>
              <a:defRPr sz="1800" b="1">
                <a:solidFill>
                  <a:srgbClr val="17324D"/>
                </a:solidFill>
                <a:latin typeface="Arial"/>
                <a:ea typeface="Arial"/>
                <a:cs typeface="Arial"/>
              </a:defRPr>
            </a:lvl3pPr>
            <a:lvl4pPr>
              <a:defRPr sz="1800" b="1">
                <a:solidFill>
                  <a:srgbClr val="17324D"/>
                </a:solidFill>
                <a:latin typeface="Arial"/>
                <a:ea typeface="Arial"/>
                <a:cs typeface="Arial"/>
              </a:defRPr>
            </a:lvl4pPr>
            <a:lvl5pPr>
              <a:defRPr sz="1800" b="1">
                <a:solidFill>
                  <a:srgbClr val="17324D"/>
                </a:solidFill>
                <a:latin typeface="Arial"/>
                <a:ea typeface="Arial"/>
                <a:cs typeface="Arial"/>
              </a:defRPr>
            </a:lvl5pPr>
            <a:lvl6pPr>
              <a:defRPr sz="1800" b="1">
                <a:solidFill>
                  <a:srgbClr val="17324D"/>
                </a:solidFill>
                <a:latin typeface="Arial"/>
                <a:ea typeface="Arial"/>
                <a:cs typeface="Arial"/>
              </a:defRPr>
            </a:lvl6pPr>
            <a:lvl7pPr>
              <a:defRPr sz="1800" b="1">
                <a:solidFill>
                  <a:srgbClr val="17324D"/>
                </a:solidFill>
                <a:latin typeface="Arial"/>
                <a:ea typeface="Arial"/>
                <a:cs typeface="Arial"/>
              </a:defRPr>
            </a:lvl7pPr>
            <a:lvl8pPr>
              <a:defRPr sz="1800" b="1">
                <a:solidFill>
                  <a:srgbClr val="17324D"/>
                </a:solidFill>
                <a:latin typeface="Arial"/>
                <a:ea typeface="Arial"/>
                <a:cs typeface="Arial"/>
              </a:defRPr>
            </a:lvl8pPr>
            <a:lvl9pPr>
              <a:defRPr sz="1800" b="1">
                <a:solidFill>
                  <a:srgbClr val="17324D"/>
                </a:solidFill>
                <a:latin typeface="Arial"/>
                <a:ea typeface="Arial"/>
                <a:cs typeface="Arial"/>
              </a:defRPr>
            </a:lvl9pPr>
          </a:lstStyle>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12 complete workload pools • retrospective comparison • merit remains fallback</a:t>
            </a:r>
          </a:p>
        </p:txBody>
      </p:sp>
    </p:spTree>
    <p:extLst>
      <p:ext uri="{BB962C8B-B14F-4D97-AF65-F5344CB8AC3E}">
        <p14:creationId xmlns:p14="http://schemas.microsoft.com/office/powerpoint/2010/main" val="126169400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D89C25-E844-4FF2-ACE6-BD89C6122301}"/>
              </a:ext>
            </a:extLst>
          </p:cNvPr>
          <p:cNvSpPr>
            <a:spLocks xmlns:a="http://schemas.openxmlformats.org/drawingml/2006/main" noGrp="1"/>
          </p:cNvSpPr>
          <p:nvPr/>
        </p:nvSpPr>
        <p:spPr>
          <a:xfrm xmlns:a="http://schemas.openxmlformats.org/drawingml/2006/main">
            <a:off x="647700" y="4000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7324D"/>
                </a:solidFill>
                <a:latin typeface="Arial"/>
                <a:ea typeface="Arial"/>
                <a:cs typeface="Arial"/>
              </a:defRPr>
            </a:defPPr>
            <a:lvl1pPr>
              <a:defRPr sz="3225" b="1">
                <a:solidFill>
                  <a:srgbClr val="17324D"/>
                </a:solidFill>
                <a:latin typeface="Arial"/>
                <a:ea typeface="Arial"/>
                <a:cs typeface="Arial"/>
              </a:defRPr>
            </a:lvl1pPr>
            <a:lvl2pPr>
              <a:defRPr sz="3225" b="1">
                <a:solidFill>
                  <a:srgbClr val="17324D"/>
                </a:solidFill>
                <a:latin typeface="Arial"/>
                <a:ea typeface="Arial"/>
                <a:cs typeface="Arial"/>
              </a:defRPr>
            </a:lvl2pPr>
            <a:lvl3pPr>
              <a:defRPr sz="3225" b="1">
                <a:solidFill>
                  <a:srgbClr val="17324D"/>
                </a:solidFill>
                <a:latin typeface="Arial"/>
                <a:ea typeface="Arial"/>
                <a:cs typeface="Arial"/>
              </a:defRPr>
            </a:lvl3pPr>
            <a:lvl4pPr>
              <a:defRPr sz="3225" b="1">
                <a:solidFill>
                  <a:srgbClr val="17324D"/>
                </a:solidFill>
                <a:latin typeface="Arial"/>
                <a:ea typeface="Arial"/>
                <a:cs typeface="Arial"/>
              </a:defRPr>
            </a:lvl4pPr>
            <a:lvl5pPr>
              <a:defRPr sz="3225" b="1">
                <a:solidFill>
                  <a:srgbClr val="17324D"/>
                </a:solidFill>
                <a:latin typeface="Arial"/>
                <a:ea typeface="Arial"/>
                <a:cs typeface="Arial"/>
              </a:defRPr>
            </a:lvl5pPr>
            <a:lvl6pPr>
              <a:defRPr sz="3225" b="1">
                <a:solidFill>
                  <a:srgbClr val="17324D"/>
                </a:solidFill>
                <a:latin typeface="Arial"/>
                <a:ea typeface="Arial"/>
                <a:cs typeface="Arial"/>
              </a:defRPr>
            </a:lvl6pPr>
            <a:lvl7pPr>
              <a:defRPr sz="3225" b="1">
                <a:solidFill>
                  <a:srgbClr val="17324D"/>
                </a:solidFill>
                <a:latin typeface="Arial"/>
                <a:ea typeface="Arial"/>
                <a:cs typeface="Arial"/>
              </a:defRPr>
            </a:lvl7pPr>
            <a:lvl8pPr>
              <a:defRPr sz="3225" b="1">
                <a:solidFill>
                  <a:srgbClr val="17324D"/>
                </a:solidFill>
                <a:latin typeface="Arial"/>
                <a:ea typeface="Arial"/>
                <a:cs typeface="Arial"/>
              </a:defRPr>
            </a:lvl8pPr>
            <a:lvl9pPr>
              <a:defRPr sz="3225" b="1">
                <a:solidFill>
                  <a:srgbClr val="17324D"/>
                </a:solidFill>
                <a:latin typeface="Arial"/>
                <a:ea typeface="Arial"/>
                <a:cs typeface="Arial"/>
              </a:defRPr>
            </a:lvl9pPr>
          </a:lstStyle>
          <a:p xmlns:a="http://schemas.openxmlformats.org/drawingml/2006/main">
            <a:pPr>
              <a:defRPr sz="3225" b="1">
                <a:solidFill>
                  <a:srgbClr val="17324D"/>
                </a:solidFill>
                <a:latin typeface="Arial"/>
                <a:ea typeface="Arial"/>
                <a:cs typeface="Arial"/>
              </a:defRPr>
            </a:pPr>
            <a:r>
              <a:rPr sz="3225" b="1">
                <a:solidFill>
                  <a:srgbClr val="17324D"/>
                </a:solidFill>
                <a:latin typeface="Arial"/>
                <a:ea typeface="Arial"/>
                <a:cs typeface="Arial"/>
              </a:rPr>
              <a:t>Next milestone: an independent selection test</a:t>
            </a:r>
          </a:p>
        </p:txBody>
      </p:sp>
      <p:sp>
        <p:nvSpPr>
          <p:cNvPr id="2" name="">
            <a:extLst xmlns:a="http://schemas.openxmlformats.org/drawingml/2006/main">
              <a:ext uri="{FF2B5EF4-FFF2-40B4-BE49-F238E27FC236}">
                <a16:creationId xmlns:a16="http://schemas.microsoft.com/office/drawing/2014/main" id="{26ECF756-3699-414C-8CBD-5941EB514DE9}"/>
              </a:ext>
            </a:extLst>
          </p:cNvPr>
          <p:cNvSpPr>
            <a:spLocks xmlns:a="http://schemas.openxmlformats.org/drawingml/2006/main" noGrp="1"/>
          </p:cNvSpPr>
          <p:nvPr/>
        </p:nvSpPr>
        <p:spPr>
          <a:xfrm xmlns:a="http://schemas.openxmlformats.org/drawingml/2006/main">
            <a:off x="647700" y="1066800"/>
            <a:ext cx="10896600" cy="0"/>
          </a:xfrm>
          <a:prstGeom xmlns:a="http://schemas.openxmlformats.org/drawingml/2006/main" prst="line">
            <a:avLst/>
          </a:prstGeom>
          <a:noFill xmlns:a="http://schemas.openxmlformats.org/drawingml/2006/main"/>
          <a:ln xmlns:a="http://schemas.openxmlformats.org/drawingml/2006/main" w="9525">
            <a:solidFill>
              <a:srgbClr val="D9E1E8"/>
            </a:solidFill>
            <a:prstDash val="solid"/>
          </a:ln>
        </p:spPr>
      </p:sp>
      <p:sp>
        <p:nvSpPr>
          <p:cNvPr id="3" name="">
            <a:extLst xmlns:a="http://schemas.openxmlformats.org/drawingml/2006/main">
              <a:ext uri="{FF2B5EF4-FFF2-40B4-BE49-F238E27FC236}">
                <a16:creationId xmlns:a16="http://schemas.microsoft.com/office/drawing/2014/main" id="{F1DC2800-899D-465B-A901-2B1667361A77}"/>
              </a:ext>
            </a:extLst>
          </p:cNvPr>
          <p:cNvSpPr>
            <a:spLocks xmlns:a="http://schemas.openxmlformats.org/drawingml/2006/main" noGrp="1"/>
          </p:cNvSpPr>
          <p:nvPr/>
        </p:nvSpPr>
        <p:spPr>
          <a:xfrm xmlns:a="http://schemas.openxmlformats.org/drawingml/2006/main">
            <a:off x="647700" y="6534150"/>
            <a:ext cx="10896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607286"/>
                </a:solidFill>
                <a:latin typeface="Arial"/>
                <a:ea typeface="Arial"/>
                <a:cs typeface="Arial"/>
              </a:defRPr>
            </a:defPPr>
            <a:lvl1pPr>
              <a:defRPr sz="900">
                <a:solidFill>
                  <a:srgbClr val="607286"/>
                </a:solidFill>
                <a:latin typeface="Arial"/>
                <a:ea typeface="Arial"/>
                <a:cs typeface="Arial"/>
              </a:defRPr>
            </a:lvl1pPr>
            <a:lvl2pPr>
              <a:defRPr sz="900">
                <a:solidFill>
                  <a:srgbClr val="607286"/>
                </a:solidFill>
                <a:latin typeface="Arial"/>
                <a:ea typeface="Arial"/>
                <a:cs typeface="Arial"/>
              </a:defRPr>
            </a:lvl2pPr>
            <a:lvl3pPr>
              <a:defRPr sz="900">
                <a:solidFill>
                  <a:srgbClr val="607286"/>
                </a:solidFill>
                <a:latin typeface="Arial"/>
                <a:ea typeface="Arial"/>
                <a:cs typeface="Arial"/>
              </a:defRPr>
            </a:lvl3pPr>
            <a:lvl4pPr>
              <a:defRPr sz="900">
                <a:solidFill>
                  <a:srgbClr val="607286"/>
                </a:solidFill>
                <a:latin typeface="Arial"/>
                <a:ea typeface="Arial"/>
                <a:cs typeface="Arial"/>
              </a:defRPr>
            </a:lvl4pPr>
            <a:lvl5pPr>
              <a:defRPr sz="900">
                <a:solidFill>
                  <a:srgbClr val="607286"/>
                </a:solidFill>
                <a:latin typeface="Arial"/>
                <a:ea typeface="Arial"/>
                <a:cs typeface="Arial"/>
              </a:defRPr>
            </a:lvl5pPr>
            <a:lvl6pPr>
              <a:defRPr sz="900">
                <a:solidFill>
                  <a:srgbClr val="607286"/>
                </a:solidFill>
                <a:latin typeface="Arial"/>
                <a:ea typeface="Arial"/>
                <a:cs typeface="Arial"/>
              </a:defRPr>
            </a:lvl6pPr>
            <a:lvl7pPr>
              <a:defRPr sz="900">
                <a:solidFill>
                  <a:srgbClr val="607286"/>
                </a:solidFill>
                <a:latin typeface="Arial"/>
                <a:ea typeface="Arial"/>
                <a:cs typeface="Arial"/>
              </a:defRPr>
            </a:lvl7pPr>
            <a:lvl8pPr>
              <a:defRPr sz="900">
                <a:solidFill>
                  <a:srgbClr val="607286"/>
                </a:solidFill>
                <a:latin typeface="Arial"/>
                <a:ea typeface="Arial"/>
                <a:cs typeface="Arial"/>
              </a:defRPr>
            </a:lvl8pPr>
            <a:lvl9pPr>
              <a:defRPr sz="900">
                <a:solidFill>
                  <a:srgbClr val="607286"/>
                </a:solidFill>
                <a:latin typeface="Arial"/>
                <a:ea typeface="Arial"/>
                <a:cs typeface="Arial"/>
              </a:defRPr>
            </a:lvl9pPr>
          </a:lstStyle>
          <a:p xmlns:a="http://schemas.openxmlformats.org/drawingml/2006/main">
            <a:pPr>
              <a:defRPr sz="900">
                <a:solidFill>
                  <a:srgbClr val="607286"/>
                </a:solidFill>
                <a:latin typeface="Arial"/>
                <a:ea typeface="Arial"/>
                <a:cs typeface="Arial"/>
              </a:defRPr>
            </a:pPr>
            <a:r>
              <a:rPr sz="900">
                <a:solidFill>
                  <a:srgbClr val="607286"/>
                </a:solidFill>
                <a:latin typeface="Arial"/>
                <a:ea typeface="Arial"/>
                <a:cs typeface="Arial"/>
              </a:rPr>
              <a:t>ISAForge  /  ECE 4803                                    11</a:t>
            </a:r>
          </a:p>
        </p:txBody>
      </p:sp>
      <p:sp>
        <p:nvSpPr>
          <p:cNvPr id="4" name="">
            <a:extLst xmlns:a="http://schemas.openxmlformats.org/drawingml/2006/main">
              <a:ext uri="{FF2B5EF4-FFF2-40B4-BE49-F238E27FC236}">
                <a16:creationId xmlns:a16="http://schemas.microsoft.com/office/drawing/2014/main" id="{CD93CE44-D9D2-4D47-BAF9-51111EEFA0BD}"/>
              </a:ext>
            </a:extLst>
          </p:cNvPr>
          <p:cNvSpPr>
            <a:spLocks xmlns:a="http://schemas.openxmlformats.org/drawingml/2006/main" noGrp="1"/>
          </p:cNvSpPr>
          <p:nvPr/>
        </p:nvSpPr>
        <p:spPr>
          <a:xfrm xmlns:a="http://schemas.openxmlformats.org/drawingml/2006/main">
            <a:off x="685800" y="149542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17324D"/>
                </a:solidFill>
                <a:latin typeface="Arial"/>
                <a:ea typeface="Arial"/>
                <a:cs typeface="Arial"/>
              </a:defRPr>
            </a:defPPr>
            <a:lvl1pPr>
              <a:defRPr sz="2325" b="1">
                <a:solidFill>
                  <a:srgbClr val="17324D"/>
                </a:solidFill>
                <a:latin typeface="Arial"/>
                <a:ea typeface="Arial"/>
                <a:cs typeface="Arial"/>
              </a:defRPr>
            </a:lvl1pPr>
            <a:lvl2pPr>
              <a:defRPr sz="2325" b="1">
                <a:solidFill>
                  <a:srgbClr val="17324D"/>
                </a:solidFill>
                <a:latin typeface="Arial"/>
                <a:ea typeface="Arial"/>
                <a:cs typeface="Arial"/>
              </a:defRPr>
            </a:lvl2pPr>
            <a:lvl3pPr>
              <a:defRPr sz="2325" b="1">
                <a:solidFill>
                  <a:srgbClr val="17324D"/>
                </a:solidFill>
                <a:latin typeface="Arial"/>
                <a:ea typeface="Arial"/>
                <a:cs typeface="Arial"/>
              </a:defRPr>
            </a:lvl3pPr>
            <a:lvl4pPr>
              <a:defRPr sz="2325" b="1">
                <a:solidFill>
                  <a:srgbClr val="17324D"/>
                </a:solidFill>
                <a:latin typeface="Arial"/>
                <a:ea typeface="Arial"/>
                <a:cs typeface="Arial"/>
              </a:defRPr>
            </a:lvl4pPr>
            <a:lvl5pPr>
              <a:defRPr sz="2325" b="1">
                <a:solidFill>
                  <a:srgbClr val="17324D"/>
                </a:solidFill>
                <a:latin typeface="Arial"/>
                <a:ea typeface="Arial"/>
                <a:cs typeface="Arial"/>
              </a:defRPr>
            </a:lvl5pPr>
            <a:lvl6pPr>
              <a:defRPr sz="2325" b="1">
                <a:solidFill>
                  <a:srgbClr val="17324D"/>
                </a:solidFill>
                <a:latin typeface="Arial"/>
                <a:ea typeface="Arial"/>
                <a:cs typeface="Arial"/>
              </a:defRPr>
            </a:lvl6pPr>
            <a:lvl7pPr>
              <a:defRPr sz="2325" b="1">
                <a:solidFill>
                  <a:srgbClr val="17324D"/>
                </a:solidFill>
                <a:latin typeface="Arial"/>
                <a:ea typeface="Arial"/>
                <a:cs typeface="Arial"/>
              </a:defRPr>
            </a:lvl7pPr>
            <a:lvl8pPr>
              <a:defRPr sz="2325" b="1">
                <a:solidFill>
                  <a:srgbClr val="17324D"/>
                </a:solidFill>
                <a:latin typeface="Arial"/>
                <a:ea typeface="Arial"/>
                <a:cs typeface="Arial"/>
              </a:defRPr>
            </a:lvl8pPr>
            <a:lvl9pPr>
              <a:defRPr sz="2325" b="1">
                <a:solidFill>
                  <a:srgbClr val="17324D"/>
                </a:solidFill>
                <a:latin typeface="Arial"/>
                <a:ea typeface="Arial"/>
                <a:cs typeface="Arial"/>
              </a:defRPr>
            </a:lvl9pPr>
          </a:lstStyle>
          <a:p xmlns:a="http://schemas.openxmlformats.org/drawingml/2006/main">
            <a:pPr>
              <a:defRPr sz="2325" b="1">
                <a:solidFill>
                  <a:srgbClr val="17324D"/>
                </a:solidFill>
                <a:latin typeface="Arial"/>
                <a:ea typeface="Arial"/>
                <a:cs typeface="Arial"/>
              </a:defRPr>
            </a:pPr>
            <a:r>
              <a:rPr sz="2325" b="1">
                <a:solidFill>
                  <a:srgbClr val="17324D"/>
                </a:solidFill>
                <a:latin typeface="Arial"/>
                <a:ea typeface="Arial"/>
                <a:cs typeface="Arial"/>
              </a:rPr>
              <a:t>Working now</a:t>
            </a:r>
          </a:p>
        </p:txBody>
      </p:sp>
      <p:sp>
        <p:nvSpPr>
          <p:cNvPr id="5" name="">
            <a:extLst xmlns:a="http://schemas.openxmlformats.org/drawingml/2006/main">
              <a:ext uri="{FF2B5EF4-FFF2-40B4-BE49-F238E27FC236}">
                <a16:creationId xmlns:a16="http://schemas.microsoft.com/office/drawing/2014/main" id="{B04C563C-6283-4FF9-995D-36BF33E7D423}"/>
              </a:ext>
            </a:extLst>
          </p:cNvPr>
          <p:cNvSpPr>
            <a:spLocks xmlns:a="http://schemas.openxmlformats.org/drawingml/2006/main" noGrp="1"/>
          </p:cNvSpPr>
          <p:nvPr/>
        </p:nvSpPr>
        <p:spPr>
          <a:xfrm xmlns:a="http://schemas.openxmlformats.org/drawingml/2006/main">
            <a:off x="685800" y="2133600"/>
            <a:ext cx="5238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263648"/>
                </a:solidFill>
                <a:latin typeface="Arial"/>
                <a:ea typeface="Arial"/>
                <a:cs typeface="Arial"/>
              </a:defRPr>
            </a:defPPr>
            <a:lvl1pPr>
              <a:defRPr sz="2025" b="0">
                <a:solidFill>
                  <a:srgbClr val="263648"/>
                </a:solidFill>
                <a:latin typeface="Arial"/>
                <a:ea typeface="Arial"/>
                <a:cs typeface="Arial"/>
              </a:defRPr>
            </a:lvl1pPr>
            <a:lvl2pPr>
              <a:defRPr sz="2025" b="0">
                <a:solidFill>
                  <a:srgbClr val="263648"/>
                </a:solidFill>
                <a:latin typeface="Arial"/>
                <a:ea typeface="Arial"/>
                <a:cs typeface="Arial"/>
              </a:defRPr>
            </a:lvl2pPr>
            <a:lvl3pPr>
              <a:defRPr sz="2025" b="0">
                <a:solidFill>
                  <a:srgbClr val="263648"/>
                </a:solidFill>
                <a:latin typeface="Arial"/>
                <a:ea typeface="Arial"/>
                <a:cs typeface="Arial"/>
              </a:defRPr>
            </a:lvl3pPr>
            <a:lvl4pPr>
              <a:defRPr sz="2025" b="0">
                <a:solidFill>
                  <a:srgbClr val="263648"/>
                </a:solidFill>
                <a:latin typeface="Arial"/>
                <a:ea typeface="Arial"/>
                <a:cs typeface="Arial"/>
              </a:defRPr>
            </a:lvl4pPr>
            <a:lvl5pPr>
              <a:defRPr sz="2025" b="0">
                <a:solidFill>
                  <a:srgbClr val="263648"/>
                </a:solidFill>
                <a:latin typeface="Arial"/>
                <a:ea typeface="Arial"/>
                <a:cs typeface="Arial"/>
              </a:defRPr>
            </a:lvl5pPr>
            <a:lvl6pPr>
              <a:defRPr sz="2025" b="0">
                <a:solidFill>
                  <a:srgbClr val="263648"/>
                </a:solidFill>
                <a:latin typeface="Arial"/>
                <a:ea typeface="Arial"/>
                <a:cs typeface="Arial"/>
              </a:defRPr>
            </a:lvl6pPr>
            <a:lvl7pPr>
              <a:defRPr sz="2025" b="0">
                <a:solidFill>
                  <a:srgbClr val="263648"/>
                </a:solidFill>
                <a:latin typeface="Arial"/>
                <a:ea typeface="Arial"/>
                <a:cs typeface="Arial"/>
              </a:defRPr>
            </a:lvl7pPr>
            <a:lvl8pPr>
              <a:defRPr sz="2025" b="0">
                <a:solidFill>
                  <a:srgbClr val="263648"/>
                </a:solidFill>
                <a:latin typeface="Arial"/>
                <a:ea typeface="Arial"/>
                <a:cs typeface="Arial"/>
              </a:defRPr>
            </a:lvl8pPr>
            <a:lvl9pPr>
              <a:defRPr sz="2025" b="0">
                <a:solidFill>
                  <a:srgbClr val="263648"/>
                </a:solidFill>
                <a:latin typeface="Arial"/>
                <a:ea typeface="Arial"/>
                <a:cs typeface="Arial"/>
              </a:defRPr>
            </a:lvl9pPr>
          </a:lstStyle>
          <a:p xmlns:a="http://schemas.openxmlformats.org/drawingml/2006/main">
            <a:pPr>
              <a:defRPr sz="2025" b="0">
                <a:solidFill>
                  <a:srgbClr val="263648"/>
                </a:solidFill>
                <a:latin typeface="Arial"/>
                <a:ea typeface="Arial"/>
                <a:cs typeface="Arial"/>
              </a:defRPr>
            </a:pPr>
            <a:r>
              <a:rPr sz="2025" b="0">
                <a:solidFill>
                  <a:srgbClr val="263648"/>
                </a:solidFill>
                <a:latin typeface="Arial"/>
                <a:ea typeface="Arial"/>
                <a:cs typeface="Arial"/>
              </a:rPr>
              <a:t>Real workload → executable candidate</a:t>
            </a:r>
          </a:p>
          <a:p xmlns:a="http://schemas.openxmlformats.org/drawingml/2006/main">
            <a:pPr>
              <a:defRPr sz="2025" b="0">
                <a:solidFill>
                  <a:srgbClr val="263648"/>
                </a:solidFill>
                <a:latin typeface="Arial"/>
                <a:ea typeface="Arial"/>
                <a:cs typeface="Arial"/>
              </a:defRPr>
            </a:pPr>
            <a:r>
              <a:rPr sz="2025" b="0">
                <a:solidFill>
                  <a:srgbClr val="263648"/>
                </a:solidFill>
                <a:latin typeface="Arial"/>
                <a:ea typeface="Arial"/>
                <a:cs typeface="Arial"/>
              </a:rPr>
              <a:t>Measured cycles, area and timing</a:t>
            </a:r>
          </a:p>
          <a:p xmlns:a="http://schemas.openxmlformats.org/drawingml/2006/main">
            <a:pPr>
              <a:defRPr sz="2025" b="0">
                <a:solidFill>
                  <a:srgbClr val="263648"/>
                </a:solidFill>
                <a:latin typeface="Arial"/>
                <a:ea typeface="Arial"/>
                <a:cs typeface="Arial"/>
              </a:defRPr>
            </a:pPr>
            <a:r>
              <a:rPr sz="2025" b="0">
                <a:solidFill>
                  <a:srgbClr val="263648"/>
                </a:solidFill>
                <a:latin typeface="Arial"/>
                <a:ea typeface="Arial"/>
                <a:cs typeface="Arial"/>
              </a:rPr>
              <a:t>Whole-workload ML evaluation</a:t>
            </a:r>
          </a:p>
          <a:p xmlns:a="http://schemas.openxmlformats.org/drawingml/2006/main">
            <a:pPr>
              <a:defRPr sz="2025" b="0">
                <a:solidFill>
                  <a:srgbClr val="263648"/>
                </a:solidFill>
                <a:latin typeface="Arial"/>
                <a:ea typeface="Arial"/>
                <a:cs typeface="Arial"/>
              </a:defRPr>
            </a:pPr>
            <a:r>
              <a:rPr sz="2025" b="0">
                <a:solidFill>
                  <a:srgbClr val="263648"/>
                </a:solidFill>
                <a:latin typeface="Arial"/>
                <a:ea typeface="Arial"/>
                <a:cs typeface="Arial"/>
              </a:rPr>
              <a:t>Explainability + bounded agent tools</a:t>
            </a:r>
          </a:p>
        </p:txBody>
      </p:sp>
      <p:sp>
        <p:nvSpPr>
          <p:cNvPr id="6" name="">
            <a:extLst xmlns:a="http://schemas.openxmlformats.org/drawingml/2006/main">
              <a:ext uri="{FF2B5EF4-FFF2-40B4-BE49-F238E27FC236}">
                <a16:creationId xmlns:a16="http://schemas.microsoft.com/office/drawing/2014/main" id="{ED8E2509-146F-442E-B361-165A997BCE76}"/>
              </a:ext>
            </a:extLst>
          </p:cNvPr>
          <p:cNvSpPr>
            <a:spLocks xmlns:a="http://schemas.openxmlformats.org/drawingml/2006/main" noGrp="1"/>
          </p:cNvSpPr>
          <p:nvPr/>
        </p:nvSpPr>
        <p:spPr>
          <a:xfrm xmlns:a="http://schemas.openxmlformats.org/drawingml/2006/main">
            <a:off x="6667500" y="149542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17324D"/>
                </a:solidFill>
                <a:latin typeface="Arial"/>
                <a:ea typeface="Arial"/>
                <a:cs typeface="Arial"/>
              </a:defRPr>
            </a:defPPr>
            <a:lvl1pPr>
              <a:defRPr sz="2325" b="1">
                <a:solidFill>
                  <a:srgbClr val="17324D"/>
                </a:solidFill>
                <a:latin typeface="Arial"/>
                <a:ea typeface="Arial"/>
                <a:cs typeface="Arial"/>
              </a:defRPr>
            </a:lvl1pPr>
            <a:lvl2pPr>
              <a:defRPr sz="2325" b="1">
                <a:solidFill>
                  <a:srgbClr val="17324D"/>
                </a:solidFill>
                <a:latin typeface="Arial"/>
                <a:ea typeface="Arial"/>
                <a:cs typeface="Arial"/>
              </a:defRPr>
            </a:lvl2pPr>
            <a:lvl3pPr>
              <a:defRPr sz="2325" b="1">
                <a:solidFill>
                  <a:srgbClr val="17324D"/>
                </a:solidFill>
                <a:latin typeface="Arial"/>
                <a:ea typeface="Arial"/>
                <a:cs typeface="Arial"/>
              </a:defRPr>
            </a:lvl3pPr>
            <a:lvl4pPr>
              <a:defRPr sz="2325" b="1">
                <a:solidFill>
                  <a:srgbClr val="17324D"/>
                </a:solidFill>
                <a:latin typeface="Arial"/>
                <a:ea typeface="Arial"/>
                <a:cs typeface="Arial"/>
              </a:defRPr>
            </a:lvl4pPr>
            <a:lvl5pPr>
              <a:defRPr sz="2325" b="1">
                <a:solidFill>
                  <a:srgbClr val="17324D"/>
                </a:solidFill>
                <a:latin typeface="Arial"/>
                <a:ea typeface="Arial"/>
                <a:cs typeface="Arial"/>
              </a:defRPr>
            </a:lvl5pPr>
            <a:lvl6pPr>
              <a:defRPr sz="2325" b="1">
                <a:solidFill>
                  <a:srgbClr val="17324D"/>
                </a:solidFill>
                <a:latin typeface="Arial"/>
                <a:ea typeface="Arial"/>
                <a:cs typeface="Arial"/>
              </a:defRPr>
            </a:lvl6pPr>
            <a:lvl7pPr>
              <a:defRPr sz="2325" b="1">
                <a:solidFill>
                  <a:srgbClr val="17324D"/>
                </a:solidFill>
                <a:latin typeface="Arial"/>
                <a:ea typeface="Arial"/>
                <a:cs typeface="Arial"/>
              </a:defRPr>
            </a:lvl7pPr>
            <a:lvl8pPr>
              <a:defRPr sz="2325" b="1">
                <a:solidFill>
                  <a:srgbClr val="17324D"/>
                </a:solidFill>
                <a:latin typeface="Arial"/>
                <a:ea typeface="Arial"/>
                <a:cs typeface="Arial"/>
              </a:defRPr>
            </a:lvl8pPr>
            <a:lvl9pPr>
              <a:defRPr sz="2325" b="1">
                <a:solidFill>
                  <a:srgbClr val="17324D"/>
                </a:solidFill>
                <a:latin typeface="Arial"/>
                <a:ea typeface="Arial"/>
                <a:cs typeface="Arial"/>
              </a:defRPr>
            </a:lvl9pPr>
          </a:lstStyle>
          <a:p xmlns:a="http://schemas.openxmlformats.org/drawingml/2006/main">
            <a:pPr>
              <a:defRPr sz="2325" b="1">
                <a:solidFill>
                  <a:srgbClr val="17324D"/>
                </a:solidFill>
                <a:latin typeface="Arial"/>
                <a:ea typeface="Arial"/>
                <a:cs typeface="Arial"/>
              </a:defRPr>
            </a:pPr>
            <a:r>
              <a:rPr sz="2325" b="1">
                <a:solidFill>
                  <a:srgbClr val="17324D"/>
                </a:solidFill>
                <a:latin typeface="Arial"/>
                <a:ea typeface="Arial"/>
                <a:cs typeface="Arial"/>
              </a:rPr>
              <a:t>Next, in order</a:t>
            </a:r>
          </a:p>
        </p:txBody>
      </p:sp>
      <p:sp>
        <p:nvSpPr>
          <p:cNvPr id="7" name="">
            <a:extLst xmlns:a="http://schemas.openxmlformats.org/drawingml/2006/main">
              <a:ext uri="{FF2B5EF4-FFF2-40B4-BE49-F238E27FC236}">
                <a16:creationId xmlns:a16="http://schemas.microsoft.com/office/drawing/2014/main" id="{66F41877-9B07-4F00-94E3-10D5500524CD}"/>
              </a:ext>
            </a:extLst>
          </p:cNvPr>
          <p:cNvSpPr>
            <a:spLocks xmlns:a="http://schemas.openxmlformats.org/drawingml/2006/main" noGrp="1"/>
          </p:cNvSpPr>
          <p:nvPr/>
        </p:nvSpPr>
        <p:spPr>
          <a:xfrm xmlns:a="http://schemas.openxmlformats.org/drawingml/2006/main">
            <a:off x="6667500" y="2133600"/>
            <a:ext cx="4857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263648"/>
                </a:solidFill>
                <a:latin typeface="Arial"/>
                <a:ea typeface="Arial"/>
                <a:cs typeface="Arial"/>
              </a:defRPr>
            </a:defPPr>
            <a:lvl1pPr>
              <a:defRPr sz="1875" b="0">
                <a:solidFill>
                  <a:srgbClr val="263648"/>
                </a:solidFill>
                <a:latin typeface="Arial"/>
                <a:ea typeface="Arial"/>
                <a:cs typeface="Arial"/>
              </a:defRPr>
            </a:lvl1pPr>
            <a:lvl2pPr>
              <a:defRPr sz="1875" b="0">
                <a:solidFill>
                  <a:srgbClr val="263648"/>
                </a:solidFill>
                <a:latin typeface="Arial"/>
                <a:ea typeface="Arial"/>
                <a:cs typeface="Arial"/>
              </a:defRPr>
            </a:lvl2pPr>
            <a:lvl3pPr>
              <a:defRPr sz="1875" b="0">
                <a:solidFill>
                  <a:srgbClr val="263648"/>
                </a:solidFill>
                <a:latin typeface="Arial"/>
                <a:ea typeface="Arial"/>
                <a:cs typeface="Arial"/>
              </a:defRPr>
            </a:lvl3pPr>
            <a:lvl4pPr>
              <a:defRPr sz="1875" b="0">
                <a:solidFill>
                  <a:srgbClr val="263648"/>
                </a:solidFill>
                <a:latin typeface="Arial"/>
                <a:ea typeface="Arial"/>
                <a:cs typeface="Arial"/>
              </a:defRPr>
            </a:lvl4pPr>
            <a:lvl5pPr>
              <a:defRPr sz="1875" b="0">
                <a:solidFill>
                  <a:srgbClr val="263648"/>
                </a:solidFill>
                <a:latin typeface="Arial"/>
                <a:ea typeface="Arial"/>
                <a:cs typeface="Arial"/>
              </a:defRPr>
            </a:lvl5pPr>
            <a:lvl6pPr>
              <a:defRPr sz="1875" b="0">
                <a:solidFill>
                  <a:srgbClr val="263648"/>
                </a:solidFill>
                <a:latin typeface="Arial"/>
                <a:ea typeface="Arial"/>
                <a:cs typeface="Arial"/>
              </a:defRPr>
            </a:lvl6pPr>
            <a:lvl7pPr>
              <a:defRPr sz="1875" b="0">
                <a:solidFill>
                  <a:srgbClr val="263648"/>
                </a:solidFill>
                <a:latin typeface="Arial"/>
                <a:ea typeface="Arial"/>
                <a:cs typeface="Arial"/>
              </a:defRPr>
            </a:lvl7pPr>
            <a:lvl8pPr>
              <a:defRPr sz="1875" b="0">
                <a:solidFill>
                  <a:srgbClr val="263648"/>
                </a:solidFill>
                <a:latin typeface="Arial"/>
                <a:ea typeface="Arial"/>
                <a:cs typeface="Arial"/>
              </a:defRPr>
            </a:lvl8pPr>
            <a:lvl9pPr>
              <a:defRPr sz="1875" b="0">
                <a:solidFill>
                  <a:srgbClr val="263648"/>
                </a:solidFill>
                <a:latin typeface="Arial"/>
                <a:ea typeface="Arial"/>
                <a:cs typeface="Arial"/>
              </a:defRPr>
            </a:lvl9pPr>
          </a:lstStyle>
          <a:p xmlns:a="http://schemas.openxmlformats.org/drawingml/2006/main">
            <a:pPr>
              <a:defRPr sz="1875" b="0">
                <a:solidFill>
                  <a:srgbClr val="263648"/>
                </a:solidFill>
                <a:latin typeface="Arial"/>
                <a:ea typeface="Arial"/>
                <a:cs typeface="Arial"/>
              </a:defRPr>
            </a:pPr>
            <a:r>
              <a:rPr sz="1875" b="0">
                <a:solidFill>
                  <a:srgbClr val="263648"/>
                </a:solidFill>
                <a:latin typeface="Arial"/>
                <a:ea typeface="Arial"/>
                <a:cs typeface="Arial"/>
              </a:rPr>
              <a:t>1  Freeze policies; test untouched workloads</a:t>
            </a:r>
          </a:p>
          <a:p xmlns:a="http://schemas.openxmlformats.org/drawingml/2006/main">
            <a:pPr>
              <a:defRPr sz="1875" b="0">
                <a:solidFill>
                  <a:srgbClr val="263648"/>
                </a:solidFill>
                <a:latin typeface="Arial"/>
                <a:ea typeface="Arial"/>
                <a:cs typeface="Arial"/>
              </a:defRPr>
            </a:pPr>
            <a:r>
              <a:rPr sz="1875" b="0">
                <a:solidFill>
                  <a:srgbClr val="263648"/>
                </a:solidFill>
                <a:latin typeface="Arial"/>
                <a:ea typeface="Arial"/>
                <a:cs typeface="Arial"/>
              </a:rPr>
              <a:t>2  Compare agent vs non-agent fairly</a:t>
            </a:r>
          </a:p>
          <a:p xmlns:a="http://schemas.openxmlformats.org/drawingml/2006/main">
            <a:pPr>
              <a:defRPr sz="1875" b="0">
                <a:solidFill>
                  <a:srgbClr val="263648"/>
                </a:solidFill>
                <a:latin typeface="Arial"/>
                <a:ea typeface="Arial"/>
                <a:cs typeface="Arial"/>
              </a:defRPr>
            </a:pPr>
            <a:r>
              <a:rPr sz="1875" b="0">
                <a:solidFill>
                  <a:srgbClr val="263648"/>
                </a:solidFill>
                <a:latin typeface="Arial"/>
                <a:ea typeface="Arial"/>
                <a:cs typeface="Arial"/>
              </a:rPr>
              <a:t>3  Validate uncertainty and total cost</a:t>
            </a:r>
          </a:p>
          <a:p xmlns:a="http://schemas.openxmlformats.org/drawingml/2006/main">
            <a:pPr>
              <a:defRPr sz="1875" b="0">
                <a:solidFill>
                  <a:srgbClr val="263648"/>
                </a:solidFill>
                <a:latin typeface="Arial"/>
                <a:ea typeface="Arial"/>
                <a:cs typeface="Arial"/>
              </a:defRPr>
            </a:pPr>
            <a:r>
              <a:rPr sz="1875" b="0">
                <a:solidFill>
                  <a:srgbClr val="263648"/>
                </a:solidFill>
                <a:latin typeface="Arial"/>
                <a:ea typeface="Arial"/>
                <a:cs typeface="Arial"/>
              </a:rPr>
              <a:t>4  Measure 1–3 instructions jointly</a:t>
            </a:r>
          </a:p>
        </p:txBody>
      </p:sp>
      <p:sp>
        <p:nvSpPr>
          <p:cNvPr id="8" name="">
            <a:extLst xmlns:a="http://schemas.openxmlformats.org/drawingml/2006/main">
              <a:ext uri="{FF2B5EF4-FFF2-40B4-BE49-F238E27FC236}">
                <a16:creationId xmlns:a16="http://schemas.microsoft.com/office/drawing/2014/main" id="{098106AB-A410-437D-92A8-35DAB5F23B9F}"/>
              </a:ext>
            </a:extLst>
          </p:cNvPr>
          <p:cNvSpPr>
            <a:spLocks xmlns:a="http://schemas.openxmlformats.org/drawingml/2006/main" noGrp="1"/>
          </p:cNvSpPr>
          <p:nvPr/>
        </p:nvSpPr>
        <p:spPr>
          <a:xfrm xmlns:a="http://schemas.openxmlformats.org/drawingml/2006/main">
            <a:off x="685800" y="5381625"/>
            <a:ext cx="10820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2878A8"/>
                </a:solidFill>
                <a:latin typeface="Arial"/>
                <a:ea typeface="Arial"/>
                <a:cs typeface="Arial"/>
              </a:defRPr>
            </a:defPPr>
            <a:lvl1pPr>
              <a:defRPr sz="2325" b="1">
                <a:solidFill>
                  <a:srgbClr val="2878A8"/>
                </a:solidFill>
                <a:latin typeface="Arial"/>
                <a:ea typeface="Arial"/>
                <a:cs typeface="Arial"/>
              </a:defRPr>
            </a:lvl1pPr>
            <a:lvl2pPr>
              <a:defRPr sz="2325" b="1">
                <a:solidFill>
                  <a:srgbClr val="2878A8"/>
                </a:solidFill>
                <a:latin typeface="Arial"/>
                <a:ea typeface="Arial"/>
                <a:cs typeface="Arial"/>
              </a:defRPr>
            </a:lvl2pPr>
            <a:lvl3pPr>
              <a:defRPr sz="2325" b="1">
                <a:solidFill>
                  <a:srgbClr val="2878A8"/>
                </a:solidFill>
                <a:latin typeface="Arial"/>
                <a:ea typeface="Arial"/>
                <a:cs typeface="Arial"/>
              </a:defRPr>
            </a:lvl3pPr>
            <a:lvl4pPr>
              <a:defRPr sz="2325" b="1">
                <a:solidFill>
                  <a:srgbClr val="2878A8"/>
                </a:solidFill>
                <a:latin typeface="Arial"/>
                <a:ea typeface="Arial"/>
                <a:cs typeface="Arial"/>
              </a:defRPr>
            </a:lvl4pPr>
            <a:lvl5pPr>
              <a:defRPr sz="2325" b="1">
                <a:solidFill>
                  <a:srgbClr val="2878A8"/>
                </a:solidFill>
                <a:latin typeface="Arial"/>
                <a:ea typeface="Arial"/>
                <a:cs typeface="Arial"/>
              </a:defRPr>
            </a:lvl5pPr>
            <a:lvl6pPr>
              <a:defRPr sz="2325" b="1">
                <a:solidFill>
                  <a:srgbClr val="2878A8"/>
                </a:solidFill>
                <a:latin typeface="Arial"/>
                <a:ea typeface="Arial"/>
                <a:cs typeface="Arial"/>
              </a:defRPr>
            </a:lvl6pPr>
            <a:lvl7pPr>
              <a:defRPr sz="2325" b="1">
                <a:solidFill>
                  <a:srgbClr val="2878A8"/>
                </a:solidFill>
                <a:latin typeface="Arial"/>
                <a:ea typeface="Arial"/>
                <a:cs typeface="Arial"/>
              </a:defRPr>
            </a:lvl7pPr>
            <a:lvl8pPr>
              <a:defRPr sz="2325" b="1">
                <a:solidFill>
                  <a:srgbClr val="2878A8"/>
                </a:solidFill>
                <a:latin typeface="Arial"/>
                <a:ea typeface="Arial"/>
                <a:cs typeface="Arial"/>
              </a:defRPr>
            </a:lvl8pPr>
            <a:lvl9pPr>
              <a:defRPr sz="2325" b="1">
                <a:solidFill>
                  <a:srgbClr val="2878A8"/>
                </a:solidFill>
                <a:latin typeface="Arial"/>
                <a:ea typeface="Arial"/>
                <a:cs typeface="Arial"/>
              </a:defRPr>
            </a:lvl9pPr>
          </a:lstStyle>
          <a:p xmlns:a="http://schemas.openxmlformats.org/drawingml/2006/main">
            <a:pPr>
              <a:defRPr sz="2325" b="1">
                <a:solidFill>
                  <a:srgbClr val="2878A8"/>
                </a:solidFill>
                <a:latin typeface="Arial"/>
                <a:ea typeface="Arial"/>
                <a:cs typeface="Arial"/>
              </a:defRPr>
            </a:pPr>
            <a:r>
              <a:rPr sz="2325" b="1">
                <a:solidFill>
                  <a:srgbClr val="2878A8"/>
                </a:solidFill>
                <a:latin typeface="Arial"/>
                <a:ea typeface="Arial"/>
                <a:cs typeface="Arial"/>
              </a:rPr>
              <a:t>Success = better verified feasible performance per evaluation—not more models.</a:t>
            </a:r>
          </a:p>
        </p:txBody>
      </p:sp>
    </p:spTree>
    <p:extLst>
      <p:ext uri="{BB962C8B-B14F-4D97-AF65-F5344CB8AC3E}">
        <p14:creationId xmlns:p14="http://schemas.microsoft.com/office/powerpoint/2010/main" val="17770614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2026-10-28T03:42:01.4470000Z</dcterms:created>
  <dcterms:modified xsi:type="dcterms:W3CDTF">2026-10-28T03:42:01.4470000Z</dcterms:modified>
</coreProperties>
</file>