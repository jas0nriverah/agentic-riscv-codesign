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65460b25c314496" /><Relationship Type="http://schemas.openxmlformats.org/officeDocument/2006/relationships/extended-properties" Target="/docProps/app.xml" Id="Rd0db21c7e7a8431d" /><Relationship Type="http://schemas.openxmlformats.org/officeDocument/2006/relationships/officeDocument" Target="/ppt/presentation.xml" Id="R8bceb32f71ce4f32" /></Relationships>
</file>

<file path=ppt/presentation.xml><?xml version="1.0" encoding="utf-8"?>
<p:presentation xmlns:p="http://schemas.openxmlformats.org/presentationml/2006/main">
  <p:sldMasterIdLst>
    <p:sldMasterId xmlns:r="http://schemas.openxmlformats.org/officeDocument/2006/relationships" id="2147483648" r:id="R94c3470e070d4c0a"/>
  </p:sldMasterIdLst>
  <p:notesMasterIdLst>
    <p:notesMasterId xmlns:r="http://schemas.openxmlformats.org/officeDocument/2006/relationships" r:id="Rec1ed8f1d8ed407f"/>
  </p:notesMasterIdLst>
  <p:sldIdLst>
    <p:sldId xmlns:r="http://schemas.openxmlformats.org/officeDocument/2006/relationships" id="256" r:id="Rabba107ed59f43b4"/>
    <p:sldId xmlns:r="http://schemas.openxmlformats.org/officeDocument/2006/relationships" id="257" r:id="R17647785fe9b4b2b"/>
    <p:sldId xmlns:r="http://schemas.openxmlformats.org/officeDocument/2006/relationships" id="258" r:id="R7fd9ff7ceb93410e"/>
    <p:sldId xmlns:r="http://schemas.openxmlformats.org/officeDocument/2006/relationships" id="259" r:id="R52e9b86268c343ba"/>
    <p:sldId xmlns:r="http://schemas.openxmlformats.org/officeDocument/2006/relationships" id="260" r:id="R108814550b684fcd"/>
    <p:sldId xmlns:r="http://schemas.openxmlformats.org/officeDocument/2006/relationships" id="261" r:id="R9aacc27e022f4ad4"/>
    <p:sldId xmlns:r="http://schemas.openxmlformats.org/officeDocument/2006/relationships" id="262" r:id="Rd4c7302563574e88"/>
    <p:sldId xmlns:r="http://schemas.openxmlformats.org/officeDocument/2006/relationships" id="263" r:id="R0a27b3889a2e4c95"/>
    <p:sldId xmlns:r="http://schemas.openxmlformats.org/officeDocument/2006/relationships" id="264" r:id="Re56ccc7deed34fe5"/>
    <p:sldId xmlns:r="http://schemas.openxmlformats.org/officeDocument/2006/relationships" id="265" r:id="R8c9fe294d9a542de"/>
    <p:sldId xmlns:r="http://schemas.openxmlformats.org/officeDocument/2006/relationships" id="266" r:id="Rb56cd10e5b614c8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bf84c8648e4c34" /><Relationship Type="http://schemas.openxmlformats.org/officeDocument/2006/relationships/slideMaster" Target="/ppt/slideMasters/slideMaster1.xml" Id="R94c3470e070d4c0a" /><Relationship Type="http://schemas.openxmlformats.org/officeDocument/2006/relationships/notesMaster" Target="/ppt/notesMasters/notesMaster1.xml" Id="Rec1ed8f1d8ed407f" /><Relationship Type="http://schemas.openxmlformats.org/officeDocument/2006/relationships/presProps" Target="/ppt/presProps.xml" Id="R9b6835e933b243f9" /><Relationship Type="http://schemas.openxmlformats.org/officeDocument/2006/relationships/tableStyles" Target="/ppt/tableStyles.xml" Id="Rb983a2a2d94246b2" /><Relationship Type="http://schemas.openxmlformats.org/officeDocument/2006/relationships/slide" Target="/ppt/slides/slide1.xml" Id="Rabba107ed59f43b4" /><Relationship Type="http://schemas.openxmlformats.org/officeDocument/2006/relationships/slide" Target="/ppt/slides/slide2.xml" Id="R17647785fe9b4b2b" /><Relationship Type="http://schemas.openxmlformats.org/officeDocument/2006/relationships/slide" Target="/ppt/slides/slide3.xml" Id="R7fd9ff7ceb93410e" /><Relationship Type="http://schemas.openxmlformats.org/officeDocument/2006/relationships/slide" Target="/ppt/slides/slide4.xml" Id="R52e9b86268c343ba" /><Relationship Type="http://schemas.openxmlformats.org/officeDocument/2006/relationships/slide" Target="/ppt/slides/slide5.xml" Id="R108814550b684fcd" /><Relationship Type="http://schemas.openxmlformats.org/officeDocument/2006/relationships/slide" Target="/ppt/slides/slide6.xml" Id="R9aacc27e022f4ad4" /><Relationship Type="http://schemas.openxmlformats.org/officeDocument/2006/relationships/slide" Target="/ppt/slides/slide7.xml" Id="Rd4c7302563574e88" /><Relationship Type="http://schemas.openxmlformats.org/officeDocument/2006/relationships/slide" Target="/ppt/slides/slide8.xml" Id="R0a27b3889a2e4c95" /><Relationship Type="http://schemas.openxmlformats.org/officeDocument/2006/relationships/slide" Target="/ppt/slides/slide9.xml" Id="Re56ccc7deed34fe5" /><Relationship Type="http://schemas.openxmlformats.org/officeDocument/2006/relationships/slide" Target="/ppt/slides/slide10.xml" Id="R8c9fe294d9a542de" /><Relationship Type="http://schemas.openxmlformats.org/officeDocument/2006/relationships/slide" Target="/ppt/slides/slide11.xml" Id="Rb56cd10e5b614c8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55f1adfd7d46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342d0199a544e6" /><Relationship Type="http://schemas.openxmlformats.org/officeDocument/2006/relationships/notesMaster" Target="/ppt/notesMasters/notesMaster1.xml" Id="R92bc34780cf840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fad0eac1334217" /><Relationship Type="http://schemas.openxmlformats.org/officeDocument/2006/relationships/notesMaster" Target="/ppt/notesMasters/notesMaster1.xml" Id="Re090ed72a6f84d6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3dbf09f0f94c25" /><Relationship Type="http://schemas.openxmlformats.org/officeDocument/2006/relationships/notesMaster" Target="/ppt/notesMasters/notesMaster1.xml" Id="Rbe3898f2356d4b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d6bf30f3534d05" /><Relationship Type="http://schemas.openxmlformats.org/officeDocument/2006/relationships/notesMaster" Target="/ppt/notesMasters/notesMaster1.xml" Id="R987dc145477f44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9872ef4e864370" /><Relationship Type="http://schemas.openxmlformats.org/officeDocument/2006/relationships/notesMaster" Target="/ppt/notesMasters/notesMaster1.xml" Id="R4c923988ddab494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610c49323249cb" /><Relationship Type="http://schemas.openxmlformats.org/officeDocument/2006/relationships/notesMaster" Target="/ppt/notesMasters/notesMaster1.xml" Id="R10f923d8b59c469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2c3106a0f024f99" /><Relationship Type="http://schemas.openxmlformats.org/officeDocument/2006/relationships/notesMaster" Target="/ppt/notesMasters/notesMaster1.xml" Id="R41b2b19398774c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6eb1ef72df04f39" /><Relationship Type="http://schemas.openxmlformats.org/officeDocument/2006/relationships/notesMaster" Target="/ppt/notesMasters/notesMaster1.xml" Id="Rb2dc63d8f4ab4f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17439a4f2c8a41bf" /><Relationship Type="http://schemas.openxmlformats.org/officeDocument/2006/relationships/notesMaster" Target="/ppt/notesMasters/notesMaster1.xml" Id="R37c80aa8eadd4e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16518edd774d82" /><Relationship Type="http://schemas.openxmlformats.org/officeDocument/2006/relationships/notesMaster" Target="/ppt/notesMasters/notesMaster1.xml" Id="R6cae6188140c4f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865f4a7d7694744" /><Relationship Type="http://schemas.openxmlformats.org/officeDocument/2006/relationships/notesMaster" Target="/ppt/notesMasters/notesMaster1.xml" Id="R102075e0dcee41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progressed from CRC32 and aha-mont64 to a multi-workload measured corpus, then added budgeted comparisons, explanations, and bounded LLM tools. Software, hardware, and machine learning connect through one measurement contract. The contribution mapping shown is provisional: Git evidence supports the named author areas, while the software role comes from the team report and needs team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Contribution names, author aliases and actual work must be confirmed by the team before submission. Git alone does 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A supported RV32 integer workload is compiled and traced. We extract repeated dataflow patterns and reject illegal operations, unsafe dependencies, or excess inputs and outputs. The selected expression is lowered to a custom opcode connected through PicoRV32’s PCPI interface. We then execute the modified program, verify its output, and measure cycles plus integrated area and routed timing. Only a correct design within the constraints becomes an improvement. Cycle speedup assumes a common clock; these are simulation and synthesis measurements, not physical-chip timings.</a:t>
            </a:r>
          </a:p>
          <a:p xmlns:a="http://schemas.openxmlformats.org/drawingml/2006/main">
            <a:r>
              <a:t/>
            </a:r>
          </a:p>
          <a:p xmlns:a="http://schemas.openxmlformats.org/drawingml/2006/main">
            <a:r>
              <a:t>SOURCES / Q&amp;A (not part of timed script)</a:t>
            </a:r>
          </a:p>
          <a:p xmlns:a="http://schemas.openxmlformats.org/drawingml/2006/main">
            <a:r>
              <a:t>Existing extractor, lowering and PicoRV32 PCPI evaluation; README.md and docs/HANDOFF.md. Restricted integer patterns, two register inputs/one output. Reject unsafe/unsupported rewrites. Integrated hardware metrics must stay separate from standalone LUT predictors.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frozen corpus contains 122 successful candidate-program measurements from fourteen workload groups, with four failed attempts retained and charged. The chart shows coverage from three benchmark suites. Each row contains premeasurement candidate features and separately recorded whole-program speedup, area, timing, and correctness. Candidates from one program are related, so we hold out entire workloads and exclude related expression families. The three later Ascon measurements remain separate. Thousands of policy replays reuse these labels; they are not thousands of new hardware experiments.</a:t>
            </a:r>
          </a:p>
          <a:p xmlns:a="http://schemas.openxmlformats.org/drawingml/2006/main">
            <a:r>
              <a:t/>
            </a:r>
          </a:p>
          <a:p xmlns:a="http://schemas.openxmlformats.org/drawingml/2006/main">
            <a:r>
              <a:t>SOURCES / Q&amp;A (not part of timed script)</a:t>
            </a:r>
          </a:p>
          <a:p xmlns:a="http://schemas.openxmlformats.org/drawingml/2006/main">
            <a:r>
              <a:t>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learned challenger is XGBoost pairwise ranking, not a neural network. Thirty-five premeasurement features describe the expression, constants, operations, and trace opportunity. Training pairs are ordered using actual measured speedup within the same workload context. Eighty shallow trees produce a relative ranking score. That score is neither a predicted speedup nor a confidence probability. We also tried regression, feasibility models, and active learning; those are comparisons, not evidence that every new model helped. The goal is better selection, not simply lower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The LLM selector uses controlled tools to inspect candidates, query predictions, request a bounded measurement, and return a validated selection. Paid outcomes feed its next decision, and failed requests consume budget. This is an actual agentic loop, separate from the coding assistants used for implementation, debugging, and analysis. The Ascon pilot measured three correct candidates; the best feasible one achieved about 1.024 times cycle speedup. But nine candidates remain unmeasured and there are no matched controls. A status-handling bug prevented live GP updates; the fix was verified afterward. We also have not implemented dynamic routing between language models.</a:t>
            </a:r>
          </a:p>
          <a:p xmlns:a="http://schemas.openxmlformats.org/drawingml/2006/main">
            <a:r>
              <a:t/>
            </a:r>
          </a:p>
          <a:p xmlns:a="http://schemas.openxmlformats.org/drawingml/2006/main">
            <a:r>
              <a:t>SOURCES / Q&amp;A (not part of timed script)</a:t>
            </a:r>
          </a:p>
          <a:p xmlns:a="http://schemas.openxmlformats.org/drawingml/2006/main">
            <a:r>
              <a:t>Agent protocol and logs: results/2026-10-27-codex-chat-agent-edn-b64-s0/; Ascon results and docs/HANDOFF.md. EDN consumed replay:2 charged attempts including1 invalid ID, matched oracle and ordinary policies. Ascon C01:1.019698x,+73LUT4,62.992MHz; C06:1.017027x,+41LUT4,67.069MHz; C02:1.023731x,+42LUT4,64.620MHz.3/12 measured; correctness passed for all3. No claim of agent superiority or successful live GP refitting.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We compare against frequency, simple merit, architecture-aware heuristics, random search, and non-agent active learning. Merit prioritizes repeated instruction savings; it is already a strong baseline. Every policy should see the same pool and information, with one, two, or three charged attempts. Outcomes stay hidden until a permitted query. A result counts only if correct and feasible. The measured oracle is a retrospective reference, not a deployable policy. Historical training cost must be reported separately; this current development cohort is not untouched confirmation.</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The Ascon pilot proves the selection-to-measurement connection, but its incomplete pool and missing controls prevent an agent-performance claim.</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4292f1b72a44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a6ff9531eb5451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f4e79a6c1a341a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50f5e5f706484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fab1150c82145d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4a055ab06db42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0B84F9A-9E13-4147-A9E6-5B1EDF9CA55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24AC92A-1969-4775-A057-8561237AA31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93E75CC-70F4-495C-B9BE-185A292F6B1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EBA635-7986-4DB6-B143-693BDA1C2E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49B55B6-E259-41B9-97F4-0C30EC7CFDD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ECE6596-D660-4A8C-B18B-2FECCB7171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8254E2-F10D-4286-9370-3FE366620FE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07A29F2-6800-4876-BB18-EFB0A45B2E8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029A9F-9664-414B-962E-70BABAE63F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B068343-F65C-408D-B4FB-81736613085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053d7d74c84719" /><Relationship Type="http://schemas.openxmlformats.org/officeDocument/2006/relationships/slideLayout" Target="/ppt/slideLayouts/slideLayout1.xml" Id="Ra5e768cb7eac41c6" /><Relationship Type="http://schemas.openxmlformats.org/officeDocument/2006/relationships/slideLayout" Target="/ppt/slideLayouts/slideLayout2.xml" Id="Rfedb1d7b4d7e47c1" /><Relationship Type="http://schemas.openxmlformats.org/officeDocument/2006/relationships/slideLayout" Target="/ppt/slideLayouts/slideLayout3.xml" Id="Rd54cf6fee76a4246" /><Relationship Type="http://schemas.openxmlformats.org/officeDocument/2006/relationships/slideLayout" Target="/ppt/slideLayouts/slideLayout4.xml" Id="Rcd6a76a6f1f94042" /><Relationship Type="http://schemas.openxmlformats.org/officeDocument/2006/relationships/slideLayout" Target="/ppt/slideLayouts/slideLayout5.xml" Id="Rbe5b34969f0b408e" /><Relationship Type="http://schemas.openxmlformats.org/officeDocument/2006/relationships/slideLayout" Target="/ppt/slideLayouts/slideLayout6.xml" Id="R324d72bfea7942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e768cb7eac41c6"/>
    <p:sldLayoutId xmlns:r="http://schemas.openxmlformats.org/officeDocument/2006/relationships" id="2147483650" r:id="Rfedb1d7b4d7e47c1"/>
    <p:sldLayoutId xmlns:r="http://schemas.openxmlformats.org/officeDocument/2006/relationships" id="2147483651" r:id="Rd54cf6fee76a4246"/>
    <p:sldLayoutId xmlns:r="http://schemas.openxmlformats.org/officeDocument/2006/relationships" id="2147483652" r:id="Rcd6a76a6f1f94042"/>
    <p:sldLayoutId xmlns:r="http://schemas.openxmlformats.org/officeDocument/2006/relationships" id="2147483653" r:id="Rbe5b34969f0b408e"/>
    <p:sldLayoutId xmlns:r="http://schemas.openxmlformats.org/officeDocument/2006/relationships" id="2147483654" r:id="R324d72bfea7942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ca880724fd5470f" /><Relationship Type="http://schemas.openxmlformats.org/officeDocument/2006/relationships/notesSlide" Target="/ppt/notesSlides/notesSlide1.xml" Id="Rdccc3c268dbb45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01ad164197d4d83" /><Relationship Type="http://schemas.openxmlformats.org/officeDocument/2006/relationships/notesSlide" Target="/ppt/notesSlides/notesSlide2.xml" Id="Rd0f0e71537504f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b916e4b0fc444a5" /><Relationship Type="http://schemas.openxmlformats.org/officeDocument/2006/relationships/notesSlide" Target="/ppt/notesSlides/notesSlide3.xml" Id="R757b8633860544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dc8c781955f40f2" /><Relationship Type="http://schemas.openxmlformats.org/officeDocument/2006/relationships/notesSlide" Target="/ppt/notesSlides/notesSlide4.xml" Id="R17b825e37a0649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42f785468e54d58" /><Relationship Type="http://schemas.openxmlformats.org/officeDocument/2006/relationships/chart" Target="/ppt/slides/charts/chart1.xml" Id="R4e3966aeec614d91" /><Relationship Type="http://schemas.openxmlformats.org/officeDocument/2006/relationships/notesSlide" Target="/ppt/notesSlides/notesSlide5.xml" Id="Rfd16082ae8ee46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8d081e2cbbf4e4a" /><Relationship Type="http://schemas.openxmlformats.org/officeDocument/2006/relationships/notesSlide" Target="/ppt/notesSlides/notesSlide6.xml" Id="R49ca0c03b939498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e10ea6b6cc4d00" /><Relationship Type="http://schemas.openxmlformats.org/officeDocument/2006/relationships/chart" Target="/ppt/slides/charts/chart2.xml" Id="Rcfa137bc91b7434b" /><Relationship Type="http://schemas.openxmlformats.org/officeDocument/2006/relationships/notesSlide" Target="/ppt/notesSlides/notesSlide7.xml" Id="Re3049f0e85ae4a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6eff3a6623746df" /><Relationship Type="http://schemas.openxmlformats.org/officeDocument/2006/relationships/notesSlide" Target="/ppt/notesSlides/notesSlide8.xml" Id="R56949492844c41a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783ee46da6541a0" /><Relationship Type="http://schemas.openxmlformats.org/officeDocument/2006/relationships/notesSlide" Target="/ppt/notesSlides/notesSlide9.xml" Id="R1ff3bbb6dccd490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d85ead5d2c14fcc" /><Relationship Type="http://schemas.openxmlformats.org/officeDocument/2006/relationships/chart" Target="/ppt/slides/charts/chart3.xml" Id="R012cfe27640f49c3" /><Relationship Type="http://schemas.openxmlformats.org/officeDocument/2006/relationships/notesSlide" Target="/ppt/notesSlides/notesSlide10.xml" Id="Rf3c839147cea47b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76b366e87e7403a" /><Relationship Type="http://schemas.openxmlformats.org/officeDocument/2006/relationships/notesSlide" Target="/ppt/notesSlides/notesSlide11.xml" Id="R4ef15f33d49f408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5861A8-AB3C-4EB1-ACAC-591C5875771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62356425-34D7-4847-B9AB-53D7A481830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6F72F8B-323B-4058-A2C6-E120D49B395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64A35DBB-8FFF-4DFA-A32E-E338CC76781E}"/>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52A22048-6D03-4606-B7CD-4B5B00665369}"/>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94BAF315-2A8A-40F7-BB88-E7E4392E3076}"/>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FCD731BA-F819-48FA-8AFC-59718937548D}"/>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6281484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4DA2664-4950-403A-B577-733EC9F81ED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910FEAD2-8279-441A-B5E5-6EF80DB2DD1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4D2292E-309C-49F5-820D-9847CF10733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86701FDB-018E-4E95-A686-18A013AC6A5E}"/>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9F6A2F6D-864D-433E-ABE3-2056C0456EE3}"/>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38BD5912-0F60-4E96-AB6E-34444F2A493E}"/>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B7541DFB-211F-422D-B619-EC4680CEC75E}"/>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0C31C49E-0D51-4992-A965-91740E1E77DA}"/>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327FECFC-E4AA-4B02-AF95-D5DA0AA14F32}"/>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F18336CC-944B-440C-9ECF-241AE2E64FC2}"/>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4C5CC8B7-8EAF-4A79-BC7D-E6CF8196BDB2}"/>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E6914BAB-DF2A-45C1-A8F4-793CC55D32F4}"/>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570F0341-A77F-4118-B1C1-03F319C40D29}"/>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AB22EC6C-8DF7-4012-A38A-7288964F8DB5}"/>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F7C29D7C-F666-42FF-AB42-4198D196FFA6}"/>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7E50E9F3-C7E4-4D2F-A792-5E07B7A58CC3}"/>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A4F32598-7A65-4263-8F69-C81749AE171C}"/>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E001C4EC-7814-4599-86C2-6DDA9E166B2E}"/>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E2720C83-AD78-4D1F-AF4B-AF8B7D2EAB97}"/>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9704909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CDB52B6-3402-427E-8A8E-4ED4BD7487B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6EDC6004-5BDA-4CEC-B511-D899B29F948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4097EC6-23EC-4001-BE67-E61A271EBC2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64D9185E-75A5-4109-A7CB-9EC4246AAADA}"/>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87FB87E3-D24F-4182-A3CD-7525496951E6}"/>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19–21</a:t>
            </a:r>
          </a:p>
        </p:txBody>
      </p:sp>
      <p:sp>
        <p:nvSpPr>
          <p:cNvPr id="6" name="">
            <a:extLst xmlns:a="http://schemas.openxmlformats.org/drawingml/2006/main">
              <a:ext uri="{FF2B5EF4-FFF2-40B4-BE49-F238E27FC236}">
                <a16:creationId xmlns:a16="http://schemas.microsoft.com/office/drawing/2014/main" id="{EBD56FFA-0925-45BA-AC8E-63F458CB2CD0}"/>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B4F7CCE-0BDF-4F88-9429-56811B2EFDD3}"/>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working pipeline</a:t>
            </a:r>
          </a:p>
        </p:txBody>
      </p:sp>
      <p:sp>
        <p:nvSpPr>
          <p:cNvPr id="8" name="">
            <a:extLst xmlns:a="http://schemas.openxmlformats.org/drawingml/2006/main">
              <a:ext uri="{FF2B5EF4-FFF2-40B4-BE49-F238E27FC236}">
                <a16:creationId xmlns:a16="http://schemas.microsoft.com/office/drawing/2014/main" id="{2E0F0E32-F138-47D7-AC24-92448B90A950}"/>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22</a:t>
            </a:r>
          </a:p>
        </p:txBody>
      </p:sp>
      <p:sp>
        <p:nvSpPr>
          <p:cNvPr id="9" name="">
            <a:extLst xmlns:a="http://schemas.openxmlformats.org/drawingml/2006/main">
              <a:ext uri="{FF2B5EF4-FFF2-40B4-BE49-F238E27FC236}">
                <a16:creationId xmlns:a16="http://schemas.microsoft.com/office/drawing/2014/main" id="{B9C5F17C-103E-455F-9545-4A9DC920C556}"/>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1441F91-C252-4C54-932A-F179C540B300}"/>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Cross-workload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selection tests</a:t>
            </a:r>
          </a:p>
        </p:txBody>
      </p:sp>
      <p:sp>
        <p:nvSpPr>
          <p:cNvPr id="11" name="">
            <a:extLst xmlns:a="http://schemas.openxmlformats.org/drawingml/2006/main">
              <a:ext uri="{FF2B5EF4-FFF2-40B4-BE49-F238E27FC236}">
                <a16:creationId xmlns:a16="http://schemas.microsoft.com/office/drawing/2014/main" id="{CE5B30D0-A015-4000-9961-2E21833629E4}"/>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25–26</a:t>
            </a:r>
          </a:p>
        </p:txBody>
      </p:sp>
      <p:sp>
        <p:nvSpPr>
          <p:cNvPr id="12" name="">
            <a:extLst xmlns:a="http://schemas.openxmlformats.org/drawingml/2006/main">
              <a:ext uri="{FF2B5EF4-FFF2-40B4-BE49-F238E27FC236}">
                <a16:creationId xmlns:a16="http://schemas.microsoft.com/office/drawing/2014/main" id="{96D6939C-B087-442A-9198-39BB803646F3}"/>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5E75C5F-2068-48D5-847C-84DEE00E5E6C}"/>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Broader corpus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tools</a:t>
            </a:r>
          </a:p>
        </p:txBody>
      </p:sp>
      <p:sp>
        <p:nvSpPr>
          <p:cNvPr id="14" name="">
            <a:extLst xmlns:a="http://schemas.openxmlformats.org/drawingml/2006/main">
              <a:ext uri="{FF2B5EF4-FFF2-40B4-BE49-F238E27FC236}">
                <a16:creationId xmlns:a16="http://schemas.microsoft.com/office/drawing/2014/main" id="{40C286B4-AE4A-4D98-BDB1-57FB1CE63C66}"/>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756ED5F2-61BB-4601-A80B-167D11D939BF}"/>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F710DBD-CBB7-41A0-8C13-211BAAD4D58C}"/>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Ascon pilot</a:t>
            </a:r>
          </a:p>
        </p:txBody>
      </p:sp>
      <p:graphicFrame>
        <p:nvGraphicFramePr>
          <p:cNvPr id="17" name="">
            <a:extLst xmlns:a="http://schemas.openxmlformats.org/drawingml/2006/main">
              <a:ext uri="{FF2B5EF4-FFF2-40B4-BE49-F238E27FC236}">
                <a16:creationId xmlns:a16="http://schemas.microsoft.com/office/drawing/2014/main" id="{B1F0F45E-E159-448F-A0FD-C1D0C5F2F3CA}"/>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34F7B77F-9092-4417-8BCE-4639C23670FB}"/>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Provisional mapping: confirm names, aliases and actual roles with the team.</a:t>
            </a:r>
          </a:p>
        </p:txBody>
      </p:sp>
    </p:spTree>
    <p:extLst>
      <p:ext uri="{BB962C8B-B14F-4D97-AF65-F5344CB8AC3E}">
        <p14:creationId xmlns:p14="http://schemas.microsoft.com/office/powerpoint/2010/main" val="16623132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5EE24FA-6EA6-4B5C-A439-77276D112C9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F84BB9FF-2691-4699-87A6-7BD5E941DC5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B987145-342D-416F-B7CD-4074014CE30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D7545377-BDDF-4FE1-93E0-09BCA99970C6}"/>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5B160502-C778-4C31-A60A-2658008A30B4}"/>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539540B7-BB19-46B6-9A55-5972EDC2AFBF}"/>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3909002E-47C1-4E62-B969-DB3EBDF7D467}"/>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4AC0C21-DEE5-4ABA-8216-40B7770366ED}"/>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498C1D4F-7241-4F9B-A6B2-3004620C741F}"/>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0CA7BCF6-BB8B-4B80-850E-C58600A79F75}"/>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B96DA4C7-FAA5-4149-9396-4E7D73D88639}"/>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BCEEDA-D8AF-4255-A0B3-05979C4D92F8}"/>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6955F987-C78C-497D-94BB-0EC504AE621B}"/>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DDF0CEC0-EDA1-4AEC-B44E-22E4C3596E40}"/>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D2266843-9F5B-4144-A45F-4ADFC57A8BB0}"/>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6EF9C6B-F9BA-4179-B450-2A5E39FC4096}"/>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9708D311-1397-4018-9790-1C1B95B42BA4}"/>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DAD1F3ED-7251-4B05-825E-3122A500B8A0}"/>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D1EF1FC4-2519-45D4-BEAC-CA25A91F8915}"/>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Baseline cycles ÷ modified-program cycles = measured cycle speedup</a:t>
            </a:r>
          </a:p>
        </p:txBody>
      </p:sp>
      <p:sp>
        <p:nvSpPr>
          <p:cNvPr id="20" name="">
            <a:extLst xmlns:a="http://schemas.openxmlformats.org/drawingml/2006/main">
              <a:ext uri="{FF2B5EF4-FFF2-40B4-BE49-F238E27FC236}">
                <a16:creationId xmlns:a16="http://schemas.microsoft.com/office/drawing/2014/main" id="{B7791546-019F-4B26-81E5-F3DCA53FC28B}"/>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Correctness gate  +  area budget  +  timing floor</a:t>
            </a:r>
          </a:p>
        </p:txBody>
      </p:sp>
      <p:sp>
        <p:nvSpPr>
          <p:cNvPr id="21" name="">
            <a:extLst xmlns:a="http://schemas.openxmlformats.org/drawingml/2006/main">
              <a:ext uri="{FF2B5EF4-FFF2-40B4-BE49-F238E27FC236}">
                <a16:creationId xmlns:a16="http://schemas.microsoft.com/office/drawing/2014/main" id="{755F0AEC-A0B7-4431-BAB1-9E4BE1BEDA2A}"/>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178412553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1A326DA-1516-4408-9BA5-5BD3A9F28355}"/>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36A77FF4-7B39-4F39-9D30-9DA9AC5A83A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51CEC9E-60DF-4363-860E-1D0E0CF81DD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FCE94BD7-2237-4571-87DA-A269A86DFEB1}"/>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4e3966aeec614d91"/>
          </a:graphicData>
        </a:graphic>
      </p:graphicFrame>
      <p:sp>
        <p:nvSpPr>
          <p:cNvPr id="5" name="">
            <a:extLst xmlns:a="http://schemas.openxmlformats.org/drawingml/2006/main">
              <a:ext uri="{FF2B5EF4-FFF2-40B4-BE49-F238E27FC236}">
                <a16:creationId xmlns:a16="http://schemas.microsoft.com/office/drawing/2014/main" id="{23DC15C1-9D26-42FC-8578-A78D77610B4B}"/>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7C406252-9106-4DF1-A02E-9D693FD5A316}"/>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C886DE2B-366A-4302-BB5A-69C350EA3220}"/>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A2D9A15E-969A-4F50-8B77-925FB6280C47}"/>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+ 3 later Ascon labels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reported separately</a:t>
            </a:r>
          </a:p>
        </p:txBody>
      </p:sp>
      <p:sp>
        <p:nvSpPr>
          <p:cNvPr id="9" name="">
            <a:extLst xmlns:a="http://schemas.openxmlformats.org/drawingml/2006/main">
              <a:ext uri="{FF2B5EF4-FFF2-40B4-BE49-F238E27FC236}">
                <a16:creationId xmlns:a16="http://schemas.microsoft.com/office/drawing/2014/main" id="{94FA8C0B-E468-484C-B671-A9913E0B2B72}"/>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3122028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D3A8ED8-7307-4B92-8CC2-B01F9E2475D8}"/>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993DA2BB-2E2B-453A-994B-AF057E2C8CD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098751D-D1FB-4739-9BC6-0C668DFC0EB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9D47F864-29B4-4A09-B61D-EFF900ED956F}"/>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F7588889-0387-483A-AFC9-6BA0E5785BB9}"/>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27EF0F19-40BC-4A8C-B33F-EF3EEDCC0377}"/>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DA76F496-8EF9-408D-905F-B8B6DAF930D0}"/>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D6DB61C-2986-4AAB-A307-5F5DA974B3AE}"/>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CB696833-B501-445D-927F-9DEE410F8227}"/>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3A9A66B2-22AA-45DE-BCDD-16227E76F31B}"/>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CE857FAB-24AA-4294-A2DF-1CF6951EC850}"/>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99BCC75-704C-4990-9EE7-B1B5CA47A438}"/>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D18D3F5D-1800-4D60-A8DA-480DACBBDB12}"/>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B1C056A1-BB3A-4A88-BB49-1F8A42A9C907}"/>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BD3F71A3-CF8C-451B-8C30-704AEDB058C6}"/>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CBC1220-5C40-4AAA-A899-9663093344E6}"/>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7CD99551-FE06-47A3-AF9E-B52144EE5107}"/>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CBC6B0C0-5963-4609-B541-1EFE1C53CB36}"/>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4AF424CE-3F70-4875-A388-AAF84519EEC5}"/>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2970C9AF-5B8A-4238-BC2A-DB8945FFD4A3}"/>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3E387C5A-49FC-4111-BDA9-5729B47F106B}"/>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Whole-workload holdouts + related-expression exclusions prevent easy leakage.</a:t>
            </a:r>
          </a:p>
        </p:txBody>
      </p:sp>
    </p:spTree>
    <p:extLst>
      <p:ext uri="{BB962C8B-B14F-4D97-AF65-F5344CB8AC3E}">
        <p14:creationId xmlns:p14="http://schemas.microsoft.com/office/powerpoint/2010/main" val="12926070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B9A95B-4B9D-47ED-ACF2-970768C3FC7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8649E676-E8A0-46D4-89D7-BF94C21A7164}"/>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77935F0-6123-49E1-A7F0-D4934747BED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2B1AEB0B-BAAD-4F2D-BF29-C2225BBA157E}"/>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cfa137bc91b7434b"/>
          </a:graphicData>
        </a:graphic>
      </p:graphicFrame>
      <p:sp>
        <p:nvSpPr>
          <p:cNvPr id="5" name="">
            <a:extLst xmlns:a="http://schemas.openxmlformats.org/drawingml/2006/main">
              <a:ext uri="{FF2B5EF4-FFF2-40B4-BE49-F238E27FC236}">
                <a16:creationId xmlns:a16="http://schemas.microsoft.com/office/drawing/2014/main" id="{0BF225DF-5A3B-4994-B396-5437FC7AC069}"/>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8E8FAF30-FEC7-465D-BDEE-1F61F82490BF}"/>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A5611219-17C6-4BF9-B221-CB4DCEF5B68F}"/>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C8F668DB-FFC0-487E-A42F-C249101D1764}"/>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9035493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EE2D14B-A30E-4517-A467-8E964064B66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LLM agent: choose, measure, respond</a:t>
            </a:r>
          </a:p>
        </p:txBody>
      </p:sp>
      <p:sp>
        <p:nvSpPr>
          <p:cNvPr id="2" name="">
            <a:extLst xmlns:a="http://schemas.openxmlformats.org/drawingml/2006/main">
              <a:ext uri="{FF2B5EF4-FFF2-40B4-BE49-F238E27FC236}">
                <a16:creationId xmlns:a16="http://schemas.microsoft.com/office/drawing/2014/main" id="{4881BFC1-4DEE-4F1B-A0C3-54E105314D8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EAFA27FB-3F26-4FAE-80BA-94B860C9920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11181A0D-487C-4227-BF17-86AEB496D6A0}"/>
              </a:ext>
            </a:extLst>
          </p:cNvPr>
          <p:cNvSpPr>
            <a:spLocks xmlns:a="http://schemas.openxmlformats.org/drawingml/2006/main" noGrp="1"/>
          </p:cNvSpPr>
          <p:nvPr/>
        </p:nvSpPr>
        <p:spPr>
          <a:xfrm xmlns:a="http://schemas.openxmlformats.org/drawingml/2006/main">
            <a:off x="68580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DDC4C151-7290-4BE9-B0FE-9D8EA714EEDA}"/>
              </a:ext>
            </a:extLst>
          </p:cNvPr>
          <p:cNvSpPr>
            <a:spLocks xmlns:a="http://schemas.openxmlformats.org/drawingml/2006/main" noGrp="1"/>
          </p:cNvSpPr>
          <p:nvPr/>
        </p:nvSpPr>
        <p:spPr>
          <a:xfrm xmlns:a="http://schemas.openxmlformats.org/drawingml/2006/main">
            <a:off x="81915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Inspect</a:t>
            </a:r>
          </a:p>
        </p:txBody>
      </p:sp>
      <p:sp>
        <p:nvSpPr>
          <p:cNvPr id="6" name="">
            <a:extLst xmlns:a="http://schemas.openxmlformats.org/drawingml/2006/main">
              <a:ext uri="{FF2B5EF4-FFF2-40B4-BE49-F238E27FC236}">
                <a16:creationId xmlns:a16="http://schemas.microsoft.com/office/drawing/2014/main" id="{97315005-08CA-470C-A298-1BDE5430B7D2}"/>
              </a:ext>
            </a:extLst>
          </p:cNvPr>
          <p:cNvSpPr>
            <a:spLocks xmlns:a="http://schemas.openxmlformats.org/drawingml/2006/main" noGrp="1"/>
          </p:cNvSpPr>
          <p:nvPr/>
        </p:nvSpPr>
        <p:spPr>
          <a:xfrm xmlns:a="http://schemas.openxmlformats.org/drawingml/2006/main">
            <a:off x="81915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candidates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constraints</a:t>
            </a:r>
          </a:p>
        </p:txBody>
      </p:sp>
      <p:sp>
        <p:nvSpPr>
          <p:cNvPr id="7" name="">
            <a:extLst xmlns:a="http://schemas.openxmlformats.org/drawingml/2006/main">
              <a:ext uri="{FF2B5EF4-FFF2-40B4-BE49-F238E27FC236}">
                <a16:creationId xmlns:a16="http://schemas.microsoft.com/office/drawing/2014/main" id="{3D6F6647-5571-4181-B0DB-34EFDFD807CE}"/>
              </a:ext>
            </a:extLst>
          </p:cNvPr>
          <p:cNvSpPr>
            <a:spLocks xmlns:a="http://schemas.openxmlformats.org/drawingml/2006/main" noGrp="1"/>
          </p:cNvSpPr>
          <p:nvPr/>
        </p:nvSpPr>
        <p:spPr>
          <a:xfrm xmlns:a="http://schemas.openxmlformats.org/drawingml/2006/main">
            <a:off x="310515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BCFD52-321E-4042-BC4C-2F8FAE69CC14}"/>
              </a:ext>
            </a:extLst>
          </p:cNvPr>
          <p:cNvSpPr>
            <a:spLocks xmlns:a="http://schemas.openxmlformats.org/drawingml/2006/main" noGrp="1"/>
          </p:cNvSpPr>
          <p:nvPr/>
        </p:nvSpPr>
        <p:spPr>
          <a:xfrm xmlns:a="http://schemas.openxmlformats.org/drawingml/2006/main">
            <a:off x="347662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90DD4A2A-DF9F-472A-8C32-0E110BB41960}"/>
              </a:ext>
            </a:extLst>
          </p:cNvPr>
          <p:cNvSpPr>
            <a:spLocks xmlns:a="http://schemas.openxmlformats.org/drawingml/2006/main" noGrp="1"/>
          </p:cNvSpPr>
          <p:nvPr/>
        </p:nvSpPr>
        <p:spPr>
          <a:xfrm xmlns:a="http://schemas.openxmlformats.org/drawingml/2006/main">
            <a:off x="360997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Predict</a:t>
            </a:r>
          </a:p>
        </p:txBody>
      </p:sp>
      <p:sp>
        <p:nvSpPr>
          <p:cNvPr id="10" name="">
            <a:extLst xmlns:a="http://schemas.openxmlformats.org/drawingml/2006/main">
              <a:ext uri="{FF2B5EF4-FFF2-40B4-BE49-F238E27FC236}">
                <a16:creationId xmlns:a16="http://schemas.microsoft.com/office/drawing/2014/main" id="{7B6B398B-9B29-45C9-A39B-B56EEEEE9D17}"/>
              </a:ext>
            </a:extLst>
          </p:cNvPr>
          <p:cNvSpPr>
            <a:spLocks xmlns:a="http://schemas.openxmlformats.org/drawingml/2006/main" noGrp="1"/>
          </p:cNvSpPr>
          <p:nvPr/>
        </p:nvSpPr>
        <p:spPr>
          <a:xfrm xmlns:a="http://schemas.openxmlformats.org/drawingml/2006/main">
            <a:off x="360997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ML scores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model diagnostics</a:t>
            </a:r>
          </a:p>
        </p:txBody>
      </p:sp>
      <p:sp>
        <p:nvSpPr>
          <p:cNvPr id="11" name="">
            <a:extLst xmlns:a="http://schemas.openxmlformats.org/drawingml/2006/main">
              <a:ext uri="{FF2B5EF4-FFF2-40B4-BE49-F238E27FC236}">
                <a16:creationId xmlns:a16="http://schemas.microsoft.com/office/drawing/2014/main" id="{00AB7D75-B821-4542-8EA6-DDEF90A24936}"/>
              </a:ext>
            </a:extLst>
          </p:cNvPr>
          <p:cNvSpPr>
            <a:spLocks xmlns:a="http://schemas.openxmlformats.org/drawingml/2006/main" noGrp="1"/>
          </p:cNvSpPr>
          <p:nvPr/>
        </p:nvSpPr>
        <p:spPr>
          <a:xfrm xmlns:a="http://schemas.openxmlformats.org/drawingml/2006/main">
            <a:off x="5895975"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1D9D55A-BC81-461A-B1EB-3EEB130E5948}"/>
              </a:ext>
            </a:extLst>
          </p:cNvPr>
          <p:cNvSpPr>
            <a:spLocks xmlns:a="http://schemas.openxmlformats.org/drawingml/2006/main" noGrp="1"/>
          </p:cNvSpPr>
          <p:nvPr/>
        </p:nvSpPr>
        <p:spPr>
          <a:xfrm xmlns:a="http://schemas.openxmlformats.org/drawingml/2006/main">
            <a:off x="626745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BF845822-E0D4-4F3F-8369-2B8ED07AF001}"/>
              </a:ext>
            </a:extLst>
          </p:cNvPr>
          <p:cNvSpPr>
            <a:spLocks xmlns:a="http://schemas.openxmlformats.org/drawingml/2006/main" noGrp="1"/>
          </p:cNvSpPr>
          <p:nvPr/>
        </p:nvSpPr>
        <p:spPr>
          <a:xfrm xmlns:a="http://schemas.openxmlformats.org/drawingml/2006/main">
            <a:off x="640080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Measure</a:t>
            </a:r>
          </a:p>
        </p:txBody>
      </p:sp>
      <p:sp>
        <p:nvSpPr>
          <p:cNvPr id="14" name="">
            <a:extLst xmlns:a="http://schemas.openxmlformats.org/drawingml/2006/main">
              <a:ext uri="{FF2B5EF4-FFF2-40B4-BE49-F238E27FC236}">
                <a16:creationId xmlns:a16="http://schemas.microsoft.com/office/drawing/2014/main" id="{5983FE2E-94D7-4E95-A2B3-F03F0EC0B25A}"/>
              </a:ext>
            </a:extLst>
          </p:cNvPr>
          <p:cNvSpPr>
            <a:spLocks xmlns:a="http://schemas.openxmlformats.org/drawingml/2006/main" noGrp="1"/>
          </p:cNvSpPr>
          <p:nvPr/>
        </p:nvSpPr>
        <p:spPr>
          <a:xfrm xmlns:a="http://schemas.openxmlformats.org/drawingml/2006/main">
            <a:off x="640080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One charged attempt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Reveal real outcome</a:t>
            </a:r>
          </a:p>
        </p:txBody>
      </p:sp>
      <p:sp>
        <p:nvSpPr>
          <p:cNvPr id="15" name="">
            <a:extLst xmlns:a="http://schemas.openxmlformats.org/drawingml/2006/main">
              <a:ext uri="{FF2B5EF4-FFF2-40B4-BE49-F238E27FC236}">
                <a16:creationId xmlns:a16="http://schemas.microsoft.com/office/drawing/2014/main" id="{BBC389C2-774C-4882-BCFB-0963E3FFE6FE}"/>
              </a:ext>
            </a:extLst>
          </p:cNvPr>
          <p:cNvSpPr>
            <a:spLocks xmlns:a="http://schemas.openxmlformats.org/drawingml/2006/main" noGrp="1"/>
          </p:cNvSpPr>
          <p:nvPr/>
        </p:nvSpPr>
        <p:spPr>
          <a:xfrm xmlns:a="http://schemas.openxmlformats.org/drawingml/2006/main">
            <a:off x="868680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3B8BEBF-BFE7-4737-B120-ADABEB25F2AC}"/>
              </a:ext>
            </a:extLst>
          </p:cNvPr>
          <p:cNvSpPr>
            <a:spLocks xmlns:a="http://schemas.openxmlformats.org/drawingml/2006/main" noGrp="1"/>
          </p:cNvSpPr>
          <p:nvPr/>
        </p:nvSpPr>
        <p:spPr>
          <a:xfrm xmlns:a="http://schemas.openxmlformats.org/drawingml/2006/main">
            <a:off x="905827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ABC54636-CCE1-4154-A182-2052EB580D4D}"/>
              </a:ext>
            </a:extLst>
          </p:cNvPr>
          <p:cNvSpPr>
            <a:spLocks xmlns:a="http://schemas.openxmlformats.org/drawingml/2006/main" noGrp="1"/>
          </p:cNvSpPr>
          <p:nvPr/>
        </p:nvSpPr>
        <p:spPr>
          <a:xfrm xmlns:a="http://schemas.openxmlformats.org/drawingml/2006/main">
            <a:off x="919162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Select</a:t>
            </a:r>
          </a:p>
        </p:txBody>
      </p:sp>
      <p:sp>
        <p:nvSpPr>
          <p:cNvPr id="18" name="">
            <a:extLst xmlns:a="http://schemas.openxmlformats.org/drawingml/2006/main">
              <a:ext uri="{FF2B5EF4-FFF2-40B4-BE49-F238E27FC236}">
                <a16:creationId xmlns:a16="http://schemas.microsoft.com/office/drawing/2014/main" id="{23A68053-69F7-4E68-9AE6-C25DB3A0F06E}"/>
              </a:ext>
            </a:extLst>
          </p:cNvPr>
          <p:cNvSpPr>
            <a:spLocks xmlns:a="http://schemas.openxmlformats.org/drawingml/2006/main" noGrp="1"/>
          </p:cNvSpPr>
          <p:nvPr/>
        </p:nvSpPr>
        <p:spPr>
          <a:xfrm xmlns:a="http://schemas.openxmlformats.org/drawingml/2006/main">
            <a:off x="919162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Best verified feasible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result within budget</a:t>
            </a:r>
          </a:p>
        </p:txBody>
      </p:sp>
      <p:sp>
        <p:nvSpPr>
          <p:cNvPr id="19" name="">
            <a:extLst xmlns:a="http://schemas.openxmlformats.org/drawingml/2006/main">
              <a:ext uri="{FF2B5EF4-FFF2-40B4-BE49-F238E27FC236}">
                <a16:creationId xmlns:a16="http://schemas.microsoft.com/office/drawing/2014/main" id="{DEE48C86-2A17-4A09-BB74-81F9FBB4EB96}"/>
              </a:ext>
            </a:extLst>
          </p:cNvPr>
          <p:cNvSpPr>
            <a:spLocks xmlns:a="http://schemas.openxmlformats.org/drawingml/2006/main" noGrp="1"/>
          </p:cNvSpPr>
          <p:nvPr/>
        </p:nvSpPr>
        <p:spPr>
          <a:xfrm xmlns:a="http://schemas.openxmlformats.org/drawingml/2006/main">
            <a:off x="10477500" y="3286125"/>
            <a:ext cx="0" cy="333375"/>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0" name="">
            <a:extLst xmlns:a="http://schemas.openxmlformats.org/drawingml/2006/main">
              <a:ext uri="{FF2B5EF4-FFF2-40B4-BE49-F238E27FC236}">
                <a16:creationId xmlns:a16="http://schemas.microsoft.com/office/drawing/2014/main" id="{7BA5A5F5-22CA-4877-A752-83E03FC0D9BB}"/>
              </a:ext>
            </a:extLst>
          </p:cNvPr>
          <p:cNvSpPr>
            <a:spLocks xmlns:a="http://schemas.openxmlformats.org/drawingml/2006/main" noGrp="1"/>
          </p:cNvSpPr>
          <p:nvPr/>
        </p:nvSpPr>
        <p:spPr>
          <a:xfrm xmlns:a="http://schemas.openxmlformats.org/drawingml/2006/main">
            <a:off x="4000500" y="3619500"/>
            <a:ext cx="6477000"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1" name="">
            <a:extLst xmlns:a="http://schemas.openxmlformats.org/drawingml/2006/main">
              <a:ext uri="{FF2B5EF4-FFF2-40B4-BE49-F238E27FC236}">
                <a16:creationId xmlns:a16="http://schemas.microsoft.com/office/drawing/2014/main" id="{EB3A2680-1878-4465-9A60-23800F393B85}"/>
              </a:ext>
            </a:extLst>
          </p:cNvPr>
          <p:cNvSpPr>
            <a:spLocks xmlns:a="http://schemas.openxmlformats.org/drawingml/2006/main" noGrp="1"/>
          </p:cNvSpPr>
          <p:nvPr/>
        </p:nvSpPr>
        <p:spPr>
          <a:xfrm xmlns:a="http://schemas.openxmlformats.org/drawingml/2006/main">
            <a:off x="4095750" y="3743325"/>
            <a:ext cx="628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Paid outcomes inform the next query</a:t>
            </a:r>
          </a:p>
        </p:txBody>
      </p:sp>
      <p:sp>
        <p:nvSpPr>
          <p:cNvPr id="22" name="">
            <a:extLst xmlns:a="http://schemas.openxmlformats.org/drawingml/2006/main">
              <a:ext uri="{FF2B5EF4-FFF2-40B4-BE49-F238E27FC236}">
                <a16:creationId xmlns:a16="http://schemas.microsoft.com/office/drawing/2014/main" id="{61DDC208-F59A-4484-A4D6-4786382AC7B9}"/>
              </a:ext>
            </a:extLst>
          </p:cNvPr>
          <p:cNvSpPr>
            <a:spLocks xmlns:a="http://schemas.openxmlformats.org/drawingml/2006/main" noGrp="1"/>
          </p:cNvSpPr>
          <p:nvPr/>
        </p:nvSpPr>
        <p:spPr>
          <a:xfrm xmlns:a="http://schemas.openxmlformats.org/drawingml/2006/main">
            <a:off x="685800" y="4410075"/>
            <a:ext cx="466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Selector AI</a:t>
            </a:r>
          </a:p>
        </p:txBody>
      </p:sp>
      <p:sp>
        <p:nvSpPr>
          <p:cNvPr id="23" name="">
            <a:extLst xmlns:a="http://schemas.openxmlformats.org/drawingml/2006/main">
              <a:ext uri="{FF2B5EF4-FFF2-40B4-BE49-F238E27FC236}">
                <a16:creationId xmlns:a16="http://schemas.microsoft.com/office/drawing/2014/main" id="{1027F248-3225-4FEE-ABAC-6BEDD900435C}"/>
              </a:ext>
            </a:extLst>
          </p:cNvPr>
          <p:cNvSpPr>
            <a:spLocks xmlns:a="http://schemas.openxmlformats.org/drawingml/2006/main" noGrp="1"/>
          </p:cNvSpPr>
          <p:nvPr/>
        </p:nvSpPr>
        <p:spPr>
          <a:xfrm xmlns:a="http://schemas.openxmlformats.org/drawingml/2006/main">
            <a:off x="685800" y="4886325"/>
            <a:ext cx="5143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Ascon pilot: 3 measured candidates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Best feasible: 1.0237×, +42 LUT4</a:t>
            </a:r>
          </a:p>
        </p:txBody>
      </p:sp>
      <p:sp>
        <p:nvSpPr>
          <p:cNvPr id="24" name="">
            <a:extLst xmlns:a="http://schemas.openxmlformats.org/drawingml/2006/main">
              <a:ext uri="{FF2B5EF4-FFF2-40B4-BE49-F238E27FC236}">
                <a16:creationId xmlns:a16="http://schemas.microsoft.com/office/drawing/2014/main" id="{F83E707E-3FB8-4465-86DA-AFB7AAF71D6B}"/>
              </a:ext>
            </a:extLst>
          </p:cNvPr>
          <p:cNvSpPr>
            <a:spLocks xmlns:a="http://schemas.openxmlformats.org/drawingml/2006/main" noGrp="1"/>
          </p:cNvSpPr>
          <p:nvPr/>
        </p:nvSpPr>
        <p:spPr>
          <a:xfrm xmlns:a="http://schemas.openxmlformats.org/drawingml/2006/main">
            <a:off x="6572250" y="4410075"/>
            <a:ext cx="485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Development AI</a:t>
            </a:r>
          </a:p>
        </p:txBody>
      </p:sp>
      <p:sp>
        <p:nvSpPr>
          <p:cNvPr id="25" name="">
            <a:extLst xmlns:a="http://schemas.openxmlformats.org/drawingml/2006/main">
              <a:ext uri="{FF2B5EF4-FFF2-40B4-BE49-F238E27FC236}">
                <a16:creationId xmlns:a16="http://schemas.microsoft.com/office/drawing/2014/main" id="{864DFE44-2C83-427A-BEF4-00C47A8CEE22}"/>
              </a:ext>
            </a:extLst>
          </p:cNvPr>
          <p:cNvSpPr>
            <a:spLocks xmlns:a="http://schemas.openxmlformats.org/drawingml/2006/main" noGrp="1"/>
          </p:cNvSpPr>
          <p:nvPr/>
        </p:nvSpPr>
        <p:spPr>
          <a:xfrm xmlns:a="http://schemas.openxmlformats.org/drawingml/2006/main">
            <a:off x="6572250" y="4886325"/>
            <a:ext cx="4857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Coding, debugging, literature and analysis</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Human review owns claims and scope</a:t>
            </a:r>
          </a:p>
        </p:txBody>
      </p:sp>
      <p:sp>
        <p:nvSpPr>
          <p:cNvPr id="26" name="">
            <a:extLst xmlns:a="http://schemas.openxmlformats.org/drawingml/2006/main">
              <a:ext uri="{FF2B5EF4-FFF2-40B4-BE49-F238E27FC236}">
                <a16:creationId xmlns:a16="http://schemas.microsoft.com/office/drawing/2014/main" id="{224A1E10-E1B3-4D00-AECF-212FB2076568}"/>
              </a:ext>
            </a:extLst>
          </p:cNvPr>
          <p:cNvSpPr>
            <a:spLocks xmlns:a="http://schemas.openxmlformats.org/drawingml/2006/main" noGrp="1"/>
          </p:cNvSpPr>
          <p:nvPr/>
        </p:nvSpPr>
        <p:spPr>
          <a:xfrm xmlns:a="http://schemas.openxmlformats.org/drawingml/2006/main">
            <a:off x="685800" y="5953125"/>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A65A00"/>
                </a:solidFill>
                <a:latin typeface="Arial"/>
                <a:ea typeface="Arial"/>
                <a:cs typeface="Arial"/>
              </a:defRPr>
            </a:defPPr>
            <a:lvl1pPr>
              <a:defRPr sz="1425" b="1">
                <a:solidFill>
                  <a:srgbClr val="A65A00"/>
                </a:solidFill>
                <a:latin typeface="Arial"/>
                <a:ea typeface="Arial"/>
                <a:cs typeface="Arial"/>
              </a:defRPr>
            </a:lvl1pPr>
            <a:lvl2pPr>
              <a:defRPr sz="1425" b="1">
                <a:solidFill>
                  <a:srgbClr val="A65A00"/>
                </a:solidFill>
                <a:latin typeface="Arial"/>
                <a:ea typeface="Arial"/>
                <a:cs typeface="Arial"/>
              </a:defRPr>
            </a:lvl2pPr>
            <a:lvl3pPr>
              <a:defRPr sz="1425" b="1">
                <a:solidFill>
                  <a:srgbClr val="A65A00"/>
                </a:solidFill>
                <a:latin typeface="Arial"/>
                <a:ea typeface="Arial"/>
                <a:cs typeface="Arial"/>
              </a:defRPr>
            </a:lvl3pPr>
            <a:lvl4pPr>
              <a:defRPr sz="1425" b="1">
                <a:solidFill>
                  <a:srgbClr val="A65A00"/>
                </a:solidFill>
                <a:latin typeface="Arial"/>
                <a:ea typeface="Arial"/>
                <a:cs typeface="Arial"/>
              </a:defRPr>
            </a:lvl4pPr>
            <a:lvl5pPr>
              <a:defRPr sz="1425" b="1">
                <a:solidFill>
                  <a:srgbClr val="A65A00"/>
                </a:solidFill>
                <a:latin typeface="Arial"/>
                <a:ea typeface="Arial"/>
                <a:cs typeface="Arial"/>
              </a:defRPr>
            </a:lvl5pPr>
            <a:lvl6pPr>
              <a:defRPr sz="1425" b="1">
                <a:solidFill>
                  <a:srgbClr val="A65A00"/>
                </a:solidFill>
                <a:latin typeface="Arial"/>
                <a:ea typeface="Arial"/>
                <a:cs typeface="Arial"/>
              </a:defRPr>
            </a:lvl6pPr>
            <a:lvl7pPr>
              <a:defRPr sz="1425" b="1">
                <a:solidFill>
                  <a:srgbClr val="A65A00"/>
                </a:solidFill>
                <a:latin typeface="Arial"/>
                <a:ea typeface="Arial"/>
                <a:cs typeface="Arial"/>
              </a:defRPr>
            </a:lvl7pPr>
            <a:lvl8pPr>
              <a:defRPr sz="1425" b="1">
                <a:solidFill>
                  <a:srgbClr val="A65A00"/>
                </a:solidFill>
                <a:latin typeface="Arial"/>
                <a:ea typeface="Arial"/>
                <a:cs typeface="Arial"/>
              </a:defRPr>
            </a:lvl8pPr>
            <a:lvl9pPr>
              <a:defRPr sz="1425" b="1">
                <a:solidFill>
                  <a:srgbClr val="A65A00"/>
                </a:solidFill>
                <a:latin typeface="Arial"/>
                <a:ea typeface="Arial"/>
                <a:cs typeface="Arial"/>
              </a:defRPr>
            </a:lvl9pPr>
          </a:lstStyle>
          <a:p xmlns:a="http://schemas.openxmlformats.org/drawingml/2006/main">
            <a:pPr>
              <a:defRPr sz="1425" b="1">
                <a:solidFill>
                  <a:srgbClr val="A65A00"/>
                </a:solidFill>
                <a:latin typeface="Arial"/>
                <a:ea typeface="Arial"/>
                <a:cs typeface="Arial"/>
              </a:defRPr>
            </a:pPr>
            <a:r>
              <a:rPr sz="1425" b="1">
                <a:solidFill>
                  <a:srgbClr val="A65A00"/>
                </a:solidFill>
                <a:latin typeface="Arial"/>
                <a:ea typeface="Arial"/>
                <a:cs typeface="Arial"/>
              </a:rPr>
              <a:t>No matched agent win yet • live GP update defect disclosed • no dynamic LLM routing</a:t>
            </a:r>
          </a:p>
        </p:txBody>
      </p:sp>
    </p:spTree>
    <p:extLst>
      <p:ext uri="{BB962C8B-B14F-4D97-AF65-F5344CB8AC3E}">
        <p14:creationId xmlns:p14="http://schemas.microsoft.com/office/powerpoint/2010/main" val="12146927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65E605-E85F-4BF8-8EBE-E913D441723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F561EBC4-A0DA-4CEB-A041-0132856E3CE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C708572-52E7-4AEC-88BA-53765FE4959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6C121610-02A6-4414-AC54-58DDA6C0214D}"/>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FE7873B5-8441-4926-B7B1-EC7B449E3DF5}"/>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repeated instruction savings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E89752FD-F971-41E7-8733-1A8810CB13EA}"/>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B057FDF3-4640-4F70-B645-58C82CCFB3DC}"/>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C1573C74-713A-4518-9DA5-46259D7137C5}"/>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17778111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990A5F-26B3-4787-8F99-E343216258B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70D8B62F-89FC-4E4C-872C-F609BC19F8C5}"/>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BBFED0B-8BB3-4A51-BD4E-5D10D4743AB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86696CAB-BF73-4338-89D1-6BE33E5028F5}"/>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012cfe27640f49c3"/>
          </a:graphicData>
        </a:graphic>
      </p:graphicFrame>
      <p:sp>
        <p:nvSpPr>
          <p:cNvPr id="5" name="">
            <a:extLst xmlns:a="http://schemas.openxmlformats.org/drawingml/2006/main">
              <a:ext uri="{FF2B5EF4-FFF2-40B4-BE49-F238E27FC236}">
                <a16:creationId xmlns:a16="http://schemas.microsoft.com/office/drawing/2014/main" id="{1D4662CA-7516-4B35-966E-03FEA2845D88}"/>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1AA7D12C-0466-4C88-ADBD-EBB1FE0A5A31}"/>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E1A0A09F-A812-4D65-9C1A-688594200D94}"/>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1626330D-A873-4B36-9271-4E9D95F00B7C}"/>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4960470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FF114F-92B2-41AE-97E9-9F3F45CDA18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196E85A7-8EE8-4FDB-BD48-1C1B8AB9B443}"/>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955EC8D-EC93-433B-9DEB-58B20BEC27F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9A5FDD7F-0A2A-4F96-BE3A-1F0928C8F7D1}"/>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FB9EDB60-C485-4B75-B55A-1D9F13B566AC}"/>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73DCF4EB-85CD-4D28-9903-B62F3A949FA5}"/>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E89DEB6D-C265-4753-B321-851FB4318660}"/>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3FCBC74A-5B65-4616-9D48-F7D97E1F01E8}"/>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13854350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2026-10-28T02:55:33.0580000Z</dcterms:created>
  <dcterms:modified xsi:type="dcterms:W3CDTF">2026-10-28T02:55:33.0580000Z</dcterms:modified>
</coreProperties>
</file>