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0b09d69a374481" /><Relationship Type="http://schemas.openxmlformats.org/officeDocument/2006/relationships/extended-properties" Target="/docProps/app.xml" Id="R40e306435ca04e61" /><Relationship Type="http://schemas.openxmlformats.org/officeDocument/2006/relationships/officeDocument" Target="/ppt/presentation.xml" Id="Rcc38c821885245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f237e1130b44fb"/>
  </p:sldMasterIdLst>
  <p:notesMasterIdLst>
    <p:notesMasterId xmlns:r="http://schemas.openxmlformats.org/officeDocument/2006/relationships" r:id="R061b7d3ead0d42c4"/>
  </p:notesMasterIdLst>
  <p:sldIdLst>
    <p:sldId xmlns:r="http://schemas.openxmlformats.org/officeDocument/2006/relationships" id="256" r:id="R5c37c34cdb224a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464bc313d648c9" /><Relationship Type="http://schemas.openxmlformats.org/officeDocument/2006/relationships/slideMaster" Target="/ppt/slideMasters/slideMaster1.xml" Id="R41f237e1130b44fb" /><Relationship Type="http://schemas.openxmlformats.org/officeDocument/2006/relationships/notesMaster" Target="/ppt/notesMasters/notesMaster1.xml" Id="R061b7d3ead0d42c4" /><Relationship Type="http://schemas.openxmlformats.org/officeDocument/2006/relationships/presProps" Target="/ppt/presProps.xml" Id="R7d3fb01e836b466f" /><Relationship Type="http://schemas.openxmlformats.org/officeDocument/2006/relationships/tableStyles" Target="/ppt/tableStyles.xml" Id="R23154b98b3ea4919" /><Relationship Type="http://schemas.openxmlformats.org/officeDocument/2006/relationships/slide" Target="/ppt/slides/slide1.xml" Id="R5c37c34cdb224a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3a5d8d7cac40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c5301542a54dee" /><Relationship Type="http://schemas.openxmlformats.org/officeDocument/2006/relationships/notesMaster" Target="/ppt/notesMasters/notesMaster1.xml" Id="Red9d2d14426a41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ISAForge uses a pairwise XGBoost ranker, not a neural network. It learns relative candidate order from measured whole-program cycle speedups grouped by workload context. Its rank_score has no speedup units and is not a calibrated confidence estimate. A separate bootstrap XGBoost regressor predicts speedup ratios; ensemble disagreement is not calibrated uncertainty. During a search, the fitted ranker remains frozen while paid measurements update the selector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5e579a44f41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89cc6051648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b9f543d0c49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10e563e3e4f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942f3c6f224f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9d57d6f0d41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607075-4913-40C6-A050-8BC9CC006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87A08E-6E00-4863-807A-AE50D2C94A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9ED303-8561-4368-9AF7-5DECBD3707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CF256E-E6BF-493D-8228-9855EA78AB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2DBD0B-9434-4751-99A5-902E147041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F4E5C2-88FB-49CD-92CF-F59C734474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BF2A27-47C6-4FC7-971D-271FEEEDF5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6EB793-06E6-4562-85EB-1E39CC8522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8259E3-EEFE-407A-9322-B8E91043B9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54CB8F-5BCC-4693-8A23-96AB66D10D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320dab33094b50" /><Relationship Type="http://schemas.openxmlformats.org/officeDocument/2006/relationships/slideLayout" Target="/ppt/slideLayouts/slideLayout1.xml" Id="R4ee9ca597a804fd0" /><Relationship Type="http://schemas.openxmlformats.org/officeDocument/2006/relationships/slideLayout" Target="/ppt/slideLayouts/slideLayout2.xml" Id="R16a224bf64d14942" /><Relationship Type="http://schemas.openxmlformats.org/officeDocument/2006/relationships/slideLayout" Target="/ppt/slideLayouts/slideLayout3.xml" Id="R9f107e4d3f60414e" /><Relationship Type="http://schemas.openxmlformats.org/officeDocument/2006/relationships/slideLayout" Target="/ppt/slideLayouts/slideLayout4.xml" Id="R1e4c3974d25b46b6" /><Relationship Type="http://schemas.openxmlformats.org/officeDocument/2006/relationships/slideLayout" Target="/ppt/slideLayouts/slideLayout5.xml" Id="R355cd2f77ac644e9" /><Relationship Type="http://schemas.openxmlformats.org/officeDocument/2006/relationships/slideLayout" Target="/ppt/slideLayouts/slideLayout6.xml" Id="R26a694dca28846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e9ca597a804fd0"/>
    <p:sldLayoutId xmlns:r="http://schemas.openxmlformats.org/officeDocument/2006/relationships" id="2147483650" r:id="R16a224bf64d14942"/>
    <p:sldLayoutId xmlns:r="http://schemas.openxmlformats.org/officeDocument/2006/relationships" id="2147483651" r:id="R9f107e4d3f60414e"/>
    <p:sldLayoutId xmlns:r="http://schemas.openxmlformats.org/officeDocument/2006/relationships" id="2147483652" r:id="R1e4c3974d25b46b6"/>
    <p:sldLayoutId xmlns:r="http://schemas.openxmlformats.org/officeDocument/2006/relationships" id="2147483653" r:id="R355cd2f77ac644e9"/>
    <p:sldLayoutId xmlns:r="http://schemas.openxmlformats.org/officeDocument/2006/relationships" id="2147483654" r:id="R26a694dca28846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3203e37af406d" /><Relationship Type="http://schemas.openxmlformats.org/officeDocument/2006/relationships/notesSlide" Target="/ppt/notesSlides/notesSlide1.xml" Id="R9b9bce7566154f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title">
            <a:extLst xmlns:a="http://schemas.openxmlformats.org/drawingml/2006/main">
              <a:ext uri="{FF2B5EF4-FFF2-40B4-BE49-F238E27FC236}">
                <a16:creationId xmlns:a16="http://schemas.microsoft.com/office/drawing/2014/main" id="{876508EA-67C9-49D5-A1BD-A2D23B57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How ISAForge ranks instruction candidates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4A8F099-852F-4851-86FF-6B872831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80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648"/>
                </a:solidFill>
                <a:latin typeface="Arial"/>
                <a:ea typeface="Arial"/>
                <a:cs typeface="Arial"/>
              </a:rPr>
              <a:t>A pairwise XGBoost model learns candidate order from measured whole-program speedups.</a:t>
            </a:r>
          </a:p>
        </p:txBody>
      </p:sp>
      <p:sp>
        <p:nvSpPr>
          <p:cNvPr id="3" name="offline-training-boundary">
            <a:extLst xmlns:a="http://schemas.openxmlformats.org/drawingml/2006/main">
              <a:ext uri="{FF2B5EF4-FFF2-40B4-BE49-F238E27FC236}">
                <a16:creationId xmlns:a16="http://schemas.microsoft.com/office/drawing/2014/main" id="{E793C39A-B376-4240-91A9-6AC70AAF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11239500" cy="2657475"/>
          </a:xfrm>
          <a:prstGeom xmlns:a="http://schemas.openxmlformats.org/drawingml/2006/main" prst="roundRect">
            <a:avLst>
              <a:gd name="adj" fmla="val 28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8AB8D2"/>
            </a:solidFill>
            <a:prstDash val="dash"/>
          </a:ln>
        </p:spPr>
      </p:sp>
      <p:sp>
        <p:nvSpPr>
          <p:cNvPr id="4" name="offline-label">
            <a:extLst xmlns:a="http://schemas.openxmlformats.org/drawingml/2006/main">
              <a:ext uri="{FF2B5EF4-FFF2-40B4-BE49-F238E27FC236}">
                <a16:creationId xmlns:a16="http://schemas.microsoft.com/office/drawing/2014/main" id="{0E6DF5FA-0955-40AE-9905-6E8A734A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78A8"/>
                </a:solidFill>
                <a:latin typeface="Arial"/>
                <a:ea typeface="Arial"/>
                <a:cs typeface="Arial"/>
              </a:rPr>
              <a:t>OFFLINE MODEL TRAINING</a:t>
            </a:r>
          </a:p>
        </p:txBody>
      </p:sp>
      <p:sp>
        <p:nvSpPr>
          <p:cNvPr id="5" name="feature-card">
            <a:extLst xmlns:a="http://schemas.openxmlformats.org/drawingml/2006/main">
              <a:ext uri="{FF2B5EF4-FFF2-40B4-BE49-F238E27FC236}">
                <a16:creationId xmlns:a16="http://schemas.microsoft.com/office/drawing/2014/main" id="{683A63E5-92EA-418B-AC8F-4AA89732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2238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2383">
            <a:solidFill>
              <a:srgbClr val="B7D3E4"/>
            </a:solidFill>
            <a:prstDash val="solid"/>
          </a:ln>
        </p:spPr>
      </p:sp>
      <p:sp>
        <p:nvSpPr>
          <p:cNvPr id="6" name="feature-heading">
            <a:extLst xmlns:a="http://schemas.openxmlformats.org/drawingml/2006/main">
              <a:ext uri="{FF2B5EF4-FFF2-40B4-BE49-F238E27FC236}">
                <a16:creationId xmlns:a16="http://schemas.microsoft.com/office/drawing/2014/main" id="{E003CD0F-B368-4D0C-B433-076D1333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933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78A8"/>
                </a:solidFill>
                <a:latin typeface="Arial"/>
                <a:ea typeface="Arial"/>
                <a:cs typeface="Arial"/>
              </a:rPr>
              <a:t>CANDIDATE FEATURES</a:t>
            </a:r>
          </a:p>
        </p:txBody>
      </p:sp>
      <p:sp>
        <p:nvSpPr>
          <p:cNvPr id="7" name="feature-symbol">
            <a:extLst xmlns:a="http://schemas.openxmlformats.org/drawingml/2006/main">
              <a:ext uri="{FF2B5EF4-FFF2-40B4-BE49-F238E27FC236}">
                <a16:creationId xmlns:a16="http://schemas.microsoft.com/office/drawing/2014/main" id="{0373323B-2295-4ADA-8A96-3F4A6F28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1933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xᵢ</a:t>
            </a:r>
          </a:p>
        </p:txBody>
      </p:sp>
      <p:sp>
        <p:nvSpPr>
          <p:cNvPr id="8" name="feature-description">
            <a:extLst xmlns:a="http://schemas.openxmlformats.org/drawingml/2006/main">
              <a:ext uri="{FF2B5EF4-FFF2-40B4-BE49-F238E27FC236}">
                <a16:creationId xmlns:a16="http://schemas.microsoft.com/office/drawing/2014/main" id="{BF6887C0-86DF-4BCB-BDDA-4DE1ACF3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19335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DAG shape, op mix</a:t>
            </a:r>
          </a:p>
          <a:p xmlns:a="http://schemas.openxmlformats.org/drawingml/2006/main">
            <a:pPr algn="l">
              <a:defRPr sz="120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constants, dynamic counts</a:t>
            </a:r>
          </a:p>
        </p:txBody>
      </p:sp>
      <p:sp>
        <p:nvSpPr>
          <p:cNvPr id="9" name="measured-label-band">
            <a:extLst xmlns:a="http://schemas.openxmlformats.org/drawingml/2006/main">
              <a:ext uri="{FF2B5EF4-FFF2-40B4-BE49-F238E27FC236}">
                <a16:creationId xmlns:a16="http://schemas.microsoft.com/office/drawing/2014/main" id="{180E212B-C5C9-4C49-8189-E3AD6EA4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43275"/>
            <a:ext cx="19907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3E4"/>
            </a:solidFill>
            <a:prstDash val="solid"/>
          </a:ln>
        </p:spPr>
      </p:sp>
      <p:sp>
        <p:nvSpPr>
          <p:cNvPr id="10" name="speedup-label">
            <a:extLst xmlns:a="http://schemas.openxmlformats.org/drawingml/2006/main">
              <a:ext uri="{FF2B5EF4-FFF2-40B4-BE49-F238E27FC236}">
                <a16:creationId xmlns:a16="http://schemas.microsoft.com/office/drawing/2014/main" id="{4D4ED52B-4A8E-4A74-B860-44F8655B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defPPr>
            <a:lvl1pPr algn="ctr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1pPr>
            <a:lvl2pPr algn="ctr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2pPr>
            <a:lvl3pPr algn="ctr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3pPr>
            <a:lvl4pPr algn="ctr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4pPr>
            <a:lvl5pPr algn="ctr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5pPr>
            <a:lvl6pPr algn="ctr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6pPr>
            <a:lvl7pPr algn="ctr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7pPr>
            <a:lvl8pPr algn="ctr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8pPr>
            <a:lvl9pPr algn="ctr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2878A8"/>
                </a:solidFill>
                <a:latin typeface="Arial"/>
                <a:ea typeface="Arial"/>
                <a:cs typeface="Arial"/>
              </a:rPr>
              <a:t>Label = baseline cycles ÷</a:t>
            </a:r>
          </a:p>
          <a:p xmlns:a="http://schemas.openxmlformats.org/drawingml/2006/main">
            <a:pPr algn="ctr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2878A8"/>
                </a:solidFill>
                <a:latin typeface="Arial"/>
                <a:ea typeface="Arial"/>
                <a:cs typeface="Arial"/>
              </a:rPr>
              <a:t>candidate cycles</a:t>
            </a:r>
          </a:p>
        </p:txBody>
      </p:sp>
      <p:sp>
        <p:nvSpPr>
          <p:cNvPr id="11" name="pairwise-card">
            <a:extLst xmlns:a="http://schemas.openxmlformats.org/drawingml/2006/main">
              <a:ext uri="{FF2B5EF4-FFF2-40B4-BE49-F238E27FC236}">
                <a16:creationId xmlns:a16="http://schemas.microsoft.com/office/drawing/2014/main" id="{3DE9016F-5EE8-4D31-AA43-74753258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71675"/>
            <a:ext cx="2209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DF1E6"/>
          </a:solidFill>
          <a:ln xmlns:a="http://schemas.openxmlformats.org/drawingml/2006/main" w="12383">
            <a:solidFill>
              <a:srgbClr val="E9C7A7"/>
            </a:solidFill>
            <a:prstDash val="solid"/>
          </a:ln>
        </p:spPr>
      </p:sp>
      <p:sp>
        <p:nvSpPr>
          <p:cNvPr id="12" name="pairwise-heading">
            <a:extLst xmlns:a="http://schemas.openxmlformats.org/drawingml/2006/main">
              <a:ext uri="{FF2B5EF4-FFF2-40B4-BE49-F238E27FC236}">
                <a16:creationId xmlns:a16="http://schemas.microsoft.com/office/drawing/2014/main" id="{D93526AE-8A13-463F-BB8B-CB4D3F60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7434"/>
                </a:solidFill>
                <a:latin typeface="Arial"/>
                <a:ea typeface="Arial"/>
                <a:cs typeface="Arial"/>
              </a:rPr>
              <a:t>PAIRWISE TRAINING</a:t>
            </a:r>
          </a:p>
        </p:txBody>
      </p:sp>
      <p:sp>
        <p:nvSpPr>
          <p:cNvPr id="13" name="pairwise-context">
            <a:extLst xmlns:a="http://schemas.openxmlformats.org/drawingml/2006/main">
              <a:ext uri="{FF2B5EF4-FFF2-40B4-BE49-F238E27FC236}">
                <a16:creationId xmlns:a16="http://schemas.microsoft.com/office/drawing/2014/main" id="{EE8056A4-DD55-4729-8282-C8F8C20B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431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17"/>
          </a:bodyPr>
          <a:lstStyle xmlns:a="http://schemas.openxmlformats.org/drawingml/2006/main">
            <a:def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648"/>
                </a:solidFill>
                <a:latin typeface="Arial"/>
                <a:ea typeface="Arial"/>
                <a:cs typeface="Arial"/>
              </a:rPr>
              <a:t>Compare within one workload</a:t>
            </a:r>
          </a:p>
        </p:txBody>
      </p:sp>
      <p:sp>
        <p:nvSpPr>
          <p:cNvPr id="14" name="candidate-i">
            <a:extLst xmlns:a="http://schemas.openxmlformats.org/drawingml/2006/main">
              <a:ext uri="{FF2B5EF4-FFF2-40B4-BE49-F238E27FC236}">
                <a16:creationId xmlns:a16="http://schemas.microsoft.com/office/drawing/2014/main" id="{33727016-EC6C-4EDD-ABA4-01E4EEA5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5905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A7"/>
            </a:solidFill>
            <a:prstDash val="solid"/>
          </a:ln>
        </p:spPr>
      </p:sp>
      <p:sp>
        <p:nvSpPr>
          <p:cNvPr id="15" name="candidate-i-text">
            <a:extLst xmlns:a="http://schemas.openxmlformats.org/drawingml/2006/main">
              <a:ext uri="{FF2B5EF4-FFF2-40B4-BE49-F238E27FC236}">
                <a16:creationId xmlns:a16="http://schemas.microsoft.com/office/drawing/2014/main" id="{AF235885-6F10-483B-B572-02F21195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743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6" name="candidate-j">
            <a:extLst xmlns:a="http://schemas.openxmlformats.org/drawingml/2006/main">
              <a:ext uri="{FF2B5EF4-FFF2-40B4-BE49-F238E27FC236}">
                <a16:creationId xmlns:a16="http://schemas.microsoft.com/office/drawing/2014/main" id="{1CA359E0-ACC6-4858-9495-78A5261E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86050"/>
            <a:ext cx="5905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A7"/>
            </a:solidFill>
            <a:prstDash val="solid"/>
          </a:ln>
        </p:spPr>
      </p:sp>
      <p:sp>
        <p:nvSpPr>
          <p:cNvPr id="17" name="candidate-j-text">
            <a:extLst xmlns:a="http://schemas.openxmlformats.org/drawingml/2006/main">
              <a:ext uri="{FF2B5EF4-FFF2-40B4-BE49-F238E27FC236}">
                <a16:creationId xmlns:a16="http://schemas.microsoft.com/office/drawing/2014/main" id="{EA464B26-C3F8-492F-8E0E-E1A1ACF1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86050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743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18" name="pairwise-preference">
            <a:extLst xmlns:a="http://schemas.openxmlformats.org/drawingml/2006/main">
              <a:ext uri="{FF2B5EF4-FFF2-40B4-BE49-F238E27FC236}">
                <a16:creationId xmlns:a16="http://schemas.microsoft.com/office/drawing/2014/main" id="{C8DF6985-93AB-446B-9E8A-629A9CDF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28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7434"/>
                </a:solidFill>
                <a:latin typeface="Arial"/>
                <a:ea typeface="Arial"/>
                <a:cs typeface="Arial"/>
              </a:rPr>
              <a:t>measured yᵢ &gt; yⱼ</a:t>
            </a:r>
          </a:p>
        </p:txBody>
      </p:sp>
      <p:sp>
        <p:nvSpPr>
          <p:cNvPr id="19" name="pairwise-rule">
            <a:extLst xmlns:a="http://schemas.openxmlformats.org/drawingml/2006/main">
              <a:ext uri="{FF2B5EF4-FFF2-40B4-BE49-F238E27FC236}">
                <a16:creationId xmlns:a16="http://schemas.microsoft.com/office/drawing/2014/main" id="{51B12B33-17D2-4C0C-B9E8-23FE4BEB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432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13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defPPr>
            <a:lvl1pPr algn="ctr">
              <a:defRPr sz="1013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1pPr>
            <a:lvl2pPr algn="ctr">
              <a:defRPr sz="1013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2pPr>
            <a:lvl3pPr algn="ctr">
              <a:defRPr sz="1013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3pPr>
            <a:lvl4pPr algn="ctr">
              <a:defRPr sz="1013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4pPr>
            <a:lvl5pPr algn="ctr">
              <a:defRPr sz="1013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5pPr>
            <a:lvl6pPr algn="ctr">
              <a:defRPr sz="1013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6pPr>
            <a:lvl7pPr algn="ctr">
              <a:defRPr sz="1013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7pPr>
            <a:lvl8pPr algn="ctr">
              <a:defRPr sz="1013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8pPr>
            <a:lvl9pPr algn="ctr">
              <a:defRPr sz="1013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13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Learn sᵢ &gt; sⱼ; preserve ties</a:t>
            </a:r>
          </a:p>
          <a:p xmlns:a="http://schemas.openxmlformats.org/drawingml/2006/main">
            <a:pPr algn="ctr">
              <a:defRPr sz="1013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Reversed order adds loss</a:t>
            </a:r>
          </a:p>
        </p:txBody>
      </p:sp>
      <p:sp>
        <p:nvSpPr>
          <p:cNvPr id="20" name="xgboost-card">
            <a:extLst xmlns:a="http://schemas.openxmlformats.org/drawingml/2006/main">
              <a:ext uri="{FF2B5EF4-FFF2-40B4-BE49-F238E27FC236}">
                <a16:creationId xmlns:a16="http://schemas.microsoft.com/office/drawing/2014/main" id="{80FE41FB-C0EE-4BA3-8FDF-B17C8A09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971675"/>
            <a:ext cx="3381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12383">
            <a:solidFill>
              <a:srgbClr val="D5E0EA"/>
            </a:solidFill>
            <a:prstDash val="solid"/>
          </a:ln>
        </p:spPr>
      </p:sp>
      <p:sp>
        <p:nvSpPr>
          <p:cNvPr id="21" name="xgboost-heading">
            <a:extLst xmlns:a="http://schemas.openxmlformats.org/drawingml/2006/main">
              <a:ext uri="{FF2B5EF4-FFF2-40B4-BE49-F238E27FC236}">
                <a16:creationId xmlns:a16="http://schemas.microsoft.com/office/drawing/2014/main" id="{B44F8A71-BA86-404C-9C25-A74C929D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304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78A8"/>
                </a:solidFill>
                <a:latin typeface="Arial"/>
                <a:ea typeface="Arial"/>
                <a:cs typeface="Arial"/>
              </a:rPr>
              <a:t>PAIRWISE XGBOOST</a:t>
            </a:r>
          </a:p>
        </p:txBody>
      </p:sp>
      <p:sp>
        <p:nvSpPr>
          <p:cNvPr id="22" name="xgboost-config">
            <a:extLst xmlns:a="http://schemas.openxmlformats.org/drawingml/2006/main">
              <a:ext uri="{FF2B5EF4-FFF2-40B4-BE49-F238E27FC236}">
                <a16:creationId xmlns:a16="http://schemas.microsoft.com/office/drawing/2014/main" id="{D96F5789-5EB7-480F-BDC9-1B39FE4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336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648"/>
                </a:solidFill>
                <a:latin typeface="Arial"/>
                <a:ea typeface="Arial"/>
                <a:cs typeface="Arial"/>
              </a:rPr>
              <a:t>80 boosted trees · maximum depth 2</a:t>
            </a:r>
          </a:p>
        </p:txBody>
      </p:sp>
      <p:sp>
        <p:nvSpPr>
          <p:cNvPr id="23" name="tree-1-tree-label">
            <a:extLst xmlns:a="http://schemas.openxmlformats.org/drawingml/2006/main">
              <a:ext uri="{FF2B5EF4-FFF2-40B4-BE49-F238E27FC236}">
                <a16:creationId xmlns:a16="http://schemas.microsoft.com/office/drawing/2014/main" id="{9D765BA0-315E-4A62-9791-5884C8E9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81275"/>
            <a:ext cx="800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defPPr>
            <a:lvl1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1pPr>
            <a:lvl2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2pPr>
            <a:lvl3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3pPr>
            <a:lvl4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4pPr>
            <a:lvl5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5pPr>
            <a:lvl6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6pPr>
            <a:lvl7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7pPr>
            <a:lvl8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8pPr>
            <a:lvl9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TREE 1</a:t>
            </a:r>
          </a:p>
        </p:txBody>
      </p:sp>
      <p:sp>
        <p:nvSpPr>
          <p:cNvPr id="24" name="tree-1-split">
            <a:extLst xmlns:a="http://schemas.openxmlformats.org/drawingml/2006/main">
              <a:ext uri="{FF2B5EF4-FFF2-40B4-BE49-F238E27FC236}">
                <a16:creationId xmlns:a16="http://schemas.microsoft.com/office/drawing/2014/main" id="{30605AD7-E39E-4942-9577-8CE59893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781300"/>
            <a:ext cx="6286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2383">
            <a:solidFill>
              <a:srgbClr val="8AB8D2"/>
            </a:solidFill>
            <a:prstDash val="solid"/>
          </a:ln>
        </p:spPr>
      </p:sp>
      <p:sp>
        <p:nvSpPr>
          <p:cNvPr id="25" name="tree-1-split-text">
            <a:extLst xmlns:a="http://schemas.openxmlformats.org/drawingml/2006/main">
              <a:ext uri="{FF2B5EF4-FFF2-40B4-BE49-F238E27FC236}">
                <a16:creationId xmlns:a16="http://schemas.microsoft.com/office/drawing/2014/main" id="{6DE7940C-9C3E-44F7-9885-FC04B79E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78130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26" name="tree-1-stem">
            <a:extLst xmlns:a="http://schemas.openxmlformats.org/drawingml/2006/main">
              <a:ext uri="{FF2B5EF4-FFF2-40B4-BE49-F238E27FC236}">
                <a16:creationId xmlns:a16="http://schemas.microsoft.com/office/drawing/2014/main" id="{00BB3CBB-CB79-4D80-AEFB-D2A0FA2E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38475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ree-1-branch">
            <a:extLst xmlns:a="http://schemas.openxmlformats.org/drawingml/2006/main">
              <a:ext uri="{FF2B5EF4-FFF2-40B4-BE49-F238E27FC236}">
                <a16:creationId xmlns:a16="http://schemas.microsoft.com/office/drawing/2014/main" id="{D08831B8-E70E-428D-8A41-4D55D0DF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242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ree-1-left-drop">
            <a:extLst xmlns:a="http://schemas.openxmlformats.org/drawingml/2006/main">
              <a:ext uri="{FF2B5EF4-FFF2-40B4-BE49-F238E27FC236}">
                <a16:creationId xmlns:a16="http://schemas.microsoft.com/office/drawing/2014/main" id="{E1D641D5-C6C8-42C8-BD7D-60EBE5D2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2420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ree-1-right-drop">
            <a:extLst xmlns:a="http://schemas.openxmlformats.org/drawingml/2006/main">
              <a:ext uri="{FF2B5EF4-FFF2-40B4-BE49-F238E27FC236}">
                <a16:creationId xmlns:a16="http://schemas.microsoft.com/office/drawing/2014/main" id="{6AE12023-5FF0-4656-BF6E-3A2B58E1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2420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ree-1-leaf-left">
            <a:extLst xmlns:a="http://schemas.openxmlformats.org/drawingml/2006/main">
              <a:ext uri="{FF2B5EF4-FFF2-40B4-BE49-F238E27FC236}">
                <a16:creationId xmlns:a16="http://schemas.microsoft.com/office/drawing/2014/main" id="{AA8E023A-6F94-4B4A-ADD8-276EDF77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209925"/>
            <a:ext cx="371475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DF1E6"/>
          </a:solidFill>
          <a:ln xmlns:a="http://schemas.openxmlformats.org/drawingml/2006/main" w="12383">
            <a:solidFill>
              <a:srgbClr val="E9C7A7"/>
            </a:solidFill>
            <a:prstDash val="solid"/>
          </a:ln>
        </p:spPr>
      </p:sp>
      <p:sp>
        <p:nvSpPr>
          <p:cNvPr id="31" name="tree-1-leaf-right">
            <a:extLst xmlns:a="http://schemas.openxmlformats.org/drawingml/2006/main">
              <a:ext uri="{FF2B5EF4-FFF2-40B4-BE49-F238E27FC236}">
                <a16:creationId xmlns:a16="http://schemas.microsoft.com/office/drawing/2014/main" id="{14B3B968-CA40-4AFD-85E9-229EA80E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9925"/>
            <a:ext cx="371475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ECF6EF"/>
          </a:solidFill>
          <a:ln xmlns:a="http://schemas.openxmlformats.org/drawingml/2006/main" w="12383">
            <a:solidFill>
              <a:srgbClr val="BBDAC6"/>
            </a:solidFill>
            <a:prstDash val="solid"/>
          </a:ln>
        </p:spPr>
      </p:sp>
      <p:sp>
        <p:nvSpPr>
          <p:cNvPr id="32" name="tree-1-leaf-left-text">
            <a:extLst xmlns:a="http://schemas.openxmlformats.org/drawingml/2006/main">
              <a:ext uri="{FF2B5EF4-FFF2-40B4-BE49-F238E27FC236}">
                <a16:creationId xmlns:a16="http://schemas.microsoft.com/office/drawing/2014/main" id="{8CD5CF7A-4F0A-408D-BB21-6F3683A9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209925"/>
            <a:ext cx="371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defPPr>
            <a:lvl1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1pPr>
            <a:lvl2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2pPr>
            <a:lvl3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3pPr>
            <a:lvl4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4pPr>
            <a:lvl5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5pPr>
            <a:lvl6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6pPr>
            <a:lvl7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7pPr>
            <a:lvl8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8pPr>
            <a:lvl9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87434"/>
                </a:solidFill>
                <a:latin typeface="Arial"/>
                <a:ea typeface="Arial"/>
                <a:cs typeface="Arial"/>
              </a:rPr>
              <a:t>leaf</a:t>
            </a:r>
          </a:p>
        </p:txBody>
      </p:sp>
      <p:sp>
        <p:nvSpPr>
          <p:cNvPr id="33" name="tree-1-leaf-right-text">
            <a:extLst xmlns:a="http://schemas.openxmlformats.org/drawingml/2006/main">
              <a:ext uri="{FF2B5EF4-FFF2-40B4-BE49-F238E27FC236}">
                <a16:creationId xmlns:a16="http://schemas.microsoft.com/office/drawing/2014/main" id="{6B0B2C5E-B78B-4FC5-814A-F9707780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9925"/>
            <a:ext cx="371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defPPr>
            <a:lvl1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1pPr>
            <a:lvl2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2pPr>
            <a:lvl3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3pPr>
            <a:lvl4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4pPr>
            <a:lvl5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5pPr>
            <a:lvl6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6pPr>
            <a:lvl7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7pPr>
            <a:lvl8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8pPr>
            <a:lvl9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D8A61"/>
                </a:solidFill>
                <a:latin typeface="Arial"/>
                <a:ea typeface="Arial"/>
                <a:cs typeface="Arial"/>
              </a:rPr>
              <a:t>leaf</a:t>
            </a:r>
          </a:p>
        </p:txBody>
      </p:sp>
      <p:sp>
        <p:nvSpPr>
          <p:cNvPr id="34" name="tree-plus-one">
            <a:extLst xmlns:a="http://schemas.openxmlformats.org/drawingml/2006/main">
              <a:ext uri="{FF2B5EF4-FFF2-40B4-BE49-F238E27FC236}">
                <a16:creationId xmlns:a16="http://schemas.microsoft.com/office/drawing/2014/main" id="{4A542BA9-5FA3-4544-881D-AF710C5D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24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5" name="tree-2-tree-label">
            <a:extLst xmlns:a="http://schemas.openxmlformats.org/drawingml/2006/main">
              <a:ext uri="{FF2B5EF4-FFF2-40B4-BE49-F238E27FC236}">
                <a16:creationId xmlns:a16="http://schemas.microsoft.com/office/drawing/2014/main" id="{1DB82F7F-3DA1-44D5-8C50-D90BE584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581275"/>
            <a:ext cx="800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defPPr>
            <a:lvl1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1pPr>
            <a:lvl2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2pPr>
            <a:lvl3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3pPr>
            <a:lvl4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4pPr>
            <a:lvl5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5pPr>
            <a:lvl6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6pPr>
            <a:lvl7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7pPr>
            <a:lvl8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8pPr>
            <a:lvl9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TREE 2</a:t>
            </a:r>
          </a:p>
        </p:txBody>
      </p:sp>
      <p:sp>
        <p:nvSpPr>
          <p:cNvPr id="36" name="tree-2-split">
            <a:extLst xmlns:a="http://schemas.openxmlformats.org/drawingml/2006/main">
              <a:ext uri="{FF2B5EF4-FFF2-40B4-BE49-F238E27FC236}">
                <a16:creationId xmlns:a16="http://schemas.microsoft.com/office/drawing/2014/main" id="{96F9AD75-80B9-461D-A8F7-984E3448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6286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2383">
            <a:solidFill>
              <a:srgbClr val="8AB8D2"/>
            </a:solidFill>
            <a:prstDash val="solid"/>
          </a:ln>
        </p:spPr>
      </p:sp>
      <p:sp>
        <p:nvSpPr>
          <p:cNvPr id="37" name="tree-2-split-text">
            <a:extLst xmlns:a="http://schemas.openxmlformats.org/drawingml/2006/main">
              <a:ext uri="{FF2B5EF4-FFF2-40B4-BE49-F238E27FC236}">
                <a16:creationId xmlns:a16="http://schemas.microsoft.com/office/drawing/2014/main" id="{5F86BEEF-4274-4E05-A902-CD07A802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38" name="tree-2-stem">
            <a:extLst xmlns:a="http://schemas.openxmlformats.org/drawingml/2006/main">
              <a:ext uri="{FF2B5EF4-FFF2-40B4-BE49-F238E27FC236}">
                <a16:creationId xmlns:a16="http://schemas.microsoft.com/office/drawing/2014/main" id="{7EC9B9EA-BB2A-420A-A10B-DAF042E1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38475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ree-2-branch">
            <a:extLst xmlns:a="http://schemas.openxmlformats.org/drawingml/2006/main">
              <a:ext uri="{FF2B5EF4-FFF2-40B4-BE49-F238E27FC236}">
                <a16:creationId xmlns:a16="http://schemas.microsoft.com/office/drawing/2014/main" id="{9EA927D1-65D6-4785-A009-2B2EFE2F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242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ree-2-left-drop">
            <a:extLst xmlns:a="http://schemas.openxmlformats.org/drawingml/2006/main">
              <a:ext uri="{FF2B5EF4-FFF2-40B4-BE49-F238E27FC236}">
                <a16:creationId xmlns:a16="http://schemas.microsoft.com/office/drawing/2014/main" id="{08DFDF56-BB00-44A4-BF13-33345901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2420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ree-2-right-drop">
            <a:extLst xmlns:a="http://schemas.openxmlformats.org/drawingml/2006/main">
              <a:ext uri="{FF2B5EF4-FFF2-40B4-BE49-F238E27FC236}">
                <a16:creationId xmlns:a16="http://schemas.microsoft.com/office/drawing/2014/main" id="{74C7661A-CF73-4817-9737-FC1A7B36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2420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ree-2-leaf-left">
            <a:extLst xmlns:a="http://schemas.openxmlformats.org/drawingml/2006/main">
              <a:ext uri="{FF2B5EF4-FFF2-40B4-BE49-F238E27FC236}">
                <a16:creationId xmlns:a16="http://schemas.microsoft.com/office/drawing/2014/main" id="{E63660A2-4247-4F19-83B7-6BE5698B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09925"/>
            <a:ext cx="371475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DF1E6"/>
          </a:solidFill>
          <a:ln xmlns:a="http://schemas.openxmlformats.org/drawingml/2006/main" w="12383">
            <a:solidFill>
              <a:srgbClr val="E9C7A7"/>
            </a:solidFill>
            <a:prstDash val="solid"/>
          </a:ln>
        </p:spPr>
      </p:sp>
      <p:sp>
        <p:nvSpPr>
          <p:cNvPr id="43" name="tree-2-leaf-right">
            <a:extLst xmlns:a="http://schemas.openxmlformats.org/drawingml/2006/main">
              <a:ext uri="{FF2B5EF4-FFF2-40B4-BE49-F238E27FC236}">
                <a16:creationId xmlns:a16="http://schemas.microsoft.com/office/drawing/2014/main" id="{F4362FC9-AD1A-49CA-A3E4-637C3E86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209925"/>
            <a:ext cx="371475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ECF6EF"/>
          </a:solidFill>
          <a:ln xmlns:a="http://schemas.openxmlformats.org/drawingml/2006/main" w="12383">
            <a:solidFill>
              <a:srgbClr val="BBDAC6"/>
            </a:solidFill>
            <a:prstDash val="solid"/>
          </a:ln>
        </p:spPr>
      </p:sp>
      <p:sp>
        <p:nvSpPr>
          <p:cNvPr id="44" name="tree-2-leaf-left-text">
            <a:extLst xmlns:a="http://schemas.openxmlformats.org/drawingml/2006/main">
              <a:ext uri="{FF2B5EF4-FFF2-40B4-BE49-F238E27FC236}">
                <a16:creationId xmlns:a16="http://schemas.microsoft.com/office/drawing/2014/main" id="{4586A367-8A61-4DCA-A9FA-EBEEF059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09925"/>
            <a:ext cx="371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defPPr>
            <a:lvl1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1pPr>
            <a:lvl2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2pPr>
            <a:lvl3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3pPr>
            <a:lvl4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4pPr>
            <a:lvl5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5pPr>
            <a:lvl6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6pPr>
            <a:lvl7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7pPr>
            <a:lvl8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8pPr>
            <a:lvl9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87434"/>
                </a:solidFill>
                <a:latin typeface="Arial"/>
                <a:ea typeface="Arial"/>
                <a:cs typeface="Arial"/>
              </a:rPr>
              <a:t>leaf</a:t>
            </a:r>
          </a:p>
        </p:txBody>
      </p:sp>
      <p:sp>
        <p:nvSpPr>
          <p:cNvPr id="45" name="tree-2-leaf-right-text">
            <a:extLst xmlns:a="http://schemas.openxmlformats.org/drawingml/2006/main">
              <a:ext uri="{FF2B5EF4-FFF2-40B4-BE49-F238E27FC236}">
                <a16:creationId xmlns:a16="http://schemas.microsoft.com/office/drawing/2014/main" id="{2616C021-6FCF-4AFF-BD97-3FEFF6D7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209925"/>
            <a:ext cx="371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defPPr>
            <a:lvl1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1pPr>
            <a:lvl2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2pPr>
            <a:lvl3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3pPr>
            <a:lvl4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4pPr>
            <a:lvl5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5pPr>
            <a:lvl6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6pPr>
            <a:lvl7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7pPr>
            <a:lvl8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8pPr>
            <a:lvl9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D8A61"/>
                </a:solidFill>
                <a:latin typeface="Arial"/>
                <a:ea typeface="Arial"/>
                <a:cs typeface="Arial"/>
              </a:rPr>
              <a:t>leaf</a:t>
            </a:r>
          </a:p>
        </p:txBody>
      </p:sp>
      <p:sp>
        <p:nvSpPr>
          <p:cNvPr id="46" name="tree-plus-two">
            <a:extLst xmlns:a="http://schemas.openxmlformats.org/drawingml/2006/main">
              <a:ext uri="{FF2B5EF4-FFF2-40B4-BE49-F238E27FC236}">
                <a16:creationId xmlns:a16="http://schemas.microsoft.com/office/drawing/2014/main" id="{1DDF4FD4-46D4-4183-950C-BEFBD82A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24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7" name="tree-3-tree-label">
            <a:extLst xmlns:a="http://schemas.openxmlformats.org/drawingml/2006/main">
              <a:ext uri="{FF2B5EF4-FFF2-40B4-BE49-F238E27FC236}">
                <a16:creationId xmlns:a16="http://schemas.microsoft.com/office/drawing/2014/main" id="{EA56998C-91D0-4EA4-834C-E4419B36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81275"/>
            <a:ext cx="800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defPPr>
            <a:lvl1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1pPr>
            <a:lvl2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2pPr>
            <a:lvl3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3pPr>
            <a:lvl4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4pPr>
            <a:lvl5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5pPr>
            <a:lvl6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6pPr>
            <a:lvl7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7pPr>
            <a:lvl8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8pPr>
            <a:lvl9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38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TREE 3</a:t>
            </a:r>
          </a:p>
        </p:txBody>
      </p:sp>
      <p:sp>
        <p:nvSpPr>
          <p:cNvPr id="48" name="tree-3-split">
            <a:extLst xmlns:a="http://schemas.openxmlformats.org/drawingml/2006/main">
              <a:ext uri="{FF2B5EF4-FFF2-40B4-BE49-F238E27FC236}">
                <a16:creationId xmlns:a16="http://schemas.microsoft.com/office/drawing/2014/main" id="{E7233013-DE85-4AA5-A48F-F839B708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81300"/>
            <a:ext cx="6286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2383">
            <a:solidFill>
              <a:srgbClr val="8AB8D2"/>
            </a:solidFill>
            <a:prstDash val="solid"/>
          </a:ln>
        </p:spPr>
      </p:sp>
      <p:sp>
        <p:nvSpPr>
          <p:cNvPr id="49" name="tree-3-split-text">
            <a:extLst xmlns:a="http://schemas.openxmlformats.org/drawingml/2006/main">
              <a:ext uri="{FF2B5EF4-FFF2-40B4-BE49-F238E27FC236}">
                <a16:creationId xmlns:a16="http://schemas.microsoft.com/office/drawing/2014/main" id="{D393A0EC-C12E-4465-8E31-73CFB34C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81300"/>
            <a:ext cx="62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50" name="tree-3-stem">
            <a:extLst xmlns:a="http://schemas.openxmlformats.org/drawingml/2006/main">
              <a:ext uri="{FF2B5EF4-FFF2-40B4-BE49-F238E27FC236}">
                <a16:creationId xmlns:a16="http://schemas.microsoft.com/office/drawing/2014/main" id="{A9E7004C-B0DF-4FE2-A8D7-955E264A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38475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ree-3-branch">
            <a:extLst xmlns:a="http://schemas.openxmlformats.org/drawingml/2006/main">
              <a:ext uri="{FF2B5EF4-FFF2-40B4-BE49-F238E27FC236}">
                <a16:creationId xmlns:a16="http://schemas.microsoft.com/office/drawing/2014/main" id="{99641285-516C-4A1A-A797-9A25BDAD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1242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ree-3-left-drop">
            <a:extLst xmlns:a="http://schemas.openxmlformats.org/drawingml/2006/main">
              <a:ext uri="{FF2B5EF4-FFF2-40B4-BE49-F238E27FC236}">
                <a16:creationId xmlns:a16="http://schemas.microsoft.com/office/drawing/2014/main" id="{F063651C-20EE-4790-B4D4-7DA784FA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12420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ree-3-right-drop">
            <a:extLst xmlns:a="http://schemas.openxmlformats.org/drawingml/2006/main">
              <a:ext uri="{FF2B5EF4-FFF2-40B4-BE49-F238E27FC236}">
                <a16:creationId xmlns:a16="http://schemas.microsoft.com/office/drawing/2014/main" id="{D0F47231-F0C9-4401-AD6D-F2D36E90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2420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ree-3-leaf-left">
            <a:extLst xmlns:a="http://schemas.openxmlformats.org/drawingml/2006/main">
              <a:ext uri="{FF2B5EF4-FFF2-40B4-BE49-F238E27FC236}">
                <a16:creationId xmlns:a16="http://schemas.microsoft.com/office/drawing/2014/main" id="{FC706953-8D19-47A5-BB8B-9DB81547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09925"/>
            <a:ext cx="371475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DF1E6"/>
          </a:solidFill>
          <a:ln xmlns:a="http://schemas.openxmlformats.org/drawingml/2006/main" w="12383">
            <a:solidFill>
              <a:srgbClr val="E9C7A7"/>
            </a:solidFill>
            <a:prstDash val="solid"/>
          </a:ln>
        </p:spPr>
      </p:sp>
      <p:sp>
        <p:nvSpPr>
          <p:cNvPr id="55" name="tree-3-leaf-right">
            <a:extLst xmlns:a="http://schemas.openxmlformats.org/drawingml/2006/main">
              <a:ext uri="{FF2B5EF4-FFF2-40B4-BE49-F238E27FC236}">
                <a16:creationId xmlns:a16="http://schemas.microsoft.com/office/drawing/2014/main" id="{C5D0EFB7-DBDF-4FD4-BF52-9F50F560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9925"/>
            <a:ext cx="371475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ECF6EF"/>
          </a:solidFill>
          <a:ln xmlns:a="http://schemas.openxmlformats.org/drawingml/2006/main" w="12383">
            <a:solidFill>
              <a:srgbClr val="BBDAC6"/>
            </a:solidFill>
            <a:prstDash val="solid"/>
          </a:ln>
        </p:spPr>
      </p:sp>
      <p:sp>
        <p:nvSpPr>
          <p:cNvPr id="56" name="tree-3-leaf-left-text">
            <a:extLst xmlns:a="http://schemas.openxmlformats.org/drawingml/2006/main">
              <a:ext uri="{FF2B5EF4-FFF2-40B4-BE49-F238E27FC236}">
                <a16:creationId xmlns:a16="http://schemas.microsoft.com/office/drawing/2014/main" id="{EBCF3BCF-0517-41C1-A399-40661077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09925"/>
            <a:ext cx="371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defPPr>
            <a:lvl1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1pPr>
            <a:lvl2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2pPr>
            <a:lvl3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3pPr>
            <a:lvl4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4pPr>
            <a:lvl5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5pPr>
            <a:lvl6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6pPr>
            <a:lvl7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7pPr>
            <a:lvl8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8pPr>
            <a:lvl9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88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87434"/>
                </a:solidFill>
                <a:latin typeface="Arial"/>
                <a:ea typeface="Arial"/>
                <a:cs typeface="Arial"/>
              </a:rPr>
              <a:t>leaf</a:t>
            </a:r>
          </a:p>
        </p:txBody>
      </p:sp>
      <p:sp>
        <p:nvSpPr>
          <p:cNvPr id="57" name="tree-3-leaf-right-text">
            <a:extLst xmlns:a="http://schemas.openxmlformats.org/drawingml/2006/main">
              <a:ext uri="{FF2B5EF4-FFF2-40B4-BE49-F238E27FC236}">
                <a16:creationId xmlns:a16="http://schemas.microsoft.com/office/drawing/2014/main" id="{2CD66147-5D6D-4AD3-A236-3B5570E4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9925"/>
            <a:ext cx="371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defPPr>
            <a:lvl1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1pPr>
            <a:lvl2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2pPr>
            <a:lvl3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3pPr>
            <a:lvl4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4pPr>
            <a:lvl5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5pPr>
            <a:lvl6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6pPr>
            <a:lvl7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7pPr>
            <a:lvl8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8pPr>
            <a:lvl9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88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D8A61"/>
                </a:solidFill>
                <a:latin typeface="Arial"/>
                <a:ea typeface="Arial"/>
                <a:cs typeface="Arial"/>
              </a:rPr>
              <a:t>leaf</a:t>
            </a:r>
          </a:p>
        </p:txBody>
      </p:sp>
      <p:sp>
        <p:nvSpPr>
          <p:cNvPr id="58" name="tree-ellipsis">
            <a:extLst xmlns:a="http://schemas.openxmlformats.org/drawingml/2006/main">
              <a:ext uri="{FF2B5EF4-FFF2-40B4-BE49-F238E27FC236}">
                <a16:creationId xmlns:a16="http://schemas.microsoft.com/office/drawing/2014/main" id="{E0545972-502B-4072-9434-C883C02B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24175"/>
            <a:ext cx="200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59" name="tree-sum">
            <a:extLst xmlns:a="http://schemas.openxmlformats.org/drawingml/2006/main">
              <a:ext uri="{FF2B5EF4-FFF2-40B4-BE49-F238E27FC236}">
                <a16:creationId xmlns:a16="http://schemas.microsoft.com/office/drawing/2014/main" id="{9B8BD490-6034-4170-8CCF-9F38D8DD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052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78A8"/>
                </a:solidFill>
                <a:latin typeface="Arial"/>
                <a:ea typeface="Arial"/>
                <a:cs typeface="Arial"/>
              </a:rPr>
              <a:t>Tree outputs add to the score s(x)</a:t>
            </a:r>
          </a:p>
        </p:txBody>
      </p:sp>
      <p:sp>
        <p:nvSpPr>
          <p:cNvPr id="60" name="rank-score-card">
            <a:extLst xmlns:a="http://schemas.openxmlformats.org/drawingml/2006/main">
              <a:ext uri="{FF2B5EF4-FFF2-40B4-BE49-F238E27FC236}">
                <a16:creationId xmlns:a16="http://schemas.microsoft.com/office/drawing/2014/main" id="{2F5A1979-308E-49A7-8EC6-A9CBEFE4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71675"/>
            <a:ext cx="1809750" cy="1952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CF6EF"/>
          </a:solidFill>
          <a:ln xmlns:a="http://schemas.openxmlformats.org/drawingml/2006/main" w="12383">
            <a:solidFill>
              <a:srgbClr val="BBDAC6"/>
            </a:solidFill>
            <a:prstDash val="solid"/>
          </a:ln>
        </p:spPr>
      </p:sp>
      <p:sp>
        <p:nvSpPr>
          <p:cNvPr id="61" name="rank-heading">
            <a:extLst xmlns:a="http://schemas.openxmlformats.org/drawingml/2006/main">
              <a:ext uri="{FF2B5EF4-FFF2-40B4-BE49-F238E27FC236}">
                <a16:creationId xmlns:a16="http://schemas.microsoft.com/office/drawing/2014/main" id="{4C4EF58A-4B19-4086-A4F1-8108FD2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A61"/>
                </a:solidFill>
                <a:latin typeface="Arial"/>
                <a:ea typeface="Arial"/>
                <a:cs typeface="Arial"/>
              </a:rPr>
              <a:t>RANK OUTPUT</a:t>
            </a:r>
          </a:p>
        </p:txBody>
      </p:sp>
      <p:sp>
        <p:nvSpPr>
          <p:cNvPr id="62" name="rank-score-symbol">
            <a:extLst xmlns:a="http://schemas.openxmlformats.org/drawingml/2006/main">
              <a:ext uri="{FF2B5EF4-FFF2-40B4-BE49-F238E27FC236}">
                <a16:creationId xmlns:a16="http://schemas.microsoft.com/office/drawing/2014/main" id="{BE2ACB66-C588-4E2B-B0E8-1631C3D9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52675"/>
            <a:ext cx="150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s(x)</a:t>
            </a:r>
          </a:p>
        </p:txBody>
      </p:sp>
      <p:sp>
        <p:nvSpPr>
          <p:cNvPr id="63" name="rank-score-label">
            <a:extLst xmlns:a="http://schemas.openxmlformats.org/drawingml/2006/main">
              <a:ext uri="{FF2B5EF4-FFF2-40B4-BE49-F238E27FC236}">
                <a16:creationId xmlns:a16="http://schemas.microsoft.com/office/drawing/2014/main" id="{EECA3E8A-0007-43E0-82E2-5282BEAB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648"/>
                </a:solidFill>
                <a:latin typeface="Arial"/>
                <a:ea typeface="Arial"/>
                <a:cs typeface="Arial"/>
              </a:rPr>
              <a:t>ranking score</a:t>
            </a:r>
          </a:p>
        </p:txBody>
      </p:sp>
      <p:sp>
        <p:nvSpPr>
          <p:cNvPr id="64" name="rank-order">
            <a:extLst xmlns:a="http://schemas.openxmlformats.org/drawingml/2006/main">
              <a:ext uri="{FF2B5EF4-FFF2-40B4-BE49-F238E27FC236}">
                <a16:creationId xmlns:a16="http://schemas.microsoft.com/office/drawing/2014/main" id="{EC14BA1F-D197-4673-A09A-829D9F6D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43225"/>
            <a:ext cx="150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Higher score</a:t>
            </a:r>
          </a:p>
          <a:p xmlns:a="http://schemas.openxmlformats.org/drawingml/2006/main">
            <a:pPr algn="ctr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means earlier rank</a:t>
            </a:r>
          </a:p>
        </p:txBody>
      </p:sp>
      <p:sp>
        <p:nvSpPr>
          <p:cNvPr id="65" name="rank-caveat">
            <a:extLst xmlns:a="http://schemas.openxmlformats.org/drawingml/2006/main">
              <a:ext uri="{FF2B5EF4-FFF2-40B4-BE49-F238E27FC236}">
                <a16:creationId xmlns:a16="http://schemas.microsoft.com/office/drawing/2014/main" id="{6A643A42-EA0A-4181-B028-5D8BC492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52800"/>
            <a:ext cx="1504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6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defPPr>
            <a:lvl1pPr algn="ctr">
              <a:defRPr sz="96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1pPr>
            <a:lvl2pPr algn="ctr">
              <a:defRPr sz="96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2pPr>
            <a:lvl3pPr algn="ctr">
              <a:defRPr sz="96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3pPr>
            <a:lvl4pPr algn="ctr">
              <a:defRPr sz="96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4pPr>
            <a:lvl5pPr algn="ctr">
              <a:defRPr sz="96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5pPr>
            <a:lvl6pPr algn="ctr">
              <a:defRPr sz="96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6pPr>
            <a:lvl7pPr algn="ctr">
              <a:defRPr sz="96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7pPr>
            <a:lvl8pPr algn="ctr">
              <a:defRPr sz="96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8pPr>
            <a:lvl9pPr algn="ctr">
              <a:defRPr sz="96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6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3D8A61"/>
                </a:solidFill>
                <a:latin typeface="Arial"/>
                <a:ea typeface="Arial"/>
                <a:cs typeface="Arial"/>
              </a:rPr>
              <a:t>No speedup units</a:t>
            </a:r>
          </a:p>
          <a:p xmlns:a="http://schemas.openxmlformats.org/drawingml/2006/main">
            <a:pPr algn="ctr">
              <a:defRPr sz="960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3D8A61"/>
                </a:solidFill>
                <a:latin typeface="Arial"/>
                <a:ea typeface="Arial"/>
                <a:cs typeface="Arial"/>
              </a:rPr>
              <a:t>No calibrated confidence</a:t>
            </a:r>
          </a:p>
        </p:txBody>
      </p:sp>
      <p:sp>
        <p:nvSpPr>
          <p:cNvPr id="66" name="arrow-features-to-pairs">
            <a:extLst xmlns:a="http://schemas.openxmlformats.org/drawingml/2006/main">
              <a:ext uri="{FF2B5EF4-FFF2-40B4-BE49-F238E27FC236}">
                <a16:creationId xmlns:a16="http://schemas.microsoft.com/office/drawing/2014/main" id="{10C431D8-7BEB-4DA6-8805-3311E8E4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194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arrow-pairs-to-model">
            <a:extLst xmlns:a="http://schemas.openxmlformats.org/drawingml/2006/main">
              <a:ext uri="{FF2B5EF4-FFF2-40B4-BE49-F238E27FC236}">
                <a16:creationId xmlns:a16="http://schemas.microsoft.com/office/drawing/2014/main" id="{B2B2075D-2862-4735-BA23-5F0345BC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194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arrow-model-to-rank">
            <a:extLst xmlns:a="http://schemas.openxmlformats.org/drawingml/2006/main">
              <a:ext uri="{FF2B5EF4-FFF2-40B4-BE49-F238E27FC236}">
                <a16:creationId xmlns:a16="http://schemas.microsoft.com/office/drawing/2014/main" id="{381FBED0-EB98-47CA-B074-20687719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1940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loop-label">
            <a:extLst xmlns:a="http://schemas.openxmlformats.org/drawingml/2006/main">
              <a:ext uri="{FF2B5EF4-FFF2-40B4-BE49-F238E27FC236}">
                <a16:creationId xmlns:a16="http://schemas.microsoft.com/office/drawing/2014/main" id="{2E3FE6FB-A9F2-44C5-A9DA-9A4FD78B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878A8"/>
                </a:solidFill>
                <a:latin typeface="Arial"/>
                <a:ea typeface="Arial"/>
                <a:cs typeface="Arial"/>
              </a:rPr>
              <a:t>BUDGETED MEASUREMENT LOOP</a:t>
            </a:r>
          </a:p>
        </p:txBody>
      </p:sp>
      <p:sp>
        <p:nvSpPr>
          <p:cNvPr id="70" name="policy-card">
            <a:extLst xmlns:a="http://schemas.openxmlformats.org/drawingml/2006/main">
              <a:ext uri="{FF2B5EF4-FFF2-40B4-BE49-F238E27FC236}">
                <a16:creationId xmlns:a16="http://schemas.microsoft.com/office/drawing/2014/main" id="{DB5E1C9C-69A2-4E45-A9F0-5B98E646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381250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2383">
            <a:solidFill>
              <a:srgbClr val="B7D3E4"/>
            </a:solidFill>
            <a:prstDash val="solid"/>
          </a:ln>
        </p:spPr>
      </p:sp>
      <p:sp>
        <p:nvSpPr>
          <p:cNvPr id="71" name="policy-heading">
            <a:extLst xmlns:a="http://schemas.openxmlformats.org/drawingml/2006/main">
              <a:ext uri="{FF2B5EF4-FFF2-40B4-BE49-F238E27FC236}">
                <a16:creationId xmlns:a16="http://schemas.microsoft.com/office/drawing/2014/main" id="{ACAA5591-E114-4743-8C4A-1562B2D6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defPPr>
            <a:lvl1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1pPr>
            <a:lvl2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2pPr>
            <a:lvl3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3pPr>
            <a:lvl4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4pPr>
            <a:lvl5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5pPr>
            <a:lvl6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6pPr>
            <a:lvl7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7pPr>
            <a:lvl8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8pPr>
            <a:lvl9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2878A8"/>
                </a:solidFill>
                <a:latin typeface="Arial"/>
                <a:ea typeface="Arial"/>
                <a:cs typeface="Arial"/>
              </a:rPr>
              <a:t>SELECT ONE CANDIDATE</a:t>
            </a:r>
          </a:p>
        </p:txBody>
      </p:sp>
      <p:sp>
        <p:nvSpPr>
          <p:cNvPr id="72" name="policy-body">
            <a:extLst xmlns:a="http://schemas.openxmlformats.org/drawingml/2006/main">
              <a:ext uri="{FF2B5EF4-FFF2-40B4-BE49-F238E27FC236}">
                <a16:creationId xmlns:a16="http://schemas.microsoft.com/office/drawing/2014/main" id="{4E82109A-1B27-4177-8590-F88414DD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2076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Use rank score + paid history.</a:t>
            </a:r>
          </a:p>
          <a:p xmlns:a="http://schemas.openxmlformats.org/drawingml/2006/main">
            <a: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Spend one query from the budget.</a:t>
            </a:r>
          </a:p>
        </p:txBody>
      </p:sp>
      <p:sp>
        <p:nvSpPr>
          <p:cNvPr id="73" name="processor-card">
            <a:extLst xmlns:a="http://schemas.openxmlformats.org/drawingml/2006/main">
              <a:ext uri="{FF2B5EF4-FFF2-40B4-BE49-F238E27FC236}">
                <a16:creationId xmlns:a16="http://schemas.microsoft.com/office/drawing/2014/main" id="{5AB95ACA-DA6B-459F-A7F2-0624C959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29150"/>
            <a:ext cx="2905125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12383">
            <a:solidFill>
              <a:srgbClr val="D5E0EA"/>
            </a:solidFill>
            <a:prstDash val="solid"/>
          </a:ln>
        </p:spPr>
      </p:sp>
      <p:sp>
        <p:nvSpPr>
          <p:cNvPr id="74" name="processor-heading">
            <a:extLst xmlns:a="http://schemas.openxmlformats.org/drawingml/2006/main">
              <a:ext uri="{FF2B5EF4-FFF2-40B4-BE49-F238E27FC236}">
                <a16:creationId xmlns:a16="http://schemas.microsoft.com/office/drawing/2014/main" id="{20B4892D-968F-4C7C-9C6B-588DAE52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733925"/>
            <a:ext cx="2600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defPPr>
            <a:lvl1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1pPr>
            <a:lvl2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2pPr>
            <a:lvl3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3pPr>
            <a:lvl4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4pPr>
            <a:lvl5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5pPr>
            <a:lvl6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6pPr>
            <a:lvl7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7pPr>
            <a:lvl8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8pPr>
            <a:lvl9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13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2878A8"/>
                </a:solidFill>
                <a:latin typeface="Arial"/>
                <a:ea typeface="Arial"/>
                <a:cs typeface="Arial"/>
              </a:rPr>
              <a:t>PICORV32 EVALUATION</a:t>
            </a:r>
          </a:p>
        </p:txBody>
      </p:sp>
      <p:sp>
        <p:nvSpPr>
          <p:cNvPr id="75" name="processor-body">
            <a:extLst xmlns:a="http://schemas.openxmlformats.org/drawingml/2006/main">
              <a:ext uri="{FF2B5EF4-FFF2-40B4-BE49-F238E27FC236}">
                <a16:creationId xmlns:a16="http://schemas.microsoft.com/office/drawing/2014/main" id="{8D6F534C-6289-4F1B-BDE3-884EC48D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972050"/>
            <a:ext cx="26003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Lower → execute → verify</a:t>
            </a:r>
          </a:p>
          <a:p xmlns:a="http://schemas.openxmlformats.org/drawingml/2006/main">
            <a:pPr algn="l">
              <a:defRPr sz="1088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Synthesize and route the design</a:t>
            </a:r>
          </a:p>
        </p:txBody>
      </p:sp>
      <p:sp>
        <p:nvSpPr>
          <p:cNvPr id="76" name="measurement-card">
            <a:extLst xmlns:a="http://schemas.openxmlformats.org/drawingml/2006/main">
              <a:ext uri="{FF2B5EF4-FFF2-40B4-BE49-F238E27FC236}">
                <a16:creationId xmlns:a16="http://schemas.microsoft.com/office/drawing/2014/main" id="{3D723E37-3DE4-4C93-A936-0680ED0C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29150"/>
            <a:ext cx="2686050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DF1E6"/>
          </a:solidFill>
          <a:ln xmlns:a="http://schemas.openxmlformats.org/drawingml/2006/main" w="12383">
            <a:solidFill>
              <a:srgbClr val="E9C7A7"/>
            </a:solidFill>
            <a:prstDash val="solid"/>
          </a:ln>
        </p:spPr>
      </p:sp>
      <p:sp>
        <p:nvSpPr>
          <p:cNvPr id="77" name="measurement-heading">
            <a:extLst xmlns:a="http://schemas.openxmlformats.org/drawingml/2006/main">
              <a:ext uri="{FF2B5EF4-FFF2-40B4-BE49-F238E27FC236}">
                <a16:creationId xmlns:a16="http://schemas.microsoft.com/office/drawing/2014/main" id="{76B1C3D0-EC34-456F-AB6F-8427F35E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7339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defPPr>
            <a:lvl1pPr algn="l">
              <a:defRPr sz="1013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1pPr>
            <a:lvl2pPr algn="l">
              <a:defRPr sz="1013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2pPr>
            <a:lvl3pPr algn="l">
              <a:defRPr sz="1013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3pPr>
            <a:lvl4pPr algn="l">
              <a:defRPr sz="1013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4pPr>
            <a:lvl5pPr algn="l">
              <a:defRPr sz="1013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5pPr>
            <a:lvl6pPr algn="l">
              <a:defRPr sz="1013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6pPr>
            <a:lvl7pPr algn="l">
              <a:defRPr sz="1013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7pPr>
            <a:lvl8pPr algn="l">
              <a:defRPr sz="1013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8pPr>
            <a:lvl9pPr algn="l">
              <a:defRPr sz="1013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13" b="1">
                <a:solidFill>
                  <a:srgbClr val="C87434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87434"/>
                </a:solidFill>
                <a:latin typeface="Arial"/>
                <a:ea typeface="Arial"/>
                <a:cs typeface="Arial"/>
              </a:rPr>
              <a:t>MEASURED OUTCOME</a:t>
            </a:r>
          </a:p>
        </p:txBody>
      </p:sp>
      <p:sp>
        <p:nvSpPr>
          <p:cNvPr id="78" name="measurement-body">
            <a:extLst xmlns:a="http://schemas.openxmlformats.org/drawingml/2006/main">
              <a:ext uri="{FF2B5EF4-FFF2-40B4-BE49-F238E27FC236}">
                <a16:creationId xmlns:a16="http://schemas.microsoft.com/office/drawing/2014/main" id="{9D339B4E-B0FE-4C1A-90A4-C70AC74D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972050"/>
            <a:ext cx="238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Whole-program cycles and speedup</a:t>
            </a:r>
          </a:p>
          <a:p xmlns:a="http://schemas.openxmlformats.org/drawingml/2006/main">
            <a: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Correctness · LUT4 · routed Fmax</a:t>
            </a:r>
          </a:p>
        </p:txBody>
      </p:sp>
      <p:sp>
        <p:nvSpPr>
          <p:cNvPr id="79" name="history-card">
            <a:extLst xmlns:a="http://schemas.openxmlformats.org/drawingml/2006/main">
              <a:ext uri="{FF2B5EF4-FFF2-40B4-BE49-F238E27FC236}">
                <a16:creationId xmlns:a16="http://schemas.microsoft.com/office/drawing/2014/main" id="{E4219639-9F38-41B3-8F03-C7B1C6F9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29150"/>
            <a:ext cx="1866900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CF6EF"/>
          </a:solidFill>
          <a:ln xmlns:a="http://schemas.openxmlformats.org/drawingml/2006/main" w="12383">
            <a:solidFill>
              <a:srgbClr val="BBDAC6"/>
            </a:solidFill>
            <a:prstDash val="solid"/>
          </a:ln>
        </p:spPr>
      </p:sp>
      <p:sp>
        <p:nvSpPr>
          <p:cNvPr id="80" name="history-heading">
            <a:extLst xmlns:a="http://schemas.openxmlformats.org/drawingml/2006/main">
              <a:ext uri="{FF2B5EF4-FFF2-40B4-BE49-F238E27FC236}">
                <a16:creationId xmlns:a16="http://schemas.microsoft.com/office/drawing/2014/main" id="{7695A5DD-59EA-49BB-94B9-016B9829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3392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defPPr>
            <a:lvl1pPr algn="l">
              <a:defRPr sz="1013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1pPr>
            <a:lvl2pPr algn="l">
              <a:defRPr sz="1013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2pPr>
            <a:lvl3pPr algn="l">
              <a:defRPr sz="1013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3pPr>
            <a:lvl4pPr algn="l">
              <a:defRPr sz="1013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4pPr>
            <a:lvl5pPr algn="l">
              <a:defRPr sz="1013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5pPr>
            <a:lvl6pPr algn="l">
              <a:defRPr sz="1013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6pPr>
            <a:lvl7pPr algn="l">
              <a:defRPr sz="1013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7pPr>
            <a:lvl8pPr algn="l">
              <a:defRPr sz="1013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8pPr>
            <a:lvl9pPr algn="l">
              <a:defRPr sz="1013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13" b="1">
                <a:solidFill>
                  <a:srgbClr val="3D8A61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3D8A61"/>
                </a:solidFill>
                <a:latin typeface="Arial"/>
                <a:ea typeface="Arial"/>
                <a:cs typeface="Arial"/>
              </a:rPr>
              <a:t>SEARCH HISTORY</a:t>
            </a:r>
          </a:p>
        </p:txBody>
      </p:sp>
      <p:sp>
        <p:nvSpPr>
          <p:cNvPr id="81" name="history-body">
            <a:extLst xmlns:a="http://schemas.openxmlformats.org/drawingml/2006/main">
              <a:ext uri="{FF2B5EF4-FFF2-40B4-BE49-F238E27FC236}">
                <a16:creationId xmlns:a16="http://schemas.microsoft.com/office/drawing/2014/main" id="{3CAA0C54-B51E-480B-B7DF-D51DA8B1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72050"/>
            <a:ext cx="1562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Paid result informs</a:t>
            </a:r>
          </a:p>
          <a:p xmlns:a="http://schemas.openxmlformats.org/drawingml/2006/main">
            <a:pPr algn="l">
              <a:defRPr sz="105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the next decision</a:t>
            </a:r>
          </a:p>
        </p:txBody>
      </p:sp>
      <p:sp>
        <p:nvSpPr>
          <p:cNvPr id="82" name="arrow-policy-to-evaluation">
            <a:extLst xmlns:a="http://schemas.openxmlformats.org/drawingml/2006/main">
              <a:ext uri="{FF2B5EF4-FFF2-40B4-BE49-F238E27FC236}">
                <a16:creationId xmlns:a16="http://schemas.microsoft.com/office/drawing/2014/main" id="{06D7BDEB-8221-4A10-B81E-F4FC1978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0387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arrow-evaluation-to-measurement">
            <a:extLst xmlns:a="http://schemas.openxmlformats.org/drawingml/2006/main">
              <a:ext uri="{FF2B5EF4-FFF2-40B4-BE49-F238E27FC236}">
                <a16:creationId xmlns:a16="http://schemas.microsoft.com/office/drawing/2014/main" id="{33874F20-E226-4BDC-B565-10255FB0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387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arrow-measurement-to-history">
            <a:extLst xmlns:a="http://schemas.openxmlformats.org/drawingml/2006/main">
              <a:ext uri="{FF2B5EF4-FFF2-40B4-BE49-F238E27FC236}">
                <a16:creationId xmlns:a16="http://schemas.microsoft.com/office/drawing/2014/main" id="{53277219-7BED-40DE-9353-24DAD9D8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3872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note-divider">
            <a:extLst xmlns:a="http://schemas.openxmlformats.org/drawingml/2006/main">
              <a:ext uri="{FF2B5EF4-FFF2-40B4-BE49-F238E27FC236}">
                <a16:creationId xmlns:a16="http://schemas.microsoft.com/office/drawing/2014/main" id="{9242CBCE-5C96-40CA-856F-96712FBC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204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explainability-heading">
            <a:extLst xmlns:a="http://schemas.openxmlformats.org/drawingml/2006/main">
              <a:ext uri="{FF2B5EF4-FFF2-40B4-BE49-F238E27FC236}">
                <a16:creationId xmlns:a16="http://schemas.microsoft.com/office/drawing/2014/main" id="{06AF3DFC-659A-4520-B74A-2F9E4C00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defPPr>
            <a:lvl1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1pPr>
            <a:lvl2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2pPr>
            <a:lvl3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3pPr>
            <a:lvl4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4pPr>
            <a:lvl5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5pPr>
            <a:lvl6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6pPr>
            <a:lvl7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7pPr>
            <a:lvl8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8pPr>
            <a:lvl9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878A8"/>
                </a:solidFill>
                <a:latin typeface="Arial"/>
                <a:ea typeface="Arial"/>
                <a:cs typeface="Arial"/>
              </a:rPr>
              <a:t>EXPLAINABILITY</a:t>
            </a:r>
          </a:p>
        </p:txBody>
      </p:sp>
      <p:sp>
        <p:nvSpPr>
          <p:cNvPr id="87" name="explainability-note">
            <a:extLst xmlns:a="http://schemas.openxmlformats.org/drawingml/2006/main">
              <a:ext uri="{FF2B5EF4-FFF2-40B4-BE49-F238E27FC236}">
                <a16:creationId xmlns:a16="http://schemas.microsoft.com/office/drawing/2014/main" id="{14970FE5-E1F3-44E8-A60E-9DD3999E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defPPr>
            <a:lvl1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1pPr>
            <a:lvl2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2pPr>
            <a:lvl3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3pPr>
            <a:lvl4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4pPr>
            <a:lvl5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5pPr>
            <a:lvl6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6pPr>
            <a:lvl7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7pPr>
            <a:lvl8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8pPr>
            <a:lvl9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Tree contributions show which features move each rank score.</a:t>
            </a:r>
          </a:p>
        </p:txBody>
      </p:sp>
      <p:sp>
        <p:nvSpPr>
          <p:cNvPr id="88" name="regressor-heading">
            <a:extLst xmlns:a="http://schemas.openxmlformats.org/drawingml/2006/main">
              <a:ext uri="{FF2B5EF4-FFF2-40B4-BE49-F238E27FC236}">
                <a16:creationId xmlns:a16="http://schemas.microsoft.com/office/drawing/2014/main" id="{23FAD575-1A40-40BD-A3A0-AEC1D5FB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05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defPPr>
            <a:lvl1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1pPr>
            <a:lvl2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2pPr>
            <a:lvl3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3pPr>
            <a:lvl4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4pPr>
            <a:lvl5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5pPr>
            <a:lvl6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6pPr>
            <a:lvl7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7pPr>
            <a:lvl8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8pPr>
            <a:lvl9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38" b="1">
                <a:solidFill>
                  <a:srgbClr val="2878A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878A8"/>
                </a:solidFill>
                <a:latin typeface="Arial"/>
                <a:ea typeface="Arial"/>
                <a:cs typeface="Arial"/>
              </a:rPr>
              <a:t>SEPARATE SPEEDUP REGRESSOR</a:t>
            </a:r>
          </a:p>
        </p:txBody>
      </p:sp>
      <p:sp>
        <p:nvSpPr>
          <p:cNvPr id="89" name="regressor-note">
            <a:extLst xmlns:a="http://schemas.openxmlformats.org/drawingml/2006/main">
              <a:ext uri="{FF2B5EF4-FFF2-40B4-BE49-F238E27FC236}">
                <a16:creationId xmlns:a16="http://schemas.microsoft.com/office/drawing/2014/main" id="{AC7C907D-5D2B-40AB-8172-91A7F7BD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115050"/>
            <a:ext cx="555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defPPr>
            <a:lvl1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1pPr>
            <a:lvl2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2pPr>
            <a:lvl3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3pPr>
            <a:lvl4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4pPr>
            <a:lvl5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5pPr>
            <a:lvl6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6pPr>
            <a:lvl7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7pPr>
            <a:lvl8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8pPr>
            <a:lvl9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90" b="0">
                <a:solidFill>
                  <a:srgbClr val="263648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63648"/>
                </a:solidFill>
                <a:latin typeface="Arial"/>
                <a:ea typeface="Arial"/>
                <a:cs typeface="Arial"/>
              </a:rPr>
              <a:t>20 bootstrapped XGBoost regressors; spread is disagreement, not calibrated uncertainty.</a:t>
            </a:r>
          </a:p>
        </p:txBody>
      </p:sp>
      <p:sp>
        <p:nvSpPr>
          <p:cNvPr id="90" name="frozen-note">
            <a:extLst xmlns:a="http://schemas.openxmlformats.org/drawingml/2006/main">
              <a:ext uri="{FF2B5EF4-FFF2-40B4-BE49-F238E27FC236}">
                <a16:creationId xmlns:a16="http://schemas.microsoft.com/office/drawing/2014/main" id="{C6462566-54E6-471C-810C-55EA74DF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8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defPPr>
            <a:lvl1pPr algn="ctr">
              <a:defRPr sz="88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1pPr>
            <a:lvl2pPr algn="ctr">
              <a:defRPr sz="88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2pPr>
            <a:lvl3pPr algn="ctr">
              <a:defRPr sz="88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3pPr>
            <a:lvl4pPr algn="ctr">
              <a:defRPr sz="88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4pPr>
            <a:lvl5pPr algn="ctr">
              <a:defRPr sz="88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5pPr>
            <a:lvl6pPr algn="ctr">
              <a:defRPr sz="88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6pPr>
            <a:lvl7pPr algn="ctr">
              <a:defRPr sz="88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7pPr>
            <a:lvl8pPr algn="ctr">
              <a:defRPr sz="88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8pPr>
            <a:lvl9pPr algn="ctr">
              <a:defRPr sz="88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The fitted ranker stays frozen during a search. Paid measurements update selector history.</a:t>
            </a:r>
          </a:p>
        </p:txBody>
      </p:sp>
      <p:sp>
        <p:nvSpPr>
          <p:cNvPr id="91" name="footer">
            <a:extLst xmlns:a="http://schemas.openxmlformats.org/drawingml/2006/main">
              <a:ext uri="{FF2B5EF4-FFF2-40B4-BE49-F238E27FC236}">
                <a16:creationId xmlns:a16="http://schemas.microsoft.com/office/drawing/2014/main" id="{27082300-1ECB-464E-9629-BA614DD6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57975"/>
            <a:ext cx="10820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defPPr>
            <a:lvl1pPr algn="l">
              <a:defRPr sz="788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1pPr>
            <a:lvl2pPr algn="l">
              <a:defRPr sz="788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2pPr>
            <a:lvl3pPr algn="l">
              <a:defRPr sz="788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3pPr>
            <a:lvl4pPr algn="l">
              <a:defRPr sz="788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4pPr>
            <a:lvl5pPr algn="l">
              <a:defRPr sz="788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5pPr>
            <a:lvl6pPr algn="l">
              <a:defRPr sz="788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6pPr>
            <a:lvl7pPr algn="l">
              <a:defRPr sz="788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7pPr>
            <a:lvl8pPr algn="l">
              <a:defRPr sz="788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8pPr>
            <a:lvl9pPr algn="l">
              <a:defRPr sz="788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88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ISAForge  /  ECE 4803</a:t>
            </a:r>
          </a:p>
        </p:txBody>
      </p:sp>
    </p:spTree>
    <p:extLst>
      <p:ext uri="{BB962C8B-B14F-4D97-AF65-F5344CB8AC3E}">
        <p14:creationId xmlns:p14="http://schemas.microsoft.com/office/powerpoint/2010/main" val="881077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2026-10-27T17:24:54.3910000Z</dcterms:created>
  <dcterms:modified xsi:type="dcterms:W3CDTF">2026-10-27T17:24:54.3910000Z</dcterms:modified>
</coreProperties>
</file>